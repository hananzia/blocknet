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4" r:id="rId1"/>
  </p:sldMasterIdLst>
  <p:notesMasterIdLst>
    <p:notesMasterId r:id="rId45"/>
  </p:notesMasterIdLst>
  <p:sldIdLst>
    <p:sldId id="256" r:id="rId2"/>
    <p:sldId id="326" r:id="rId3"/>
    <p:sldId id="523" r:id="rId4"/>
    <p:sldId id="524" r:id="rId5"/>
    <p:sldId id="525" r:id="rId6"/>
    <p:sldId id="526" r:id="rId7"/>
    <p:sldId id="527" r:id="rId8"/>
    <p:sldId id="528" r:id="rId9"/>
    <p:sldId id="529" r:id="rId10"/>
    <p:sldId id="530" r:id="rId11"/>
    <p:sldId id="592" r:id="rId12"/>
    <p:sldId id="531" r:id="rId13"/>
    <p:sldId id="532" r:id="rId14"/>
    <p:sldId id="595" r:id="rId15"/>
    <p:sldId id="533" r:id="rId16"/>
    <p:sldId id="534" r:id="rId17"/>
    <p:sldId id="535" r:id="rId18"/>
    <p:sldId id="536" r:id="rId19"/>
    <p:sldId id="537" r:id="rId20"/>
    <p:sldId id="575" r:id="rId21"/>
    <p:sldId id="576" r:id="rId22"/>
    <p:sldId id="577" r:id="rId23"/>
    <p:sldId id="578" r:id="rId24"/>
    <p:sldId id="579" r:id="rId25"/>
    <p:sldId id="594" r:id="rId26"/>
    <p:sldId id="582" r:id="rId27"/>
    <p:sldId id="583" r:id="rId28"/>
    <p:sldId id="584" r:id="rId29"/>
    <p:sldId id="585" r:id="rId30"/>
    <p:sldId id="586" r:id="rId31"/>
    <p:sldId id="587" r:id="rId32"/>
    <p:sldId id="596" r:id="rId33"/>
    <p:sldId id="597" r:id="rId34"/>
    <p:sldId id="588" r:id="rId35"/>
    <p:sldId id="601" r:id="rId36"/>
    <p:sldId id="602" r:id="rId37"/>
    <p:sldId id="599" r:id="rId38"/>
    <p:sldId id="600" r:id="rId39"/>
    <p:sldId id="589" r:id="rId40"/>
    <p:sldId id="598" r:id="rId41"/>
    <p:sldId id="590" r:id="rId42"/>
    <p:sldId id="591" r:id="rId43"/>
    <p:sldId id="341" r:id="rId44"/>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0" autoAdjust="0"/>
    <p:restoredTop sz="80145" autoAdjust="0"/>
  </p:normalViewPr>
  <p:slideViewPr>
    <p:cSldViewPr>
      <p:cViewPr varScale="1">
        <p:scale>
          <a:sx n="86" d="100"/>
          <a:sy n="86" d="100"/>
        </p:scale>
        <p:origin x="232" y="37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B092D9-FA2F-4512-ADE9-D4343FA6B65A}" type="doc">
      <dgm:prSet loTypeId="urn:microsoft.com/office/officeart/2005/8/layout/cycle8" loCatId="cycle" qsTypeId="urn:microsoft.com/office/officeart/2005/8/quickstyle/simple1" qsCatId="simple" csTypeId="urn:microsoft.com/office/officeart/2005/8/colors/accent6_2" csCatId="accent6" phldr="1"/>
      <dgm:spPr/>
    </dgm:pt>
    <dgm:pt modelId="{9417236F-81A2-4E7F-A0EA-C15B332D3E9E}">
      <dgm:prSet phldrT="[Text]"/>
      <dgm:spPr/>
      <dgm:t>
        <a:bodyPr/>
        <a:lstStyle/>
        <a:p>
          <a:r>
            <a:rPr lang="en-US" dirty="0"/>
            <a:t> </a:t>
          </a:r>
        </a:p>
      </dgm:t>
    </dgm:pt>
    <dgm:pt modelId="{BAB1D68D-2418-4BF2-AB48-D2CDFDC14F71}" type="parTrans" cxnId="{D4513E7B-E114-4E52-9377-DD61EBEE57F7}">
      <dgm:prSet/>
      <dgm:spPr/>
      <dgm:t>
        <a:bodyPr/>
        <a:lstStyle/>
        <a:p>
          <a:endParaRPr lang="en-US"/>
        </a:p>
      </dgm:t>
    </dgm:pt>
    <dgm:pt modelId="{785A21FB-ECF6-4072-9A98-81BEAA460632}" type="sibTrans" cxnId="{D4513E7B-E114-4E52-9377-DD61EBEE57F7}">
      <dgm:prSet/>
      <dgm:spPr/>
      <dgm:t>
        <a:bodyPr/>
        <a:lstStyle/>
        <a:p>
          <a:endParaRPr lang="en-US"/>
        </a:p>
      </dgm:t>
    </dgm:pt>
    <dgm:pt modelId="{F5C87D08-6D5E-47BF-8AC5-F7DEACFF558B}">
      <dgm:prSet phldrT="[Text]"/>
      <dgm:spPr/>
      <dgm:t>
        <a:bodyPr/>
        <a:lstStyle/>
        <a:p>
          <a:r>
            <a:rPr lang="en-US" dirty="0"/>
            <a:t> </a:t>
          </a:r>
        </a:p>
      </dgm:t>
    </dgm:pt>
    <dgm:pt modelId="{78244211-63D1-4087-98C8-DB58677735CA}" type="parTrans" cxnId="{ECAD6854-42EC-4A27-9340-70389A78DBB8}">
      <dgm:prSet/>
      <dgm:spPr/>
      <dgm:t>
        <a:bodyPr/>
        <a:lstStyle/>
        <a:p>
          <a:endParaRPr lang="en-US"/>
        </a:p>
      </dgm:t>
    </dgm:pt>
    <dgm:pt modelId="{D967019B-2131-49DC-8449-619A902C915D}" type="sibTrans" cxnId="{ECAD6854-42EC-4A27-9340-70389A78DBB8}">
      <dgm:prSet/>
      <dgm:spPr/>
      <dgm:t>
        <a:bodyPr/>
        <a:lstStyle/>
        <a:p>
          <a:endParaRPr lang="en-US"/>
        </a:p>
      </dgm:t>
    </dgm:pt>
    <dgm:pt modelId="{6346BECF-2050-4F33-8CCF-73EE063EE166}">
      <dgm:prSet phldrT="[Text]"/>
      <dgm:spPr/>
      <dgm:t>
        <a:bodyPr/>
        <a:lstStyle/>
        <a:p>
          <a:r>
            <a:rPr lang="en-US" dirty="0"/>
            <a:t> </a:t>
          </a:r>
        </a:p>
      </dgm:t>
    </dgm:pt>
    <dgm:pt modelId="{E2E291A4-FFFC-48EF-92AC-44526AA6F1BB}" type="parTrans" cxnId="{5045F3FC-E784-4B16-9586-DC2D42EE010D}">
      <dgm:prSet/>
      <dgm:spPr/>
      <dgm:t>
        <a:bodyPr/>
        <a:lstStyle/>
        <a:p>
          <a:endParaRPr lang="en-US"/>
        </a:p>
      </dgm:t>
    </dgm:pt>
    <dgm:pt modelId="{9479191E-3733-475F-B8E8-528023345057}" type="sibTrans" cxnId="{5045F3FC-E784-4B16-9586-DC2D42EE010D}">
      <dgm:prSet/>
      <dgm:spPr/>
      <dgm:t>
        <a:bodyPr/>
        <a:lstStyle/>
        <a:p>
          <a:endParaRPr lang="en-US"/>
        </a:p>
      </dgm:t>
    </dgm:pt>
    <dgm:pt modelId="{2E3819F4-D7D1-48D5-A034-4A0AC49D7CA8}">
      <dgm:prSet phldrT="[Text]"/>
      <dgm:spPr/>
      <dgm:t>
        <a:bodyPr/>
        <a:lstStyle/>
        <a:p>
          <a:r>
            <a:rPr lang="en-US" dirty="0"/>
            <a:t> </a:t>
          </a:r>
        </a:p>
      </dgm:t>
    </dgm:pt>
    <dgm:pt modelId="{6F34A17B-4F71-4280-812B-0F14CF77D456}" type="parTrans" cxnId="{71B328B3-A550-423F-970B-C9872A9192EB}">
      <dgm:prSet/>
      <dgm:spPr/>
      <dgm:t>
        <a:bodyPr/>
        <a:lstStyle/>
        <a:p>
          <a:endParaRPr lang="en-US"/>
        </a:p>
      </dgm:t>
    </dgm:pt>
    <dgm:pt modelId="{E6E79D84-689D-4DF7-8594-12379EA234D1}" type="sibTrans" cxnId="{71B328B3-A550-423F-970B-C9872A9192EB}">
      <dgm:prSet/>
      <dgm:spPr/>
      <dgm:t>
        <a:bodyPr/>
        <a:lstStyle/>
        <a:p>
          <a:endParaRPr lang="en-US"/>
        </a:p>
      </dgm:t>
    </dgm:pt>
    <dgm:pt modelId="{92E08CED-81AC-47A0-BF3B-44DD2283A0A4}">
      <dgm:prSet phldrT="[Text]"/>
      <dgm:spPr/>
      <dgm:t>
        <a:bodyPr/>
        <a:lstStyle/>
        <a:p>
          <a:r>
            <a:rPr lang="en-US" dirty="0"/>
            <a:t> </a:t>
          </a:r>
        </a:p>
      </dgm:t>
    </dgm:pt>
    <dgm:pt modelId="{995DF02F-3FF2-4A23-AF4D-84A91832E988}" type="parTrans" cxnId="{F4F5F242-3D8D-4B88-A6BD-3CA9FAF00469}">
      <dgm:prSet/>
      <dgm:spPr/>
      <dgm:t>
        <a:bodyPr/>
        <a:lstStyle/>
        <a:p>
          <a:endParaRPr lang="en-US"/>
        </a:p>
      </dgm:t>
    </dgm:pt>
    <dgm:pt modelId="{1C70591C-D971-4FE9-9DF4-4BA945BF2102}" type="sibTrans" cxnId="{F4F5F242-3D8D-4B88-A6BD-3CA9FAF00469}">
      <dgm:prSet/>
      <dgm:spPr/>
      <dgm:t>
        <a:bodyPr/>
        <a:lstStyle/>
        <a:p>
          <a:endParaRPr lang="en-US"/>
        </a:p>
      </dgm:t>
    </dgm:pt>
    <dgm:pt modelId="{BE053709-3627-418D-BD01-74C66F53A50B}">
      <dgm:prSet phldrT="[Text]"/>
      <dgm:spPr/>
      <dgm:t>
        <a:bodyPr/>
        <a:lstStyle/>
        <a:p>
          <a:r>
            <a:rPr lang="en-US" dirty="0"/>
            <a:t> </a:t>
          </a:r>
        </a:p>
      </dgm:t>
    </dgm:pt>
    <dgm:pt modelId="{1268A4AB-EDB4-497D-A2A9-B93815772CBA}" type="parTrans" cxnId="{A369212F-833E-4B87-BCD7-FFB014E880D5}">
      <dgm:prSet/>
      <dgm:spPr/>
      <dgm:t>
        <a:bodyPr/>
        <a:lstStyle/>
        <a:p>
          <a:endParaRPr lang="en-US"/>
        </a:p>
      </dgm:t>
    </dgm:pt>
    <dgm:pt modelId="{0C576E5B-D9F2-4FC2-B153-A18744AF40D6}" type="sibTrans" cxnId="{A369212F-833E-4B87-BCD7-FFB014E880D5}">
      <dgm:prSet/>
      <dgm:spPr/>
      <dgm:t>
        <a:bodyPr/>
        <a:lstStyle/>
        <a:p>
          <a:endParaRPr lang="en-US"/>
        </a:p>
      </dgm:t>
    </dgm:pt>
    <dgm:pt modelId="{7A1F909D-DA30-472C-A16C-F279562CDE61}" type="pres">
      <dgm:prSet presAssocID="{39B092D9-FA2F-4512-ADE9-D4343FA6B65A}" presName="compositeShape" presStyleCnt="0">
        <dgm:presLayoutVars>
          <dgm:chMax val="7"/>
          <dgm:dir/>
          <dgm:resizeHandles val="exact"/>
        </dgm:presLayoutVars>
      </dgm:prSet>
      <dgm:spPr/>
    </dgm:pt>
    <dgm:pt modelId="{9AD9907F-D122-4230-9559-5C725740D08C}" type="pres">
      <dgm:prSet presAssocID="{39B092D9-FA2F-4512-ADE9-D4343FA6B65A}" presName="wedge1" presStyleLbl="node1" presStyleIdx="0" presStyleCnt="6"/>
      <dgm:spPr/>
    </dgm:pt>
    <dgm:pt modelId="{59373D79-01C6-41D8-8A74-4912A1A56FB9}" type="pres">
      <dgm:prSet presAssocID="{39B092D9-FA2F-4512-ADE9-D4343FA6B65A}" presName="dummy1a" presStyleCnt="0"/>
      <dgm:spPr/>
    </dgm:pt>
    <dgm:pt modelId="{E270D834-7FC0-4A33-924A-230F77E11437}" type="pres">
      <dgm:prSet presAssocID="{39B092D9-FA2F-4512-ADE9-D4343FA6B65A}" presName="dummy1b" presStyleCnt="0"/>
      <dgm:spPr/>
    </dgm:pt>
    <dgm:pt modelId="{7CFEE5F6-E7EB-4748-A071-BC93C4A78F9A}" type="pres">
      <dgm:prSet presAssocID="{39B092D9-FA2F-4512-ADE9-D4343FA6B65A}" presName="wedge1Tx" presStyleLbl="node1" presStyleIdx="0" presStyleCnt="6">
        <dgm:presLayoutVars>
          <dgm:chMax val="0"/>
          <dgm:chPref val="0"/>
          <dgm:bulletEnabled val="1"/>
        </dgm:presLayoutVars>
      </dgm:prSet>
      <dgm:spPr/>
    </dgm:pt>
    <dgm:pt modelId="{3023FCE4-654C-4253-B47E-5A5F90A389B7}" type="pres">
      <dgm:prSet presAssocID="{39B092D9-FA2F-4512-ADE9-D4343FA6B65A}" presName="wedge2" presStyleLbl="node1" presStyleIdx="1" presStyleCnt="6"/>
      <dgm:spPr/>
    </dgm:pt>
    <dgm:pt modelId="{29EE7444-57C0-4DBD-9681-8ABD2C1BC8D7}" type="pres">
      <dgm:prSet presAssocID="{39B092D9-FA2F-4512-ADE9-D4343FA6B65A}" presName="dummy2a" presStyleCnt="0"/>
      <dgm:spPr/>
    </dgm:pt>
    <dgm:pt modelId="{21FA7099-52BD-4146-878E-0ED01670BE33}" type="pres">
      <dgm:prSet presAssocID="{39B092D9-FA2F-4512-ADE9-D4343FA6B65A}" presName="dummy2b" presStyleCnt="0"/>
      <dgm:spPr/>
    </dgm:pt>
    <dgm:pt modelId="{8859535D-5813-4857-9320-A21E861E0366}" type="pres">
      <dgm:prSet presAssocID="{39B092D9-FA2F-4512-ADE9-D4343FA6B65A}" presName="wedge2Tx" presStyleLbl="node1" presStyleIdx="1" presStyleCnt="6">
        <dgm:presLayoutVars>
          <dgm:chMax val="0"/>
          <dgm:chPref val="0"/>
          <dgm:bulletEnabled val="1"/>
        </dgm:presLayoutVars>
      </dgm:prSet>
      <dgm:spPr/>
    </dgm:pt>
    <dgm:pt modelId="{1288EE2F-11B2-4685-B21B-978BF073D04B}" type="pres">
      <dgm:prSet presAssocID="{39B092D9-FA2F-4512-ADE9-D4343FA6B65A}" presName="wedge3" presStyleLbl="node1" presStyleIdx="2" presStyleCnt="6"/>
      <dgm:spPr/>
    </dgm:pt>
    <dgm:pt modelId="{8D434312-9300-42C2-BE6E-E64E61A419DC}" type="pres">
      <dgm:prSet presAssocID="{39B092D9-FA2F-4512-ADE9-D4343FA6B65A}" presName="dummy3a" presStyleCnt="0"/>
      <dgm:spPr/>
    </dgm:pt>
    <dgm:pt modelId="{F4CB9712-F73B-4B12-9210-E0861DC421E0}" type="pres">
      <dgm:prSet presAssocID="{39B092D9-FA2F-4512-ADE9-D4343FA6B65A}" presName="dummy3b" presStyleCnt="0"/>
      <dgm:spPr/>
    </dgm:pt>
    <dgm:pt modelId="{7B0E6341-A574-469B-9C7E-C32AC69BB2E7}" type="pres">
      <dgm:prSet presAssocID="{39B092D9-FA2F-4512-ADE9-D4343FA6B65A}" presName="wedge3Tx" presStyleLbl="node1" presStyleIdx="2" presStyleCnt="6">
        <dgm:presLayoutVars>
          <dgm:chMax val="0"/>
          <dgm:chPref val="0"/>
          <dgm:bulletEnabled val="1"/>
        </dgm:presLayoutVars>
      </dgm:prSet>
      <dgm:spPr/>
    </dgm:pt>
    <dgm:pt modelId="{279AC8AE-EBD9-440A-A974-EF5888F91BCD}" type="pres">
      <dgm:prSet presAssocID="{39B092D9-FA2F-4512-ADE9-D4343FA6B65A}" presName="wedge4" presStyleLbl="node1" presStyleIdx="3" presStyleCnt="6"/>
      <dgm:spPr/>
    </dgm:pt>
    <dgm:pt modelId="{4E3151F2-5096-4AF1-820A-0EBF5E73C3FE}" type="pres">
      <dgm:prSet presAssocID="{39B092D9-FA2F-4512-ADE9-D4343FA6B65A}" presName="dummy4a" presStyleCnt="0"/>
      <dgm:spPr/>
    </dgm:pt>
    <dgm:pt modelId="{9A10D389-E4A9-441F-BE60-F3E4425660B6}" type="pres">
      <dgm:prSet presAssocID="{39B092D9-FA2F-4512-ADE9-D4343FA6B65A}" presName="dummy4b" presStyleCnt="0"/>
      <dgm:spPr/>
    </dgm:pt>
    <dgm:pt modelId="{43AA9BA0-92CF-43DF-ADF7-1107B010C9C9}" type="pres">
      <dgm:prSet presAssocID="{39B092D9-FA2F-4512-ADE9-D4343FA6B65A}" presName="wedge4Tx" presStyleLbl="node1" presStyleIdx="3" presStyleCnt="6">
        <dgm:presLayoutVars>
          <dgm:chMax val="0"/>
          <dgm:chPref val="0"/>
          <dgm:bulletEnabled val="1"/>
        </dgm:presLayoutVars>
      </dgm:prSet>
      <dgm:spPr/>
    </dgm:pt>
    <dgm:pt modelId="{645FE152-9DF9-46EA-B3A3-09C3FBC02B4E}" type="pres">
      <dgm:prSet presAssocID="{39B092D9-FA2F-4512-ADE9-D4343FA6B65A}" presName="wedge5" presStyleLbl="node1" presStyleIdx="4" presStyleCnt="6"/>
      <dgm:spPr/>
    </dgm:pt>
    <dgm:pt modelId="{8E039D29-C50A-40F9-A279-2EADFE47E72C}" type="pres">
      <dgm:prSet presAssocID="{39B092D9-FA2F-4512-ADE9-D4343FA6B65A}" presName="dummy5a" presStyleCnt="0"/>
      <dgm:spPr/>
    </dgm:pt>
    <dgm:pt modelId="{9E039763-A000-4012-8186-085B72136DCF}" type="pres">
      <dgm:prSet presAssocID="{39B092D9-FA2F-4512-ADE9-D4343FA6B65A}" presName="dummy5b" presStyleCnt="0"/>
      <dgm:spPr/>
    </dgm:pt>
    <dgm:pt modelId="{A09F606A-C77C-4979-B335-4BD320ABCB8B}" type="pres">
      <dgm:prSet presAssocID="{39B092D9-FA2F-4512-ADE9-D4343FA6B65A}" presName="wedge5Tx" presStyleLbl="node1" presStyleIdx="4" presStyleCnt="6">
        <dgm:presLayoutVars>
          <dgm:chMax val="0"/>
          <dgm:chPref val="0"/>
          <dgm:bulletEnabled val="1"/>
        </dgm:presLayoutVars>
      </dgm:prSet>
      <dgm:spPr/>
    </dgm:pt>
    <dgm:pt modelId="{E62781E9-55C7-4ADD-B5A3-C7A7BD28E249}" type="pres">
      <dgm:prSet presAssocID="{39B092D9-FA2F-4512-ADE9-D4343FA6B65A}" presName="wedge6" presStyleLbl="node1" presStyleIdx="5" presStyleCnt="6"/>
      <dgm:spPr/>
    </dgm:pt>
    <dgm:pt modelId="{ED1547A5-9F7B-4ACF-BFA0-82C976960B83}" type="pres">
      <dgm:prSet presAssocID="{39B092D9-FA2F-4512-ADE9-D4343FA6B65A}" presName="dummy6a" presStyleCnt="0"/>
      <dgm:spPr/>
    </dgm:pt>
    <dgm:pt modelId="{CA44C4FE-FB2B-413A-9E14-81F3D73993FC}" type="pres">
      <dgm:prSet presAssocID="{39B092D9-FA2F-4512-ADE9-D4343FA6B65A}" presName="dummy6b" presStyleCnt="0"/>
      <dgm:spPr/>
    </dgm:pt>
    <dgm:pt modelId="{D0293295-E469-4313-A7E6-E5A90E0A04B7}" type="pres">
      <dgm:prSet presAssocID="{39B092D9-FA2F-4512-ADE9-D4343FA6B65A}" presName="wedge6Tx" presStyleLbl="node1" presStyleIdx="5" presStyleCnt="6">
        <dgm:presLayoutVars>
          <dgm:chMax val="0"/>
          <dgm:chPref val="0"/>
          <dgm:bulletEnabled val="1"/>
        </dgm:presLayoutVars>
      </dgm:prSet>
      <dgm:spPr/>
    </dgm:pt>
    <dgm:pt modelId="{AC736A43-3B84-490C-A3E9-37F4B41B82EC}" type="pres">
      <dgm:prSet presAssocID="{785A21FB-ECF6-4072-9A98-81BEAA460632}" presName="arrowWedge1" presStyleLbl="fgSibTrans2D1" presStyleIdx="0" presStyleCnt="6"/>
      <dgm:spPr/>
    </dgm:pt>
    <dgm:pt modelId="{DA965EFF-8831-4DAD-A015-25FCCED5C51B}" type="pres">
      <dgm:prSet presAssocID="{1C70591C-D971-4FE9-9DF4-4BA945BF2102}" presName="arrowWedge2" presStyleLbl="fgSibTrans2D1" presStyleIdx="1" presStyleCnt="6"/>
      <dgm:spPr/>
    </dgm:pt>
    <dgm:pt modelId="{847444D0-0BFC-4462-9894-72F01E909842}" type="pres">
      <dgm:prSet presAssocID="{E6E79D84-689D-4DF7-8594-12379EA234D1}" presName="arrowWedge3" presStyleLbl="fgSibTrans2D1" presStyleIdx="2" presStyleCnt="6"/>
      <dgm:spPr/>
    </dgm:pt>
    <dgm:pt modelId="{19E94F1A-B4C7-43BC-80C4-D4DA5A17C085}" type="pres">
      <dgm:prSet presAssocID="{D967019B-2131-49DC-8449-619A902C915D}" presName="arrowWedge4" presStyleLbl="fgSibTrans2D1" presStyleIdx="3" presStyleCnt="6"/>
      <dgm:spPr/>
    </dgm:pt>
    <dgm:pt modelId="{FDEFA0A5-70A0-4AAE-97ED-0F7884635B0B}" type="pres">
      <dgm:prSet presAssocID="{9479191E-3733-475F-B8E8-528023345057}" presName="arrowWedge5" presStyleLbl="fgSibTrans2D1" presStyleIdx="4" presStyleCnt="6"/>
      <dgm:spPr/>
    </dgm:pt>
    <dgm:pt modelId="{562F4F8B-0186-4F91-9D0C-834A91DA92AD}" type="pres">
      <dgm:prSet presAssocID="{0C576E5B-D9F2-4FC2-B153-A18744AF40D6}" presName="arrowWedge6" presStyleLbl="fgSibTrans2D1" presStyleIdx="5" presStyleCnt="6"/>
      <dgm:spPr/>
    </dgm:pt>
  </dgm:ptLst>
  <dgm:cxnLst>
    <dgm:cxn modelId="{4462F71F-C76C-4B72-AAAF-53B226F0450F}" type="presOf" srcId="{39B092D9-FA2F-4512-ADE9-D4343FA6B65A}" destId="{7A1F909D-DA30-472C-A16C-F279562CDE61}" srcOrd="0" destOrd="0" presId="urn:microsoft.com/office/officeart/2005/8/layout/cycle8"/>
    <dgm:cxn modelId="{DBC30128-D770-4CC6-97F3-9CE0FD9392E2}" type="presOf" srcId="{F5C87D08-6D5E-47BF-8AC5-F7DEACFF558B}" destId="{43AA9BA0-92CF-43DF-ADF7-1107B010C9C9}" srcOrd="1" destOrd="0" presId="urn:microsoft.com/office/officeart/2005/8/layout/cycle8"/>
    <dgm:cxn modelId="{A369212F-833E-4B87-BCD7-FFB014E880D5}" srcId="{39B092D9-FA2F-4512-ADE9-D4343FA6B65A}" destId="{BE053709-3627-418D-BD01-74C66F53A50B}" srcOrd="5" destOrd="0" parTransId="{1268A4AB-EDB4-497D-A2A9-B93815772CBA}" sibTransId="{0C576E5B-D9F2-4FC2-B153-A18744AF40D6}"/>
    <dgm:cxn modelId="{050AD12F-F970-4F76-B881-5F4C88A18F57}" type="presOf" srcId="{92E08CED-81AC-47A0-BF3B-44DD2283A0A4}" destId="{3023FCE4-654C-4253-B47E-5A5F90A389B7}" srcOrd="0" destOrd="0" presId="urn:microsoft.com/office/officeart/2005/8/layout/cycle8"/>
    <dgm:cxn modelId="{8EED183F-6643-4B14-AA03-E4B66071581B}" type="presOf" srcId="{6346BECF-2050-4F33-8CCF-73EE063EE166}" destId="{A09F606A-C77C-4979-B335-4BD320ABCB8B}" srcOrd="1" destOrd="0" presId="urn:microsoft.com/office/officeart/2005/8/layout/cycle8"/>
    <dgm:cxn modelId="{F4F5F242-3D8D-4B88-A6BD-3CA9FAF00469}" srcId="{39B092D9-FA2F-4512-ADE9-D4343FA6B65A}" destId="{92E08CED-81AC-47A0-BF3B-44DD2283A0A4}" srcOrd="1" destOrd="0" parTransId="{995DF02F-3FF2-4A23-AF4D-84A91832E988}" sibTransId="{1C70591C-D971-4FE9-9DF4-4BA945BF2102}"/>
    <dgm:cxn modelId="{ECAD6854-42EC-4A27-9340-70389A78DBB8}" srcId="{39B092D9-FA2F-4512-ADE9-D4343FA6B65A}" destId="{F5C87D08-6D5E-47BF-8AC5-F7DEACFF558B}" srcOrd="3" destOrd="0" parTransId="{78244211-63D1-4087-98C8-DB58677735CA}" sibTransId="{D967019B-2131-49DC-8449-619A902C915D}"/>
    <dgm:cxn modelId="{401FF656-FD3F-410A-9C62-A13A00EEAEDE}" type="presOf" srcId="{9417236F-81A2-4E7F-A0EA-C15B332D3E9E}" destId="{7CFEE5F6-E7EB-4748-A071-BC93C4A78F9A}" srcOrd="1" destOrd="0" presId="urn:microsoft.com/office/officeart/2005/8/layout/cycle8"/>
    <dgm:cxn modelId="{D4513E7B-E114-4E52-9377-DD61EBEE57F7}" srcId="{39B092D9-FA2F-4512-ADE9-D4343FA6B65A}" destId="{9417236F-81A2-4E7F-A0EA-C15B332D3E9E}" srcOrd="0" destOrd="0" parTransId="{BAB1D68D-2418-4BF2-AB48-D2CDFDC14F71}" sibTransId="{785A21FB-ECF6-4072-9A98-81BEAA460632}"/>
    <dgm:cxn modelId="{85DDE885-B126-4B71-8F05-74C645B22EB0}" type="presOf" srcId="{92E08CED-81AC-47A0-BF3B-44DD2283A0A4}" destId="{8859535D-5813-4857-9320-A21E861E0366}" srcOrd="1" destOrd="0" presId="urn:microsoft.com/office/officeart/2005/8/layout/cycle8"/>
    <dgm:cxn modelId="{99B97C88-7633-4439-BAFF-0B1F403017C5}" type="presOf" srcId="{BE053709-3627-418D-BD01-74C66F53A50B}" destId="{D0293295-E469-4313-A7E6-E5A90E0A04B7}" srcOrd="1" destOrd="0" presId="urn:microsoft.com/office/officeart/2005/8/layout/cycle8"/>
    <dgm:cxn modelId="{CD3C9C8F-152D-4389-B273-344872846455}" type="presOf" srcId="{6346BECF-2050-4F33-8CCF-73EE063EE166}" destId="{645FE152-9DF9-46EA-B3A3-09C3FBC02B4E}" srcOrd="0" destOrd="0" presId="urn:microsoft.com/office/officeart/2005/8/layout/cycle8"/>
    <dgm:cxn modelId="{5436379D-278D-4074-B1C6-4105B76005BB}" type="presOf" srcId="{2E3819F4-D7D1-48D5-A034-4A0AC49D7CA8}" destId="{7B0E6341-A574-469B-9C7E-C32AC69BB2E7}" srcOrd="1" destOrd="0" presId="urn:microsoft.com/office/officeart/2005/8/layout/cycle8"/>
    <dgm:cxn modelId="{F9B0DEA4-CF7F-4A99-B982-C68DE37C1A4A}" type="presOf" srcId="{F5C87D08-6D5E-47BF-8AC5-F7DEACFF558B}" destId="{279AC8AE-EBD9-440A-A974-EF5888F91BCD}" srcOrd="0" destOrd="0" presId="urn:microsoft.com/office/officeart/2005/8/layout/cycle8"/>
    <dgm:cxn modelId="{71B328B3-A550-423F-970B-C9872A9192EB}" srcId="{39B092D9-FA2F-4512-ADE9-D4343FA6B65A}" destId="{2E3819F4-D7D1-48D5-A034-4A0AC49D7CA8}" srcOrd="2" destOrd="0" parTransId="{6F34A17B-4F71-4280-812B-0F14CF77D456}" sibTransId="{E6E79D84-689D-4DF7-8594-12379EA234D1}"/>
    <dgm:cxn modelId="{9DA9D6C0-2484-4E27-AB33-718ADDBBC0B5}" type="presOf" srcId="{9417236F-81A2-4E7F-A0EA-C15B332D3E9E}" destId="{9AD9907F-D122-4230-9559-5C725740D08C}" srcOrd="0" destOrd="0" presId="urn:microsoft.com/office/officeart/2005/8/layout/cycle8"/>
    <dgm:cxn modelId="{79F7DBF2-F1CB-4B0D-9C1C-C4227FFB1117}" type="presOf" srcId="{2E3819F4-D7D1-48D5-A034-4A0AC49D7CA8}" destId="{1288EE2F-11B2-4685-B21B-978BF073D04B}" srcOrd="0" destOrd="0" presId="urn:microsoft.com/office/officeart/2005/8/layout/cycle8"/>
    <dgm:cxn modelId="{5045F3FC-E784-4B16-9586-DC2D42EE010D}" srcId="{39B092D9-FA2F-4512-ADE9-D4343FA6B65A}" destId="{6346BECF-2050-4F33-8CCF-73EE063EE166}" srcOrd="4" destOrd="0" parTransId="{E2E291A4-FFFC-48EF-92AC-44526AA6F1BB}" sibTransId="{9479191E-3733-475F-B8E8-528023345057}"/>
    <dgm:cxn modelId="{BE8B89FE-CEFE-4047-9022-FA2A89DD2821}" type="presOf" srcId="{BE053709-3627-418D-BD01-74C66F53A50B}" destId="{E62781E9-55C7-4ADD-B5A3-C7A7BD28E249}" srcOrd="0" destOrd="0" presId="urn:microsoft.com/office/officeart/2005/8/layout/cycle8"/>
    <dgm:cxn modelId="{9E24D5AA-4BC1-42FB-AFB9-D64E3B2D99CB}" type="presParOf" srcId="{7A1F909D-DA30-472C-A16C-F279562CDE61}" destId="{9AD9907F-D122-4230-9559-5C725740D08C}" srcOrd="0" destOrd="0" presId="urn:microsoft.com/office/officeart/2005/8/layout/cycle8"/>
    <dgm:cxn modelId="{E2B36959-9889-42DF-A057-00E9F7C23CC9}" type="presParOf" srcId="{7A1F909D-DA30-472C-A16C-F279562CDE61}" destId="{59373D79-01C6-41D8-8A74-4912A1A56FB9}" srcOrd="1" destOrd="0" presId="urn:microsoft.com/office/officeart/2005/8/layout/cycle8"/>
    <dgm:cxn modelId="{77E24AE1-C4AA-46FA-B592-7393CB4891F1}" type="presParOf" srcId="{7A1F909D-DA30-472C-A16C-F279562CDE61}" destId="{E270D834-7FC0-4A33-924A-230F77E11437}" srcOrd="2" destOrd="0" presId="urn:microsoft.com/office/officeart/2005/8/layout/cycle8"/>
    <dgm:cxn modelId="{78A68654-BB08-4C49-BD3B-7B0652AB31E7}" type="presParOf" srcId="{7A1F909D-DA30-472C-A16C-F279562CDE61}" destId="{7CFEE5F6-E7EB-4748-A071-BC93C4A78F9A}" srcOrd="3" destOrd="0" presId="urn:microsoft.com/office/officeart/2005/8/layout/cycle8"/>
    <dgm:cxn modelId="{F9382182-C187-48EE-8F42-01F4894A9C2F}" type="presParOf" srcId="{7A1F909D-DA30-472C-A16C-F279562CDE61}" destId="{3023FCE4-654C-4253-B47E-5A5F90A389B7}" srcOrd="4" destOrd="0" presId="urn:microsoft.com/office/officeart/2005/8/layout/cycle8"/>
    <dgm:cxn modelId="{F159A948-5CFB-4A5B-A049-747B93313D29}" type="presParOf" srcId="{7A1F909D-DA30-472C-A16C-F279562CDE61}" destId="{29EE7444-57C0-4DBD-9681-8ABD2C1BC8D7}" srcOrd="5" destOrd="0" presId="urn:microsoft.com/office/officeart/2005/8/layout/cycle8"/>
    <dgm:cxn modelId="{DF6D7E08-799D-4A58-AED3-CCD7F1D4140D}" type="presParOf" srcId="{7A1F909D-DA30-472C-A16C-F279562CDE61}" destId="{21FA7099-52BD-4146-878E-0ED01670BE33}" srcOrd="6" destOrd="0" presId="urn:microsoft.com/office/officeart/2005/8/layout/cycle8"/>
    <dgm:cxn modelId="{F2FC4DF4-E421-4BD8-9CC3-F6FB00E36A94}" type="presParOf" srcId="{7A1F909D-DA30-472C-A16C-F279562CDE61}" destId="{8859535D-5813-4857-9320-A21E861E0366}" srcOrd="7" destOrd="0" presId="urn:microsoft.com/office/officeart/2005/8/layout/cycle8"/>
    <dgm:cxn modelId="{6B8EE515-8D06-4E96-863E-93B471CE0F17}" type="presParOf" srcId="{7A1F909D-DA30-472C-A16C-F279562CDE61}" destId="{1288EE2F-11B2-4685-B21B-978BF073D04B}" srcOrd="8" destOrd="0" presId="urn:microsoft.com/office/officeart/2005/8/layout/cycle8"/>
    <dgm:cxn modelId="{E8C69865-0BEF-4204-82E6-6AC91A444A8E}" type="presParOf" srcId="{7A1F909D-DA30-472C-A16C-F279562CDE61}" destId="{8D434312-9300-42C2-BE6E-E64E61A419DC}" srcOrd="9" destOrd="0" presId="urn:microsoft.com/office/officeart/2005/8/layout/cycle8"/>
    <dgm:cxn modelId="{2DD4258C-B940-46DA-85D2-887E8B9C33B7}" type="presParOf" srcId="{7A1F909D-DA30-472C-A16C-F279562CDE61}" destId="{F4CB9712-F73B-4B12-9210-E0861DC421E0}" srcOrd="10" destOrd="0" presId="urn:microsoft.com/office/officeart/2005/8/layout/cycle8"/>
    <dgm:cxn modelId="{748713E0-ACF4-432C-9DF9-631C46239562}" type="presParOf" srcId="{7A1F909D-DA30-472C-A16C-F279562CDE61}" destId="{7B0E6341-A574-469B-9C7E-C32AC69BB2E7}" srcOrd="11" destOrd="0" presId="urn:microsoft.com/office/officeart/2005/8/layout/cycle8"/>
    <dgm:cxn modelId="{11215CA1-01CD-4F69-956F-E41CBC5F7ED0}" type="presParOf" srcId="{7A1F909D-DA30-472C-A16C-F279562CDE61}" destId="{279AC8AE-EBD9-440A-A974-EF5888F91BCD}" srcOrd="12" destOrd="0" presId="urn:microsoft.com/office/officeart/2005/8/layout/cycle8"/>
    <dgm:cxn modelId="{908E7CD9-2419-4EB0-93DA-A0275DCB2F75}" type="presParOf" srcId="{7A1F909D-DA30-472C-A16C-F279562CDE61}" destId="{4E3151F2-5096-4AF1-820A-0EBF5E73C3FE}" srcOrd="13" destOrd="0" presId="urn:microsoft.com/office/officeart/2005/8/layout/cycle8"/>
    <dgm:cxn modelId="{1F20C3DE-BF6B-4F8C-8CC0-4B5DF9DB4610}" type="presParOf" srcId="{7A1F909D-DA30-472C-A16C-F279562CDE61}" destId="{9A10D389-E4A9-441F-BE60-F3E4425660B6}" srcOrd="14" destOrd="0" presId="urn:microsoft.com/office/officeart/2005/8/layout/cycle8"/>
    <dgm:cxn modelId="{4AEC4C11-5EFF-422B-90A4-4E29C204A208}" type="presParOf" srcId="{7A1F909D-DA30-472C-A16C-F279562CDE61}" destId="{43AA9BA0-92CF-43DF-ADF7-1107B010C9C9}" srcOrd="15" destOrd="0" presId="urn:microsoft.com/office/officeart/2005/8/layout/cycle8"/>
    <dgm:cxn modelId="{DC671BC9-8C04-49AC-A816-0F2FAE30B4CB}" type="presParOf" srcId="{7A1F909D-DA30-472C-A16C-F279562CDE61}" destId="{645FE152-9DF9-46EA-B3A3-09C3FBC02B4E}" srcOrd="16" destOrd="0" presId="urn:microsoft.com/office/officeart/2005/8/layout/cycle8"/>
    <dgm:cxn modelId="{A8949C2E-F3CB-4C35-AE7A-F82EFA5E073D}" type="presParOf" srcId="{7A1F909D-DA30-472C-A16C-F279562CDE61}" destId="{8E039D29-C50A-40F9-A279-2EADFE47E72C}" srcOrd="17" destOrd="0" presId="urn:microsoft.com/office/officeart/2005/8/layout/cycle8"/>
    <dgm:cxn modelId="{559CED4D-4E08-4A23-B98B-19B6AD4517E6}" type="presParOf" srcId="{7A1F909D-DA30-472C-A16C-F279562CDE61}" destId="{9E039763-A000-4012-8186-085B72136DCF}" srcOrd="18" destOrd="0" presId="urn:microsoft.com/office/officeart/2005/8/layout/cycle8"/>
    <dgm:cxn modelId="{8CA9B908-D0F2-4E29-84CF-29DABE564042}" type="presParOf" srcId="{7A1F909D-DA30-472C-A16C-F279562CDE61}" destId="{A09F606A-C77C-4979-B335-4BD320ABCB8B}" srcOrd="19" destOrd="0" presId="urn:microsoft.com/office/officeart/2005/8/layout/cycle8"/>
    <dgm:cxn modelId="{14342312-E97F-4ABD-89AB-3ABC10A7278E}" type="presParOf" srcId="{7A1F909D-DA30-472C-A16C-F279562CDE61}" destId="{E62781E9-55C7-4ADD-B5A3-C7A7BD28E249}" srcOrd="20" destOrd="0" presId="urn:microsoft.com/office/officeart/2005/8/layout/cycle8"/>
    <dgm:cxn modelId="{A70DDF1A-A233-4A7B-8E15-7FF03FC53288}" type="presParOf" srcId="{7A1F909D-DA30-472C-A16C-F279562CDE61}" destId="{ED1547A5-9F7B-4ACF-BFA0-82C976960B83}" srcOrd="21" destOrd="0" presId="urn:microsoft.com/office/officeart/2005/8/layout/cycle8"/>
    <dgm:cxn modelId="{706D71DA-8E47-4BD1-BFA3-960282CE82F2}" type="presParOf" srcId="{7A1F909D-DA30-472C-A16C-F279562CDE61}" destId="{CA44C4FE-FB2B-413A-9E14-81F3D73993FC}" srcOrd="22" destOrd="0" presId="urn:microsoft.com/office/officeart/2005/8/layout/cycle8"/>
    <dgm:cxn modelId="{0688DB2F-EE71-4E4B-9B44-FBF46A334864}" type="presParOf" srcId="{7A1F909D-DA30-472C-A16C-F279562CDE61}" destId="{D0293295-E469-4313-A7E6-E5A90E0A04B7}" srcOrd="23" destOrd="0" presId="urn:microsoft.com/office/officeart/2005/8/layout/cycle8"/>
    <dgm:cxn modelId="{D6EA08D7-18FB-4844-9BBD-D854BFCCA04A}" type="presParOf" srcId="{7A1F909D-DA30-472C-A16C-F279562CDE61}" destId="{AC736A43-3B84-490C-A3E9-37F4B41B82EC}" srcOrd="24" destOrd="0" presId="urn:microsoft.com/office/officeart/2005/8/layout/cycle8"/>
    <dgm:cxn modelId="{5CE9B34D-B73B-4D99-96DA-965CD62DA46F}" type="presParOf" srcId="{7A1F909D-DA30-472C-A16C-F279562CDE61}" destId="{DA965EFF-8831-4DAD-A015-25FCCED5C51B}" srcOrd="25" destOrd="0" presId="urn:microsoft.com/office/officeart/2005/8/layout/cycle8"/>
    <dgm:cxn modelId="{76F97D63-3C80-4F65-96D9-C0A11DD1363B}" type="presParOf" srcId="{7A1F909D-DA30-472C-A16C-F279562CDE61}" destId="{847444D0-0BFC-4462-9894-72F01E909842}" srcOrd="26" destOrd="0" presId="urn:microsoft.com/office/officeart/2005/8/layout/cycle8"/>
    <dgm:cxn modelId="{249DB2AC-88E8-453F-913A-4BB77919397E}" type="presParOf" srcId="{7A1F909D-DA30-472C-A16C-F279562CDE61}" destId="{19E94F1A-B4C7-43BC-80C4-D4DA5A17C085}" srcOrd="27" destOrd="0" presId="urn:microsoft.com/office/officeart/2005/8/layout/cycle8"/>
    <dgm:cxn modelId="{F466FC78-FC7C-410C-B16F-909900ACB211}" type="presParOf" srcId="{7A1F909D-DA30-472C-A16C-F279562CDE61}" destId="{FDEFA0A5-70A0-4AAE-97ED-0F7884635B0B}" srcOrd="28" destOrd="0" presId="urn:microsoft.com/office/officeart/2005/8/layout/cycle8"/>
    <dgm:cxn modelId="{BE1C1976-A5DE-482E-A93E-0EC6EA9B2D8B}" type="presParOf" srcId="{7A1F909D-DA30-472C-A16C-F279562CDE61}" destId="{562F4F8B-0186-4F91-9D0C-834A91DA92AD}" srcOrd="29"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6B2048-F8DF-44DA-A21C-71B38352F6A7}" type="doc">
      <dgm:prSet loTypeId="urn:diagrams.loki3.com/BracketList" loCatId="list" qsTypeId="urn:microsoft.com/office/officeart/2005/8/quickstyle/simple1" qsCatId="simple" csTypeId="urn:microsoft.com/office/officeart/2005/8/colors/accent0_3" csCatId="mainScheme" phldr="1"/>
      <dgm:spPr/>
      <dgm:t>
        <a:bodyPr/>
        <a:lstStyle/>
        <a:p>
          <a:endParaRPr lang="en-US"/>
        </a:p>
      </dgm:t>
    </dgm:pt>
    <dgm:pt modelId="{E00C1D24-BB66-4CBF-B136-6F99830A3779}">
      <dgm:prSet phldrT="[Text]"/>
      <dgm:spPr/>
      <dgm:t>
        <a:bodyPr/>
        <a:lstStyle/>
        <a:p>
          <a:r>
            <a:rPr lang="en-US" dirty="0" err="1"/>
            <a:t>addFront</a:t>
          </a:r>
          <a:r>
            <a:rPr lang="en-US" dirty="0"/>
            <a:t>(data) </a:t>
          </a:r>
        </a:p>
      </dgm:t>
    </dgm:pt>
    <dgm:pt modelId="{A723F9C8-7FFF-4F1B-AB7E-EEA56ACA1808}" type="parTrans" cxnId="{FC986EB3-8C1E-4863-A4CD-97AC34DD27DF}">
      <dgm:prSet/>
      <dgm:spPr/>
      <dgm:t>
        <a:bodyPr/>
        <a:lstStyle/>
        <a:p>
          <a:endParaRPr lang="en-US"/>
        </a:p>
      </dgm:t>
    </dgm:pt>
    <dgm:pt modelId="{33C71218-5E23-45FF-9666-78924E3628A2}" type="sibTrans" cxnId="{FC986EB3-8C1E-4863-A4CD-97AC34DD27DF}">
      <dgm:prSet/>
      <dgm:spPr/>
      <dgm:t>
        <a:bodyPr/>
        <a:lstStyle/>
        <a:p>
          <a:endParaRPr lang="en-US"/>
        </a:p>
      </dgm:t>
    </dgm:pt>
    <dgm:pt modelId="{37155B4A-4C6B-4350-9C18-5B812C06211A}">
      <dgm:prSet/>
      <dgm:spPr/>
      <dgm:t>
        <a:bodyPr/>
        <a:lstStyle/>
        <a:p>
          <a:r>
            <a:rPr lang="en-US"/>
            <a:t>adds a new item to the front of the deque</a:t>
          </a:r>
          <a:endParaRPr lang="en-US" dirty="0"/>
        </a:p>
      </dgm:t>
    </dgm:pt>
    <dgm:pt modelId="{BC807711-2880-4227-9609-CD4F8AE8C239}" type="parTrans" cxnId="{BDE056EF-9F39-46C0-86A8-2F7C503159F7}">
      <dgm:prSet/>
      <dgm:spPr/>
      <dgm:t>
        <a:bodyPr/>
        <a:lstStyle/>
        <a:p>
          <a:endParaRPr lang="en-US"/>
        </a:p>
      </dgm:t>
    </dgm:pt>
    <dgm:pt modelId="{30C270CB-A3CA-4F9F-A825-AD1AE08BC544}" type="sibTrans" cxnId="{BDE056EF-9F39-46C0-86A8-2F7C503159F7}">
      <dgm:prSet/>
      <dgm:spPr/>
      <dgm:t>
        <a:bodyPr/>
        <a:lstStyle/>
        <a:p>
          <a:endParaRPr lang="en-US"/>
        </a:p>
      </dgm:t>
    </dgm:pt>
    <dgm:pt modelId="{7504B2B1-42A5-4E15-8BBA-F85E24485405}">
      <dgm:prSet/>
      <dgm:spPr/>
      <dgm:t>
        <a:bodyPr/>
        <a:lstStyle/>
        <a:p>
          <a:r>
            <a:rPr lang="en-US"/>
            <a:t>addRear(data) </a:t>
          </a:r>
          <a:endParaRPr lang="en-US" dirty="0"/>
        </a:p>
      </dgm:t>
    </dgm:pt>
    <dgm:pt modelId="{708BDDB1-33D1-4E25-A0F0-511F1CB89B27}" type="parTrans" cxnId="{C9B9FEBF-15BF-4FB2-8145-FEDCA052D89D}">
      <dgm:prSet/>
      <dgm:spPr/>
      <dgm:t>
        <a:bodyPr/>
        <a:lstStyle/>
        <a:p>
          <a:endParaRPr lang="en-US"/>
        </a:p>
      </dgm:t>
    </dgm:pt>
    <dgm:pt modelId="{557B867D-1981-4EB0-9181-418BBFA684F8}" type="sibTrans" cxnId="{C9B9FEBF-15BF-4FB2-8145-FEDCA052D89D}">
      <dgm:prSet/>
      <dgm:spPr/>
      <dgm:t>
        <a:bodyPr/>
        <a:lstStyle/>
        <a:p>
          <a:endParaRPr lang="en-US"/>
        </a:p>
      </dgm:t>
    </dgm:pt>
    <dgm:pt modelId="{540B4E79-C91A-4514-9BEE-ED2286A06AA5}">
      <dgm:prSet/>
      <dgm:spPr/>
      <dgm:t>
        <a:bodyPr/>
        <a:lstStyle/>
        <a:p>
          <a:r>
            <a:rPr lang="en-US"/>
            <a:t>adds a new item to the rear of the deque</a:t>
          </a:r>
          <a:endParaRPr lang="en-US" dirty="0"/>
        </a:p>
      </dgm:t>
    </dgm:pt>
    <dgm:pt modelId="{1A5B0BA5-A145-4312-B089-3978E8C7BF14}" type="parTrans" cxnId="{87FAB28D-64BC-4D6D-8AE6-74FF9F5ACFBC}">
      <dgm:prSet/>
      <dgm:spPr/>
      <dgm:t>
        <a:bodyPr/>
        <a:lstStyle/>
        <a:p>
          <a:endParaRPr lang="en-US"/>
        </a:p>
      </dgm:t>
    </dgm:pt>
    <dgm:pt modelId="{52296C5D-EF9F-4320-B378-C846A65CC1AB}" type="sibTrans" cxnId="{87FAB28D-64BC-4D6D-8AE6-74FF9F5ACFBC}">
      <dgm:prSet/>
      <dgm:spPr/>
      <dgm:t>
        <a:bodyPr/>
        <a:lstStyle/>
        <a:p>
          <a:endParaRPr lang="en-US"/>
        </a:p>
      </dgm:t>
    </dgm:pt>
    <dgm:pt modelId="{D6416B44-34C7-46E1-8870-6A3D710F58B3}">
      <dgm:prSet/>
      <dgm:spPr/>
      <dgm:t>
        <a:bodyPr/>
        <a:lstStyle/>
        <a:p>
          <a:r>
            <a:rPr lang="en-US"/>
            <a:t>removeFront() </a:t>
          </a:r>
          <a:endParaRPr lang="en-US" dirty="0"/>
        </a:p>
      </dgm:t>
    </dgm:pt>
    <dgm:pt modelId="{C3C024C0-FA39-4C64-BF98-B3A2737EDE4D}" type="parTrans" cxnId="{1212E59B-03FE-43E9-9412-4D07CD8B4B89}">
      <dgm:prSet/>
      <dgm:spPr/>
      <dgm:t>
        <a:bodyPr/>
        <a:lstStyle/>
        <a:p>
          <a:endParaRPr lang="en-US"/>
        </a:p>
      </dgm:t>
    </dgm:pt>
    <dgm:pt modelId="{8026E2C7-4BEB-4A46-A0EF-5BC2CF7C7ACD}" type="sibTrans" cxnId="{1212E59B-03FE-43E9-9412-4D07CD8B4B89}">
      <dgm:prSet/>
      <dgm:spPr/>
      <dgm:t>
        <a:bodyPr/>
        <a:lstStyle/>
        <a:p>
          <a:endParaRPr lang="en-US"/>
        </a:p>
      </dgm:t>
    </dgm:pt>
    <dgm:pt modelId="{6236154A-374D-4445-A4B9-DAD7066556F7}">
      <dgm:prSet/>
      <dgm:spPr/>
      <dgm:t>
        <a:bodyPr/>
        <a:lstStyle/>
        <a:p>
          <a:r>
            <a:rPr lang="en-US"/>
            <a:t>removes the front item from the deque</a:t>
          </a:r>
          <a:endParaRPr lang="en-US" dirty="0"/>
        </a:p>
      </dgm:t>
    </dgm:pt>
    <dgm:pt modelId="{B9573C3D-74DA-4625-8244-2B37FC7B1AFD}" type="parTrans" cxnId="{E3BAD0AA-1AE8-45CE-8D95-AC06F9C8FA50}">
      <dgm:prSet/>
      <dgm:spPr/>
      <dgm:t>
        <a:bodyPr/>
        <a:lstStyle/>
        <a:p>
          <a:endParaRPr lang="en-US"/>
        </a:p>
      </dgm:t>
    </dgm:pt>
    <dgm:pt modelId="{0471A2EF-F738-4BAC-98A7-B9EE57A2D161}" type="sibTrans" cxnId="{E3BAD0AA-1AE8-45CE-8D95-AC06F9C8FA50}">
      <dgm:prSet/>
      <dgm:spPr/>
      <dgm:t>
        <a:bodyPr/>
        <a:lstStyle/>
        <a:p>
          <a:endParaRPr lang="en-US"/>
        </a:p>
      </dgm:t>
    </dgm:pt>
    <dgm:pt modelId="{C682A460-8B30-40C2-B636-7FA41C8A8925}">
      <dgm:prSet/>
      <dgm:spPr/>
      <dgm:t>
        <a:bodyPr/>
        <a:lstStyle/>
        <a:p>
          <a:r>
            <a:rPr lang="en-US"/>
            <a:t>removeRear() </a:t>
          </a:r>
          <a:endParaRPr lang="en-US" dirty="0"/>
        </a:p>
      </dgm:t>
    </dgm:pt>
    <dgm:pt modelId="{79E7F076-7E04-4BF6-BFDF-E73142DC43EC}" type="parTrans" cxnId="{7CC6AB0D-824D-4AC9-B3A9-283DB58C1B7D}">
      <dgm:prSet/>
      <dgm:spPr/>
      <dgm:t>
        <a:bodyPr/>
        <a:lstStyle/>
        <a:p>
          <a:endParaRPr lang="en-US"/>
        </a:p>
      </dgm:t>
    </dgm:pt>
    <dgm:pt modelId="{C64A6145-CB1F-4C3A-85B9-E4A1597D1325}" type="sibTrans" cxnId="{7CC6AB0D-824D-4AC9-B3A9-283DB58C1B7D}">
      <dgm:prSet/>
      <dgm:spPr/>
      <dgm:t>
        <a:bodyPr/>
        <a:lstStyle/>
        <a:p>
          <a:endParaRPr lang="en-US"/>
        </a:p>
      </dgm:t>
    </dgm:pt>
    <dgm:pt modelId="{08D0A9BC-04FE-4CBE-A622-476593AF0D51}">
      <dgm:prSet/>
      <dgm:spPr/>
      <dgm:t>
        <a:bodyPr/>
        <a:lstStyle/>
        <a:p>
          <a:r>
            <a:rPr lang="en-US"/>
            <a:t>removes the rear item from the deque</a:t>
          </a:r>
          <a:endParaRPr lang="en-US" dirty="0"/>
        </a:p>
      </dgm:t>
    </dgm:pt>
    <dgm:pt modelId="{80C25CE3-AFAC-4940-8A69-DF2ED3B4E933}" type="parTrans" cxnId="{28E28B20-FA9F-40DA-85B0-6B7147485775}">
      <dgm:prSet/>
      <dgm:spPr/>
      <dgm:t>
        <a:bodyPr/>
        <a:lstStyle/>
        <a:p>
          <a:endParaRPr lang="en-US"/>
        </a:p>
      </dgm:t>
    </dgm:pt>
    <dgm:pt modelId="{CC1C2D44-D2F2-42DA-9C2E-48A85CC14200}" type="sibTrans" cxnId="{28E28B20-FA9F-40DA-85B0-6B7147485775}">
      <dgm:prSet/>
      <dgm:spPr/>
      <dgm:t>
        <a:bodyPr/>
        <a:lstStyle/>
        <a:p>
          <a:endParaRPr lang="en-US"/>
        </a:p>
      </dgm:t>
    </dgm:pt>
    <dgm:pt modelId="{131EEC95-4164-4652-8A0F-47EFBE2270E9}">
      <dgm:prSet/>
      <dgm:spPr/>
      <dgm:t>
        <a:bodyPr/>
        <a:lstStyle/>
        <a:p>
          <a:r>
            <a:rPr lang="en-US"/>
            <a:t>peekFront() </a:t>
          </a:r>
          <a:endParaRPr lang="en-US" dirty="0"/>
        </a:p>
      </dgm:t>
    </dgm:pt>
    <dgm:pt modelId="{FEF07A61-5EDD-4030-BE66-C737EDB47B4F}" type="parTrans" cxnId="{94F6C5CB-7EB7-41E6-9A35-5A0FF89448A2}">
      <dgm:prSet/>
      <dgm:spPr/>
      <dgm:t>
        <a:bodyPr/>
        <a:lstStyle/>
        <a:p>
          <a:endParaRPr lang="en-US"/>
        </a:p>
      </dgm:t>
    </dgm:pt>
    <dgm:pt modelId="{9DCF5A72-70A8-49FD-AECA-BE1E4C4CCFFA}" type="sibTrans" cxnId="{94F6C5CB-7EB7-41E6-9A35-5A0FF89448A2}">
      <dgm:prSet/>
      <dgm:spPr/>
      <dgm:t>
        <a:bodyPr/>
        <a:lstStyle/>
        <a:p>
          <a:endParaRPr lang="en-US"/>
        </a:p>
      </dgm:t>
    </dgm:pt>
    <dgm:pt modelId="{FA2DB3C9-C939-4173-8BBB-4A854E2E1152}">
      <dgm:prSet/>
      <dgm:spPr/>
      <dgm:t>
        <a:bodyPr/>
        <a:lstStyle/>
        <a:p>
          <a:r>
            <a:rPr lang="en-US"/>
            <a:t>returns the item in the front of the deque, without removing it.</a:t>
          </a:r>
          <a:endParaRPr lang="en-US" dirty="0"/>
        </a:p>
      </dgm:t>
    </dgm:pt>
    <dgm:pt modelId="{46E7548C-7E5C-499F-B59F-78C2DAF97546}" type="parTrans" cxnId="{9829ED57-343E-4FD9-916B-CE92EADFE454}">
      <dgm:prSet/>
      <dgm:spPr/>
      <dgm:t>
        <a:bodyPr/>
        <a:lstStyle/>
        <a:p>
          <a:endParaRPr lang="en-US"/>
        </a:p>
      </dgm:t>
    </dgm:pt>
    <dgm:pt modelId="{875EC1BE-A354-46FB-B1C4-6BCD2FA7EFBB}" type="sibTrans" cxnId="{9829ED57-343E-4FD9-916B-CE92EADFE454}">
      <dgm:prSet/>
      <dgm:spPr/>
      <dgm:t>
        <a:bodyPr/>
        <a:lstStyle/>
        <a:p>
          <a:endParaRPr lang="en-US"/>
        </a:p>
      </dgm:t>
    </dgm:pt>
    <dgm:pt modelId="{354011B2-4F93-404B-A268-5CF9F3E31DA7}">
      <dgm:prSet/>
      <dgm:spPr/>
      <dgm:t>
        <a:bodyPr/>
        <a:lstStyle/>
        <a:p>
          <a:r>
            <a:rPr lang="en-US"/>
            <a:t>peekRear() </a:t>
          </a:r>
          <a:endParaRPr lang="en-US" dirty="0"/>
        </a:p>
      </dgm:t>
    </dgm:pt>
    <dgm:pt modelId="{8E9C90D9-CF88-43A7-A81C-282A99ED6C8B}" type="parTrans" cxnId="{E46B2A3D-515E-4BE9-9665-03F7EAD6C41C}">
      <dgm:prSet/>
      <dgm:spPr/>
      <dgm:t>
        <a:bodyPr/>
        <a:lstStyle/>
        <a:p>
          <a:endParaRPr lang="en-US"/>
        </a:p>
      </dgm:t>
    </dgm:pt>
    <dgm:pt modelId="{0D316ACC-CE5C-4EA7-8949-7FA61EC0CAF6}" type="sibTrans" cxnId="{E46B2A3D-515E-4BE9-9665-03F7EAD6C41C}">
      <dgm:prSet/>
      <dgm:spPr/>
      <dgm:t>
        <a:bodyPr/>
        <a:lstStyle/>
        <a:p>
          <a:endParaRPr lang="en-US"/>
        </a:p>
      </dgm:t>
    </dgm:pt>
    <dgm:pt modelId="{1AD825C5-16EA-44E6-B00F-E4C9EB2616A4}">
      <dgm:prSet/>
      <dgm:spPr/>
      <dgm:t>
        <a:bodyPr/>
        <a:lstStyle/>
        <a:p>
          <a:r>
            <a:rPr lang="en-US"/>
            <a:t>returns the item in the rear of the deque without removing it.</a:t>
          </a:r>
          <a:endParaRPr lang="en-US" dirty="0"/>
        </a:p>
      </dgm:t>
    </dgm:pt>
    <dgm:pt modelId="{6CC92DFB-E16E-4294-84EE-D4A53717C3BB}" type="parTrans" cxnId="{E1AE7893-597F-428E-B443-CAD3C2626D34}">
      <dgm:prSet/>
      <dgm:spPr/>
      <dgm:t>
        <a:bodyPr/>
        <a:lstStyle/>
        <a:p>
          <a:endParaRPr lang="en-US"/>
        </a:p>
      </dgm:t>
    </dgm:pt>
    <dgm:pt modelId="{3DF3BFCC-43D9-4513-971A-E215106B0EB0}" type="sibTrans" cxnId="{E1AE7893-597F-428E-B443-CAD3C2626D34}">
      <dgm:prSet/>
      <dgm:spPr/>
      <dgm:t>
        <a:bodyPr/>
        <a:lstStyle/>
        <a:p>
          <a:endParaRPr lang="en-US"/>
        </a:p>
      </dgm:t>
    </dgm:pt>
    <dgm:pt modelId="{EA972ADC-111F-40E6-B5A2-8D3EBF95C054}">
      <dgm:prSet/>
      <dgm:spPr/>
      <dgm:t>
        <a:bodyPr/>
        <a:lstStyle/>
        <a:p>
          <a:r>
            <a:rPr lang="en-US"/>
            <a:t>isEmpty() </a:t>
          </a:r>
          <a:endParaRPr lang="en-US" dirty="0"/>
        </a:p>
      </dgm:t>
    </dgm:pt>
    <dgm:pt modelId="{42901E91-A3C8-4155-94B4-83F52D44003B}" type="parTrans" cxnId="{F6A7A042-67D8-4644-931B-BDFB155F4C61}">
      <dgm:prSet/>
      <dgm:spPr/>
      <dgm:t>
        <a:bodyPr/>
        <a:lstStyle/>
        <a:p>
          <a:endParaRPr lang="en-US"/>
        </a:p>
      </dgm:t>
    </dgm:pt>
    <dgm:pt modelId="{C9A49A92-36E2-48DF-B639-8B88BA118848}" type="sibTrans" cxnId="{F6A7A042-67D8-4644-931B-BDFB155F4C61}">
      <dgm:prSet/>
      <dgm:spPr/>
      <dgm:t>
        <a:bodyPr/>
        <a:lstStyle/>
        <a:p>
          <a:endParaRPr lang="en-US"/>
        </a:p>
      </dgm:t>
    </dgm:pt>
    <dgm:pt modelId="{695EBAF0-1144-436C-936F-59ADD59CD055}">
      <dgm:prSet/>
      <dgm:spPr/>
      <dgm:t>
        <a:bodyPr/>
        <a:lstStyle/>
        <a:p>
          <a:r>
            <a:rPr lang="en-US"/>
            <a:t>tests to see whether the deque is empty</a:t>
          </a:r>
          <a:endParaRPr lang="en-US" dirty="0"/>
        </a:p>
      </dgm:t>
    </dgm:pt>
    <dgm:pt modelId="{B4EE6A34-8997-4C6D-AA25-6117F23E9B58}" type="parTrans" cxnId="{FFF3DC36-CBEA-4B3B-B3BE-F1224B46FB13}">
      <dgm:prSet/>
      <dgm:spPr/>
      <dgm:t>
        <a:bodyPr/>
        <a:lstStyle/>
        <a:p>
          <a:endParaRPr lang="en-US"/>
        </a:p>
      </dgm:t>
    </dgm:pt>
    <dgm:pt modelId="{29A24E99-0EE0-4239-9058-86BFFDB68FC2}" type="sibTrans" cxnId="{FFF3DC36-CBEA-4B3B-B3BE-F1224B46FB13}">
      <dgm:prSet/>
      <dgm:spPr/>
      <dgm:t>
        <a:bodyPr/>
        <a:lstStyle/>
        <a:p>
          <a:endParaRPr lang="en-US"/>
        </a:p>
      </dgm:t>
    </dgm:pt>
    <dgm:pt modelId="{2D72F252-0F1A-4F29-A014-AC2F0C9B05A9}">
      <dgm:prSet/>
      <dgm:spPr/>
      <dgm:t>
        <a:bodyPr/>
        <a:lstStyle/>
        <a:p>
          <a:r>
            <a:rPr lang="en-US"/>
            <a:t>size() </a:t>
          </a:r>
          <a:endParaRPr lang="en-US" dirty="0"/>
        </a:p>
      </dgm:t>
    </dgm:pt>
    <dgm:pt modelId="{DEE18EEF-0D3D-4ACE-B1ED-E8D1C2EB511D}" type="parTrans" cxnId="{A1CE666B-D7D3-446A-8190-69AD61126C29}">
      <dgm:prSet/>
      <dgm:spPr/>
      <dgm:t>
        <a:bodyPr/>
        <a:lstStyle/>
        <a:p>
          <a:endParaRPr lang="en-US"/>
        </a:p>
      </dgm:t>
    </dgm:pt>
    <dgm:pt modelId="{7DFFBACD-FE45-4F6D-A33B-D2F2A998DEBC}" type="sibTrans" cxnId="{A1CE666B-D7D3-446A-8190-69AD61126C29}">
      <dgm:prSet/>
      <dgm:spPr/>
      <dgm:t>
        <a:bodyPr/>
        <a:lstStyle/>
        <a:p>
          <a:endParaRPr lang="en-US"/>
        </a:p>
      </dgm:t>
    </dgm:pt>
    <dgm:pt modelId="{C212BA39-B8CD-4FB0-98DE-2FD3083ED8B0}">
      <dgm:prSet/>
      <dgm:spPr/>
      <dgm:t>
        <a:bodyPr/>
        <a:lstStyle/>
        <a:p>
          <a:r>
            <a:rPr lang="en-US"/>
            <a:t>returns the number of items in the deque.</a:t>
          </a:r>
          <a:endParaRPr lang="en-US" dirty="0"/>
        </a:p>
      </dgm:t>
    </dgm:pt>
    <dgm:pt modelId="{C670BA8C-68E8-4BFA-B54C-E94CF97EE9D3}" type="parTrans" cxnId="{2FEDEDAA-CABF-4513-9B7C-9D250E7BDDFF}">
      <dgm:prSet/>
      <dgm:spPr/>
      <dgm:t>
        <a:bodyPr/>
        <a:lstStyle/>
        <a:p>
          <a:endParaRPr lang="en-US"/>
        </a:p>
      </dgm:t>
    </dgm:pt>
    <dgm:pt modelId="{1FF423D4-7149-4E66-937D-8C302E2778A7}" type="sibTrans" cxnId="{2FEDEDAA-CABF-4513-9B7C-9D250E7BDDFF}">
      <dgm:prSet/>
      <dgm:spPr/>
      <dgm:t>
        <a:bodyPr/>
        <a:lstStyle/>
        <a:p>
          <a:endParaRPr lang="en-US"/>
        </a:p>
      </dgm:t>
    </dgm:pt>
    <dgm:pt modelId="{FD523024-D033-4FFC-9A86-9D9600C29E99}" type="pres">
      <dgm:prSet presAssocID="{196B2048-F8DF-44DA-A21C-71B38352F6A7}" presName="Name0" presStyleCnt="0">
        <dgm:presLayoutVars>
          <dgm:dir/>
          <dgm:animLvl val="lvl"/>
          <dgm:resizeHandles val="exact"/>
        </dgm:presLayoutVars>
      </dgm:prSet>
      <dgm:spPr/>
    </dgm:pt>
    <dgm:pt modelId="{0924AE39-028E-49E9-8F0F-E701999323CE}" type="pres">
      <dgm:prSet presAssocID="{E00C1D24-BB66-4CBF-B136-6F99830A3779}" presName="linNode" presStyleCnt="0"/>
      <dgm:spPr/>
    </dgm:pt>
    <dgm:pt modelId="{CB3AB5F1-7E4E-4807-802A-52094C556E7F}" type="pres">
      <dgm:prSet presAssocID="{E00C1D24-BB66-4CBF-B136-6F99830A3779}" presName="parTx" presStyleLbl="revTx" presStyleIdx="0" presStyleCnt="8">
        <dgm:presLayoutVars>
          <dgm:chMax val="1"/>
          <dgm:bulletEnabled val="1"/>
        </dgm:presLayoutVars>
      </dgm:prSet>
      <dgm:spPr/>
    </dgm:pt>
    <dgm:pt modelId="{B31C9EC8-EF26-43D9-82A9-0F41DC9AD354}" type="pres">
      <dgm:prSet presAssocID="{E00C1D24-BB66-4CBF-B136-6F99830A3779}" presName="bracket" presStyleLbl="parChTrans1D1" presStyleIdx="0" presStyleCnt="8"/>
      <dgm:spPr/>
    </dgm:pt>
    <dgm:pt modelId="{BA9C98D9-44ED-409F-9EA7-4CC41481E7DA}" type="pres">
      <dgm:prSet presAssocID="{E00C1D24-BB66-4CBF-B136-6F99830A3779}" presName="spH" presStyleCnt="0"/>
      <dgm:spPr/>
    </dgm:pt>
    <dgm:pt modelId="{E75B62EF-898E-494D-8772-948840A883C7}" type="pres">
      <dgm:prSet presAssocID="{E00C1D24-BB66-4CBF-B136-6F99830A3779}" presName="desTx" presStyleLbl="node1" presStyleIdx="0" presStyleCnt="8">
        <dgm:presLayoutVars>
          <dgm:bulletEnabled val="1"/>
        </dgm:presLayoutVars>
      </dgm:prSet>
      <dgm:spPr/>
    </dgm:pt>
    <dgm:pt modelId="{4A436CF1-91B5-4F57-846F-0B02A45421BE}" type="pres">
      <dgm:prSet presAssocID="{33C71218-5E23-45FF-9666-78924E3628A2}" presName="spV" presStyleCnt="0"/>
      <dgm:spPr/>
    </dgm:pt>
    <dgm:pt modelId="{0F175452-4A77-46E5-826A-683B17C63EB0}" type="pres">
      <dgm:prSet presAssocID="{7504B2B1-42A5-4E15-8BBA-F85E24485405}" presName="linNode" presStyleCnt="0"/>
      <dgm:spPr/>
    </dgm:pt>
    <dgm:pt modelId="{994AF9B9-24EE-4BCA-9B4E-04939BE38C6D}" type="pres">
      <dgm:prSet presAssocID="{7504B2B1-42A5-4E15-8BBA-F85E24485405}" presName="parTx" presStyleLbl="revTx" presStyleIdx="1" presStyleCnt="8">
        <dgm:presLayoutVars>
          <dgm:chMax val="1"/>
          <dgm:bulletEnabled val="1"/>
        </dgm:presLayoutVars>
      </dgm:prSet>
      <dgm:spPr/>
    </dgm:pt>
    <dgm:pt modelId="{BF550221-5D51-4BB1-9A15-52D2444EAA07}" type="pres">
      <dgm:prSet presAssocID="{7504B2B1-42A5-4E15-8BBA-F85E24485405}" presName="bracket" presStyleLbl="parChTrans1D1" presStyleIdx="1" presStyleCnt="8"/>
      <dgm:spPr/>
    </dgm:pt>
    <dgm:pt modelId="{2491DEC6-1C72-423F-987E-BF86D2B2FF43}" type="pres">
      <dgm:prSet presAssocID="{7504B2B1-42A5-4E15-8BBA-F85E24485405}" presName="spH" presStyleCnt="0"/>
      <dgm:spPr/>
    </dgm:pt>
    <dgm:pt modelId="{D2BF681B-768C-42E1-BDE5-63CB2F060D49}" type="pres">
      <dgm:prSet presAssocID="{7504B2B1-42A5-4E15-8BBA-F85E24485405}" presName="desTx" presStyleLbl="node1" presStyleIdx="1" presStyleCnt="8">
        <dgm:presLayoutVars>
          <dgm:bulletEnabled val="1"/>
        </dgm:presLayoutVars>
      </dgm:prSet>
      <dgm:spPr/>
    </dgm:pt>
    <dgm:pt modelId="{91B9AC95-8E25-413F-85F3-43ADEFD9E445}" type="pres">
      <dgm:prSet presAssocID="{557B867D-1981-4EB0-9181-418BBFA684F8}" presName="spV" presStyleCnt="0"/>
      <dgm:spPr/>
    </dgm:pt>
    <dgm:pt modelId="{AF821AD0-A0CC-46F7-B4E2-5C16E9BA98CC}" type="pres">
      <dgm:prSet presAssocID="{D6416B44-34C7-46E1-8870-6A3D710F58B3}" presName="linNode" presStyleCnt="0"/>
      <dgm:spPr/>
    </dgm:pt>
    <dgm:pt modelId="{D0E0BA76-469B-41AF-9D4B-0D5DF05E77D3}" type="pres">
      <dgm:prSet presAssocID="{D6416B44-34C7-46E1-8870-6A3D710F58B3}" presName="parTx" presStyleLbl="revTx" presStyleIdx="2" presStyleCnt="8">
        <dgm:presLayoutVars>
          <dgm:chMax val="1"/>
          <dgm:bulletEnabled val="1"/>
        </dgm:presLayoutVars>
      </dgm:prSet>
      <dgm:spPr/>
    </dgm:pt>
    <dgm:pt modelId="{26EE6D5C-8BE2-4EE2-BB00-AC3A818C925B}" type="pres">
      <dgm:prSet presAssocID="{D6416B44-34C7-46E1-8870-6A3D710F58B3}" presName="bracket" presStyleLbl="parChTrans1D1" presStyleIdx="2" presStyleCnt="8"/>
      <dgm:spPr/>
    </dgm:pt>
    <dgm:pt modelId="{6BC56675-1C2E-4923-B8CD-8C4C336DE239}" type="pres">
      <dgm:prSet presAssocID="{D6416B44-34C7-46E1-8870-6A3D710F58B3}" presName="spH" presStyleCnt="0"/>
      <dgm:spPr/>
    </dgm:pt>
    <dgm:pt modelId="{1F26A667-0D02-415B-A261-36164C347DF2}" type="pres">
      <dgm:prSet presAssocID="{D6416B44-34C7-46E1-8870-6A3D710F58B3}" presName="desTx" presStyleLbl="node1" presStyleIdx="2" presStyleCnt="8">
        <dgm:presLayoutVars>
          <dgm:bulletEnabled val="1"/>
        </dgm:presLayoutVars>
      </dgm:prSet>
      <dgm:spPr/>
    </dgm:pt>
    <dgm:pt modelId="{2B1725A2-911A-45BB-BF66-F3DF727E0D53}" type="pres">
      <dgm:prSet presAssocID="{8026E2C7-4BEB-4A46-A0EF-5BC2CF7C7ACD}" presName="spV" presStyleCnt="0"/>
      <dgm:spPr/>
    </dgm:pt>
    <dgm:pt modelId="{E5E0D2C3-1481-4EA4-B265-CF81086FAC1E}" type="pres">
      <dgm:prSet presAssocID="{C682A460-8B30-40C2-B636-7FA41C8A8925}" presName="linNode" presStyleCnt="0"/>
      <dgm:spPr/>
    </dgm:pt>
    <dgm:pt modelId="{D665E433-A54C-4DD4-9364-E7C37159F1B8}" type="pres">
      <dgm:prSet presAssocID="{C682A460-8B30-40C2-B636-7FA41C8A8925}" presName="parTx" presStyleLbl="revTx" presStyleIdx="3" presStyleCnt="8">
        <dgm:presLayoutVars>
          <dgm:chMax val="1"/>
          <dgm:bulletEnabled val="1"/>
        </dgm:presLayoutVars>
      </dgm:prSet>
      <dgm:spPr/>
    </dgm:pt>
    <dgm:pt modelId="{BDB4A8C1-8426-4359-8BDD-F7714E4B3ABF}" type="pres">
      <dgm:prSet presAssocID="{C682A460-8B30-40C2-B636-7FA41C8A8925}" presName="bracket" presStyleLbl="parChTrans1D1" presStyleIdx="3" presStyleCnt="8"/>
      <dgm:spPr/>
    </dgm:pt>
    <dgm:pt modelId="{5C788605-B177-47F4-BBC8-197674E9D57A}" type="pres">
      <dgm:prSet presAssocID="{C682A460-8B30-40C2-B636-7FA41C8A8925}" presName="spH" presStyleCnt="0"/>
      <dgm:spPr/>
    </dgm:pt>
    <dgm:pt modelId="{01216082-319F-4209-AD12-D55FD52C22C1}" type="pres">
      <dgm:prSet presAssocID="{C682A460-8B30-40C2-B636-7FA41C8A8925}" presName="desTx" presStyleLbl="node1" presStyleIdx="3" presStyleCnt="8">
        <dgm:presLayoutVars>
          <dgm:bulletEnabled val="1"/>
        </dgm:presLayoutVars>
      </dgm:prSet>
      <dgm:spPr/>
    </dgm:pt>
    <dgm:pt modelId="{64DED4A0-0D30-4547-9180-834717ADEA47}" type="pres">
      <dgm:prSet presAssocID="{C64A6145-CB1F-4C3A-85B9-E4A1597D1325}" presName="spV" presStyleCnt="0"/>
      <dgm:spPr/>
    </dgm:pt>
    <dgm:pt modelId="{33DA05C0-5568-4BA3-8886-0C3847404356}" type="pres">
      <dgm:prSet presAssocID="{131EEC95-4164-4652-8A0F-47EFBE2270E9}" presName="linNode" presStyleCnt="0"/>
      <dgm:spPr/>
    </dgm:pt>
    <dgm:pt modelId="{71FB9EB7-7783-49DB-82BD-04D8AFABB2E7}" type="pres">
      <dgm:prSet presAssocID="{131EEC95-4164-4652-8A0F-47EFBE2270E9}" presName="parTx" presStyleLbl="revTx" presStyleIdx="4" presStyleCnt="8">
        <dgm:presLayoutVars>
          <dgm:chMax val="1"/>
          <dgm:bulletEnabled val="1"/>
        </dgm:presLayoutVars>
      </dgm:prSet>
      <dgm:spPr/>
    </dgm:pt>
    <dgm:pt modelId="{9819F652-CE6F-436A-B9CE-132B4BEF6C5A}" type="pres">
      <dgm:prSet presAssocID="{131EEC95-4164-4652-8A0F-47EFBE2270E9}" presName="bracket" presStyleLbl="parChTrans1D1" presStyleIdx="4" presStyleCnt="8"/>
      <dgm:spPr/>
    </dgm:pt>
    <dgm:pt modelId="{3127FCF9-2F79-4FE2-8D77-9877160269E1}" type="pres">
      <dgm:prSet presAssocID="{131EEC95-4164-4652-8A0F-47EFBE2270E9}" presName="spH" presStyleCnt="0"/>
      <dgm:spPr/>
    </dgm:pt>
    <dgm:pt modelId="{F76BFEA4-54FC-42AF-ADD4-BA049205A194}" type="pres">
      <dgm:prSet presAssocID="{131EEC95-4164-4652-8A0F-47EFBE2270E9}" presName="desTx" presStyleLbl="node1" presStyleIdx="4" presStyleCnt="8">
        <dgm:presLayoutVars>
          <dgm:bulletEnabled val="1"/>
        </dgm:presLayoutVars>
      </dgm:prSet>
      <dgm:spPr/>
    </dgm:pt>
    <dgm:pt modelId="{E9B9452F-D6E7-42D2-AFF2-9B048475E067}" type="pres">
      <dgm:prSet presAssocID="{9DCF5A72-70A8-49FD-AECA-BE1E4C4CCFFA}" presName="spV" presStyleCnt="0"/>
      <dgm:spPr/>
    </dgm:pt>
    <dgm:pt modelId="{2DFF8CAF-4BCB-4EA2-9E96-9225684634C0}" type="pres">
      <dgm:prSet presAssocID="{354011B2-4F93-404B-A268-5CF9F3E31DA7}" presName="linNode" presStyleCnt="0"/>
      <dgm:spPr/>
    </dgm:pt>
    <dgm:pt modelId="{D3A4E1F5-B750-4D7F-96E9-8BDE0168A1F4}" type="pres">
      <dgm:prSet presAssocID="{354011B2-4F93-404B-A268-5CF9F3E31DA7}" presName="parTx" presStyleLbl="revTx" presStyleIdx="5" presStyleCnt="8">
        <dgm:presLayoutVars>
          <dgm:chMax val="1"/>
          <dgm:bulletEnabled val="1"/>
        </dgm:presLayoutVars>
      </dgm:prSet>
      <dgm:spPr/>
    </dgm:pt>
    <dgm:pt modelId="{729D4A64-B575-4F91-BB65-B0C4FDB8B58D}" type="pres">
      <dgm:prSet presAssocID="{354011B2-4F93-404B-A268-5CF9F3E31DA7}" presName="bracket" presStyleLbl="parChTrans1D1" presStyleIdx="5" presStyleCnt="8"/>
      <dgm:spPr/>
    </dgm:pt>
    <dgm:pt modelId="{CE6492EB-BC1E-41DC-BFB1-29B787EF2C79}" type="pres">
      <dgm:prSet presAssocID="{354011B2-4F93-404B-A268-5CF9F3E31DA7}" presName="spH" presStyleCnt="0"/>
      <dgm:spPr/>
    </dgm:pt>
    <dgm:pt modelId="{C414588A-9287-441A-8145-259C4BC4EBD1}" type="pres">
      <dgm:prSet presAssocID="{354011B2-4F93-404B-A268-5CF9F3E31DA7}" presName="desTx" presStyleLbl="node1" presStyleIdx="5" presStyleCnt="8">
        <dgm:presLayoutVars>
          <dgm:bulletEnabled val="1"/>
        </dgm:presLayoutVars>
      </dgm:prSet>
      <dgm:spPr/>
    </dgm:pt>
    <dgm:pt modelId="{EBBE3CAC-CED3-410A-9DE1-03CEB25B4F21}" type="pres">
      <dgm:prSet presAssocID="{0D316ACC-CE5C-4EA7-8949-7FA61EC0CAF6}" presName="spV" presStyleCnt="0"/>
      <dgm:spPr/>
    </dgm:pt>
    <dgm:pt modelId="{D4D127E2-5CC1-4488-A0FC-1391FBF4DC86}" type="pres">
      <dgm:prSet presAssocID="{EA972ADC-111F-40E6-B5A2-8D3EBF95C054}" presName="linNode" presStyleCnt="0"/>
      <dgm:spPr/>
    </dgm:pt>
    <dgm:pt modelId="{FD47B8E7-3AA9-4FE6-A62D-57D6FB220190}" type="pres">
      <dgm:prSet presAssocID="{EA972ADC-111F-40E6-B5A2-8D3EBF95C054}" presName="parTx" presStyleLbl="revTx" presStyleIdx="6" presStyleCnt="8">
        <dgm:presLayoutVars>
          <dgm:chMax val="1"/>
          <dgm:bulletEnabled val="1"/>
        </dgm:presLayoutVars>
      </dgm:prSet>
      <dgm:spPr/>
    </dgm:pt>
    <dgm:pt modelId="{12D1A822-02B2-4E61-9511-CB23BD739EF4}" type="pres">
      <dgm:prSet presAssocID="{EA972ADC-111F-40E6-B5A2-8D3EBF95C054}" presName="bracket" presStyleLbl="parChTrans1D1" presStyleIdx="6" presStyleCnt="8"/>
      <dgm:spPr/>
    </dgm:pt>
    <dgm:pt modelId="{03926185-47B6-41F8-88E3-251C0F89BAD5}" type="pres">
      <dgm:prSet presAssocID="{EA972ADC-111F-40E6-B5A2-8D3EBF95C054}" presName="spH" presStyleCnt="0"/>
      <dgm:spPr/>
    </dgm:pt>
    <dgm:pt modelId="{81F5D907-8603-44FD-B83A-C223A4FA3F84}" type="pres">
      <dgm:prSet presAssocID="{EA972ADC-111F-40E6-B5A2-8D3EBF95C054}" presName="desTx" presStyleLbl="node1" presStyleIdx="6" presStyleCnt="8">
        <dgm:presLayoutVars>
          <dgm:bulletEnabled val="1"/>
        </dgm:presLayoutVars>
      </dgm:prSet>
      <dgm:spPr/>
    </dgm:pt>
    <dgm:pt modelId="{74DAB3BE-E494-4B7B-98D3-6994BBF706A8}" type="pres">
      <dgm:prSet presAssocID="{C9A49A92-36E2-48DF-B639-8B88BA118848}" presName="spV" presStyleCnt="0"/>
      <dgm:spPr/>
    </dgm:pt>
    <dgm:pt modelId="{BBD92EF3-7E86-47CD-BF86-B7ED96CA90E1}" type="pres">
      <dgm:prSet presAssocID="{2D72F252-0F1A-4F29-A014-AC2F0C9B05A9}" presName="linNode" presStyleCnt="0"/>
      <dgm:spPr/>
    </dgm:pt>
    <dgm:pt modelId="{42525346-A66C-4D54-A3A9-7D913D6B7F9F}" type="pres">
      <dgm:prSet presAssocID="{2D72F252-0F1A-4F29-A014-AC2F0C9B05A9}" presName="parTx" presStyleLbl="revTx" presStyleIdx="7" presStyleCnt="8">
        <dgm:presLayoutVars>
          <dgm:chMax val="1"/>
          <dgm:bulletEnabled val="1"/>
        </dgm:presLayoutVars>
      </dgm:prSet>
      <dgm:spPr/>
    </dgm:pt>
    <dgm:pt modelId="{086157DB-1255-4F7B-AD38-0B7F18378496}" type="pres">
      <dgm:prSet presAssocID="{2D72F252-0F1A-4F29-A014-AC2F0C9B05A9}" presName="bracket" presStyleLbl="parChTrans1D1" presStyleIdx="7" presStyleCnt="8"/>
      <dgm:spPr/>
    </dgm:pt>
    <dgm:pt modelId="{29F7A777-3E93-4E2C-A091-AA5BA4BD4382}" type="pres">
      <dgm:prSet presAssocID="{2D72F252-0F1A-4F29-A014-AC2F0C9B05A9}" presName="spH" presStyleCnt="0"/>
      <dgm:spPr/>
    </dgm:pt>
    <dgm:pt modelId="{937C177A-C09C-4B1F-BC8F-91AFB71FF433}" type="pres">
      <dgm:prSet presAssocID="{2D72F252-0F1A-4F29-A014-AC2F0C9B05A9}" presName="desTx" presStyleLbl="node1" presStyleIdx="7" presStyleCnt="8">
        <dgm:presLayoutVars>
          <dgm:bulletEnabled val="1"/>
        </dgm:presLayoutVars>
      </dgm:prSet>
      <dgm:spPr/>
    </dgm:pt>
  </dgm:ptLst>
  <dgm:cxnLst>
    <dgm:cxn modelId="{7CC6AB0D-824D-4AC9-B3A9-283DB58C1B7D}" srcId="{196B2048-F8DF-44DA-A21C-71B38352F6A7}" destId="{C682A460-8B30-40C2-B636-7FA41C8A8925}" srcOrd="3" destOrd="0" parTransId="{79E7F076-7E04-4BF6-BFDF-E73142DC43EC}" sibTransId="{C64A6145-CB1F-4C3A-85B9-E4A1597D1325}"/>
    <dgm:cxn modelId="{71BF9416-313C-4F97-95F7-19BAD9C623DF}" type="presOf" srcId="{196B2048-F8DF-44DA-A21C-71B38352F6A7}" destId="{FD523024-D033-4FFC-9A86-9D9600C29E99}" srcOrd="0" destOrd="0" presId="urn:diagrams.loki3.com/BracketList"/>
    <dgm:cxn modelId="{28E28B20-FA9F-40DA-85B0-6B7147485775}" srcId="{C682A460-8B30-40C2-B636-7FA41C8A8925}" destId="{08D0A9BC-04FE-4CBE-A622-476593AF0D51}" srcOrd="0" destOrd="0" parTransId="{80C25CE3-AFAC-4940-8A69-DF2ED3B4E933}" sibTransId="{CC1C2D44-D2F2-42DA-9C2E-48A85CC14200}"/>
    <dgm:cxn modelId="{FFF3DC36-CBEA-4B3B-B3BE-F1224B46FB13}" srcId="{EA972ADC-111F-40E6-B5A2-8D3EBF95C054}" destId="{695EBAF0-1144-436C-936F-59ADD59CD055}" srcOrd="0" destOrd="0" parTransId="{B4EE6A34-8997-4C6D-AA25-6117F23E9B58}" sibTransId="{29A24E99-0EE0-4239-9058-86BFFDB68FC2}"/>
    <dgm:cxn modelId="{45B0803C-B80F-4565-A5F8-F9CD2A13ABD1}" type="presOf" srcId="{540B4E79-C91A-4514-9BEE-ED2286A06AA5}" destId="{D2BF681B-768C-42E1-BDE5-63CB2F060D49}" srcOrd="0" destOrd="0" presId="urn:diagrams.loki3.com/BracketList"/>
    <dgm:cxn modelId="{E46B2A3D-515E-4BE9-9665-03F7EAD6C41C}" srcId="{196B2048-F8DF-44DA-A21C-71B38352F6A7}" destId="{354011B2-4F93-404B-A268-5CF9F3E31DA7}" srcOrd="5" destOrd="0" parTransId="{8E9C90D9-CF88-43A7-A81C-282A99ED6C8B}" sibTransId="{0D316ACC-CE5C-4EA7-8949-7FA61EC0CAF6}"/>
    <dgm:cxn modelId="{F6A7A042-67D8-4644-931B-BDFB155F4C61}" srcId="{196B2048-F8DF-44DA-A21C-71B38352F6A7}" destId="{EA972ADC-111F-40E6-B5A2-8D3EBF95C054}" srcOrd="6" destOrd="0" parTransId="{42901E91-A3C8-4155-94B4-83F52D44003B}" sibTransId="{C9A49A92-36E2-48DF-B639-8B88BA118848}"/>
    <dgm:cxn modelId="{35230C51-711C-4315-A675-4C15A6844170}" type="presOf" srcId="{E00C1D24-BB66-4CBF-B136-6F99830A3779}" destId="{CB3AB5F1-7E4E-4807-802A-52094C556E7F}" srcOrd="0" destOrd="0" presId="urn:diagrams.loki3.com/BracketList"/>
    <dgm:cxn modelId="{9829ED57-343E-4FD9-916B-CE92EADFE454}" srcId="{131EEC95-4164-4652-8A0F-47EFBE2270E9}" destId="{FA2DB3C9-C939-4173-8BBB-4A854E2E1152}" srcOrd="0" destOrd="0" parTransId="{46E7548C-7E5C-499F-B59F-78C2DAF97546}" sibTransId="{875EC1BE-A354-46FB-B1C4-6BCD2FA7EFBB}"/>
    <dgm:cxn modelId="{FA470C58-AEB6-48BF-B0B5-FB8B680FB2EB}" type="presOf" srcId="{1AD825C5-16EA-44E6-B00F-E4C9EB2616A4}" destId="{C414588A-9287-441A-8145-259C4BC4EBD1}" srcOrd="0" destOrd="0" presId="urn:diagrams.loki3.com/BracketList"/>
    <dgm:cxn modelId="{A1CE666B-D7D3-446A-8190-69AD61126C29}" srcId="{196B2048-F8DF-44DA-A21C-71B38352F6A7}" destId="{2D72F252-0F1A-4F29-A014-AC2F0C9B05A9}" srcOrd="7" destOrd="0" parTransId="{DEE18EEF-0D3D-4ACE-B1ED-E8D1C2EB511D}" sibTransId="{7DFFBACD-FE45-4F6D-A33B-D2F2A998DEBC}"/>
    <dgm:cxn modelId="{3491EB7B-FF4F-486D-B4FA-C413A869504B}" type="presOf" srcId="{7504B2B1-42A5-4E15-8BBA-F85E24485405}" destId="{994AF9B9-24EE-4BCA-9B4E-04939BE38C6D}" srcOrd="0" destOrd="0" presId="urn:diagrams.loki3.com/BracketList"/>
    <dgm:cxn modelId="{A571A48C-B4F3-4E31-BE06-4C812D3BF4D6}" type="presOf" srcId="{37155B4A-4C6B-4350-9C18-5B812C06211A}" destId="{E75B62EF-898E-494D-8772-948840A883C7}" srcOrd="0" destOrd="0" presId="urn:diagrams.loki3.com/BracketList"/>
    <dgm:cxn modelId="{87FAB28D-64BC-4D6D-8AE6-74FF9F5ACFBC}" srcId="{7504B2B1-42A5-4E15-8BBA-F85E24485405}" destId="{540B4E79-C91A-4514-9BEE-ED2286A06AA5}" srcOrd="0" destOrd="0" parTransId="{1A5B0BA5-A145-4312-B089-3978E8C7BF14}" sibTransId="{52296C5D-EF9F-4320-B378-C846A65CC1AB}"/>
    <dgm:cxn modelId="{67996791-2BBC-4DB2-81CE-761D9D0723AF}" type="presOf" srcId="{131EEC95-4164-4652-8A0F-47EFBE2270E9}" destId="{71FB9EB7-7783-49DB-82BD-04D8AFABB2E7}" srcOrd="0" destOrd="0" presId="urn:diagrams.loki3.com/BracketList"/>
    <dgm:cxn modelId="{E1AE7893-597F-428E-B443-CAD3C2626D34}" srcId="{354011B2-4F93-404B-A268-5CF9F3E31DA7}" destId="{1AD825C5-16EA-44E6-B00F-E4C9EB2616A4}" srcOrd="0" destOrd="0" parTransId="{6CC92DFB-E16E-4294-84EE-D4A53717C3BB}" sibTransId="{3DF3BFCC-43D9-4513-971A-E215106B0EB0}"/>
    <dgm:cxn modelId="{1212E59B-03FE-43E9-9412-4D07CD8B4B89}" srcId="{196B2048-F8DF-44DA-A21C-71B38352F6A7}" destId="{D6416B44-34C7-46E1-8870-6A3D710F58B3}" srcOrd="2" destOrd="0" parTransId="{C3C024C0-FA39-4C64-BF98-B3A2737EDE4D}" sibTransId="{8026E2C7-4BEB-4A46-A0EF-5BC2CF7C7ACD}"/>
    <dgm:cxn modelId="{9E2A599D-96A6-457A-BF46-CEC5FB195C01}" type="presOf" srcId="{C682A460-8B30-40C2-B636-7FA41C8A8925}" destId="{D665E433-A54C-4DD4-9364-E7C37159F1B8}" srcOrd="0" destOrd="0" presId="urn:diagrams.loki3.com/BracketList"/>
    <dgm:cxn modelId="{D771B99E-3973-4AE6-9D48-BC776A6E7C7C}" type="presOf" srcId="{FA2DB3C9-C939-4173-8BBB-4A854E2E1152}" destId="{F76BFEA4-54FC-42AF-ADD4-BA049205A194}" srcOrd="0" destOrd="0" presId="urn:diagrams.loki3.com/BracketList"/>
    <dgm:cxn modelId="{E3BAD0AA-1AE8-45CE-8D95-AC06F9C8FA50}" srcId="{D6416B44-34C7-46E1-8870-6A3D710F58B3}" destId="{6236154A-374D-4445-A4B9-DAD7066556F7}" srcOrd="0" destOrd="0" parTransId="{B9573C3D-74DA-4625-8244-2B37FC7B1AFD}" sibTransId="{0471A2EF-F738-4BAC-98A7-B9EE57A2D161}"/>
    <dgm:cxn modelId="{2FEDEDAA-CABF-4513-9B7C-9D250E7BDDFF}" srcId="{2D72F252-0F1A-4F29-A014-AC2F0C9B05A9}" destId="{C212BA39-B8CD-4FB0-98DE-2FD3083ED8B0}" srcOrd="0" destOrd="0" parTransId="{C670BA8C-68E8-4BFA-B54C-E94CF97EE9D3}" sibTransId="{1FF423D4-7149-4E66-937D-8C302E2778A7}"/>
    <dgm:cxn modelId="{76E722B2-0B45-4BAA-BCFD-AB594C1E33BA}" type="presOf" srcId="{2D72F252-0F1A-4F29-A014-AC2F0C9B05A9}" destId="{42525346-A66C-4D54-A3A9-7D913D6B7F9F}" srcOrd="0" destOrd="0" presId="urn:diagrams.loki3.com/BracketList"/>
    <dgm:cxn modelId="{FC986EB3-8C1E-4863-A4CD-97AC34DD27DF}" srcId="{196B2048-F8DF-44DA-A21C-71B38352F6A7}" destId="{E00C1D24-BB66-4CBF-B136-6F99830A3779}" srcOrd="0" destOrd="0" parTransId="{A723F9C8-7FFF-4F1B-AB7E-EEA56ACA1808}" sibTransId="{33C71218-5E23-45FF-9666-78924E3628A2}"/>
    <dgm:cxn modelId="{BEB21EB7-D9C7-47E4-814C-23F63A5BDDD4}" type="presOf" srcId="{C212BA39-B8CD-4FB0-98DE-2FD3083ED8B0}" destId="{937C177A-C09C-4B1F-BC8F-91AFB71FF433}" srcOrd="0" destOrd="0" presId="urn:diagrams.loki3.com/BracketList"/>
    <dgm:cxn modelId="{C9B9FEBF-15BF-4FB2-8145-FEDCA052D89D}" srcId="{196B2048-F8DF-44DA-A21C-71B38352F6A7}" destId="{7504B2B1-42A5-4E15-8BBA-F85E24485405}" srcOrd="1" destOrd="0" parTransId="{708BDDB1-33D1-4E25-A0F0-511F1CB89B27}" sibTransId="{557B867D-1981-4EB0-9181-418BBFA684F8}"/>
    <dgm:cxn modelId="{94F6C5CB-7EB7-41E6-9A35-5A0FF89448A2}" srcId="{196B2048-F8DF-44DA-A21C-71B38352F6A7}" destId="{131EEC95-4164-4652-8A0F-47EFBE2270E9}" srcOrd="4" destOrd="0" parTransId="{FEF07A61-5EDD-4030-BE66-C737EDB47B4F}" sibTransId="{9DCF5A72-70A8-49FD-AECA-BE1E4C4CCFFA}"/>
    <dgm:cxn modelId="{23756CCC-05F3-496B-A634-092E12F9376D}" type="presOf" srcId="{08D0A9BC-04FE-4CBE-A622-476593AF0D51}" destId="{01216082-319F-4209-AD12-D55FD52C22C1}" srcOrd="0" destOrd="0" presId="urn:diagrams.loki3.com/BracketList"/>
    <dgm:cxn modelId="{790FA1E2-B56D-4D91-8C2D-67E4F398C1CC}" type="presOf" srcId="{354011B2-4F93-404B-A268-5CF9F3E31DA7}" destId="{D3A4E1F5-B750-4D7F-96E9-8BDE0168A1F4}" srcOrd="0" destOrd="0" presId="urn:diagrams.loki3.com/BracketList"/>
    <dgm:cxn modelId="{BDE056EF-9F39-46C0-86A8-2F7C503159F7}" srcId="{E00C1D24-BB66-4CBF-B136-6F99830A3779}" destId="{37155B4A-4C6B-4350-9C18-5B812C06211A}" srcOrd="0" destOrd="0" parTransId="{BC807711-2880-4227-9609-CD4F8AE8C239}" sibTransId="{30C270CB-A3CA-4F9F-A825-AD1AE08BC544}"/>
    <dgm:cxn modelId="{F1CBB4F1-D772-476C-AADC-9135D787E708}" type="presOf" srcId="{EA972ADC-111F-40E6-B5A2-8D3EBF95C054}" destId="{FD47B8E7-3AA9-4FE6-A62D-57D6FB220190}" srcOrd="0" destOrd="0" presId="urn:diagrams.loki3.com/BracketList"/>
    <dgm:cxn modelId="{183BB1F5-6836-4F3B-B521-420E60D3E270}" type="presOf" srcId="{D6416B44-34C7-46E1-8870-6A3D710F58B3}" destId="{D0E0BA76-469B-41AF-9D4B-0D5DF05E77D3}" srcOrd="0" destOrd="0" presId="urn:diagrams.loki3.com/BracketList"/>
    <dgm:cxn modelId="{5F84D5F6-C38F-44F3-8979-6B063120B717}" type="presOf" srcId="{6236154A-374D-4445-A4B9-DAD7066556F7}" destId="{1F26A667-0D02-415B-A261-36164C347DF2}" srcOrd="0" destOrd="0" presId="urn:diagrams.loki3.com/BracketList"/>
    <dgm:cxn modelId="{BBEC4DFD-7901-4512-B572-962BC006046D}" type="presOf" srcId="{695EBAF0-1144-436C-936F-59ADD59CD055}" destId="{81F5D907-8603-44FD-B83A-C223A4FA3F84}" srcOrd="0" destOrd="0" presId="urn:diagrams.loki3.com/BracketList"/>
    <dgm:cxn modelId="{37068826-865B-4EC0-8D0A-1D607361A3C9}" type="presParOf" srcId="{FD523024-D033-4FFC-9A86-9D9600C29E99}" destId="{0924AE39-028E-49E9-8F0F-E701999323CE}" srcOrd="0" destOrd="0" presId="urn:diagrams.loki3.com/BracketList"/>
    <dgm:cxn modelId="{45EF4BD6-7551-477E-9683-37F5057430BB}" type="presParOf" srcId="{0924AE39-028E-49E9-8F0F-E701999323CE}" destId="{CB3AB5F1-7E4E-4807-802A-52094C556E7F}" srcOrd="0" destOrd="0" presId="urn:diagrams.loki3.com/BracketList"/>
    <dgm:cxn modelId="{3722232A-4BC6-4964-AC16-26BCA04B385B}" type="presParOf" srcId="{0924AE39-028E-49E9-8F0F-E701999323CE}" destId="{B31C9EC8-EF26-43D9-82A9-0F41DC9AD354}" srcOrd="1" destOrd="0" presId="urn:diagrams.loki3.com/BracketList"/>
    <dgm:cxn modelId="{DC56160B-4DD6-4FC3-A7EA-207580BC5812}" type="presParOf" srcId="{0924AE39-028E-49E9-8F0F-E701999323CE}" destId="{BA9C98D9-44ED-409F-9EA7-4CC41481E7DA}" srcOrd="2" destOrd="0" presId="urn:diagrams.loki3.com/BracketList"/>
    <dgm:cxn modelId="{DC7FE64F-069B-40D1-A15C-2246CC285E02}" type="presParOf" srcId="{0924AE39-028E-49E9-8F0F-E701999323CE}" destId="{E75B62EF-898E-494D-8772-948840A883C7}" srcOrd="3" destOrd="0" presId="urn:diagrams.loki3.com/BracketList"/>
    <dgm:cxn modelId="{36DD683C-F43F-4300-BB19-569910AA9F66}" type="presParOf" srcId="{FD523024-D033-4FFC-9A86-9D9600C29E99}" destId="{4A436CF1-91B5-4F57-846F-0B02A45421BE}" srcOrd="1" destOrd="0" presId="urn:diagrams.loki3.com/BracketList"/>
    <dgm:cxn modelId="{9031E323-5B48-422C-ACB6-511D89724479}" type="presParOf" srcId="{FD523024-D033-4FFC-9A86-9D9600C29E99}" destId="{0F175452-4A77-46E5-826A-683B17C63EB0}" srcOrd="2" destOrd="0" presId="urn:diagrams.loki3.com/BracketList"/>
    <dgm:cxn modelId="{768E93A4-A8F0-4C68-B619-94468D5F5D85}" type="presParOf" srcId="{0F175452-4A77-46E5-826A-683B17C63EB0}" destId="{994AF9B9-24EE-4BCA-9B4E-04939BE38C6D}" srcOrd="0" destOrd="0" presId="urn:diagrams.loki3.com/BracketList"/>
    <dgm:cxn modelId="{C4C7979F-2E35-4905-B7E8-10F3AF849292}" type="presParOf" srcId="{0F175452-4A77-46E5-826A-683B17C63EB0}" destId="{BF550221-5D51-4BB1-9A15-52D2444EAA07}" srcOrd="1" destOrd="0" presId="urn:diagrams.loki3.com/BracketList"/>
    <dgm:cxn modelId="{F0D391A6-D6A2-430C-BCB7-1C257F6658CA}" type="presParOf" srcId="{0F175452-4A77-46E5-826A-683B17C63EB0}" destId="{2491DEC6-1C72-423F-987E-BF86D2B2FF43}" srcOrd="2" destOrd="0" presId="urn:diagrams.loki3.com/BracketList"/>
    <dgm:cxn modelId="{456D5856-BE15-4771-9BD9-C6F8C6F2B99D}" type="presParOf" srcId="{0F175452-4A77-46E5-826A-683B17C63EB0}" destId="{D2BF681B-768C-42E1-BDE5-63CB2F060D49}" srcOrd="3" destOrd="0" presId="urn:diagrams.loki3.com/BracketList"/>
    <dgm:cxn modelId="{3976B3A7-1C58-4C13-B338-3D3F63B84856}" type="presParOf" srcId="{FD523024-D033-4FFC-9A86-9D9600C29E99}" destId="{91B9AC95-8E25-413F-85F3-43ADEFD9E445}" srcOrd="3" destOrd="0" presId="urn:diagrams.loki3.com/BracketList"/>
    <dgm:cxn modelId="{BBDE8073-EB75-4B5A-B80A-D671B2D5E9DF}" type="presParOf" srcId="{FD523024-D033-4FFC-9A86-9D9600C29E99}" destId="{AF821AD0-A0CC-46F7-B4E2-5C16E9BA98CC}" srcOrd="4" destOrd="0" presId="urn:diagrams.loki3.com/BracketList"/>
    <dgm:cxn modelId="{9B3A7E2F-3A3D-4ADE-A6A5-50BE58EE1982}" type="presParOf" srcId="{AF821AD0-A0CC-46F7-B4E2-5C16E9BA98CC}" destId="{D0E0BA76-469B-41AF-9D4B-0D5DF05E77D3}" srcOrd="0" destOrd="0" presId="urn:diagrams.loki3.com/BracketList"/>
    <dgm:cxn modelId="{DDB91812-2A88-4BDE-BEF9-CED0FB7ED1C5}" type="presParOf" srcId="{AF821AD0-A0CC-46F7-B4E2-5C16E9BA98CC}" destId="{26EE6D5C-8BE2-4EE2-BB00-AC3A818C925B}" srcOrd="1" destOrd="0" presId="urn:diagrams.loki3.com/BracketList"/>
    <dgm:cxn modelId="{B5A61A30-FB7A-4EA0-B2B7-762BDD9444D6}" type="presParOf" srcId="{AF821AD0-A0CC-46F7-B4E2-5C16E9BA98CC}" destId="{6BC56675-1C2E-4923-B8CD-8C4C336DE239}" srcOrd="2" destOrd="0" presId="urn:diagrams.loki3.com/BracketList"/>
    <dgm:cxn modelId="{0E897C93-D9BA-49EE-BE3D-62C0C74EA84C}" type="presParOf" srcId="{AF821AD0-A0CC-46F7-B4E2-5C16E9BA98CC}" destId="{1F26A667-0D02-415B-A261-36164C347DF2}" srcOrd="3" destOrd="0" presId="urn:diagrams.loki3.com/BracketList"/>
    <dgm:cxn modelId="{35FAEE2B-E6FA-4660-A57B-34E5C510BA71}" type="presParOf" srcId="{FD523024-D033-4FFC-9A86-9D9600C29E99}" destId="{2B1725A2-911A-45BB-BF66-F3DF727E0D53}" srcOrd="5" destOrd="0" presId="urn:diagrams.loki3.com/BracketList"/>
    <dgm:cxn modelId="{2E0E5E27-3DBA-4C4D-9D92-38DFDE9CDDC9}" type="presParOf" srcId="{FD523024-D033-4FFC-9A86-9D9600C29E99}" destId="{E5E0D2C3-1481-4EA4-B265-CF81086FAC1E}" srcOrd="6" destOrd="0" presId="urn:diagrams.loki3.com/BracketList"/>
    <dgm:cxn modelId="{4129093F-47F7-4845-889F-B331E203F93D}" type="presParOf" srcId="{E5E0D2C3-1481-4EA4-B265-CF81086FAC1E}" destId="{D665E433-A54C-4DD4-9364-E7C37159F1B8}" srcOrd="0" destOrd="0" presId="urn:diagrams.loki3.com/BracketList"/>
    <dgm:cxn modelId="{9DFAAD60-CF39-4C30-9D26-0A313717350B}" type="presParOf" srcId="{E5E0D2C3-1481-4EA4-B265-CF81086FAC1E}" destId="{BDB4A8C1-8426-4359-8BDD-F7714E4B3ABF}" srcOrd="1" destOrd="0" presId="urn:diagrams.loki3.com/BracketList"/>
    <dgm:cxn modelId="{953428B3-6B35-4808-BC66-E2E9B46F829D}" type="presParOf" srcId="{E5E0D2C3-1481-4EA4-B265-CF81086FAC1E}" destId="{5C788605-B177-47F4-BBC8-197674E9D57A}" srcOrd="2" destOrd="0" presId="urn:diagrams.loki3.com/BracketList"/>
    <dgm:cxn modelId="{5D614742-0FF9-4921-A78C-103673297CE4}" type="presParOf" srcId="{E5E0D2C3-1481-4EA4-B265-CF81086FAC1E}" destId="{01216082-319F-4209-AD12-D55FD52C22C1}" srcOrd="3" destOrd="0" presId="urn:diagrams.loki3.com/BracketList"/>
    <dgm:cxn modelId="{DBD51180-AEB6-46BA-B9B9-D73E5B702E1D}" type="presParOf" srcId="{FD523024-D033-4FFC-9A86-9D9600C29E99}" destId="{64DED4A0-0D30-4547-9180-834717ADEA47}" srcOrd="7" destOrd="0" presId="urn:diagrams.loki3.com/BracketList"/>
    <dgm:cxn modelId="{A388D47A-116A-4CAE-BD83-874A236E7F08}" type="presParOf" srcId="{FD523024-D033-4FFC-9A86-9D9600C29E99}" destId="{33DA05C0-5568-4BA3-8886-0C3847404356}" srcOrd="8" destOrd="0" presId="urn:diagrams.loki3.com/BracketList"/>
    <dgm:cxn modelId="{DA91BDAE-8F92-40F5-B47F-45B49C5F9FA8}" type="presParOf" srcId="{33DA05C0-5568-4BA3-8886-0C3847404356}" destId="{71FB9EB7-7783-49DB-82BD-04D8AFABB2E7}" srcOrd="0" destOrd="0" presId="urn:diagrams.loki3.com/BracketList"/>
    <dgm:cxn modelId="{C4C0709A-8CFA-4231-AA41-B59AE15CFA5A}" type="presParOf" srcId="{33DA05C0-5568-4BA3-8886-0C3847404356}" destId="{9819F652-CE6F-436A-B9CE-132B4BEF6C5A}" srcOrd="1" destOrd="0" presId="urn:diagrams.loki3.com/BracketList"/>
    <dgm:cxn modelId="{132AEFE6-468C-4B86-B740-3038AF97FC4D}" type="presParOf" srcId="{33DA05C0-5568-4BA3-8886-0C3847404356}" destId="{3127FCF9-2F79-4FE2-8D77-9877160269E1}" srcOrd="2" destOrd="0" presId="urn:diagrams.loki3.com/BracketList"/>
    <dgm:cxn modelId="{E3AF53A3-6498-4EAB-B47F-1C966469CD94}" type="presParOf" srcId="{33DA05C0-5568-4BA3-8886-0C3847404356}" destId="{F76BFEA4-54FC-42AF-ADD4-BA049205A194}" srcOrd="3" destOrd="0" presId="urn:diagrams.loki3.com/BracketList"/>
    <dgm:cxn modelId="{3026FB01-FF62-4B0E-A258-7EBEC17E73BD}" type="presParOf" srcId="{FD523024-D033-4FFC-9A86-9D9600C29E99}" destId="{E9B9452F-D6E7-42D2-AFF2-9B048475E067}" srcOrd="9" destOrd="0" presId="urn:diagrams.loki3.com/BracketList"/>
    <dgm:cxn modelId="{D9FD6378-FB0F-409E-8673-5AD921EEC45B}" type="presParOf" srcId="{FD523024-D033-4FFC-9A86-9D9600C29E99}" destId="{2DFF8CAF-4BCB-4EA2-9E96-9225684634C0}" srcOrd="10" destOrd="0" presId="urn:diagrams.loki3.com/BracketList"/>
    <dgm:cxn modelId="{A76FDA8A-6331-4099-92A1-BB0898B9165F}" type="presParOf" srcId="{2DFF8CAF-4BCB-4EA2-9E96-9225684634C0}" destId="{D3A4E1F5-B750-4D7F-96E9-8BDE0168A1F4}" srcOrd="0" destOrd="0" presId="urn:diagrams.loki3.com/BracketList"/>
    <dgm:cxn modelId="{EC7CD851-404D-4FFB-94DA-D5AB5EF222D8}" type="presParOf" srcId="{2DFF8CAF-4BCB-4EA2-9E96-9225684634C0}" destId="{729D4A64-B575-4F91-BB65-B0C4FDB8B58D}" srcOrd="1" destOrd="0" presId="urn:diagrams.loki3.com/BracketList"/>
    <dgm:cxn modelId="{1BF3801A-85D4-486F-811C-7AFB212B7549}" type="presParOf" srcId="{2DFF8CAF-4BCB-4EA2-9E96-9225684634C0}" destId="{CE6492EB-BC1E-41DC-BFB1-29B787EF2C79}" srcOrd="2" destOrd="0" presId="urn:diagrams.loki3.com/BracketList"/>
    <dgm:cxn modelId="{E7AAFC2D-9156-4254-9022-4A0D807EEF7C}" type="presParOf" srcId="{2DFF8CAF-4BCB-4EA2-9E96-9225684634C0}" destId="{C414588A-9287-441A-8145-259C4BC4EBD1}" srcOrd="3" destOrd="0" presId="urn:diagrams.loki3.com/BracketList"/>
    <dgm:cxn modelId="{A4F70958-E1C2-4190-995D-406A9A96A986}" type="presParOf" srcId="{FD523024-D033-4FFC-9A86-9D9600C29E99}" destId="{EBBE3CAC-CED3-410A-9DE1-03CEB25B4F21}" srcOrd="11" destOrd="0" presId="urn:diagrams.loki3.com/BracketList"/>
    <dgm:cxn modelId="{4260AC6A-E137-4FCE-8642-38480AC85617}" type="presParOf" srcId="{FD523024-D033-4FFC-9A86-9D9600C29E99}" destId="{D4D127E2-5CC1-4488-A0FC-1391FBF4DC86}" srcOrd="12" destOrd="0" presId="urn:diagrams.loki3.com/BracketList"/>
    <dgm:cxn modelId="{9AA5954B-D9D3-4545-9260-BBF1A14428AB}" type="presParOf" srcId="{D4D127E2-5CC1-4488-A0FC-1391FBF4DC86}" destId="{FD47B8E7-3AA9-4FE6-A62D-57D6FB220190}" srcOrd="0" destOrd="0" presId="urn:diagrams.loki3.com/BracketList"/>
    <dgm:cxn modelId="{63500F74-EE9B-49C6-BF5A-BB05775A924A}" type="presParOf" srcId="{D4D127E2-5CC1-4488-A0FC-1391FBF4DC86}" destId="{12D1A822-02B2-4E61-9511-CB23BD739EF4}" srcOrd="1" destOrd="0" presId="urn:diagrams.loki3.com/BracketList"/>
    <dgm:cxn modelId="{E4032DF3-CB68-4879-AE99-3C447BCA83EF}" type="presParOf" srcId="{D4D127E2-5CC1-4488-A0FC-1391FBF4DC86}" destId="{03926185-47B6-41F8-88E3-251C0F89BAD5}" srcOrd="2" destOrd="0" presId="urn:diagrams.loki3.com/BracketList"/>
    <dgm:cxn modelId="{24339724-289A-4A6C-85E0-E7B7CD49491C}" type="presParOf" srcId="{D4D127E2-5CC1-4488-A0FC-1391FBF4DC86}" destId="{81F5D907-8603-44FD-B83A-C223A4FA3F84}" srcOrd="3" destOrd="0" presId="urn:diagrams.loki3.com/BracketList"/>
    <dgm:cxn modelId="{F840F04A-950F-49C3-B858-69CB8470278E}" type="presParOf" srcId="{FD523024-D033-4FFC-9A86-9D9600C29E99}" destId="{74DAB3BE-E494-4B7B-98D3-6994BBF706A8}" srcOrd="13" destOrd="0" presId="urn:diagrams.loki3.com/BracketList"/>
    <dgm:cxn modelId="{2CC42D8D-20C9-423F-9CED-AABF53384833}" type="presParOf" srcId="{FD523024-D033-4FFC-9A86-9D9600C29E99}" destId="{BBD92EF3-7E86-47CD-BF86-B7ED96CA90E1}" srcOrd="14" destOrd="0" presId="urn:diagrams.loki3.com/BracketList"/>
    <dgm:cxn modelId="{DDFB01B8-E5CE-42B4-B512-23C957B55F29}" type="presParOf" srcId="{BBD92EF3-7E86-47CD-BF86-B7ED96CA90E1}" destId="{42525346-A66C-4D54-A3A9-7D913D6B7F9F}" srcOrd="0" destOrd="0" presId="urn:diagrams.loki3.com/BracketList"/>
    <dgm:cxn modelId="{A178C9F2-CE66-4706-A8AB-5766D1C9469D}" type="presParOf" srcId="{BBD92EF3-7E86-47CD-BF86-B7ED96CA90E1}" destId="{086157DB-1255-4F7B-AD38-0B7F18378496}" srcOrd="1" destOrd="0" presId="urn:diagrams.loki3.com/BracketList"/>
    <dgm:cxn modelId="{D6134AAA-3622-47FF-B987-A2DA0DF5E7D0}" type="presParOf" srcId="{BBD92EF3-7E86-47CD-BF86-B7ED96CA90E1}" destId="{29F7A777-3E93-4E2C-A091-AA5BA4BD4382}" srcOrd="2" destOrd="0" presId="urn:diagrams.loki3.com/BracketList"/>
    <dgm:cxn modelId="{F5B46430-2E6B-4C25-920F-B38CD6DAB153}" type="presParOf" srcId="{BBD92EF3-7E86-47CD-BF86-B7ED96CA90E1}" destId="{937C177A-C09C-4B1F-BC8F-91AFB71FF433}"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D9907F-D122-4230-9559-5C725740D08C}">
      <dsp:nvSpPr>
        <dsp:cNvPr id="0" name=""/>
        <dsp:cNvSpPr/>
      </dsp:nvSpPr>
      <dsp:spPr>
        <a:xfrm>
          <a:off x="530129" y="122545"/>
          <a:ext cx="1882902" cy="1882902"/>
        </a:xfrm>
        <a:prstGeom prst="pie">
          <a:avLst>
            <a:gd name="adj1" fmla="val 16200000"/>
            <a:gd name="adj2" fmla="val 1980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 </a:t>
          </a:r>
        </a:p>
      </dsp:txBody>
      <dsp:txXfrm>
        <a:off x="1516411" y="363063"/>
        <a:ext cx="493141" cy="381063"/>
      </dsp:txXfrm>
    </dsp:sp>
    <dsp:sp modelId="{3023FCE4-654C-4253-B47E-5A5F90A389B7}">
      <dsp:nvSpPr>
        <dsp:cNvPr id="0" name=""/>
        <dsp:cNvSpPr/>
      </dsp:nvSpPr>
      <dsp:spPr>
        <a:xfrm>
          <a:off x="552545" y="161323"/>
          <a:ext cx="1882902" cy="1882902"/>
        </a:xfrm>
        <a:prstGeom prst="pie">
          <a:avLst>
            <a:gd name="adj1" fmla="val 19800000"/>
            <a:gd name="adj2" fmla="val 180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 </a:t>
          </a:r>
        </a:p>
      </dsp:txBody>
      <dsp:txXfrm>
        <a:off x="1830228" y="923450"/>
        <a:ext cx="515556" cy="369855"/>
      </dsp:txXfrm>
    </dsp:sp>
    <dsp:sp modelId="{1288EE2F-11B2-4685-B21B-978BF073D04B}">
      <dsp:nvSpPr>
        <dsp:cNvPr id="0" name=""/>
        <dsp:cNvSpPr/>
      </dsp:nvSpPr>
      <dsp:spPr>
        <a:xfrm>
          <a:off x="530129" y="200102"/>
          <a:ext cx="1882902" cy="1882902"/>
        </a:xfrm>
        <a:prstGeom prst="pie">
          <a:avLst>
            <a:gd name="adj1" fmla="val 1800000"/>
            <a:gd name="adj2" fmla="val 540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 </a:t>
          </a:r>
        </a:p>
      </dsp:txBody>
      <dsp:txXfrm>
        <a:off x="1516411" y="1472630"/>
        <a:ext cx="493141" cy="381063"/>
      </dsp:txXfrm>
    </dsp:sp>
    <dsp:sp modelId="{279AC8AE-EBD9-440A-A974-EF5888F91BCD}">
      <dsp:nvSpPr>
        <dsp:cNvPr id="0" name=""/>
        <dsp:cNvSpPr/>
      </dsp:nvSpPr>
      <dsp:spPr>
        <a:xfrm>
          <a:off x="485298" y="200102"/>
          <a:ext cx="1882902" cy="1882902"/>
        </a:xfrm>
        <a:prstGeom prst="pie">
          <a:avLst>
            <a:gd name="adj1" fmla="val 5400000"/>
            <a:gd name="adj2" fmla="val 900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 </a:t>
          </a:r>
        </a:p>
      </dsp:txBody>
      <dsp:txXfrm>
        <a:off x="888777" y="1472630"/>
        <a:ext cx="493141" cy="381063"/>
      </dsp:txXfrm>
    </dsp:sp>
    <dsp:sp modelId="{645FE152-9DF9-46EA-B3A3-09C3FBC02B4E}">
      <dsp:nvSpPr>
        <dsp:cNvPr id="0" name=""/>
        <dsp:cNvSpPr/>
      </dsp:nvSpPr>
      <dsp:spPr>
        <a:xfrm>
          <a:off x="462883" y="161323"/>
          <a:ext cx="1882902" cy="1882902"/>
        </a:xfrm>
        <a:prstGeom prst="pie">
          <a:avLst>
            <a:gd name="adj1" fmla="val 9000000"/>
            <a:gd name="adj2" fmla="val 1260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 </a:t>
          </a:r>
        </a:p>
      </dsp:txBody>
      <dsp:txXfrm>
        <a:off x="552545" y="923450"/>
        <a:ext cx="515556" cy="369855"/>
      </dsp:txXfrm>
    </dsp:sp>
    <dsp:sp modelId="{E62781E9-55C7-4ADD-B5A3-C7A7BD28E249}">
      <dsp:nvSpPr>
        <dsp:cNvPr id="0" name=""/>
        <dsp:cNvSpPr/>
      </dsp:nvSpPr>
      <dsp:spPr>
        <a:xfrm>
          <a:off x="485298" y="122545"/>
          <a:ext cx="1882902" cy="1882902"/>
        </a:xfrm>
        <a:prstGeom prst="pie">
          <a:avLst>
            <a:gd name="adj1" fmla="val 12600000"/>
            <a:gd name="adj2" fmla="val 1620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 </a:t>
          </a:r>
        </a:p>
      </dsp:txBody>
      <dsp:txXfrm>
        <a:off x="888777" y="363063"/>
        <a:ext cx="493141" cy="381063"/>
      </dsp:txXfrm>
    </dsp:sp>
    <dsp:sp modelId="{AC736A43-3B84-490C-A3E9-37F4B41B82EC}">
      <dsp:nvSpPr>
        <dsp:cNvPr id="0" name=""/>
        <dsp:cNvSpPr/>
      </dsp:nvSpPr>
      <dsp:spPr>
        <a:xfrm>
          <a:off x="413500" y="5984"/>
          <a:ext cx="2116023" cy="2116023"/>
        </a:xfrm>
        <a:prstGeom prst="circularArrow">
          <a:avLst>
            <a:gd name="adj1" fmla="val 5085"/>
            <a:gd name="adj2" fmla="val 327528"/>
            <a:gd name="adj3" fmla="val 19472472"/>
            <a:gd name="adj4" fmla="val 16200251"/>
            <a:gd name="adj5" fmla="val 5932"/>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A965EFF-8831-4DAD-A015-25FCCED5C51B}">
      <dsp:nvSpPr>
        <dsp:cNvPr id="0" name=""/>
        <dsp:cNvSpPr/>
      </dsp:nvSpPr>
      <dsp:spPr>
        <a:xfrm>
          <a:off x="435915" y="44763"/>
          <a:ext cx="2116023" cy="2116023"/>
        </a:xfrm>
        <a:prstGeom prst="circularArrow">
          <a:avLst>
            <a:gd name="adj1" fmla="val 5085"/>
            <a:gd name="adj2" fmla="val 327528"/>
            <a:gd name="adj3" fmla="val 1472472"/>
            <a:gd name="adj4" fmla="val 19800000"/>
            <a:gd name="adj5" fmla="val 5932"/>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47444D0-0BFC-4462-9894-72F01E909842}">
      <dsp:nvSpPr>
        <dsp:cNvPr id="0" name=""/>
        <dsp:cNvSpPr/>
      </dsp:nvSpPr>
      <dsp:spPr>
        <a:xfrm>
          <a:off x="413500" y="83542"/>
          <a:ext cx="2116023" cy="2116023"/>
        </a:xfrm>
        <a:prstGeom prst="circularArrow">
          <a:avLst>
            <a:gd name="adj1" fmla="val 5085"/>
            <a:gd name="adj2" fmla="val 327528"/>
            <a:gd name="adj3" fmla="val 5072221"/>
            <a:gd name="adj4" fmla="val 1800000"/>
            <a:gd name="adj5" fmla="val 5932"/>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9E94F1A-B4C7-43BC-80C4-D4DA5A17C085}">
      <dsp:nvSpPr>
        <dsp:cNvPr id="0" name=""/>
        <dsp:cNvSpPr/>
      </dsp:nvSpPr>
      <dsp:spPr>
        <a:xfrm>
          <a:off x="368806" y="83542"/>
          <a:ext cx="2116023" cy="2116023"/>
        </a:xfrm>
        <a:prstGeom prst="circularArrow">
          <a:avLst>
            <a:gd name="adj1" fmla="val 5085"/>
            <a:gd name="adj2" fmla="val 327528"/>
            <a:gd name="adj3" fmla="val 8672472"/>
            <a:gd name="adj4" fmla="val 5400251"/>
            <a:gd name="adj5" fmla="val 5932"/>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DEFA0A5-70A0-4AAE-97ED-0F7884635B0B}">
      <dsp:nvSpPr>
        <dsp:cNvPr id="0" name=""/>
        <dsp:cNvSpPr/>
      </dsp:nvSpPr>
      <dsp:spPr>
        <a:xfrm>
          <a:off x="346391" y="44763"/>
          <a:ext cx="2116023" cy="2116023"/>
        </a:xfrm>
        <a:prstGeom prst="circularArrow">
          <a:avLst>
            <a:gd name="adj1" fmla="val 5085"/>
            <a:gd name="adj2" fmla="val 327528"/>
            <a:gd name="adj3" fmla="val 12272472"/>
            <a:gd name="adj4" fmla="val 9000000"/>
            <a:gd name="adj5" fmla="val 5932"/>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62F4F8B-0186-4F91-9D0C-834A91DA92AD}">
      <dsp:nvSpPr>
        <dsp:cNvPr id="0" name=""/>
        <dsp:cNvSpPr/>
      </dsp:nvSpPr>
      <dsp:spPr>
        <a:xfrm>
          <a:off x="368806" y="5984"/>
          <a:ext cx="2116023" cy="2116023"/>
        </a:xfrm>
        <a:prstGeom prst="circularArrow">
          <a:avLst>
            <a:gd name="adj1" fmla="val 5085"/>
            <a:gd name="adj2" fmla="val 327528"/>
            <a:gd name="adj3" fmla="val 15872221"/>
            <a:gd name="adj4" fmla="val 12600000"/>
            <a:gd name="adj5" fmla="val 5932"/>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3AB5F1-7E4E-4807-802A-52094C556E7F}">
      <dsp:nvSpPr>
        <dsp:cNvPr id="0" name=""/>
        <dsp:cNvSpPr/>
      </dsp:nvSpPr>
      <dsp:spPr>
        <a:xfrm>
          <a:off x="0" y="59949"/>
          <a:ext cx="2857500" cy="455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58420" rIns="163576" bIns="58420" numCol="1" spcCol="1270" anchor="ctr" anchorCtr="0">
          <a:noAutofit/>
        </a:bodyPr>
        <a:lstStyle/>
        <a:p>
          <a:pPr marL="0" lvl="0" indent="0" algn="r" defTabSz="1022350">
            <a:lnSpc>
              <a:spcPct val="90000"/>
            </a:lnSpc>
            <a:spcBef>
              <a:spcPct val="0"/>
            </a:spcBef>
            <a:spcAft>
              <a:spcPct val="35000"/>
            </a:spcAft>
            <a:buNone/>
          </a:pPr>
          <a:r>
            <a:rPr lang="en-US" sz="2300" kern="1200" dirty="0" err="1"/>
            <a:t>addFront</a:t>
          </a:r>
          <a:r>
            <a:rPr lang="en-US" sz="2300" kern="1200" dirty="0"/>
            <a:t>(data) </a:t>
          </a:r>
        </a:p>
      </dsp:txBody>
      <dsp:txXfrm>
        <a:off x="0" y="59949"/>
        <a:ext cx="2857500" cy="455400"/>
      </dsp:txXfrm>
    </dsp:sp>
    <dsp:sp modelId="{B31C9EC8-EF26-43D9-82A9-0F41DC9AD354}">
      <dsp:nvSpPr>
        <dsp:cNvPr id="0" name=""/>
        <dsp:cNvSpPr/>
      </dsp:nvSpPr>
      <dsp:spPr>
        <a:xfrm>
          <a:off x="2857500" y="38603"/>
          <a:ext cx="571500" cy="498093"/>
        </a:xfrm>
        <a:prstGeom prst="leftBrace">
          <a:avLst>
            <a:gd name="adj1" fmla="val 35000"/>
            <a:gd name="adj2" fmla="val 50000"/>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75B62EF-898E-494D-8772-948840A883C7}">
      <dsp:nvSpPr>
        <dsp:cNvPr id="0" name=""/>
        <dsp:cNvSpPr/>
      </dsp:nvSpPr>
      <dsp:spPr>
        <a:xfrm>
          <a:off x="3657600" y="38603"/>
          <a:ext cx="7772400" cy="498093"/>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US" sz="2300" kern="1200"/>
            <a:t>adds a new item to the front of the deque</a:t>
          </a:r>
          <a:endParaRPr lang="en-US" sz="2300" kern="1200" dirty="0"/>
        </a:p>
      </dsp:txBody>
      <dsp:txXfrm>
        <a:off x="3657600" y="38603"/>
        <a:ext cx="7772400" cy="498093"/>
      </dsp:txXfrm>
    </dsp:sp>
    <dsp:sp modelId="{994AF9B9-24EE-4BCA-9B4E-04939BE38C6D}">
      <dsp:nvSpPr>
        <dsp:cNvPr id="0" name=""/>
        <dsp:cNvSpPr/>
      </dsp:nvSpPr>
      <dsp:spPr>
        <a:xfrm>
          <a:off x="0" y="640843"/>
          <a:ext cx="2857500" cy="455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58420" rIns="163576" bIns="58420" numCol="1" spcCol="1270" anchor="ctr" anchorCtr="0">
          <a:noAutofit/>
        </a:bodyPr>
        <a:lstStyle/>
        <a:p>
          <a:pPr marL="0" lvl="0" indent="0" algn="r" defTabSz="1022350">
            <a:lnSpc>
              <a:spcPct val="90000"/>
            </a:lnSpc>
            <a:spcBef>
              <a:spcPct val="0"/>
            </a:spcBef>
            <a:spcAft>
              <a:spcPct val="35000"/>
            </a:spcAft>
            <a:buNone/>
          </a:pPr>
          <a:r>
            <a:rPr lang="en-US" sz="2300" kern="1200"/>
            <a:t>addRear(data) </a:t>
          </a:r>
          <a:endParaRPr lang="en-US" sz="2300" kern="1200" dirty="0"/>
        </a:p>
      </dsp:txBody>
      <dsp:txXfrm>
        <a:off x="0" y="640843"/>
        <a:ext cx="2857500" cy="455400"/>
      </dsp:txXfrm>
    </dsp:sp>
    <dsp:sp modelId="{BF550221-5D51-4BB1-9A15-52D2444EAA07}">
      <dsp:nvSpPr>
        <dsp:cNvPr id="0" name=""/>
        <dsp:cNvSpPr/>
      </dsp:nvSpPr>
      <dsp:spPr>
        <a:xfrm>
          <a:off x="2857500" y="619496"/>
          <a:ext cx="571500" cy="498093"/>
        </a:xfrm>
        <a:prstGeom prst="leftBrace">
          <a:avLst>
            <a:gd name="adj1" fmla="val 35000"/>
            <a:gd name="adj2" fmla="val 50000"/>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2BF681B-768C-42E1-BDE5-63CB2F060D49}">
      <dsp:nvSpPr>
        <dsp:cNvPr id="0" name=""/>
        <dsp:cNvSpPr/>
      </dsp:nvSpPr>
      <dsp:spPr>
        <a:xfrm>
          <a:off x="3657600" y="619496"/>
          <a:ext cx="7772400" cy="498093"/>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US" sz="2300" kern="1200"/>
            <a:t>adds a new item to the rear of the deque</a:t>
          </a:r>
          <a:endParaRPr lang="en-US" sz="2300" kern="1200" dirty="0"/>
        </a:p>
      </dsp:txBody>
      <dsp:txXfrm>
        <a:off x="3657600" y="619496"/>
        <a:ext cx="7772400" cy="498093"/>
      </dsp:txXfrm>
    </dsp:sp>
    <dsp:sp modelId="{D0E0BA76-469B-41AF-9D4B-0D5DF05E77D3}">
      <dsp:nvSpPr>
        <dsp:cNvPr id="0" name=""/>
        <dsp:cNvSpPr/>
      </dsp:nvSpPr>
      <dsp:spPr>
        <a:xfrm>
          <a:off x="0" y="1221737"/>
          <a:ext cx="2857500" cy="455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58420" rIns="163576" bIns="58420" numCol="1" spcCol="1270" anchor="ctr" anchorCtr="0">
          <a:noAutofit/>
        </a:bodyPr>
        <a:lstStyle/>
        <a:p>
          <a:pPr marL="0" lvl="0" indent="0" algn="r" defTabSz="1022350">
            <a:lnSpc>
              <a:spcPct val="90000"/>
            </a:lnSpc>
            <a:spcBef>
              <a:spcPct val="0"/>
            </a:spcBef>
            <a:spcAft>
              <a:spcPct val="35000"/>
            </a:spcAft>
            <a:buNone/>
          </a:pPr>
          <a:r>
            <a:rPr lang="en-US" sz="2300" kern="1200"/>
            <a:t>removeFront() </a:t>
          </a:r>
          <a:endParaRPr lang="en-US" sz="2300" kern="1200" dirty="0"/>
        </a:p>
      </dsp:txBody>
      <dsp:txXfrm>
        <a:off x="0" y="1221737"/>
        <a:ext cx="2857500" cy="455400"/>
      </dsp:txXfrm>
    </dsp:sp>
    <dsp:sp modelId="{26EE6D5C-8BE2-4EE2-BB00-AC3A818C925B}">
      <dsp:nvSpPr>
        <dsp:cNvPr id="0" name=""/>
        <dsp:cNvSpPr/>
      </dsp:nvSpPr>
      <dsp:spPr>
        <a:xfrm>
          <a:off x="2857500" y="1200390"/>
          <a:ext cx="571500" cy="498093"/>
        </a:xfrm>
        <a:prstGeom prst="leftBrace">
          <a:avLst>
            <a:gd name="adj1" fmla="val 35000"/>
            <a:gd name="adj2" fmla="val 50000"/>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26A667-0D02-415B-A261-36164C347DF2}">
      <dsp:nvSpPr>
        <dsp:cNvPr id="0" name=""/>
        <dsp:cNvSpPr/>
      </dsp:nvSpPr>
      <dsp:spPr>
        <a:xfrm>
          <a:off x="3657600" y="1200390"/>
          <a:ext cx="7772400" cy="498093"/>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US" sz="2300" kern="1200"/>
            <a:t>removes the front item from the deque</a:t>
          </a:r>
          <a:endParaRPr lang="en-US" sz="2300" kern="1200" dirty="0"/>
        </a:p>
      </dsp:txBody>
      <dsp:txXfrm>
        <a:off x="3657600" y="1200390"/>
        <a:ext cx="7772400" cy="498093"/>
      </dsp:txXfrm>
    </dsp:sp>
    <dsp:sp modelId="{D665E433-A54C-4DD4-9364-E7C37159F1B8}">
      <dsp:nvSpPr>
        <dsp:cNvPr id="0" name=""/>
        <dsp:cNvSpPr/>
      </dsp:nvSpPr>
      <dsp:spPr>
        <a:xfrm>
          <a:off x="0" y="1802631"/>
          <a:ext cx="2857500" cy="455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58420" rIns="163576" bIns="58420" numCol="1" spcCol="1270" anchor="ctr" anchorCtr="0">
          <a:noAutofit/>
        </a:bodyPr>
        <a:lstStyle/>
        <a:p>
          <a:pPr marL="0" lvl="0" indent="0" algn="r" defTabSz="1022350">
            <a:lnSpc>
              <a:spcPct val="90000"/>
            </a:lnSpc>
            <a:spcBef>
              <a:spcPct val="0"/>
            </a:spcBef>
            <a:spcAft>
              <a:spcPct val="35000"/>
            </a:spcAft>
            <a:buNone/>
          </a:pPr>
          <a:r>
            <a:rPr lang="en-US" sz="2300" kern="1200"/>
            <a:t>removeRear() </a:t>
          </a:r>
          <a:endParaRPr lang="en-US" sz="2300" kern="1200" dirty="0"/>
        </a:p>
      </dsp:txBody>
      <dsp:txXfrm>
        <a:off x="0" y="1802631"/>
        <a:ext cx="2857500" cy="455400"/>
      </dsp:txXfrm>
    </dsp:sp>
    <dsp:sp modelId="{BDB4A8C1-8426-4359-8BDD-F7714E4B3ABF}">
      <dsp:nvSpPr>
        <dsp:cNvPr id="0" name=""/>
        <dsp:cNvSpPr/>
      </dsp:nvSpPr>
      <dsp:spPr>
        <a:xfrm>
          <a:off x="2857500" y="1781284"/>
          <a:ext cx="571500" cy="498093"/>
        </a:xfrm>
        <a:prstGeom prst="leftBrace">
          <a:avLst>
            <a:gd name="adj1" fmla="val 35000"/>
            <a:gd name="adj2" fmla="val 50000"/>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216082-319F-4209-AD12-D55FD52C22C1}">
      <dsp:nvSpPr>
        <dsp:cNvPr id="0" name=""/>
        <dsp:cNvSpPr/>
      </dsp:nvSpPr>
      <dsp:spPr>
        <a:xfrm>
          <a:off x="3657600" y="1781284"/>
          <a:ext cx="7772400" cy="498093"/>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US" sz="2300" kern="1200"/>
            <a:t>removes the rear item from the deque</a:t>
          </a:r>
          <a:endParaRPr lang="en-US" sz="2300" kern="1200" dirty="0"/>
        </a:p>
      </dsp:txBody>
      <dsp:txXfrm>
        <a:off x="3657600" y="1781284"/>
        <a:ext cx="7772400" cy="498093"/>
      </dsp:txXfrm>
    </dsp:sp>
    <dsp:sp modelId="{71FB9EB7-7783-49DB-82BD-04D8AFABB2E7}">
      <dsp:nvSpPr>
        <dsp:cNvPr id="0" name=""/>
        <dsp:cNvSpPr/>
      </dsp:nvSpPr>
      <dsp:spPr>
        <a:xfrm>
          <a:off x="0" y="2547184"/>
          <a:ext cx="2857500" cy="455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58420" rIns="163576" bIns="58420" numCol="1" spcCol="1270" anchor="ctr" anchorCtr="0">
          <a:noAutofit/>
        </a:bodyPr>
        <a:lstStyle/>
        <a:p>
          <a:pPr marL="0" lvl="0" indent="0" algn="r" defTabSz="1022350">
            <a:lnSpc>
              <a:spcPct val="90000"/>
            </a:lnSpc>
            <a:spcBef>
              <a:spcPct val="0"/>
            </a:spcBef>
            <a:spcAft>
              <a:spcPct val="35000"/>
            </a:spcAft>
            <a:buNone/>
          </a:pPr>
          <a:r>
            <a:rPr lang="en-US" sz="2300" kern="1200"/>
            <a:t>peekFront() </a:t>
          </a:r>
          <a:endParaRPr lang="en-US" sz="2300" kern="1200" dirty="0"/>
        </a:p>
      </dsp:txBody>
      <dsp:txXfrm>
        <a:off x="0" y="2547184"/>
        <a:ext cx="2857500" cy="455400"/>
      </dsp:txXfrm>
    </dsp:sp>
    <dsp:sp modelId="{9819F652-CE6F-436A-B9CE-132B4BEF6C5A}">
      <dsp:nvSpPr>
        <dsp:cNvPr id="0" name=""/>
        <dsp:cNvSpPr/>
      </dsp:nvSpPr>
      <dsp:spPr>
        <a:xfrm>
          <a:off x="2857500" y="2362178"/>
          <a:ext cx="571500" cy="825412"/>
        </a:xfrm>
        <a:prstGeom prst="leftBrace">
          <a:avLst>
            <a:gd name="adj1" fmla="val 35000"/>
            <a:gd name="adj2" fmla="val 50000"/>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6BFEA4-54FC-42AF-ADD4-BA049205A194}">
      <dsp:nvSpPr>
        <dsp:cNvPr id="0" name=""/>
        <dsp:cNvSpPr/>
      </dsp:nvSpPr>
      <dsp:spPr>
        <a:xfrm>
          <a:off x="3657600" y="2362178"/>
          <a:ext cx="7772400" cy="825412"/>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US" sz="2300" kern="1200"/>
            <a:t>returns the item in the front of the deque, without removing it.</a:t>
          </a:r>
          <a:endParaRPr lang="en-US" sz="2300" kern="1200" dirty="0"/>
        </a:p>
      </dsp:txBody>
      <dsp:txXfrm>
        <a:off x="3657600" y="2362178"/>
        <a:ext cx="7772400" cy="825412"/>
      </dsp:txXfrm>
    </dsp:sp>
    <dsp:sp modelId="{D3A4E1F5-B750-4D7F-96E9-8BDE0168A1F4}">
      <dsp:nvSpPr>
        <dsp:cNvPr id="0" name=""/>
        <dsp:cNvSpPr/>
      </dsp:nvSpPr>
      <dsp:spPr>
        <a:xfrm>
          <a:off x="0" y="3291737"/>
          <a:ext cx="2857500" cy="455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58420" rIns="163576" bIns="58420" numCol="1" spcCol="1270" anchor="ctr" anchorCtr="0">
          <a:noAutofit/>
        </a:bodyPr>
        <a:lstStyle/>
        <a:p>
          <a:pPr marL="0" lvl="0" indent="0" algn="r" defTabSz="1022350">
            <a:lnSpc>
              <a:spcPct val="90000"/>
            </a:lnSpc>
            <a:spcBef>
              <a:spcPct val="0"/>
            </a:spcBef>
            <a:spcAft>
              <a:spcPct val="35000"/>
            </a:spcAft>
            <a:buNone/>
          </a:pPr>
          <a:r>
            <a:rPr lang="en-US" sz="2300" kern="1200"/>
            <a:t>peekRear() </a:t>
          </a:r>
          <a:endParaRPr lang="en-US" sz="2300" kern="1200" dirty="0"/>
        </a:p>
      </dsp:txBody>
      <dsp:txXfrm>
        <a:off x="0" y="3291737"/>
        <a:ext cx="2857500" cy="455400"/>
      </dsp:txXfrm>
    </dsp:sp>
    <dsp:sp modelId="{729D4A64-B575-4F91-BB65-B0C4FDB8B58D}">
      <dsp:nvSpPr>
        <dsp:cNvPr id="0" name=""/>
        <dsp:cNvSpPr/>
      </dsp:nvSpPr>
      <dsp:spPr>
        <a:xfrm>
          <a:off x="2857500" y="3270390"/>
          <a:ext cx="571500" cy="498093"/>
        </a:xfrm>
        <a:prstGeom prst="leftBrace">
          <a:avLst>
            <a:gd name="adj1" fmla="val 35000"/>
            <a:gd name="adj2" fmla="val 50000"/>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414588A-9287-441A-8145-259C4BC4EBD1}">
      <dsp:nvSpPr>
        <dsp:cNvPr id="0" name=""/>
        <dsp:cNvSpPr/>
      </dsp:nvSpPr>
      <dsp:spPr>
        <a:xfrm>
          <a:off x="3657600" y="3270390"/>
          <a:ext cx="7772400" cy="498093"/>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US" sz="2300" kern="1200"/>
            <a:t>returns the item in the rear of the deque without removing it.</a:t>
          </a:r>
          <a:endParaRPr lang="en-US" sz="2300" kern="1200" dirty="0"/>
        </a:p>
      </dsp:txBody>
      <dsp:txXfrm>
        <a:off x="3657600" y="3270390"/>
        <a:ext cx="7772400" cy="498093"/>
      </dsp:txXfrm>
    </dsp:sp>
    <dsp:sp modelId="{FD47B8E7-3AA9-4FE6-A62D-57D6FB220190}">
      <dsp:nvSpPr>
        <dsp:cNvPr id="0" name=""/>
        <dsp:cNvSpPr/>
      </dsp:nvSpPr>
      <dsp:spPr>
        <a:xfrm>
          <a:off x="0" y="3872631"/>
          <a:ext cx="2857500" cy="455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58420" rIns="163576" bIns="58420" numCol="1" spcCol="1270" anchor="ctr" anchorCtr="0">
          <a:noAutofit/>
        </a:bodyPr>
        <a:lstStyle/>
        <a:p>
          <a:pPr marL="0" lvl="0" indent="0" algn="r" defTabSz="1022350">
            <a:lnSpc>
              <a:spcPct val="90000"/>
            </a:lnSpc>
            <a:spcBef>
              <a:spcPct val="0"/>
            </a:spcBef>
            <a:spcAft>
              <a:spcPct val="35000"/>
            </a:spcAft>
            <a:buNone/>
          </a:pPr>
          <a:r>
            <a:rPr lang="en-US" sz="2300" kern="1200"/>
            <a:t>isEmpty() </a:t>
          </a:r>
          <a:endParaRPr lang="en-US" sz="2300" kern="1200" dirty="0"/>
        </a:p>
      </dsp:txBody>
      <dsp:txXfrm>
        <a:off x="0" y="3872631"/>
        <a:ext cx="2857500" cy="455400"/>
      </dsp:txXfrm>
    </dsp:sp>
    <dsp:sp modelId="{12D1A822-02B2-4E61-9511-CB23BD739EF4}">
      <dsp:nvSpPr>
        <dsp:cNvPr id="0" name=""/>
        <dsp:cNvSpPr/>
      </dsp:nvSpPr>
      <dsp:spPr>
        <a:xfrm>
          <a:off x="2857500" y="3851284"/>
          <a:ext cx="571500" cy="498093"/>
        </a:xfrm>
        <a:prstGeom prst="leftBrace">
          <a:avLst>
            <a:gd name="adj1" fmla="val 35000"/>
            <a:gd name="adj2" fmla="val 50000"/>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F5D907-8603-44FD-B83A-C223A4FA3F84}">
      <dsp:nvSpPr>
        <dsp:cNvPr id="0" name=""/>
        <dsp:cNvSpPr/>
      </dsp:nvSpPr>
      <dsp:spPr>
        <a:xfrm>
          <a:off x="3657600" y="3851284"/>
          <a:ext cx="7772400" cy="498093"/>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US" sz="2300" kern="1200"/>
            <a:t>tests to see whether the deque is empty</a:t>
          </a:r>
          <a:endParaRPr lang="en-US" sz="2300" kern="1200" dirty="0"/>
        </a:p>
      </dsp:txBody>
      <dsp:txXfrm>
        <a:off x="3657600" y="3851284"/>
        <a:ext cx="7772400" cy="498093"/>
      </dsp:txXfrm>
    </dsp:sp>
    <dsp:sp modelId="{42525346-A66C-4D54-A3A9-7D913D6B7F9F}">
      <dsp:nvSpPr>
        <dsp:cNvPr id="0" name=""/>
        <dsp:cNvSpPr/>
      </dsp:nvSpPr>
      <dsp:spPr>
        <a:xfrm>
          <a:off x="0" y="4453525"/>
          <a:ext cx="2857500" cy="455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58420" rIns="163576" bIns="58420" numCol="1" spcCol="1270" anchor="ctr" anchorCtr="0">
          <a:noAutofit/>
        </a:bodyPr>
        <a:lstStyle/>
        <a:p>
          <a:pPr marL="0" lvl="0" indent="0" algn="r" defTabSz="1022350">
            <a:lnSpc>
              <a:spcPct val="90000"/>
            </a:lnSpc>
            <a:spcBef>
              <a:spcPct val="0"/>
            </a:spcBef>
            <a:spcAft>
              <a:spcPct val="35000"/>
            </a:spcAft>
            <a:buNone/>
          </a:pPr>
          <a:r>
            <a:rPr lang="en-US" sz="2300" kern="1200"/>
            <a:t>size() </a:t>
          </a:r>
          <a:endParaRPr lang="en-US" sz="2300" kern="1200" dirty="0"/>
        </a:p>
      </dsp:txBody>
      <dsp:txXfrm>
        <a:off x="0" y="4453525"/>
        <a:ext cx="2857500" cy="455400"/>
      </dsp:txXfrm>
    </dsp:sp>
    <dsp:sp modelId="{086157DB-1255-4F7B-AD38-0B7F18378496}">
      <dsp:nvSpPr>
        <dsp:cNvPr id="0" name=""/>
        <dsp:cNvSpPr/>
      </dsp:nvSpPr>
      <dsp:spPr>
        <a:xfrm>
          <a:off x="2857500" y="4432178"/>
          <a:ext cx="571500" cy="498093"/>
        </a:xfrm>
        <a:prstGeom prst="leftBrace">
          <a:avLst>
            <a:gd name="adj1" fmla="val 35000"/>
            <a:gd name="adj2" fmla="val 50000"/>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7C177A-C09C-4B1F-BC8F-91AFB71FF433}">
      <dsp:nvSpPr>
        <dsp:cNvPr id="0" name=""/>
        <dsp:cNvSpPr/>
      </dsp:nvSpPr>
      <dsp:spPr>
        <a:xfrm>
          <a:off x="3657600" y="4432178"/>
          <a:ext cx="7772400" cy="498093"/>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US" sz="2300" kern="1200"/>
            <a:t>returns the number of items in the deque.</a:t>
          </a:r>
          <a:endParaRPr lang="en-US" sz="2300" kern="1200" dirty="0"/>
        </a:p>
      </dsp:txBody>
      <dsp:txXfrm>
        <a:off x="3657600" y="4432178"/>
        <a:ext cx="7772400" cy="498093"/>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542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584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542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42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42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745C1C40-39DB-4BFC-B4BA-B8FAADDB518F}" type="slidenum">
              <a:rPr lang="en-US"/>
              <a:pPr>
                <a:defRPr/>
              </a:pPr>
              <a:t>‹#›</a:t>
            </a:fld>
            <a:endParaRPr lang="en-US"/>
          </a:p>
        </p:txBody>
      </p:sp>
    </p:spTree>
    <p:extLst>
      <p:ext uri="{BB962C8B-B14F-4D97-AF65-F5344CB8AC3E}">
        <p14:creationId xmlns:p14="http://schemas.microsoft.com/office/powerpoint/2010/main" val="24646208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xfrm>
            <a:off x="381000" y="685800"/>
            <a:ext cx="6096000" cy="3429000"/>
          </a:xfrm>
          <a:ln/>
        </p:spPr>
      </p:sp>
      <p:sp>
        <p:nvSpPr>
          <p:cNvPr id="36867" name="Notes Placeholder 2"/>
          <p:cNvSpPr>
            <a:spLocks noGrp="1"/>
          </p:cNvSpPr>
          <p:nvPr>
            <p:ph type="body" idx="1"/>
          </p:nvPr>
        </p:nvSpPr>
        <p:spPr>
          <a:noFill/>
          <a:ln/>
        </p:spPr>
        <p:txBody>
          <a:bodyPr/>
          <a:lstStyle/>
          <a:p>
            <a:pPr eaLnBrk="1" hangingPunct="1"/>
            <a:r>
              <a:rPr lang="en-US"/>
              <a:t>Covered in 1</a:t>
            </a:r>
            <a:r>
              <a:rPr lang="en-US" baseline="30000"/>
              <a:t>st</a:t>
            </a:r>
            <a:r>
              <a:rPr lang="en-US"/>
              <a:t> week on 2 and 4 march, 2021</a:t>
            </a:r>
          </a:p>
        </p:txBody>
      </p:sp>
      <p:sp>
        <p:nvSpPr>
          <p:cNvPr id="36868" name="Slide Number Placeholder 3"/>
          <p:cNvSpPr>
            <a:spLocks noGrp="1"/>
          </p:cNvSpPr>
          <p:nvPr>
            <p:ph type="sldNum" sz="quarter" idx="5"/>
          </p:nvPr>
        </p:nvSpPr>
        <p:spPr>
          <a:noFill/>
        </p:spPr>
        <p:txBody>
          <a:bodyPr/>
          <a:lstStyle/>
          <a:p>
            <a:fld id="{72A94D45-6B00-4B8A-83A5-7AE89772CDCE}" type="slidenum">
              <a:rPr lang="en-US" smtClean="0"/>
              <a:pPr/>
              <a:t>1</a:t>
            </a:fld>
            <a:endParaRPr lang="en-US"/>
          </a:p>
        </p:txBody>
      </p:sp>
    </p:spTree>
    <p:extLst>
      <p:ext uri="{BB962C8B-B14F-4D97-AF65-F5344CB8AC3E}">
        <p14:creationId xmlns:p14="http://schemas.microsoft.com/office/powerpoint/2010/main" val="1863493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13</a:t>
            </a:fld>
            <a:endParaRPr lang="en-US"/>
          </a:p>
        </p:txBody>
      </p:sp>
    </p:spTree>
    <p:extLst>
      <p:ext uri="{BB962C8B-B14F-4D97-AF65-F5344CB8AC3E}">
        <p14:creationId xmlns:p14="http://schemas.microsoft.com/office/powerpoint/2010/main" val="6101725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7570E-71F8-EDE1-12B0-EB3D24AE7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96F6C3-FC53-21AE-F184-A0A5D0EB6A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D99B07-7AA2-9E83-DAE2-925CE3290970}"/>
              </a:ext>
            </a:extLst>
          </p:cNvPr>
          <p:cNvSpPr>
            <a:spLocks noGrp="1"/>
          </p:cNvSpPr>
          <p:nvPr>
            <p:ph type="body" idx="1"/>
          </p:nvPr>
        </p:nvSpPr>
        <p:spPr/>
        <p:txBody>
          <a:bodyPr/>
          <a:lstStyle/>
          <a:p>
            <a:r>
              <a:rPr lang="en-GB" dirty="0"/>
              <a:t>Using </a:t>
            </a:r>
            <a:r>
              <a:rPr lang="en-GB" dirty="0" err="1"/>
              <a:t>q.front</a:t>
            </a:r>
            <a:r>
              <a:rPr lang="en-GB" dirty="0"/>
              <a:t>++ ensures you:</a:t>
            </a:r>
          </a:p>
          <a:p>
            <a:pPr>
              <a:buFont typeface="Arial" panose="020B0604020202020204" pitchFamily="34" charset="0"/>
              <a:buChar char="•"/>
            </a:pPr>
            <a:r>
              <a:rPr lang="en-GB" dirty="0"/>
              <a:t>Return the correct value (at current front)</a:t>
            </a:r>
          </a:p>
          <a:p>
            <a:pPr>
              <a:buFont typeface="Arial" panose="020B0604020202020204" pitchFamily="34" charset="0"/>
              <a:buChar char="•"/>
            </a:pPr>
            <a:r>
              <a:rPr lang="en-GB" dirty="0"/>
              <a:t>Advance the queue pointer to the next item</a:t>
            </a:r>
          </a:p>
          <a:p>
            <a:endParaRPr lang="en-PK" dirty="0"/>
          </a:p>
        </p:txBody>
      </p:sp>
      <p:sp>
        <p:nvSpPr>
          <p:cNvPr id="4" name="Slide Number Placeholder 3">
            <a:extLst>
              <a:ext uri="{FF2B5EF4-FFF2-40B4-BE49-F238E27FC236}">
                <a16:creationId xmlns:a16="http://schemas.microsoft.com/office/drawing/2014/main" id="{857F5172-2E85-3675-974B-952A3008D138}"/>
              </a:ext>
            </a:extLst>
          </p:cNvPr>
          <p:cNvSpPr>
            <a:spLocks noGrp="1"/>
          </p:cNvSpPr>
          <p:nvPr>
            <p:ph type="sldNum" sz="quarter" idx="5"/>
          </p:nvPr>
        </p:nvSpPr>
        <p:spPr/>
        <p:txBody>
          <a:bodyPr/>
          <a:lstStyle/>
          <a:p>
            <a:pPr>
              <a:defRPr/>
            </a:pPr>
            <a:fld id="{745C1C40-39DB-4BFC-B4BA-B8FAADDB518F}" type="slidenum">
              <a:rPr lang="en-US" smtClean="0"/>
              <a:pPr>
                <a:defRPr/>
              </a:pPr>
              <a:t>14</a:t>
            </a:fld>
            <a:endParaRPr lang="en-US"/>
          </a:p>
        </p:txBody>
      </p:sp>
    </p:spTree>
    <p:extLst>
      <p:ext uri="{BB962C8B-B14F-4D97-AF65-F5344CB8AC3E}">
        <p14:creationId xmlns:p14="http://schemas.microsoft.com/office/powerpoint/2010/main" val="480347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t>
            </a:r>
            <a:r>
              <a:rPr lang="en-GB" dirty="0" err="1"/>
              <a:t>www.geeksforgeeks.org</a:t>
            </a:r>
            <a:r>
              <a:rPr lang="en-GB" dirty="0"/>
              <a:t>/</a:t>
            </a:r>
            <a:r>
              <a:rPr lang="en-GB" dirty="0" err="1"/>
              <a:t>dsa</a:t>
            </a:r>
            <a:r>
              <a:rPr lang="en-GB" dirty="0"/>
              <a:t>/introduction-to-circular-queue/</a:t>
            </a:r>
            <a:endParaRPr lang="en-PK" dirty="0"/>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20</a:t>
            </a:fld>
            <a:endParaRPr lang="en-US"/>
          </a:p>
        </p:txBody>
      </p:sp>
    </p:spTree>
    <p:extLst>
      <p:ext uri="{BB962C8B-B14F-4D97-AF65-F5344CB8AC3E}">
        <p14:creationId xmlns:p14="http://schemas.microsoft.com/office/powerpoint/2010/main" val="3775617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avoid </a:t>
            </a:r>
            <a:r>
              <a:rPr lang="en-GB" b="1" dirty="0"/>
              <a:t>confusion between "empty" and "full"</a:t>
            </a:r>
            <a:r>
              <a:rPr lang="en-GB" dirty="0"/>
              <a:t> in a </a:t>
            </a:r>
            <a:r>
              <a:rPr lang="en-GB" b="1" dirty="0"/>
              <a:t>circular queue</a:t>
            </a:r>
            <a:r>
              <a:rPr lang="en-GB" dirty="0"/>
              <a:t>, we </a:t>
            </a:r>
            <a:r>
              <a:rPr lang="en-GB" b="1" dirty="0"/>
              <a:t>intentionally leave one slot unused</a:t>
            </a:r>
            <a:r>
              <a:rPr lang="en-GB" dirty="0"/>
              <a:t>.</a:t>
            </a:r>
            <a:endParaRPr lang="en-PK" dirty="0"/>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23</a:t>
            </a:fld>
            <a:endParaRPr lang="en-US"/>
          </a:p>
        </p:txBody>
      </p:sp>
    </p:spTree>
    <p:extLst>
      <p:ext uri="{BB962C8B-B14F-4D97-AF65-F5344CB8AC3E}">
        <p14:creationId xmlns:p14="http://schemas.microsoft.com/office/powerpoint/2010/main" val="26192144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t>
            </a:r>
            <a:r>
              <a:rPr lang="en-GB" dirty="0" err="1"/>
              <a:t>www.geeksforgeeks.org</a:t>
            </a:r>
            <a:r>
              <a:rPr lang="en-GB" dirty="0"/>
              <a:t>/</a:t>
            </a:r>
            <a:r>
              <a:rPr lang="en-GB" dirty="0" err="1"/>
              <a:t>dsa</a:t>
            </a:r>
            <a:r>
              <a:rPr lang="en-GB" dirty="0"/>
              <a:t>/queue-linked-list-implementation/</a:t>
            </a:r>
            <a:endParaRPr lang="en-PK" dirty="0"/>
          </a:p>
        </p:txBody>
      </p:sp>
      <p:sp>
        <p:nvSpPr>
          <p:cNvPr id="4" name="Slide Number Placeholder 3"/>
          <p:cNvSpPr>
            <a:spLocks noGrp="1"/>
          </p:cNvSpPr>
          <p:nvPr>
            <p:ph type="sldNum" sz="quarter" idx="5"/>
          </p:nvPr>
        </p:nvSpPr>
        <p:spPr/>
        <p:txBody>
          <a:bodyPr/>
          <a:lstStyle/>
          <a:p>
            <a:pPr>
              <a:defRPr/>
            </a:pPr>
            <a:fld id="{745C1C40-39DB-4BFC-B4BA-B8FAADDB518F}" type="slidenum">
              <a:rPr lang="en-US" smtClean="0"/>
              <a:pPr>
                <a:defRPr/>
              </a:pPr>
              <a:t>30</a:t>
            </a:fld>
            <a:endParaRPr lang="en-US"/>
          </a:p>
        </p:txBody>
      </p:sp>
    </p:spTree>
    <p:extLst>
      <p:ext uri="{BB962C8B-B14F-4D97-AF65-F5344CB8AC3E}">
        <p14:creationId xmlns:p14="http://schemas.microsoft.com/office/powerpoint/2010/main" val="543422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96A527B4-EF98-40D4-9304-AAC2137E5253}" type="datetime1">
              <a:rPr lang="en-US" smtClean="0"/>
              <a:t>9/29/25</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521E9D4E-9830-4095-8CC8-183203491CBB}" type="slidenum">
              <a:rPr lang="en-US" smtClean="0"/>
              <a:t>‹#›</a:t>
            </a:fld>
            <a:endParaRPr lang="en-US"/>
          </a:p>
        </p:txBody>
      </p:sp>
      <p:sp>
        <p:nvSpPr>
          <p:cNvPr id="7" name="Rectangle 6"/>
          <p:cNvSpPr/>
          <p:nvPr userDrawn="1"/>
        </p:nvSpPr>
        <p:spPr>
          <a:xfrm>
            <a:off x="0" y="228600"/>
            <a:ext cx="12192000" cy="12192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descr="THE NUST BRAND | NUST"/>
          <p:cNvPicPr>
            <a:picLocks noChangeArrowheads="1"/>
          </p:cNvPicPr>
          <p:nvPr userDrawn="1"/>
        </p:nvPicPr>
        <p:blipFill>
          <a:blip r:embed="rId2"/>
          <a:srcRect/>
          <a:stretch>
            <a:fillRect/>
          </a:stretch>
        </p:blipFill>
        <p:spPr bwMode="auto">
          <a:xfrm>
            <a:off x="10668000" y="123825"/>
            <a:ext cx="1428750" cy="1428750"/>
          </a:xfrm>
          <a:prstGeom prst="rect">
            <a:avLst/>
          </a:prstGeom>
          <a:noFill/>
        </p:spPr>
      </p:pic>
      <p:sp>
        <p:nvSpPr>
          <p:cNvPr id="9" name="Rectangle 8"/>
          <p:cNvSpPr/>
          <p:nvPr userDrawn="1"/>
        </p:nvSpPr>
        <p:spPr>
          <a:xfrm>
            <a:off x="1524001" y="553106"/>
            <a:ext cx="6459845" cy="523220"/>
          </a:xfrm>
          <a:prstGeom prst="rect">
            <a:avLst/>
          </a:prstGeom>
        </p:spPr>
        <p:txBody>
          <a:bodyPr wrap="none">
            <a:spAutoFit/>
          </a:bodyPr>
          <a:lstStyle/>
          <a:p>
            <a:r>
              <a:rPr lang="en-US" sz="2800" dirty="0">
                <a:solidFill>
                  <a:schemeClr val="bg1"/>
                </a:solidFill>
              </a:rPr>
              <a:t>CS250: Data Structures and Algorithms</a:t>
            </a:r>
          </a:p>
        </p:txBody>
      </p:sp>
    </p:spTree>
    <p:extLst>
      <p:ext uri="{BB962C8B-B14F-4D97-AF65-F5344CB8AC3E}">
        <p14:creationId xmlns:p14="http://schemas.microsoft.com/office/powerpoint/2010/main" val="3356486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2A153577-B3F6-40FB-9ECF-7F3D22ED66E9}" type="datetime1">
              <a:rPr lang="en-US" smtClean="0"/>
              <a:t>9/29/25</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F350D435-2DCA-4D63-B007-D33EC4F44F07}" type="slidenum">
              <a:rPr lang="en-US" altLang="en-US" smtClean="0"/>
              <a:pPr>
                <a:defRPr/>
              </a:pPr>
              <a:t>‹#›</a:t>
            </a:fld>
            <a:endParaRPr lang="en-US" altLang="en-US"/>
          </a:p>
        </p:txBody>
      </p:sp>
      <p:sp>
        <p:nvSpPr>
          <p:cNvPr id="7" name="Rectangle 6"/>
          <p:cNvSpPr/>
          <p:nvPr userDrawn="1"/>
        </p:nvSpPr>
        <p:spPr>
          <a:xfrm>
            <a:off x="0" y="1689420"/>
            <a:ext cx="12192000" cy="4571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4816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775DB190-B4A0-4F2C-A79D-297FEE9A5A04}" type="datetime1">
              <a:rPr lang="en-US" smtClean="0"/>
              <a:t>9/29/25</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19D9EF8D-1A3F-4770-88DF-5CE0BAFACB14}" type="slidenum">
              <a:rPr lang="en-US" altLang="en-US" smtClean="0"/>
              <a:pPr>
                <a:defRPr/>
              </a:pPr>
              <a:t>‹#›</a:t>
            </a:fld>
            <a:endParaRPr lang="en-US" altLang="en-US"/>
          </a:p>
        </p:txBody>
      </p:sp>
    </p:spTree>
    <p:extLst>
      <p:ext uri="{BB962C8B-B14F-4D97-AF65-F5344CB8AC3E}">
        <p14:creationId xmlns:p14="http://schemas.microsoft.com/office/powerpoint/2010/main" val="3885349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7E885010-23F0-4D59-B3B0-279C3FAF7048}" type="datetime1">
              <a:rPr lang="en-US" smtClean="0"/>
              <a:t>9/29/25</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07574BD9-A853-4283-85D1-C9F1BF83FE24}" type="slidenum">
              <a:rPr lang="en-US" altLang="en-US" smtClean="0"/>
              <a:pPr>
                <a:defRPr/>
              </a:pPr>
              <a:t>‹#›</a:t>
            </a:fld>
            <a:endParaRPr lang="en-US" altLang="en-US"/>
          </a:p>
        </p:txBody>
      </p:sp>
      <p:sp>
        <p:nvSpPr>
          <p:cNvPr id="8" name="Rectangle 7"/>
          <p:cNvSpPr/>
          <p:nvPr userDrawn="1"/>
        </p:nvSpPr>
        <p:spPr>
          <a:xfrm>
            <a:off x="0" y="1689420"/>
            <a:ext cx="12192000" cy="4571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2368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AB8031B1-3E2A-49CB-B7EA-A2E7101AC6BE}" type="datetime1">
              <a:rPr lang="en-US" smtClean="0"/>
              <a:t>9/29/25</a:t>
            </a:fld>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pPr>
              <a:defRPr/>
            </a:pPr>
            <a:fld id="{82F2B752-C656-46CC-8972-8BB8BB868CC9}" type="slidenum">
              <a:rPr lang="en-US" altLang="en-US" smtClean="0"/>
              <a:pPr>
                <a:defRPr/>
              </a:pPr>
              <a:t>‹#›</a:t>
            </a:fld>
            <a:endParaRPr lang="en-US" altLang="en-US"/>
          </a:p>
        </p:txBody>
      </p:sp>
      <p:sp>
        <p:nvSpPr>
          <p:cNvPr id="10" name="Rectangle 9"/>
          <p:cNvSpPr/>
          <p:nvPr userDrawn="1"/>
        </p:nvSpPr>
        <p:spPr>
          <a:xfrm>
            <a:off x="0" y="1689420"/>
            <a:ext cx="12192000" cy="4571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9306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3B4D973E-BF8C-4C40-98D6-205588CF2490}" type="datetime1">
              <a:rPr lang="en-US" smtClean="0"/>
              <a:t>9/29/25</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C71BD5D2-A63C-4CF3-9B33-EDAB3DA9185D}" type="slidenum">
              <a:rPr lang="en-US" altLang="en-US" smtClean="0"/>
              <a:pPr>
                <a:defRPr/>
              </a:pPr>
              <a:t>‹#›</a:t>
            </a:fld>
            <a:endParaRPr lang="en-US" altLang="en-US"/>
          </a:p>
        </p:txBody>
      </p:sp>
      <p:sp>
        <p:nvSpPr>
          <p:cNvPr id="6" name="Rectangle 5"/>
          <p:cNvSpPr/>
          <p:nvPr userDrawn="1"/>
        </p:nvSpPr>
        <p:spPr>
          <a:xfrm>
            <a:off x="0" y="1689420"/>
            <a:ext cx="12192000" cy="4571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04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276386E-127A-4350-9479-89372D8B12FD}" type="datetime1">
              <a:rPr lang="en-US" smtClean="0"/>
              <a:t>9/29/25</a:t>
            </a:fld>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pPr>
              <a:defRPr/>
            </a:pPr>
            <a:fld id="{DDA4240F-2E2F-4F70-AB00-EAE709958E8F}" type="slidenum">
              <a:rPr lang="en-US" altLang="en-US" smtClean="0"/>
              <a:pPr>
                <a:defRPr/>
              </a:pPr>
              <a:t>‹#›</a:t>
            </a:fld>
            <a:endParaRPr lang="en-US" altLang="en-US"/>
          </a:p>
        </p:txBody>
      </p:sp>
    </p:spTree>
    <p:extLst>
      <p:ext uri="{BB962C8B-B14F-4D97-AF65-F5344CB8AC3E}">
        <p14:creationId xmlns:p14="http://schemas.microsoft.com/office/powerpoint/2010/main" val="3002882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B6286701-83F1-4D0D-BBEB-8C3EF2A3E12A}" type="datetime1">
              <a:rPr lang="en-US" smtClean="0"/>
              <a:t>9/29/25</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A66EA107-19E7-413B-9DC1-F1B3865A107D}" type="slidenum">
              <a:rPr lang="en-US" altLang="en-US" smtClean="0"/>
              <a:pPr>
                <a:defRPr/>
              </a:pPr>
              <a:t>‹#›</a:t>
            </a:fld>
            <a:endParaRPr lang="en-US" altLang="en-US"/>
          </a:p>
        </p:txBody>
      </p:sp>
    </p:spTree>
    <p:extLst>
      <p:ext uri="{BB962C8B-B14F-4D97-AF65-F5344CB8AC3E}">
        <p14:creationId xmlns:p14="http://schemas.microsoft.com/office/powerpoint/2010/main" val="2425627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09E1C895-CACE-4C5A-9275-B10B7EA21AEB}" type="datetime1">
              <a:rPr lang="en-US" smtClean="0"/>
              <a:t>9/29/25</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B7A1BE0D-10C3-46E0-9416-79CBE844C178}" type="slidenum">
              <a:rPr lang="en-US" altLang="en-US" smtClean="0"/>
              <a:pPr>
                <a:defRPr/>
              </a:pPr>
              <a:t>‹#›</a:t>
            </a:fld>
            <a:endParaRPr lang="en-US" altLang="en-US"/>
          </a:p>
        </p:txBody>
      </p:sp>
    </p:spTree>
    <p:extLst>
      <p:ext uri="{BB962C8B-B14F-4D97-AF65-F5344CB8AC3E}">
        <p14:creationId xmlns:p14="http://schemas.microsoft.com/office/powerpoint/2010/main" val="3936576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6B459991-7D95-4BC2-8F26-26EB4B234BAC}" type="datetime1">
              <a:rPr lang="en-US" smtClean="0"/>
              <a:t>9/29/25</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4F2DF1FA-8075-4240-BFC5-19BEB0AFB84B}" type="slidenum">
              <a:rPr lang="en-US" altLang="en-US" smtClean="0"/>
              <a:pPr>
                <a:defRPr/>
              </a:pPr>
              <a:t>‹#›</a:t>
            </a:fld>
            <a:endParaRPr lang="en-US" altLang="en-US"/>
          </a:p>
        </p:txBody>
      </p:sp>
    </p:spTree>
    <p:extLst>
      <p:ext uri="{BB962C8B-B14F-4D97-AF65-F5344CB8AC3E}">
        <p14:creationId xmlns:p14="http://schemas.microsoft.com/office/powerpoint/2010/main" val="1013970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8ED805E9-7834-41AE-8A89-8B4DD2CE0B59}" type="datetime1">
              <a:rPr lang="en-US" smtClean="0"/>
              <a:t>9/29/25</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DE6C57D7-E5D1-44B3-8387-E5D3AD2AEC00}" type="slidenum">
              <a:rPr lang="en-US" altLang="en-US" smtClean="0"/>
              <a:pPr>
                <a:defRPr/>
              </a:pPr>
              <a:t>‹#›</a:t>
            </a:fld>
            <a:endParaRPr lang="en-US" altLang="en-US"/>
          </a:p>
        </p:txBody>
      </p:sp>
    </p:spTree>
    <p:extLst>
      <p:ext uri="{BB962C8B-B14F-4D97-AF65-F5344CB8AC3E}">
        <p14:creationId xmlns:p14="http://schemas.microsoft.com/office/powerpoint/2010/main" val="239635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C374FE5B-073B-430C-A275-AD2C451664E9}" type="datetime1">
              <a:rPr lang="en-US" smtClean="0"/>
              <a:t>9/29/25</a:t>
            </a:fld>
            <a:endParaRPr lang="en-US"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095B6C2-FB1D-4F5B-AD54-894E892FEA0F}" type="slidenum">
              <a:rPr lang="en-US" altLang="en-US" smtClean="0"/>
              <a:pPr>
                <a:defRPr/>
              </a:pPr>
              <a:t>‹#›</a:t>
            </a:fld>
            <a:endParaRPr lang="en-US" altLang="en-US" dirty="0"/>
          </a:p>
        </p:txBody>
      </p:sp>
    </p:spTree>
    <p:extLst>
      <p:ext uri="{BB962C8B-B14F-4D97-AF65-F5344CB8AC3E}">
        <p14:creationId xmlns:p14="http://schemas.microsoft.com/office/powerpoint/2010/main" val="66713941"/>
      </p:ext>
    </p:extLst>
  </p:cSld>
  <p:clrMap bg1="lt1" tx1="dk1" bg2="lt2" tx2="dk2" accent1="accent1" accent2="accent2" accent3="accent3" accent4="accent4" accent5="accent5" accent6="accent6" hlink="hlink" folHlink="folHlink"/>
  <p:sldLayoutIdLst>
    <p:sldLayoutId id="2147483955" r:id="rId1"/>
    <p:sldLayoutId id="2147483956" r:id="rId2"/>
    <p:sldLayoutId id="2147483957" r:id="rId3"/>
    <p:sldLayoutId id="2147483958" r:id="rId4"/>
    <p:sldLayoutId id="2147483959" r:id="rId5"/>
    <p:sldLayoutId id="2147483960" r:id="rId6"/>
    <p:sldLayoutId id="2147483961" r:id="rId7"/>
    <p:sldLayoutId id="2147483962" r:id="rId8"/>
    <p:sldLayoutId id="2147483963" r:id="rId9"/>
    <p:sldLayoutId id="2147483964" r:id="rId10"/>
    <p:sldLayoutId id="214748396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normAutofit/>
          </a:bodyPr>
          <a:lstStyle/>
          <a:p>
            <a:pPr>
              <a:defRPr/>
            </a:pPr>
            <a:r>
              <a:rPr lang="en-US" dirty="0"/>
              <a:t>All about Queues!</a:t>
            </a:r>
          </a:p>
        </p:txBody>
      </p:sp>
      <p:sp>
        <p:nvSpPr>
          <p:cNvPr id="5123" name="Rectangle 3"/>
          <p:cNvSpPr>
            <a:spLocks noGrp="1" noChangeArrowheads="1"/>
          </p:cNvSpPr>
          <p:nvPr>
            <p:ph type="subTitle" idx="1"/>
          </p:nvPr>
        </p:nvSpPr>
        <p:spPr/>
        <p:txBody>
          <a:bodyPr>
            <a:normAutofit/>
          </a:bodyPr>
          <a:lstStyle/>
          <a:p>
            <a:r>
              <a:rPr lang="en-US" sz="3600" dirty="0"/>
              <a:t>Fall 2025</a:t>
            </a:r>
          </a:p>
          <a:p>
            <a:r>
              <a:rPr lang="en-US" sz="3600" dirty="0"/>
              <a:t>BSCS - 3ABC</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19EC-9B68-CB44-822E-FCC82E872EB4}"/>
              </a:ext>
            </a:extLst>
          </p:cNvPr>
          <p:cNvSpPr>
            <a:spLocks noGrp="1"/>
          </p:cNvSpPr>
          <p:nvPr>
            <p:ph type="title"/>
          </p:nvPr>
        </p:nvSpPr>
        <p:spPr/>
        <p:txBody>
          <a:bodyPr/>
          <a:lstStyle/>
          <a:p>
            <a:r>
              <a:rPr lang="en-US" b="1" dirty="0"/>
              <a:t>Lecture Outline</a:t>
            </a:r>
          </a:p>
        </p:txBody>
      </p:sp>
      <p:sp>
        <p:nvSpPr>
          <p:cNvPr id="3" name="Content Placeholder 2">
            <a:extLst>
              <a:ext uri="{FF2B5EF4-FFF2-40B4-BE49-F238E27FC236}">
                <a16:creationId xmlns:a16="http://schemas.microsoft.com/office/drawing/2014/main" id="{947B2A51-8C0C-4A4E-A2C0-42860462A6EA}"/>
              </a:ext>
            </a:extLst>
          </p:cNvPr>
          <p:cNvSpPr>
            <a:spLocks noGrp="1"/>
          </p:cNvSpPr>
          <p:nvPr>
            <p:ph idx="1"/>
          </p:nvPr>
        </p:nvSpPr>
        <p:spPr/>
        <p:txBody>
          <a:bodyPr>
            <a:normAutofit/>
          </a:bodyPr>
          <a:lstStyle/>
          <a:p>
            <a:r>
              <a:rPr lang="en-US" altLang="en-US" dirty="0"/>
              <a:t>What is a Queue?</a:t>
            </a:r>
          </a:p>
          <a:p>
            <a:r>
              <a:rPr lang="en-US" altLang="en-US" dirty="0"/>
              <a:t>Operations on a Queue</a:t>
            </a:r>
          </a:p>
          <a:p>
            <a:pPr lvl="1"/>
            <a:r>
              <a:rPr lang="en-US" altLang="en-US" dirty="0"/>
              <a:t>Array based Implementation</a:t>
            </a:r>
          </a:p>
          <a:p>
            <a:pPr lvl="2"/>
            <a:r>
              <a:rPr lang="en-US" altLang="en-US" dirty="0"/>
              <a:t>Shifting items in a queue</a:t>
            </a:r>
          </a:p>
          <a:p>
            <a:pPr lvl="2"/>
            <a:r>
              <a:rPr lang="en-US" altLang="en-US" dirty="0"/>
              <a:t>Circular Queue</a:t>
            </a:r>
          </a:p>
          <a:p>
            <a:pPr lvl="1"/>
            <a:r>
              <a:rPr lang="en-US" altLang="en-US" dirty="0"/>
              <a:t>Linked List based Implementation</a:t>
            </a:r>
          </a:p>
          <a:p>
            <a:r>
              <a:rPr lang="en-US" altLang="en-US"/>
              <a:t>Deque</a:t>
            </a:r>
            <a:endParaRPr lang="en-US" altLang="en-US" dirty="0"/>
          </a:p>
        </p:txBody>
      </p:sp>
      <p:sp>
        <p:nvSpPr>
          <p:cNvPr id="5" name="Slide Number Placeholder 4">
            <a:extLst>
              <a:ext uri="{FF2B5EF4-FFF2-40B4-BE49-F238E27FC236}">
                <a16:creationId xmlns:a16="http://schemas.microsoft.com/office/drawing/2014/main" id="{05DDF3EA-E539-5242-AB21-ED64450F398B}"/>
              </a:ext>
            </a:extLst>
          </p:cNvPr>
          <p:cNvSpPr>
            <a:spLocks noGrp="1"/>
          </p:cNvSpPr>
          <p:nvPr>
            <p:ph type="sldNum" sz="quarter" idx="12"/>
          </p:nvPr>
        </p:nvSpPr>
        <p:spPr/>
        <p:txBody>
          <a:bodyPr/>
          <a:lstStyle/>
          <a:p>
            <a:fld id="{F350D435-2DCA-4D63-B007-D33EC4F44F07}" type="slidenum">
              <a:rPr lang="en-US" altLang="en-US" smtClean="0"/>
              <a:pPr/>
              <a:t>2</a:t>
            </a:fld>
            <a:endParaRPr lang="en-US" altLang="en-US"/>
          </a:p>
        </p:txBody>
      </p:sp>
    </p:spTree>
    <p:extLst>
      <p:ext uri="{BB962C8B-B14F-4D97-AF65-F5344CB8AC3E}">
        <p14:creationId xmlns:p14="http://schemas.microsoft.com/office/powerpoint/2010/main" val="3350787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What is a Queue?</a:t>
            </a:r>
            <a:endParaRPr lang="en-US" b="1" dirty="0"/>
          </a:p>
        </p:txBody>
      </p:sp>
      <p:sp>
        <p:nvSpPr>
          <p:cNvPr id="3" name="Content Placeholder 2"/>
          <p:cNvSpPr>
            <a:spLocks noGrp="1"/>
          </p:cNvSpPr>
          <p:nvPr>
            <p:ph idx="1"/>
          </p:nvPr>
        </p:nvSpPr>
        <p:spPr/>
        <p:txBody>
          <a:bodyPr>
            <a:normAutofit fontScale="92500" lnSpcReduction="10000"/>
          </a:bodyPr>
          <a:lstStyle/>
          <a:p>
            <a:r>
              <a:rPr lang="en-GB" dirty="0"/>
              <a:t>Unlike a stack, a queue is a structure in which both ends are used</a:t>
            </a:r>
          </a:p>
          <a:p>
            <a:pPr lvl="1"/>
            <a:r>
              <a:rPr lang="en-GB" dirty="0"/>
              <a:t>one for adding new elements and one for removing them</a:t>
            </a:r>
          </a:p>
          <a:p>
            <a:endParaRPr lang="en-GB" dirty="0"/>
          </a:p>
          <a:p>
            <a:r>
              <a:rPr lang="en-GB" dirty="0"/>
              <a:t>A queue is an ordered collection of items from which items may be deleted at one end (called the front of the queue) and into which items may be inserted at the other end (called the rear of the queue)</a:t>
            </a:r>
          </a:p>
          <a:p>
            <a:pPr lvl="1"/>
            <a:r>
              <a:rPr lang="en-GB" dirty="0"/>
              <a:t>i.e., it is simply a waiting line that grows by adding elements to its end and shrinks by taking elements from its front</a:t>
            </a:r>
          </a:p>
          <a:p>
            <a:pPr lvl="1"/>
            <a:r>
              <a:rPr lang="en-GB" dirty="0"/>
              <a:t>Thus, the last element has to wait until all elements preceding it on the queue are removed</a:t>
            </a:r>
          </a:p>
          <a:p>
            <a:r>
              <a:rPr lang="en-GB" dirty="0"/>
              <a:t>It is data structure which implements a First-In, First-Out (FIFO) behaviour i.e., elements are removed in the same order as they were entered </a:t>
            </a:r>
            <a:endParaRPr lang="en-US" dirty="0"/>
          </a:p>
          <a:p>
            <a:endParaRPr lang="en-US" dirty="0"/>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3</a:t>
            </a:fld>
            <a:endParaRPr lang="en-US" altLang="en-US"/>
          </a:p>
        </p:txBody>
      </p:sp>
    </p:spTree>
    <p:extLst>
      <p:ext uri="{BB962C8B-B14F-4D97-AF65-F5344CB8AC3E}">
        <p14:creationId xmlns:p14="http://schemas.microsoft.com/office/powerpoint/2010/main" val="2193643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Queues</a:t>
            </a:r>
            <a:endParaRPr lang="en-US" b="1" dirty="0"/>
          </a:p>
        </p:txBody>
      </p:sp>
      <p:sp>
        <p:nvSpPr>
          <p:cNvPr id="3" name="Content Placeholder 2"/>
          <p:cNvSpPr>
            <a:spLocks noGrp="1"/>
          </p:cNvSpPr>
          <p:nvPr>
            <p:ph idx="1"/>
          </p:nvPr>
        </p:nvSpPr>
        <p:spPr/>
        <p:txBody>
          <a:bodyPr/>
          <a:lstStyle/>
          <a:p>
            <a:r>
              <a:rPr lang="en-GB" dirty="0"/>
              <a:t>Data enters the queue at one end and exits at the other</a:t>
            </a:r>
            <a:endParaRPr lang="en-US" dirty="0"/>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4</a:t>
            </a:fld>
            <a:endParaRPr lang="en-US" alt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2998" y="2809513"/>
            <a:ext cx="8386003" cy="336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4063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de-DE" b="1" dirty="0"/>
              <a:t>Examples</a:t>
            </a:r>
            <a:endParaRPr lang="en-US" b="1" dirty="0"/>
          </a:p>
        </p:txBody>
      </p:sp>
      <p:sp>
        <p:nvSpPr>
          <p:cNvPr id="6" name="Content Placeholder 5"/>
          <p:cNvSpPr>
            <a:spLocks noGrp="1"/>
          </p:cNvSpPr>
          <p:nvPr>
            <p:ph sz="half" idx="1"/>
          </p:nvPr>
        </p:nvSpPr>
        <p:spPr/>
        <p:txBody>
          <a:bodyPr/>
          <a:lstStyle/>
          <a:p>
            <a:r>
              <a:rPr lang="en-GB" dirty="0"/>
              <a:t>Ticketing counter </a:t>
            </a:r>
          </a:p>
          <a:p>
            <a:r>
              <a:rPr lang="en-US" dirty="0">
                <a:sym typeface="Wingdings" pitchFamily="2" charset="2"/>
              </a:rPr>
              <a:t>Printer SPOOL</a:t>
            </a:r>
          </a:p>
          <a:p>
            <a:pPr>
              <a:defRPr/>
            </a:pPr>
            <a:r>
              <a:rPr lang="en-US" dirty="0">
                <a:sym typeface="Wingdings" pitchFamily="2" charset="2"/>
              </a:rPr>
              <a:t>CPU Scheduling (at times)</a:t>
            </a:r>
          </a:p>
          <a:p>
            <a:pPr>
              <a:defRPr/>
            </a:pPr>
            <a:r>
              <a:rPr lang="en-GB" dirty="0"/>
              <a:t>…</a:t>
            </a:r>
            <a:endParaRPr lang="en-US" dirty="0">
              <a:sym typeface="Wingdings" pitchFamily="2" charset="2"/>
            </a:endParaRPr>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5</a:t>
            </a:fld>
            <a:endParaRPr lang="en-US" altLang="en-US"/>
          </a:p>
        </p:txBody>
      </p:sp>
      <p:grpSp>
        <p:nvGrpSpPr>
          <p:cNvPr id="9" name="Group 8"/>
          <p:cNvGrpSpPr/>
          <p:nvPr/>
        </p:nvGrpSpPr>
        <p:grpSpPr>
          <a:xfrm>
            <a:off x="5181600" y="1882162"/>
            <a:ext cx="6581195" cy="4474188"/>
            <a:chOff x="5562600" y="2328274"/>
            <a:chExt cx="5971595" cy="4050914"/>
          </a:xfrm>
        </p:grpSpPr>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2795956"/>
              <a:ext cx="5971595" cy="3583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5668246" y="2328274"/>
              <a:ext cx="5760302" cy="461665"/>
            </a:xfrm>
            <a:prstGeom prst="rect">
              <a:avLst/>
            </a:prstGeom>
          </p:spPr>
          <p:txBody>
            <a:bodyPr wrap="square">
              <a:spAutoFit/>
            </a:bodyPr>
            <a:lstStyle/>
            <a:p>
              <a:pPr>
                <a:defRPr/>
              </a:pPr>
              <a:r>
                <a:rPr lang="en-GB" sz="2400" dirty="0">
                  <a:cs typeface="Arial" panose="020B0604020202020204" pitchFamily="34" charset="0"/>
                </a:rPr>
                <a:t>First one in line is the first to get served</a:t>
              </a:r>
            </a:p>
          </p:txBody>
        </p:sp>
      </p:grpSp>
    </p:spTree>
    <p:extLst>
      <p:ext uri="{BB962C8B-B14F-4D97-AF65-F5344CB8AC3E}">
        <p14:creationId xmlns:p14="http://schemas.microsoft.com/office/powerpoint/2010/main" val="1878851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Attributes of a Queue</a:t>
            </a:r>
            <a:endParaRPr lang="en-US" b="1" dirty="0"/>
          </a:p>
        </p:txBody>
      </p:sp>
      <p:sp>
        <p:nvSpPr>
          <p:cNvPr id="6" name="Content Placeholder 5"/>
          <p:cNvSpPr>
            <a:spLocks noGrp="1"/>
          </p:cNvSpPr>
          <p:nvPr>
            <p:ph idx="1"/>
          </p:nvPr>
        </p:nvSpPr>
        <p:spPr/>
        <p:txBody>
          <a:bodyPr/>
          <a:lstStyle/>
          <a:p>
            <a:r>
              <a:rPr lang="en-GB" dirty="0"/>
              <a:t>Size: Represents the total number of elements in a queue</a:t>
            </a:r>
          </a:p>
          <a:p>
            <a:r>
              <a:rPr lang="en-GB" dirty="0"/>
              <a:t> Front: Points to the first element of queue </a:t>
            </a:r>
          </a:p>
          <a:p>
            <a:pPr lvl="1"/>
            <a:r>
              <a:rPr lang="en-GB" dirty="0"/>
              <a:t>Used for removal </a:t>
            </a:r>
          </a:p>
          <a:p>
            <a:r>
              <a:rPr lang="en-GB" dirty="0"/>
              <a:t>Rear: Points to the last element of queue </a:t>
            </a:r>
          </a:p>
          <a:p>
            <a:pPr lvl="1"/>
            <a:r>
              <a:rPr lang="en-GB" dirty="0"/>
              <a:t>Used for insertion </a:t>
            </a:r>
          </a:p>
        </p:txBody>
      </p:sp>
      <p:sp>
        <p:nvSpPr>
          <p:cNvPr id="5" name="Slide Number Placeholder 4"/>
          <p:cNvSpPr>
            <a:spLocks noGrp="1"/>
          </p:cNvSpPr>
          <p:nvPr>
            <p:ph type="sldNum" sz="quarter" idx="12"/>
          </p:nvPr>
        </p:nvSpPr>
        <p:spPr/>
        <p:txBody>
          <a:bodyPr/>
          <a:lstStyle/>
          <a:p>
            <a:pPr>
              <a:defRPr/>
            </a:pPr>
            <a:fld id="{07574BD9-A853-4283-85D1-C9F1BF83FE24}" type="slidenum">
              <a:rPr lang="en-US" altLang="en-US" smtClean="0"/>
              <a:pPr>
                <a:defRPr/>
              </a:pPr>
              <a:t>6</a:t>
            </a:fld>
            <a:endParaRPr lang="en-US" altLang="en-US"/>
          </a:p>
        </p:txBody>
      </p:sp>
      <p:graphicFrame>
        <p:nvGraphicFramePr>
          <p:cNvPr id="7" name="Group 18"/>
          <p:cNvGraphicFramePr>
            <a:graphicFrameLocks noGrp="1"/>
          </p:cNvGraphicFramePr>
          <p:nvPr>
            <p:extLst>
              <p:ext uri="{D42A27DB-BD31-4B8C-83A1-F6EECF244321}">
                <p14:modId xmlns:p14="http://schemas.microsoft.com/office/powerpoint/2010/main" val="3157188844"/>
              </p:ext>
            </p:extLst>
          </p:nvPr>
        </p:nvGraphicFramePr>
        <p:xfrm>
          <a:off x="641105" y="4468908"/>
          <a:ext cx="6096000" cy="533400"/>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5334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8" name="Text Box 32"/>
          <p:cNvSpPr txBox="1">
            <a:spLocks noChangeArrowheads="1"/>
          </p:cNvSpPr>
          <p:nvPr/>
        </p:nvSpPr>
        <p:spPr bwMode="auto">
          <a:xfrm>
            <a:off x="358530" y="5361084"/>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Front</a:t>
            </a:r>
          </a:p>
        </p:txBody>
      </p:sp>
      <p:sp>
        <p:nvSpPr>
          <p:cNvPr id="9" name="Text Box 33"/>
          <p:cNvSpPr txBox="1">
            <a:spLocks noChangeArrowheads="1"/>
          </p:cNvSpPr>
          <p:nvPr/>
        </p:nvSpPr>
        <p:spPr bwMode="auto">
          <a:xfrm>
            <a:off x="2373067" y="5208683"/>
            <a:ext cx="679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Rear</a:t>
            </a:r>
          </a:p>
        </p:txBody>
      </p:sp>
      <p:sp>
        <p:nvSpPr>
          <p:cNvPr id="10" name="Line 35"/>
          <p:cNvSpPr>
            <a:spLocks noChangeShapeType="1"/>
          </p:cNvSpPr>
          <p:nvPr/>
        </p:nvSpPr>
        <p:spPr bwMode="auto">
          <a:xfrm flipV="1">
            <a:off x="2987430" y="5050421"/>
            <a:ext cx="504092" cy="243382"/>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graphicFrame>
        <p:nvGraphicFramePr>
          <p:cNvPr id="11" name="Group 36"/>
          <p:cNvGraphicFramePr>
            <a:graphicFrameLocks noGrp="1"/>
          </p:cNvGraphicFramePr>
          <p:nvPr>
            <p:extLst>
              <p:ext uri="{D42A27DB-BD31-4B8C-83A1-F6EECF244321}">
                <p14:modId xmlns:p14="http://schemas.microsoft.com/office/powerpoint/2010/main" val="968864923"/>
              </p:ext>
            </p:extLst>
          </p:nvPr>
        </p:nvGraphicFramePr>
        <p:xfrm>
          <a:off x="4692161" y="5807332"/>
          <a:ext cx="6096000" cy="533400"/>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5334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2" name="Text Box 50"/>
          <p:cNvSpPr txBox="1">
            <a:spLocks noChangeArrowheads="1"/>
          </p:cNvSpPr>
          <p:nvPr/>
        </p:nvSpPr>
        <p:spPr bwMode="auto">
          <a:xfrm>
            <a:off x="6444761" y="5228688"/>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dirty="0"/>
              <a:t>Front</a:t>
            </a:r>
          </a:p>
        </p:txBody>
      </p:sp>
      <p:sp>
        <p:nvSpPr>
          <p:cNvPr id="13" name="Text Box 51"/>
          <p:cNvSpPr txBox="1">
            <a:spLocks noChangeArrowheads="1"/>
          </p:cNvSpPr>
          <p:nvPr/>
        </p:nvSpPr>
        <p:spPr bwMode="auto">
          <a:xfrm>
            <a:off x="8510098" y="5180480"/>
            <a:ext cx="679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Rear</a:t>
            </a:r>
          </a:p>
        </p:txBody>
      </p:sp>
      <p:sp>
        <p:nvSpPr>
          <p:cNvPr id="14" name="Line 35"/>
          <p:cNvSpPr>
            <a:spLocks noChangeShapeType="1"/>
          </p:cNvSpPr>
          <p:nvPr/>
        </p:nvSpPr>
        <p:spPr bwMode="auto">
          <a:xfrm flipV="1">
            <a:off x="894861" y="5060004"/>
            <a:ext cx="206740" cy="301079"/>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15" name="Line 35"/>
          <p:cNvSpPr>
            <a:spLocks noChangeShapeType="1"/>
          </p:cNvSpPr>
          <p:nvPr/>
        </p:nvSpPr>
        <p:spPr bwMode="auto">
          <a:xfrm flipH="1">
            <a:off x="6444762" y="5547193"/>
            <a:ext cx="177435" cy="225213"/>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16" name="Line 35"/>
          <p:cNvSpPr>
            <a:spLocks noChangeShapeType="1"/>
          </p:cNvSpPr>
          <p:nvPr/>
        </p:nvSpPr>
        <p:spPr bwMode="auto">
          <a:xfrm flipH="1">
            <a:off x="7991962" y="5490815"/>
            <a:ext cx="606182" cy="267874"/>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616219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2" grpId="0"/>
      <p:bldP spid="13" grpId="0"/>
      <p:bldP spid="14" grpId="0" animBg="1"/>
      <p:bldP spid="15"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Operations on a Queue(1/3)</a:t>
            </a:r>
          </a:p>
        </p:txBody>
      </p:sp>
      <p:sp>
        <p:nvSpPr>
          <p:cNvPr id="3" name="Content Placeholder 2"/>
          <p:cNvSpPr>
            <a:spLocks noGrp="1"/>
          </p:cNvSpPr>
          <p:nvPr>
            <p:ph idx="1"/>
          </p:nvPr>
        </p:nvSpPr>
        <p:spPr/>
        <p:txBody>
          <a:bodyPr/>
          <a:lstStyle/>
          <a:p>
            <a:r>
              <a:rPr lang="en-GB" dirty="0"/>
              <a:t>Primarily two operations performed on </a:t>
            </a:r>
            <a:r>
              <a:rPr lang="en-GB" dirty="0">
                <a:solidFill>
                  <a:schemeClr val="accent1">
                    <a:lumMod val="75000"/>
                  </a:schemeClr>
                </a:solidFill>
              </a:rPr>
              <a:t>both ends </a:t>
            </a:r>
          </a:p>
          <a:p>
            <a:pPr lvl="1"/>
            <a:r>
              <a:rPr lang="en-GB" b="1" dirty="0" err="1"/>
              <a:t>Enqueue</a:t>
            </a:r>
            <a:r>
              <a:rPr lang="en-GB" dirty="0"/>
              <a:t>: Add an item at the </a:t>
            </a:r>
            <a:r>
              <a:rPr lang="en-GB" b="1" dirty="0"/>
              <a:t>rear</a:t>
            </a:r>
            <a:r>
              <a:rPr lang="en-GB" dirty="0"/>
              <a:t> of queue</a:t>
            </a:r>
          </a:p>
          <a:p>
            <a:pPr lvl="1"/>
            <a:r>
              <a:rPr lang="en-GB" b="1" dirty="0" err="1"/>
              <a:t>Dequeue</a:t>
            </a:r>
            <a:r>
              <a:rPr lang="en-GB" dirty="0"/>
              <a:t>: Remove an item from the </a:t>
            </a:r>
            <a:r>
              <a:rPr lang="en-GB" b="1" dirty="0"/>
              <a:t>front</a:t>
            </a:r>
            <a:r>
              <a:rPr lang="en-GB" dirty="0"/>
              <a:t> of queue  </a:t>
            </a:r>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7</a:t>
            </a:fld>
            <a:endParaRPr lang="en-US" altLang="en-US"/>
          </a:p>
        </p:txBody>
      </p:sp>
      <p:pic>
        <p:nvPicPr>
          <p:cNvPr id="5" name="Picture 4"/>
          <p:cNvPicPr>
            <a:picLocks noChangeAspect="1"/>
          </p:cNvPicPr>
          <p:nvPr/>
        </p:nvPicPr>
        <p:blipFill>
          <a:blip r:embed="rId2"/>
          <a:stretch>
            <a:fillRect/>
          </a:stretch>
        </p:blipFill>
        <p:spPr>
          <a:xfrm>
            <a:off x="1652587" y="4001294"/>
            <a:ext cx="8886825" cy="2047875"/>
          </a:xfrm>
          <a:prstGeom prst="rect">
            <a:avLst/>
          </a:prstGeom>
        </p:spPr>
      </p:pic>
    </p:spTree>
    <p:extLst>
      <p:ext uri="{BB962C8B-B14F-4D97-AF65-F5344CB8AC3E}">
        <p14:creationId xmlns:p14="http://schemas.microsoft.com/office/powerpoint/2010/main" val="3101526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Operations on a Queue (2/3)</a:t>
            </a:r>
          </a:p>
        </p:txBody>
      </p:sp>
      <p:sp>
        <p:nvSpPr>
          <p:cNvPr id="3" name="Content Placeholder 2"/>
          <p:cNvSpPr>
            <a:spLocks noGrp="1"/>
          </p:cNvSpPr>
          <p:nvPr>
            <p:ph idx="1"/>
          </p:nvPr>
        </p:nvSpPr>
        <p:spPr/>
        <p:txBody>
          <a:bodyPr>
            <a:normAutofit fontScale="92500" lnSpcReduction="20000"/>
          </a:bodyPr>
          <a:lstStyle/>
          <a:p>
            <a:r>
              <a:rPr lang="en-GB" dirty="0" err="1"/>
              <a:t>Enqueue</a:t>
            </a:r>
            <a:r>
              <a:rPr lang="en-GB" dirty="0"/>
              <a:t> Concerns</a:t>
            </a:r>
          </a:p>
          <a:p>
            <a:pPr lvl="1"/>
            <a:r>
              <a:rPr lang="en-GB" dirty="0"/>
              <a:t>What if when the queue is full?</a:t>
            </a:r>
          </a:p>
          <a:p>
            <a:endParaRPr lang="en-GB" dirty="0"/>
          </a:p>
          <a:p>
            <a:r>
              <a:rPr lang="en-GB" dirty="0" err="1"/>
              <a:t>Dequeue</a:t>
            </a:r>
            <a:r>
              <a:rPr lang="en-GB" dirty="0"/>
              <a:t> Concerns</a:t>
            </a:r>
          </a:p>
          <a:p>
            <a:pPr lvl="1"/>
            <a:r>
              <a:rPr lang="en-GB" dirty="0"/>
              <a:t>What if the queue is empty?</a:t>
            </a:r>
          </a:p>
          <a:p>
            <a:endParaRPr lang="en-GB" dirty="0"/>
          </a:p>
          <a:p>
            <a:pPr marL="0" indent="0">
              <a:buNone/>
            </a:pPr>
            <a:r>
              <a:rPr lang="en-GB" b="1" dirty="0"/>
              <a:t>Solution:</a:t>
            </a:r>
          </a:p>
          <a:p>
            <a:pPr marL="0" indent="0">
              <a:buNone/>
            </a:pPr>
            <a:endParaRPr lang="en-GB" b="1" dirty="0"/>
          </a:p>
          <a:p>
            <a:r>
              <a:rPr lang="en-GB" dirty="0"/>
              <a:t>Before any </a:t>
            </a:r>
            <a:r>
              <a:rPr lang="en-GB" dirty="0" err="1"/>
              <a:t>enqueue</a:t>
            </a:r>
            <a:r>
              <a:rPr lang="en-GB" dirty="0"/>
              <a:t>, check if the queue is already full or not</a:t>
            </a:r>
          </a:p>
          <a:p>
            <a:endParaRPr lang="en-GB" dirty="0"/>
          </a:p>
          <a:p>
            <a:r>
              <a:rPr lang="en-GB" dirty="0"/>
              <a:t>Before </a:t>
            </a:r>
            <a:r>
              <a:rPr lang="en-GB" dirty="0" err="1"/>
              <a:t>dequeue</a:t>
            </a:r>
            <a:r>
              <a:rPr lang="en-GB" dirty="0"/>
              <a:t>, check if queue is not already empty</a:t>
            </a:r>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8</a:t>
            </a:fld>
            <a:endParaRPr lang="en-US" altLang="en-US"/>
          </a:p>
        </p:txBody>
      </p:sp>
    </p:spTree>
    <p:extLst>
      <p:ext uri="{BB962C8B-B14F-4D97-AF65-F5344CB8AC3E}">
        <p14:creationId xmlns:p14="http://schemas.microsoft.com/office/powerpoint/2010/main" val="3732321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Operations on a Queue (3/3)</a:t>
            </a:r>
          </a:p>
        </p:txBody>
      </p:sp>
      <p:sp>
        <p:nvSpPr>
          <p:cNvPr id="3" name="Content Placeholder 2"/>
          <p:cNvSpPr>
            <a:spLocks noGrp="1"/>
          </p:cNvSpPr>
          <p:nvPr>
            <p:ph idx="1"/>
          </p:nvPr>
        </p:nvSpPr>
        <p:spPr/>
        <p:txBody>
          <a:bodyPr>
            <a:normAutofit fontScale="85000" lnSpcReduction="20000"/>
          </a:bodyPr>
          <a:lstStyle/>
          <a:p>
            <a:pPr marL="0" indent="0">
              <a:buNone/>
            </a:pPr>
            <a:r>
              <a:rPr lang="en-GB" dirty="0" err="1"/>
              <a:t>Enqueue</a:t>
            </a:r>
            <a:r>
              <a:rPr lang="en-GB" dirty="0"/>
              <a:t>(element) </a:t>
            </a:r>
            <a:r>
              <a:rPr lang="en-GB" dirty="0">
                <a:solidFill>
                  <a:srgbClr val="00B050"/>
                </a:solidFill>
              </a:rPr>
              <a:t>// Add an element at the end of the queue</a:t>
            </a:r>
          </a:p>
          <a:p>
            <a:pPr marL="0" indent="0">
              <a:buNone/>
            </a:pPr>
            <a:endParaRPr lang="en-GB" dirty="0"/>
          </a:p>
          <a:p>
            <a:pPr marL="0" indent="0">
              <a:buNone/>
            </a:pPr>
            <a:r>
              <a:rPr lang="en-GB" dirty="0" err="1"/>
              <a:t>Dequeue</a:t>
            </a:r>
            <a:r>
              <a:rPr lang="en-GB" dirty="0"/>
              <a:t>() </a:t>
            </a:r>
            <a:r>
              <a:rPr lang="en-GB" dirty="0">
                <a:solidFill>
                  <a:srgbClr val="00B050"/>
                </a:solidFill>
              </a:rPr>
              <a:t>// Remove an element from the front of the queue </a:t>
            </a:r>
          </a:p>
          <a:p>
            <a:pPr marL="0" indent="0">
              <a:buNone/>
            </a:pPr>
            <a:endParaRPr lang="en-GB" dirty="0"/>
          </a:p>
          <a:p>
            <a:pPr marL="0" indent="0">
              <a:buNone/>
            </a:pPr>
            <a:r>
              <a:rPr lang="en-GB" dirty="0" err="1"/>
              <a:t>isEmpty</a:t>
            </a:r>
            <a:r>
              <a:rPr lang="en-GB" dirty="0"/>
              <a:t>() </a:t>
            </a:r>
            <a:r>
              <a:rPr lang="en-GB" dirty="0">
                <a:solidFill>
                  <a:srgbClr val="00B050"/>
                </a:solidFill>
              </a:rPr>
              <a:t>// Check to see if queue is empty </a:t>
            </a:r>
          </a:p>
          <a:p>
            <a:pPr marL="0" indent="0">
              <a:buNone/>
            </a:pPr>
            <a:endParaRPr lang="en-GB" dirty="0"/>
          </a:p>
          <a:p>
            <a:pPr marL="0" indent="0">
              <a:buNone/>
            </a:pPr>
            <a:r>
              <a:rPr lang="en-GB" dirty="0" err="1"/>
              <a:t>isFull</a:t>
            </a:r>
            <a:r>
              <a:rPr lang="en-GB" dirty="0"/>
              <a:t>() </a:t>
            </a:r>
            <a:r>
              <a:rPr lang="en-GB" dirty="0">
                <a:solidFill>
                  <a:srgbClr val="00B050"/>
                </a:solidFill>
              </a:rPr>
              <a:t>// Check to see if queue is full</a:t>
            </a:r>
          </a:p>
          <a:p>
            <a:pPr marL="0" indent="0">
              <a:buNone/>
            </a:pPr>
            <a:endParaRPr lang="en-GB" dirty="0"/>
          </a:p>
          <a:p>
            <a:pPr marL="0" indent="0">
              <a:buNone/>
            </a:pPr>
            <a:r>
              <a:rPr lang="en-GB" dirty="0" err="1"/>
              <a:t>FirstElement</a:t>
            </a:r>
            <a:r>
              <a:rPr lang="en-GB" dirty="0"/>
              <a:t>() </a:t>
            </a:r>
            <a:r>
              <a:rPr lang="en-GB" dirty="0">
                <a:solidFill>
                  <a:srgbClr val="00B050"/>
                </a:solidFill>
              </a:rPr>
              <a:t>// Returns first element in queue without removing it </a:t>
            </a:r>
          </a:p>
          <a:p>
            <a:pPr marL="0" indent="0">
              <a:buNone/>
            </a:pPr>
            <a:endParaRPr lang="en-GB" dirty="0"/>
          </a:p>
          <a:p>
            <a:pPr marL="0" indent="0">
              <a:buNone/>
            </a:pPr>
            <a:r>
              <a:rPr lang="en-GB" dirty="0"/>
              <a:t>Clear() </a:t>
            </a:r>
            <a:r>
              <a:rPr lang="en-GB" dirty="0">
                <a:solidFill>
                  <a:srgbClr val="00B050"/>
                </a:solidFill>
              </a:rPr>
              <a:t>// Clear the queue </a:t>
            </a:r>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9</a:t>
            </a:fld>
            <a:endParaRPr lang="en-US" altLang="en-US"/>
          </a:p>
        </p:txBody>
      </p:sp>
    </p:spTree>
    <p:extLst>
      <p:ext uri="{BB962C8B-B14F-4D97-AF65-F5344CB8AC3E}">
        <p14:creationId xmlns:p14="http://schemas.microsoft.com/office/powerpoint/2010/main" val="4058550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Choice of implementation</a:t>
            </a:r>
            <a:endParaRPr lang="en-US" b="1" dirty="0"/>
          </a:p>
        </p:txBody>
      </p:sp>
      <p:sp>
        <p:nvSpPr>
          <p:cNvPr id="3" name="Content Placeholder 2"/>
          <p:cNvSpPr>
            <a:spLocks noGrp="1"/>
          </p:cNvSpPr>
          <p:nvPr>
            <p:ph idx="1"/>
          </p:nvPr>
        </p:nvSpPr>
        <p:spPr/>
        <p:txBody>
          <a:bodyPr/>
          <a:lstStyle/>
          <a:p>
            <a:r>
              <a:rPr lang="en-GB" dirty="0"/>
              <a:t>Any implementation of a queue requires: </a:t>
            </a:r>
          </a:p>
          <a:p>
            <a:pPr lvl="1"/>
            <a:r>
              <a:rPr lang="en-GB" dirty="0">
                <a:solidFill>
                  <a:schemeClr val="accent1">
                    <a:lumMod val="75000"/>
                  </a:schemeClr>
                </a:solidFill>
              </a:rPr>
              <a:t>Storage for the data </a:t>
            </a:r>
            <a:r>
              <a:rPr lang="en-GB" dirty="0"/>
              <a:t>as well as </a:t>
            </a:r>
            <a:r>
              <a:rPr lang="en-GB" dirty="0">
                <a:solidFill>
                  <a:schemeClr val="accent1">
                    <a:lumMod val="75000"/>
                  </a:schemeClr>
                </a:solidFill>
              </a:rPr>
              <a:t>markers (“pointers”)</a:t>
            </a:r>
            <a:r>
              <a:rPr lang="en-GB" dirty="0"/>
              <a:t> for the front and for the back of the queue</a:t>
            </a:r>
          </a:p>
          <a:p>
            <a:endParaRPr lang="de-DE" dirty="0">
              <a:solidFill>
                <a:schemeClr val="accent1">
                  <a:lumMod val="75000"/>
                </a:schemeClr>
              </a:solidFill>
            </a:endParaRPr>
          </a:p>
          <a:p>
            <a:pPr marL="0" indent="0">
              <a:buNone/>
            </a:pPr>
            <a:r>
              <a:rPr lang="de-DE" b="1" dirty="0"/>
              <a:t>Two possible choices:</a:t>
            </a:r>
          </a:p>
          <a:p>
            <a:pPr marL="0" indent="0">
              <a:buNone/>
            </a:pPr>
            <a:endParaRPr lang="en-US" b="1" dirty="0"/>
          </a:p>
          <a:p>
            <a:r>
              <a:rPr lang="en-US" dirty="0">
                <a:solidFill>
                  <a:schemeClr val="accent1">
                    <a:lumMod val="75000"/>
                  </a:schemeClr>
                </a:solidFill>
              </a:rPr>
              <a:t>Array based queue:</a:t>
            </a:r>
            <a:r>
              <a:rPr lang="en-US" dirty="0"/>
              <a:t> Maximum queue size is </a:t>
            </a:r>
            <a:r>
              <a:rPr lang="en-US" b="1" dirty="0"/>
              <a:t>known </a:t>
            </a:r>
            <a:r>
              <a:rPr lang="en-US" dirty="0"/>
              <a:t>ahead of time </a:t>
            </a:r>
          </a:p>
          <a:p>
            <a:endParaRPr lang="en-US" dirty="0"/>
          </a:p>
          <a:p>
            <a:r>
              <a:rPr lang="en-US" dirty="0">
                <a:solidFill>
                  <a:schemeClr val="accent1">
                    <a:lumMod val="75000"/>
                  </a:schemeClr>
                </a:solidFill>
              </a:rPr>
              <a:t>Linked List based queue: </a:t>
            </a:r>
            <a:r>
              <a:rPr lang="en-US" dirty="0"/>
              <a:t>Maximum queue size </a:t>
            </a:r>
            <a:r>
              <a:rPr lang="en-US" b="1" dirty="0"/>
              <a:t>unknown </a:t>
            </a:r>
            <a:endParaRPr lang="en-US" dirty="0"/>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10</a:t>
            </a:fld>
            <a:endParaRPr lang="en-US" altLang="en-US"/>
          </a:p>
        </p:txBody>
      </p:sp>
    </p:spTree>
    <p:extLst>
      <p:ext uri="{BB962C8B-B14F-4D97-AF65-F5344CB8AC3E}">
        <p14:creationId xmlns:p14="http://schemas.microsoft.com/office/powerpoint/2010/main" val="108884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de-DE" b="1" dirty="0"/>
              <a:t>Array </a:t>
            </a:r>
            <a:r>
              <a:rPr lang="de-DE" b="1" dirty="0" err="1"/>
              <a:t>based</a:t>
            </a:r>
            <a:r>
              <a:rPr lang="de-DE" b="1" dirty="0"/>
              <a:t> Implementation</a:t>
            </a:r>
            <a:endParaRPr lang="en-US" b="1" dirty="0"/>
          </a:p>
        </p:txBody>
      </p:sp>
      <p:sp>
        <p:nvSpPr>
          <p:cNvPr id="7" name="Text Placeholder 6"/>
          <p:cNvSpPr>
            <a:spLocks noGrp="1"/>
          </p:cNvSpPr>
          <p:nvPr>
            <p:ph type="body" idx="1"/>
          </p:nvPr>
        </p:nvSpPr>
        <p:spPr/>
        <p:txBody>
          <a:bodyPr/>
          <a:lstStyle/>
          <a:p>
            <a:endParaRPr lang="en-US" dirty="0"/>
          </a:p>
        </p:txBody>
      </p:sp>
      <p:sp>
        <p:nvSpPr>
          <p:cNvPr id="5" name="Slide Number Placeholder 4"/>
          <p:cNvSpPr>
            <a:spLocks noGrp="1"/>
          </p:cNvSpPr>
          <p:nvPr>
            <p:ph type="sldNum" sz="quarter" idx="12"/>
          </p:nvPr>
        </p:nvSpPr>
        <p:spPr/>
        <p:txBody>
          <a:bodyPr/>
          <a:lstStyle/>
          <a:p>
            <a:pPr>
              <a:defRPr/>
            </a:pPr>
            <a:fld id="{07574BD9-A853-4283-85D1-C9F1BF83FE24}" type="slidenum">
              <a:rPr lang="en-US" altLang="en-US" smtClean="0"/>
              <a:pPr>
                <a:defRPr/>
              </a:pPr>
              <a:t>11</a:t>
            </a:fld>
            <a:endParaRPr lang="en-US" altLang="en-US"/>
          </a:p>
        </p:txBody>
      </p:sp>
    </p:spTree>
    <p:extLst>
      <p:ext uri="{BB962C8B-B14F-4D97-AF65-F5344CB8AC3E}">
        <p14:creationId xmlns:p14="http://schemas.microsoft.com/office/powerpoint/2010/main" val="1787528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Array based queue implementation </a:t>
            </a:r>
            <a:endParaRPr lang="en-US" b="1" dirty="0"/>
          </a:p>
        </p:txBody>
      </p:sp>
      <p:sp>
        <p:nvSpPr>
          <p:cNvPr id="3" name="Content Placeholder 2"/>
          <p:cNvSpPr>
            <a:spLocks noGrp="1"/>
          </p:cNvSpPr>
          <p:nvPr>
            <p:ph idx="1"/>
          </p:nvPr>
        </p:nvSpPr>
        <p:spPr/>
        <p:txBody>
          <a:bodyPr/>
          <a:lstStyle/>
          <a:p>
            <a:r>
              <a:rPr lang="en-GB" dirty="0"/>
              <a:t>An array-based implementation would need structures like </a:t>
            </a:r>
          </a:p>
          <a:p>
            <a:pPr lvl="1"/>
            <a:endParaRPr lang="en-GB" dirty="0"/>
          </a:p>
          <a:p>
            <a:pPr lvl="1"/>
            <a:r>
              <a:rPr lang="en-GB" dirty="0"/>
              <a:t>An array to store the elements of the queue, </a:t>
            </a:r>
            <a:r>
              <a:rPr lang="en-GB" dirty="0">
                <a:solidFill>
                  <a:schemeClr val="accent1">
                    <a:lumMod val="75000"/>
                  </a:schemeClr>
                </a:solidFill>
              </a:rPr>
              <a:t>items</a:t>
            </a:r>
          </a:p>
          <a:p>
            <a:pPr lvl="1"/>
            <a:endParaRPr lang="en-GB" dirty="0"/>
          </a:p>
          <a:p>
            <a:pPr lvl="1"/>
            <a:r>
              <a:rPr lang="en-GB" dirty="0"/>
              <a:t>An index to track the front queue element, </a:t>
            </a:r>
            <a:r>
              <a:rPr lang="en-GB" dirty="0">
                <a:solidFill>
                  <a:schemeClr val="accent1">
                    <a:lumMod val="75000"/>
                  </a:schemeClr>
                </a:solidFill>
              </a:rPr>
              <a:t>Front</a:t>
            </a:r>
          </a:p>
          <a:p>
            <a:pPr lvl="1"/>
            <a:endParaRPr lang="en-GB" dirty="0"/>
          </a:p>
          <a:p>
            <a:pPr lvl="1"/>
            <a:r>
              <a:rPr lang="en-GB" dirty="0"/>
              <a:t>An index to track the position following last queue element, </a:t>
            </a:r>
            <a:r>
              <a:rPr lang="en-GB" dirty="0">
                <a:solidFill>
                  <a:schemeClr val="accent1">
                    <a:lumMod val="75000"/>
                  </a:schemeClr>
                </a:solidFill>
              </a:rPr>
              <a:t>Rear</a:t>
            </a:r>
          </a:p>
          <a:p>
            <a:endParaRPr lang="en-GB" dirty="0"/>
          </a:p>
          <a:p>
            <a:r>
              <a:rPr lang="en-GB" dirty="0">
                <a:solidFill>
                  <a:schemeClr val="accent1">
                    <a:lumMod val="75000"/>
                  </a:schemeClr>
                </a:solidFill>
              </a:rPr>
              <a:t>Additions</a:t>
            </a:r>
            <a:r>
              <a:rPr lang="en-GB" dirty="0"/>
              <a:t> to the queue would result in incrementing </a:t>
            </a:r>
            <a:r>
              <a:rPr lang="en-GB" dirty="0">
                <a:solidFill>
                  <a:schemeClr val="accent1">
                    <a:lumMod val="75000"/>
                  </a:schemeClr>
                </a:solidFill>
              </a:rPr>
              <a:t>Rear</a:t>
            </a:r>
            <a:r>
              <a:rPr lang="en-GB" dirty="0"/>
              <a:t> while </a:t>
            </a:r>
            <a:r>
              <a:rPr lang="en-GB" dirty="0">
                <a:solidFill>
                  <a:schemeClr val="accent1">
                    <a:lumMod val="75000"/>
                  </a:schemeClr>
                </a:solidFill>
              </a:rPr>
              <a:t>deletions</a:t>
            </a:r>
            <a:r>
              <a:rPr lang="en-GB" dirty="0"/>
              <a:t> from the queue would result in incrementing </a:t>
            </a:r>
            <a:r>
              <a:rPr lang="en-GB" dirty="0">
                <a:solidFill>
                  <a:schemeClr val="accent1">
                    <a:lumMod val="75000"/>
                  </a:schemeClr>
                </a:solidFill>
              </a:rPr>
              <a:t>Front</a:t>
            </a:r>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12</a:t>
            </a:fld>
            <a:endParaRPr lang="en-US" altLang="en-US"/>
          </a:p>
        </p:txBody>
      </p:sp>
    </p:spTree>
    <p:extLst>
      <p:ext uri="{BB962C8B-B14F-4D97-AF65-F5344CB8AC3E}">
        <p14:creationId xmlns:p14="http://schemas.microsoft.com/office/powerpoint/2010/main" val="1745639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Array </a:t>
            </a:r>
            <a:r>
              <a:rPr lang="de-DE" b="1" dirty="0" err="1"/>
              <a:t>based</a:t>
            </a:r>
            <a:r>
              <a:rPr lang="de-DE" b="1" dirty="0"/>
              <a:t> Queue Implementation </a:t>
            </a:r>
            <a:br>
              <a:rPr lang="de-DE" b="1" dirty="0"/>
            </a:br>
            <a:r>
              <a:rPr lang="de-DE" sz="3200" b="1" dirty="0"/>
              <a:t>(Linear Queue)</a:t>
            </a:r>
            <a:endParaRPr lang="en-US" b="1" dirty="0"/>
          </a:p>
        </p:txBody>
      </p:sp>
      <p:sp>
        <p:nvSpPr>
          <p:cNvPr id="3" name="Content Placeholder 2"/>
          <p:cNvSpPr>
            <a:spLocks noGrp="1"/>
          </p:cNvSpPr>
          <p:nvPr>
            <p:ph idx="1"/>
          </p:nvPr>
        </p:nvSpPr>
        <p:spPr/>
        <p:txBody>
          <a:bodyPr>
            <a:noAutofit/>
          </a:bodyPr>
          <a:lstStyle/>
          <a:p>
            <a:pPr marL="0" indent="0">
              <a:buNone/>
            </a:pPr>
            <a:r>
              <a:rPr lang="en-US" sz="2500" dirty="0"/>
              <a:t>struct Queue {</a:t>
            </a:r>
          </a:p>
          <a:p>
            <a:pPr marL="0" indent="0">
              <a:buNone/>
            </a:pPr>
            <a:r>
              <a:rPr lang="en-US" sz="2500" dirty="0"/>
              <a:t>    int items[length];</a:t>
            </a:r>
          </a:p>
          <a:p>
            <a:pPr marL="0" indent="0">
              <a:buNone/>
            </a:pPr>
            <a:r>
              <a:rPr lang="en-US" sz="2500" dirty="0"/>
              <a:t>    int front, rear;</a:t>
            </a:r>
          </a:p>
          <a:p>
            <a:pPr marL="0" indent="0">
              <a:buNone/>
            </a:pPr>
            <a:r>
              <a:rPr lang="en-US" sz="2500" dirty="0"/>
              <a:t>};</a:t>
            </a:r>
          </a:p>
          <a:p>
            <a:pPr marL="0" indent="0">
              <a:buNone/>
            </a:pPr>
            <a:r>
              <a:rPr lang="en-US" sz="2500" dirty="0"/>
              <a:t>// Initialize queue</a:t>
            </a:r>
          </a:p>
          <a:p>
            <a:pPr marL="0" indent="0">
              <a:buNone/>
            </a:pPr>
            <a:r>
              <a:rPr lang="en-US" sz="2500" dirty="0"/>
              <a:t>void </a:t>
            </a:r>
            <a:r>
              <a:rPr lang="en-US" sz="2500" dirty="0" err="1"/>
              <a:t>init</a:t>
            </a:r>
            <a:r>
              <a:rPr lang="en-US" sz="2500" dirty="0"/>
              <a:t>(Queue &amp;q) {</a:t>
            </a:r>
          </a:p>
          <a:p>
            <a:pPr marL="0" indent="0">
              <a:buNone/>
            </a:pPr>
            <a:r>
              <a:rPr lang="en-US" sz="2500" dirty="0"/>
              <a:t>    </a:t>
            </a:r>
            <a:r>
              <a:rPr lang="en-US" sz="2500" dirty="0" err="1"/>
              <a:t>q.front</a:t>
            </a:r>
            <a:r>
              <a:rPr lang="en-US" sz="2500" dirty="0"/>
              <a:t> = 0;</a:t>
            </a:r>
          </a:p>
          <a:p>
            <a:pPr marL="0" indent="0">
              <a:buNone/>
            </a:pPr>
            <a:r>
              <a:rPr lang="en-US" sz="2500" dirty="0"/>
              <a:t>    </a:t>
            </a:r>
            <a:r>
              <a:rPr lang="en-US" sz="2500" dirty="0" err="1"/>
              <a:t>q.rear</a:t>
            </a:r>
            <a:r>
              <a:rPr lang="en-US" sz="2500" dirty="0"/>
              <a:t> = -1;</a:t>
            </a:r>
          </a:p>
          <a:p>
            <a:pPr marL="0" indent="0">
              <a:buNone/>
            </a:pPr>
            <a:r>
              <a:rPr lang="en-US" sz="2500" dirty="0"/>
              <a:t>}</a:t>
            </a:r>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13</a:t>
            </a:fld>
            <a:endParaRPr lang="en-US" altLang="en-US"/>
          </a:p>
        </p:txBody>
      </p:sp>
    </p:spTree>
    <p:extLst>
      <p:ext uri="{BB962C8B-B14F-4D97-AF65-F5344CB8AC3E}">
        <p14:creationId xmlns:p14="http://schemas.microsoft.com/office/powerpoint/2010/main" val="1519563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65FC4-5CBB-2894-E474-D8591F919F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4909D-9369-6020-D9FA-AF188267B9AE}"/>
              </a:ext>
            </a:extLst>
          </p:cNvPr>
          <p:cNvSpPr>
            <a:spLocks noGrp="1"/>
          </p:cNvSpPr>
          <p:nvPr>
            <p:ph type="title"/>
          </p:nvPr>
        </p:nvSpPr>
        <p:spPr/>
        <p:txBody>
          <a:bodyPr/>
          <a:lstStyle/>
          <a:p>
            <a:r>
              <a:rPr lang="de-DE" b="1" dirty="0"/>
              <a:t>Array </a:t>
            </a:r>
            <a:r>
              <a:rPr lang="de-DE" b="1" dirty="0" err="1"/>
              <a:t>based</a:t>
            </a:r>
            <a:r>
              <a:rPr lang="de-DE" b="1" dirty="0"/>
              <a:t> Queue Implementation </a:t>
            </a:r>
            <a:br>
              <a:rPr lang="de-DE" b="1" dirty="0"/>
            </a:br>
            <a:r>
              <a:rPr lang="de-DE" sz="3200" b="1" dirty="0"/>
              <a:t>(Linear Queue)</a:t>
            </a:r>
            <a:endParaRPr lang="en-US" b="1" dirty="0"/>
          </a:p>
        </p:txBody>
      </p:sp>
      <p:sp>
        <p:nvSpPr>
          <p:cNvPr id="3" name="Content Placeholder 2">
            <a:extLst>
              <a:ext uri="{FF2B5EF4-FFF2-40B4-BE49-F238E27FC236}">
                <a16:creationId xmlns:a16="http://schemas.microsoft.com/office/drawing/2014/main" id="{BB6E2CEA-3833-0998-047F-279C8A3D3590}"/>
              </a:ext>
            </a:extLst>
          </p:cNvPr>
          <p:cNvSpPr>
            <a:spLocks noGrp="1"/>
          </p:cNvSpPr>
          <p:nvPr>
            <p:ph sz="half" idx="1"/>
          </p:nvPr>
        </p:nvSpPr>
        <p:spPr/>
        <p:txBody>
          <a:bodyPr>
            <a:noAutofit/>
          </a:bodyPr>
          <a:lstStyle/>
          <a:p>
            <a:pPr marL="0" indent="0">
              <a:buNone/>
            </a:pPr>
            <a:r>
              <a:rPr lang="en-US" dirty="0"/>
              <a:t>// Enqueue</a:t>
            </a:r>
          </a:p>
          <a:p>
            <a:pPr marL="0" indent="0">
              <a:buNone/>
            </a:pPr>
            <a:r>
              <a:rPr lang="en-US" dirty="0"/>
              <a:t>void insert(Queue &amp;q, int x) {</a:t>
            </a:r>
          </a:p>
          <a:p>
            <a:pPr marL="0" indent="0">
              <a:buNone/>
            </a:pPr>
            <a:r>
              <a:rPr lang="en-US" dirty="0"/>
              <a:t>    if (</a:t>
            </a:r>
            <a:r>
              <a:rPr lang="en-US" dirty="0" err="1"/>
              <a:t>q.rear</a:t>
            </a:r>
            <a:r>
              <a:rPr lang="en-US" dirty="0"/>
              <a:t> == length - 1) {</a:t>
            </a:r>
          </a:p>
          <a:p>
            <a:pPr marL="0" indent="0">
              <a:buNone/>
            </a:pPr>
            <a:r>
              <a:rPr lang="en-US" dirty="0"/>
              <a:t>        </a:t>
            </a:r>
            <a:r>
              <a:rPr lang="en-US" dirty="0" err="1"/>
              <a:t>cout</a:t>
            </a:r>
            <a:r>
              <a:rPr lang="en-US" dirty="0"/>
              <a:t> &lt;&lt; "Queue is full\n";</a:t>
            </a:r>
          </a:p>
          <a:p>
            <a:pPr marL="0" indent="0">
              <a:buNone/>
            </a:pPr>
            <a:r>
              <a:rPr lang="en-US" dirty="0"/>
              <a:t>        return;</a:t>
            </a:r>
          </a:p>
          <a:p>
            <a:pPr marL="0" indent="0">
              <a:buNone/>
            </a:pPr>
            <a:r>
              <a:rPr lang="en-US" dirty="0"/>
              <a:t>    }</a:t>
            </a:r>
          </a:p>
          <a:p>
            <a:pPr marL="0" indent="0">
              <a:buNone/>
            </a:pPr>
            <a:r>
              <a:rPr lang="en-US" dirty="0"/>
              <a:t>    </a:t>
            </a:r>
            <a:r>
              <a:rPr lang="en-US" dirty="0" err="1"/>
              <a:t>q.items</a:t>
            </a:r>
            <a:r>
              <a:rPr lang="en-US" dirty="0"/>
              <a:t>[++</a:t>
            </a:r>
            <a:r>
              <a:rPr lang="en-US" dirty="0" err="1"/>
              <a:t>q.rear</a:t>
            </a:r>
            <a:r>
              <a:rPr lang="en-US" dirty="0"/>
              <a:t>] = x;</a:t>
            </a:r>
          </a:p>
          <a:p>
            <a:pPr marL="0" indent="0">
              <a:buNone/>
            </a:pPr>
            <a:r>
              <a:rPr lang="en-US" dirty="0"/>
              <a:t>}</a:t>
            </a:r>
          </a:p>
        </p:txBody>
      </p:sp>
      <p:sp>
        <p:nvSpPr>
          <p:cNvPr id="5" name="Content Placeholder 4">
            <a:extLst>
              <a:ext uri="{FF2B5EF4-FFF2-40B4-BE49-F238E27FC236}">
                <a16:creationId xmlns:a16="http://schemas.microsoft.com/office/drawing/2014/main" id="{1EEAA42B-3518-47E8-C2CE-20E447D7E33D}"/>
              </a:ext>
            </a:extLst>
          </p:cNvPr>
          <p:cNvSpPr>
            <a:spLocks noGrp="1"/>
          </p:cNvSpPr>
          <p:nvPr>
            <p:ph sz="half" idx="2"/>
          </p:nvPr>
        </p:nvSpPr>
        <p:spPr/>
        <p:txBody>
          <a:bodyPr/>
          <a:lstStyle/>
          <a:p>
            <a:pPr marL="0" indent="0">
              <a:buNone/>
            </a:pPr>
            <a:r>
              <a:rPr lang="en-US" sz="2800" dirty="0"/>
              <a:t>// Dequeue</a:t>
            </a:r>
          </a:p>
          <a:p>
            <a:pPr marL="0" indent="0">
              <a:buNone/>
            </a:pPr>
            <a:r>
              <a:rPr lang="en-US" sz="2800" dirty="0"/>
              <a:t>int remove(Queue &amp;q) {</a:t>
            </a:r>
          </a:p>
          <a:p>
            <a:pPr marL="0" indent="0">
              <a:buNone/>
            </a:pPr>
            <a:r>
              <a:rPr lang="en-US" sz="2800" dirty="0"/>
              <a:t>    if (</a:t>
            </a:r>
            <a:r>
              <a:rPr lang="en-US" sz="2800" dirty="0" err="1"/>
              <a:t>q.front</a:t>
            </a:r>
            <a:r>
              <a:rPr lang="en-US" sz="2800" dirty="0"/>
              <a:t> &gt; </a:t>
            </a:r>
            <a:r>
              <a:rPr lang="en-US" sz="2800" dirty="0" err="1"/>
              <a:t>q.rear</a:t>
            </a:r>
            <a:r>
              <a:rPr lang="en-US" sz="2800" dirty="0"/>
              <a:t>) {</a:t>
            </a:r>
          </a:p>
          <a:p>
            <a:pPr marL="0" indent="0">
              <a:buNone/>
            </a:pPr>
            <a:r>
              <a:rPr lang="en-US" sz="2800" dirty="0"/>
              <a:t>        </a:t>
            </a:r>
            <a:r>
              <a:rPr lang="en-US" sz="2800" dirty="0" err="1"/>
              <a:t>cout</a:t>
            </a:r>
            <a:r>
              <a:rPr lang="en-US" sz="2800" dirty="0"/>
              <a:t> &lt;&lt; "Queue is empty\n";</a:t>
            </a:r>
          </a:p>
          <a:p>
            <a:pPr marL="0" indent="0">
              <a:buNone/>
            </a:pPr>
            <a:r>
              <a:rPr lang="en-US" sz="2800" dirty="0"/>
              <a:t>        return -1; // Error code</a:t>
            </a:r>
          </a:p>
          <a:p>
            <a:pPr marL="0" indent="0">
              <a:buNone/>
            </a:pPr>
            <a:r>
              <a:rPr lang="en-US" sz="2800" dirty="0"/>
              <a:t>    }</a:t>
            </a:r>
          </a:p>
          <a:p>
            <a:pPr marL="0" indent="0">
              <a:buNone/>
            </a:pPr>
            <a:r>
              <a:rPr lang="en-US" sz="2800" dirty="0"/>
              <a:t>    return </a:t>
            </a:r>
            <a:r>
              <a:rPr lang="en-US" sz="2800" dirty="0" err="1"/>
              <a:t>q.items</a:t>
            </a:r>
            <a:r>
              <a:rPr lang="en-US" sz="2800" dirty="0"/>
              <a:t>[</a:t>
            </a:r>
            <a:r>
              <a:rPr lang="en-US" sz="2800" dirty="0" err="1"/>
              <a:t>q.front</a:t>
            </a:r>
            <a:r>
              <a:rPr lang="en-US" sz="2800" dirty="0"/>
              <a:t>++];</a:t>
            </a:r>
          </a:p>
          <a:p>
            <a:pPr marL="0" indent="0">
              <a:buNone/>
            </a:pPr>
            <a:r>
              <a:rPr lang="en-US" sz="2800" dirty="0"/>
              <a:t>}</a:t>
            </a:r>
          </a:p>
        </p:txBody>
      </p:sp>
      <p:sp>
        <p:nvSpPr>
          <p:cNvPr id="4" name="Slide Number Placeholder 3">
            <a:extLst>
              <a:ext uri="{FF2B5EF4-FFF2-40B4-BE49-F238E27FC236}">
                <a16:creationId xmlns:a16="http://schemas.microsoft.com/office/drawing/2014/main" id="{73182030-4A51-C669-D673-FFEDB537CF19}"/>
              </a:ext>
            </a:extLst>
          </p:cNvPr>
          <p:cNvSpPr>
            <a:spLocks noGrp="1"/>
          </p:cNvSpPr>
          <p:nvPr>
            <p:ph type="sldNum" sz="quarter" idx="12"/>
          </p:nvPr>
        </p:nvSpPr>
        <p:spPr/>
        <p:txBody>
          <a:bodyPr/>
          <a:lstStyle/>
          <a:p>
            <a:pPr>
              <a:defRPr/>
            </a:pPr>
            <a:fld id="{F350D435-2DCA-4D63-B007-D33EC4F44F07}" type="slidenum">
              <a:rPr lang="en-US" altLang="en-US" smtClean="0"/>
              <a:pPr>
                <a:defRPr/>
              </a:pPr>
              <a:t>14</a:t>
            </a:fld>
            <a:endParaRPr lang="en-US" altLang="en-US"/>
          </a:p>
        </p:txBody>
      </p:sp>
    </p:spTree>
    <p:extLst>
      <p:ext uri="{BB962C8B-B14F-4D97-AF65-F5344CB8AC3E}">
        <p14:creationId xmlns:p14="http://schemas.microsoft.com/office/powerpoint/2010/main" val="715038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de-DE" b="1" dirty="0"/>
              <a:t>Array based queue implementation </a:t>
            </a:r>
            <a:endParaRPr lang="en-US" b="1" dirty="0"/>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15</a:t>
            </a:fld>
            <a:endParaRPr lang="en-US" altLang="en-US"/>
          </a:p>
        </p:txBody>
      </p:sp>
      <p:sp>
        <p:nvSpPr>
          <p:cNvPr id="6" name="Text Box 4"/>
          <p:cNvSpPr txBox="1">
            <a:spLocks noChangeArrowheads="1"/>
          </p:cNvSpPr>
          <p:nvPr/>
        </p:nvSpPr>
        <p:spPr bwMode="auto">
          <a:xfrm>
            <a:off x="2455862" y="3344863"/>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endParaRPr lang="en-US" altLang="en-US" sz="2400">
              <a:latin typeface="Times New Roman" panose="02020603050405020304" pitchFamily="18" charset="0"/>
            </a:endParaRPr>
          </a:p>
        </p:txBody>
      </p:sp>
      <p:sp>
        <p:nvSpPr>
          <p:cNvPr id="7" name="AutoShape 5"/>
          <p:cNvSpPr>
            <a:spLocks noChangeAspect="1" noChangeArrowheads="1" noTextEdit="1"/>
          </p:cNvSpPr>
          <p:nvPr/>
        </p:nvSpPr>
        <p:spPr bwMode="auto">
          <a:xfrm>
            <a:off x="2684462" y="1905000"/>
            <a:ext cx="1447800" cy="27432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 name="Line 9"/>
          <p:cNvSpPr>
            <a:spLocks noChangeShapeType="1"/>
          </p:cNvSpPr>
          <p:nvPr/>
        </p:nvSpPr>
        <p:spPr bwMode="auto">
          <a:xfrm>
            <a:off x="2684462" y="1905000"/>
            <a:ext cx="1430338" cy="1588"/>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Rectangle 10"/>
          <p:cNvSpPr>
            <a:spLocks noChangeArrowheads="1"/>
          </p:cNvSpPr>
          <p:nvPr/>
        </p:nvSpPr>
        <p:spPr bwMode="auto">
          <a:xfrm>
            <a:off x="2684462" y="1905001"/>
            <a:ext cx="1430338" cy="174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10" name="Rectangle 14"/>
          <p:cNvSpPr>
            <a:spLocks noChangeArrowheads="1"/>
          </p:cNvSpPr>
          <p:nvPr/>
        </p:nvSpPr>
        <p:spPr bwMode="auto">
          <a:xfrm>
            <a:off x="2684462" y="2438401"/>
            <a:ext cx="1430338" cy="174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11" name="Rectangle 16"/>
          <p:cNvSpPr>
            <a:spLocks noChangeArrowheads="1"/>
          </p:cNvSpPr>
          <p:nvPr/>
        </p:nvSpPr>
        <p:spPr bwMode="auto">
          <a:xfrm>
            <a:off x="2684462" y="2954338"/>
            <a:ext cx="1430338" cy="1746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12" name="Line 17"/>
          <p:cNvSpPr>
            <a:spLocks noChangeShapeType="1"/>
          </p:cNvSpPr>
          <p:nvPr/>
        </p:nvSpPr>
        <p:spPr bwMode="auto">
          <a:xfrm>
            <a:off x="2684462" y="3575050"/>
            <a:ext cx="1430338" cy="1588"/>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Rectangle 18"/>
          <p:cNvSpPr>
            <a:spLocks noChangeArrowheads="1"/>
          </p:cNvSpPr>
          <p:nvPr/>
        </p:nvSpPr>
        <p:spPr bwMode="auto">
          <a:xfrm>
            <a:off x="2684462" y="3575051"/>
            <a:ext cx="1430338" cy="174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14" name="Line 19"/>
          <p:cNvSpPr>
            <a:spLocks noChangeShapeType="1"/>
          </p:cNvSpPr>
          <p:nvPr/>
        </p:nvSpPr>
        <p:spPr bwMode="auto">
          <a:xfrm>
            <a:off x="2684462" y="4103689"/>
            <a:ext cx="1430338" cy="1587"/>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Rectangle 20"/>
          <p:cNvSpPr>
            <a:spLocks noChangeArrowheads="1"/>
          </p:cNvSpPr>
          <p:nvPr/>
        </p:nvSpPr>
        <p:spPr bwMode="auto">
          <a:xfrm>
            <a:off x="2684462" y="4103688"/>
            <a:ext cx="1430338" cy="1746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16" name="Line 21"/>
          <p:cNvSpPr>
            <a:spLocks noChangeShapeType="1"/>
          </p:cNvSpPr>
          <p:nvPr/>
        </p:nvSpPr>
        <p:spPr bwMode="auto">
          <a:xfrm>
            <a:off x="2684462" y="4630739"/>
            <a:ext cx="1430338" cy="1587"/>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 name="Rectangle 22"/>
          <p:cNvSpPr>
            <a:spLocks noChangeArrowheads="1"/>
          </p:cNvSpPr>
          <p:nvPr/>
        </p:nvSpPr>
        <p:spPr bwMode="auto">
          <a:xfrm>
            <a:off x="2684462" y="4630738"/>
            <a:ext cx="1430338" cy="1746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18" name="Line 23"/>
          <p:cNvSpPr>
            <a:spLocks noChangeShapeType="1"/>
          </p:cNvSpPr>
          <p:nvPr/>
        </p:nvSpPr>
        <p:spPr bwMode="auto">
          <a:xfrm>
            <a:off x="2684462" y="1905000"/>
            <a:ext cx="1588" cy="2743200"/>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 name="Rectangle 24"/>
          <p:cNvSpPr>
            <a:spLocks noChangeArrowheads="1"/>
          </p:cNvSpPr>
          <p:nvPr/>
        </p:nvSpPr>
        <p:spPr bwMode="auto">
          <a:xfrm>
            <a:off x="2684463" y="1905000"/>
            <a:ext cx="17463" cy="27432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20" name="Line 25"/>
          <p:cNvSpPr>
            <a:spLocks noChangeShapeType="1"/>
          </p:cNvSpPr>
          <p:nvPr/>
        </p:nvSpPr>
        <p:spPr bwMode="auto">
          <a:xfrm>
            <a:off x="4114801" y="1905000"/>
            <a:ext cx="1587" cy="2743200"/>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Rectangle 26"/>
          <p:cNvSpPr>
            <a:spLocks noChangeArrowheads="1"/>
          </p:cNvSpPr>
          <p:nvPr/>
        </p:nvSpPr>
        <p:spPr bwMode="auto">
          <a:xfrm>
            <a:off x="4114800" y="1905000"/>
            <a:ext cx="17462" cy="27432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22" name="AutoShape 50"/>
          <p:cNvSpPr>
            <a:spLocks noChangeAspect="1" noChangeArrowheads="1" noTextEdit="1"/>
          </p:cNvSpPr>
          <p:nvPr/>
        </p:nvSpPr>
        <p:spPr bwMode="auto">
          <a:xfrm>
            <a:off x="7180262" y="1968500"/>
            <a:ext cx="1447800" cy="27432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Rectangle 51"/>
          <p:cNvSpPr>
            <a:spLocks noChangeArrowheads="1"/>
          </p:cNvSpPr>
          <p:nvPr/>
        </p:nvSpPr>
        <p:spPr bwMode="auto">
          <a:xfrm>
            <a:off x="7756525" y="3081339"/>
            <a:ext cx="29655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dirty="0"/>
              <a:t>C</a:t>
            </a:r>
            <a:endParaRPr lang="en-US" altLang="en-US" dirty="0"/>
          </a:p>
        </p:txBody>
      </p:sp>
      <p:sp>
        <p:nvSpPr>
          <p:cNvPr id="24" name="Rectangle 52"/>
          <p:cNvSpPr>
            <a:spLocks noChangeArrowheads="1"/>
          </p:cNvSpPr>
          <p:nvPr/>
        </p:nvSpPr>
        <p:spPr bwMode="auto">
          <a:xfrm>
            <a:off x="7791450" y="3709989"/>
            <a:ext cx="27411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dirty="0"/>
              <a:t>B</a:t>
            </a:r>
            <a:endParaRPr lang="en-US" altLang="en-US" dirty="0"/>
          </a:p>
        </p:txBody>
      </p:sp>
      <p:sp>
        <p:nvSpPr>
          <p:cNvPr id="25" name="Rectangle 53"/>
          <p:cNvSpPr>
            <a:spLocks noChangeArrowheads="1"/>
          </p:cNvSpPr>
          <p:nvPr/>
        </p:nvSpPr>
        <p:spPr bwMode="auto">
          <a:xfrm>
            <a:off x="7773988" y="4237039"/>
            <a:ext cx="26792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dirty="0"/>
              <a:t>A</a:t>
            </a:r>
            <a:endParaRPr lang="en-US" altLang="en-US" dirty="0"/>
          </a:p>
        </p:txBody>
      </p:sp>
      <p:sp>
        <p:nvSpPr>
          <p:cNvPr id="26" name="Line 54"/>
          <p:cNvSpPr>
            <a:spLocks noChangeShapeType="1"/>
          </p:cNvSpPr>
          <p:nvPr/>
        </p:nvSpPr>
        <p:spPr bwMode="auto">
          <a:xfrm>
            <a:off x="7180262" y="1968500"/>
            <a:ext cx="1430338" cy="1588"/>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Rectangle 55"/>
          <p:cNvSpPr>
            <a:spLocks noChangeArrowheads="1"/>
          </p:cNvSpPr>
          <p:nvPr/>
        </p:nvSpPr>
        <p:spPr bwMode="auto">
          <a:xfrm>
            <a:off x="7180262" y="1968501"/>
            <a:ext cx="1430338" cy="174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28" name="Rectangle 56"/>
          <p:cNvSpPr>
            <a:spLocks noChangeArrowheads="1"/>
          </p:cNvSpPr>
          <p:nvPr/>
        </p:nvSpPr>
        <p:spPr bwMode="auto">
          <a:xfrm>
            <a:off x="7180262" y="2501901"/>
            <a:ext cx="1430338" cy="174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29" name="Rectangle 57"/>
          <p:cNvSpPr>
            <a:spLocks noChangeArrowheads="1"/>
          </p:cNvSpPr>
          <p:nvPr/>
        </p:nvSpPr>
        <p:spPr bwMode="auto">
          <a:xfrm>
            <a:off x="7180262" y="3017838"/>
            <a:ext cx="1430338" cy="1746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30" name="Line 58"/>
          <p:cNvSpPr>
            <a:spLocks noChangeShapeType="1"/>
          </p:cNvSpPr>
          <p:nvPr/>
        </p:nvSpPr>
        <p:spPr bwMode="auto">
          <a:xfrm>
            <a:off x="7180262" y="3638550"/>
            <a:ext cx="1430338" cy="1588"/>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Rectangle 59"/>
          <p:cNvSpPr>
            <a:spLocks noChangeArrowheads="1"/>
          </p:cNvSpPr>
          <p:nvPr/>
        </p:nvSpPr>
        <p:spPr bwMode="auto">
          <a:xfrm>
            <a:off x="7180262" y="3638551"/>
            <a:ext cx="1430338" cy="174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32" name="Line 60"/>
          <p:cNvSpPr>
            <a:spLocks noChangeShapeType="1"/>
          </p:cNvSpPr>
          <p:nvPr/>
        </p:nvSpPr>
        <p:spPr bwMode="auto">
          <a:xfrm>
            <a:off x="7180262" y="4167189"/>
            <a:ext cx="1430338" cy="1587"/>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Rectangle 61"/>
          <p:cNvSpPr>
            <a:spLocks noChangeArrowheads="1"/>
          </p:cNvSpPr>
          <p:nvPr/>
        </p:nvSpPr>
        <p:spPr bwMode="auto">
          <a:xfrm>
            <a:off x="7180262" y="4167188"/>
            <a:ext cx="1430338" cy="1746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34" name="Line 62"/>
          <p:cNvSpPr>
            <a:spLocks noChangeShapeType="1"/>
          </p:cNvSpPr>
          <p:nvPr/>
        </p:nvSpPr>
        <p:spPr bwMode="auto">
          <a:xfrm>
            <a:off x="7180262" y="4694239"/>
            <a:ext cx="1430338" cy="1587"/>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Rectangle 63"/>
          <p:cNvSpPr>
            <a:spLocks noChangeArrowheads="1"/>
          </p:cNvSpPr>
          <p:nvPr/>
        </p:nvSpPr>
        <p:spPr bwMode="auto">
          <a:xfrm>
            <a:off x="7180262" y="4694238"/>
            <a:ext cx="1430338" cy="1746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36" name="Line 64"/>
          <p:cNvSpPr>
            <a:spLocks noChangeShapeType="1"/>
          </p:cNvSpPr>
          <p:nvPr/>
        </p:nvSpPr>
        <p:spPr bwMode="auto">
          <a:xfrm>
            <a:off x="7180262" y="1968500"/>
            <a:ext cx="1588" cy="2743200"/>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Rectangle 65"/>
          <p:cNvSpPr>
            <a:spLocks noChangeArrowheads="1"/>
          </p:cNvSpPr>
          <p:nvPr/>
        </p:nvSpPr>
        <p:spPr bwMode="auto">
          <a:xfrm>
            <a:off x="7180263" y="1968500"/>
            <a:ext cx="17463" cy="27432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38" name="Line 66"/>
          <p:cNvSpPr>
            <a:spLocks noChangeShapeType="1"/>
          </p:cNvSpPr>
          <p:nvPr/>
        </p:nvSpPr>
        <p:spPr bwMode="auto">
          <a:xfrm>
            <a:off x="8610601" y="1968500"/>
            <a:ext cx="1587" cy="2743200"/>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Rectangle 67"/>
          <p:cNvSpPr>
            <a:spLocks noChangeArrowheads="1"/>
          </p:cNvSpPr>
          <p:nvPr/>
        </p:nvSpPr>
        <p:spPr bwMode="auto">
          <a:xfrm>
            <a:off x="8610600" y="1968500"/>
            <a:ext cx="17462" cy="27432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40" name="Text Box 68"/>
          <p:cNvSpPr txBox="1">
            <a:spLocks noChangeArrowheads="1"/>
          </p:cNvSpPr>
          <p:nvPr/>
        </p:nvSpPr>
        <p:spPr bwMode="auto">
          <a:xfrm>
            <a:off x="4166456" y="4167189"/>
            <a:ext cx="16353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err="1"/>
              <a:t>q.front</a:t>
            </a:r>
            <a:r>
              <a:rPr lang="en-US" altLang="en-US" sz="2400" dirty="0"/>
              <a:t> = 0</a:t>
            </a:r>
          </a:p>
        </p:txBody>
      </p:sp>
      <p:sp>
        <p:nvSpPr>
          <p:cNvPr id="41" name="Text Box 69"/>
          <p:cNvSpPr txBox="1">
            <a:spLocks noChangeArrowheads="1"/>
          </p:cNvSpPr>
          <p:nvPr/>
        </p:nvSpPr>
        <p:spPr bwMode="auto">
          <a:xfrm>
            <a:off x="4172987" y="4572360"/>
            <a:ext cx="18069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err="1"/>
              <a:t>q.rear</a:t>
            </a:r>
            <a:r>
              <a:rPr lang="en-US" altLang="en-US" sz="2400" dirty="0"/>
              <a:t> = -1</a:t>
            </a:r>
          </a:p>
        </p:txBody>
      </p:sp>
      <p:sp>
        <p:nvSpPr>
          <p:cNvPr id="42" name="Text Box 70"/>
          <p:cNvSpPr txBox="1">
            <a:spLocks noChangeArrowheads="1"/>
          </p:cNvSpPr>
          <p:nvPr/>
        </p:nvSpPr>
        <p:spPr bwMode="auto">
          <a:xfrm>
            <a:off x="8704262" y="4267201"/>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err="1"/>
              <a:t>q.front</a:t>
            </a:r>
            <a:r>
              <a:rPr lang="en-US" altLang="en-US" sz="2400" dirty="0"/>
              <a:t> = 0</a:t>
            </a:r>
          </a:p>
        </p:txBody>
      </p:sp>
      <p:sp>
        <p:nvSpPr>
          <p:cNvPr id="43" name="Text Box 71"/>
          <p:cNvSpPr txBox="1">
            <a:spLocks noChangeArrowheads="1"/>
          </p:cNvSpPr>
          <p:nvPr/>
        </p:nvSpPr>
        <p:spPr bwMode="auto">
          <a:xfrm>
            <a:off x="8780462" y="3124201"/>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err="1"/>
              <a:t>q.rear</a:t>
            </a:r>
            <a:r>
              <a:rPr lang="en-US" altLang="en-US" sz="2400" dirty="0"/>
              <a:t> = 2</a:t>
            </a:r>
          </a:p>
        </p:txBody>
      </p:sp>
      <p:sp>
        <p:nvSpPr>
          <p:cNvPr id="44" name="Text Box 72"/>
          <p:cNvSpPr txBox="1">
            <a:spLocks noChangeArrowheads="1"/>
          </p:cNvSpPr>
          <p:nvPr/>
        </p:nvSpPr>
        <p:spPr bwMode="auto">
          <a:xfrm>
            <a:off x="1804744" y="5233989"/>
            <a:ext cx="8607669"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eaLnBrk="1" hangingPunct="1">
              <a:spcBef>
                <a:spcPts val="0"/>
              </a:spcBef>
              <a:buFont typeface="Wingdings" panose="05000000000000000000" pitchFamily="2" charset="2"/>
              <a:buChar char="§"/>
            </a:pPr>
            <a:r>
              <a:rPr lang="en-US" altLang="en-US" sz="2200" dirty="0"/>
              <a:t>Queue is empty when return front &gt; rear;</a:t>
            </a:r>
          </a:p>
          <a:p>
            <a:pPr marL="342900" indent="-342900" eaLnBrk="1" hangingPunct="1">
              <a:spcBef>
                <a:spcPts val="0"/>
              </a:spcBef>
              <a:buFont typeface="Wingdings" panose="05000000000000000000" pitchFamily="2" charset="2"/>
              <a:buChar char="§"/>
            </a:pPr>
            <a:r>
              <a:rPr lang="en-US" altLang="en-US" sz="2200" dirty="0"/>
              <a:t>Queue is full when return rear == capacity - 1;</a:t>
            </a:r>
          </a:p>
          <a:p>
            <a:pPr marL="342900" indent="-342900" eaLnBrk="1" hangingPunct="1">
              <a:spcBef>
                <a:spcPts val="0"/>
              </a:spcBef>
              <a:buFont typeface="Wingdings" panose="05000000000000000000" pitchFamily="2" charset="2"/>
              <a:buChar char="§"/>
            </a:pPr>
            <a:r>
              <a:rPr lang="en-US" altLang="en-US" sz="2200" dirty="0"/>
              <a:t>The number of elements in the queue at any time is equal to the value of </a:t>
            </a:r>
            <a:r>
              <a:rPr lang="en-US" altLang="en-US" sz="2200" b="1" dirty="0" err="1">
                <a:solidFill>
                  <a:schemeClr val="hlink"/>
                </a:solidFill>
              </a:rPr>
              <a:t>q.rear</a:t>
            </a:r>
            <a:r>
              <a:rPr lang="en-US" altLang="en-US" sz="2200" b="1" dirty="0">
                <a:solidFill>
                  <a:schemeClr val="hlink"/>
                </a:solidFill>
              </a:rPr>
              <a:t> – </a:t>
            </a:r>
            <a:r>
              <a:rPr lang="en-US" altLang="en-US" sz="2200" b="1" dirty="0" err="1">
                <a:solidFill>
                  <a:schemeClr val="hlink"/>
                </a:solidFill>
              </a:rPr>
              <a:t>q.front</a:t>
            </a:r>
            <a:r>
              <a:rPr lang="en-US" altLang="en-US" sz="2200" b="1" dirty="0">
                <a:solidFill>
                  <a:schemeClr val="hlink"/>
                </a:solidFill>
              </a:rPr>
              <a:t> +1</a:t>
            </a:r>
          </a:p>
        </p:txBody>
      </p:sp>
      <p:sp>
        <p:nvSpPr>
          <p:cNvPr id="45" name="Line 78"/>
          <p:cNvSpPr>
            <a:spLocks noChangeShapeType="1"/>
          </p:cNvSpPr>
          <p:nvPr/>
        </p:nvSpPr>
        <p:spPr bwMode="auto">
          <a:xfrm>
            <a:off x="7162801" y="1981200"/>
            <a:ext cx="1587" cy="2743200"/>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 name="Rectangle 79"/>
          <p:cNvSpPr>
            <a:spLocks noChangeArrowheads="1"/>
          </p:cNvSpPr>
          <p:nvPr/>
        </p:nvSpPr>
        <p:spPr bwMode="auto">
          <a:xfrm>
            <a:off x="7162800" y="1981200"/>
            <a:ext cx="17462" cy="27432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47" name="Rectangle 80"/>
          <p:cNvSpPr>
            <a:spLocks noChangeArrowheads="1"/>
          </p:cNvSpPr>
          <p:nvPr/>
        </p:nvSpPr>
        <p:spPr bwMode="auto">
          <a:xfrm>
            <a:off x="6807200" y="4191001"/>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0</a:t>
            </a:r>
          </a:p>
        </p:txBody>
      </p:sp>
      <p:sp>
        <p:nvSpPr>
          <p:cNvPr id="48" name="Rectangle 81"/>
          <p:cNvSpPr>
            <a:spLocks noChangeArrowheads="1"/>
          </p:cNvSpPr>
          <p:nvPr/>
        </p:nvSpPr>
        <p:spPr bwMode="auto">
          <a:xfrm>
            <a:off x="6781800" y="3657601"/>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1</a:t>
            </a:r>
          </a:p>
        </p:txBody>
      </p:sp>
      <p:sp>
        <p:nvSpPr>
          <p:cNvPr id="49" name="Rectangle 82"/>
          <p:cNvSpPr>
            <a:spLocks noChangeArrowheads="1"/>
          </p:cNvSpPr>
          <p:nvPr/>
        </p:nvSpPr>
        <p:spPr bwMode="auto">
          <a:xfrm>
            <a:off x="6781800" y="3124201"/>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2</a:t>
            </a:r>
          </a:p>
        </p:txBody>
      </p:sp>
      <p:sp>
        <p:nvSpPr>
          <p:cNvPr id="50" name="Rectangle 83"/>
          <p:cNvSpPr>
            <a:spLocks noChangeArrowheads="1"/>
          </p:cNvSpPr>
          <p:nvPr/>
        </p:nvSpPr>
        <p:spPr bwMode="auto">
          <a:xfrm>
            <a:off x="6781800" y="2514601"/>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3</a:t>
            </a:r>
          </a:p>
        </p:txBody>
      </p:sp>
      <p:sp>
        <p:nvSpPr>
          <p:cNvPr id="51" name="Rectangle 84"/>
          <p:cNvSpPr>
            <a:spLocks noChangeArrowheads="1"/>
          </p:cNvSpPr>
          <p:nvPr/>
        </p:nvSpPr>
        <p:spPr bwMode="auto">
          <a:xfrm>
            <a:off x="6781800" y="1981201"/>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4</a:t>
            </a:r>
          </a:p>
        </p:txBody>
      </p:sp>
      <p:sp>
        <p:nvSpPr>
          <p:cNvPr id="52" name="Rectangle 80"/>
          <p:cNvSpPr>
            <a:spLocks noChangeArrowheads="1"/>
          </p:cNvSpPr>
          <p:nvPr/>
        </p:nvSpPr>
        <p:spPr bwMode="auto">
          <a:xfrm>
            <a:off x="2326048" y="4106015"/>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0</a:t>
            </a:r>
          </a:p>
        </p:txBody>
      </p:sp>
      <p:sp>
        <p:nvSpPr>
          <p:cNvPr id="53" name="Rectangle 81"/>
          <p:cNvSpPr>
            <a:spLocks noChangeArrowheads="1"/>
          </p:cNvSpPr>
          <p:nvPr/>
        </p:nvSpPr>
        <p:spPr bwMode="auto">
          <a:xfrm>
            <a:off x="2300648" y="3572615"/>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1</a:t>
            </a:r>
          </a:p>
        </p:txBody>
      </p:sp>
      <p:sp>
        <p:nvSpPr>
          <p:cNvPr id="54" name="Rectangle 82"/>
          <p:cNvSpPr>
            <a:spLocks noChangeArrowheads="1"/>
          </p:cNvSpPr>
          <p:nvPr/>
        </p:nvSpPr>
        <p:spPr bwMode="auto">
          <a:xfrm>
            <a:off x="2300648" y="3039215"/>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2</a:t>
            </a:r>
          </a:p>
        </p:txBody>
      </p:sp>
      <p:sp>
        <p:nvSpPr>
          <p:cNvPr id="55" name="Rectangle 83"/>
          <p:cNvSpPr>
            <a:spLocks noChangeArrowheads="1"/>
          </p:cNvSpPr>
          <p:nvPr/>
        </p:nvSpPr>
        <p:spPr bwMode="auto">
          <a:xfrm>
            <a:off x="2300648" y="2429615"/>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3</a:t>
            </a:r>
          </a:p>
        </p:txBody>
      </p:sp>
      <p:sp>
        <p:nvSpPr>
          <p:cNvPr id="56" name="Rectangle 84"/>
          <p:cNvSpPr>
            <a:spLocks noChangeArrowheads="1"/>
          </p:cNvSpPr>
          <p:nvPr/>
        </p:nvSpPr>
        <p:spPr bwMode="auto">
          <a:xfrm>
            <a:off x="2300648" y="1896215"/>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4</a:t>
            </a:r>
          </a:p>
        </p:txBody>
      </p:sp>
    </p:spTree>
    <p:extLst>
      <p:ext uri="{BB962C8B-B14F-4D97-AF65-F5344CB8AC3E}">
        <p14:creationId xmlns:p14="http://schemas.microsoft.com/office/powerpoint/2010/main" val="2867891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Problem: Run out of space</a:t>
            </a:r>
            <a:endParaRPr lang="en-US" b="1" dirty="0"/>
          </a:p>
        </p:txBody>
      </p:sp>
      <p:sp>
        <p:nvSpPr>
          <p:cNvPr id="3" name="Slide Number Placeholder 2"/>
          <p:cNvSpPr>
            <a:spLocks noGrp="1"/>
          </p:cNvSpPr>
          <p:nvPr>
            <p:ph type="sldNum" sz="quarter" idx="12"/>
          </p:nvPr>
        </p:nvSpPr>
        <p:spPr/>
        <p:txBody>
          <a:bodyPr/>
          <a:lstStyle/>
          <a:p>
            <a:pPr>
              <a:defRPr/>
            </a:pPr>
            <a:fld id="{C71BD5D2-A63C-4CF3-9B33-EDAB3DA9185D}" type="slidenum">
              <a:rPr lang="en-US" altLang="en-US" smtClean="0"/>
              <a:pPr>
                <a:defRPr/>
              </a:pPr>
              <a:t>16</a:t>
            </a:fld>
            <a:endParaRPr lang="en-US" altLang="en-US"/>
          </a:p>
        </p:txBody>
      </p:sp>
      <p:sp>
        <p:nvSpPr>
          <p:cNvPr id="4" name="Text Box 4"/>
          <p:cNvSpPr txBox="1">
            <a:spLocks noChangeArrowheads="1"/>
          </p:cNvSpPr>
          <p:nvPr/>
        </p:nvSpPr>
        <p:spPr bwMode="auto">
          <a:xfrm>
            <a:off x="2227262" y="3344863"/>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endParaRPr lang="en-US" altLang="en-US" sz="2400">
              <a:latin typeface="Times New Roman" panose="02020603050405020304" pitchFamily="18" charset="0"/>
            </a:endParaRPr>
          </a:p>
        </p:txBody>
      </p:sp>
      <p:sp>
        <p:nvSpPr>
          <p:cNvPr id="5" name="AutoShape 5"/>
          <p:cNvSpPr>
            <a:spLocks noChangeAspect="1" noChangeArrowheads="1" noTextEdit="1"/>
          </p:cNvSpPr>
          <p:nvPr/>
        </p:nvSpPr>
        <p:spPr bwMode="auto">
          <a:xfrm>
            <a:off x="2455862" y="1905000"/>
            <a:ext cx="1447800" cy="27432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 name="Line 9"/>
          <p:cNvSpPr>
            <a:spLocks noChangeShapeType="1"/>
          </p:cNvSpPr>
          <p:nvPr/>
        </p:nvSpPr>
        <p:spPr bwMode="auto">
          <a:xfrm>
            <a:off x="2455862" y="1905000"/>
            <a:ext cx="1430338" cy="1588"/>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Rectangle 10"/>
          <p:cNvSpPr>
            <a:spLocks noChangeArrowheads="1"/>
          </p:cNvSpPr>
          <p:nvPr/>
        </p:nvSpPr>
        <p:spPr bwMode="auto">
          <a:xfrm>
            <a:off x="2455862" y="1905001"/>
            <a:ext cx="1430338" cy="174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8" name="Rectangle 14"/>
          <p:cNvSpPr>
            <a:spLocks noChangeArrowheads="1"/>
          </p:cNvSpPr>
          <p:nvPr/>
        </p:nvSpPr>
        <p:spPr bwMode="auto">
          <a:xfrm>
            <a:off x="2455862" y="2438401"/>
            <a:ext cx="1430338" cy="174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9" name="Rectangle 16"/>
          <p:cNvSpPr>
            <a:spLocks noChangeArrowheads="1"/>
          </p:cNvSpPr>
          <p:nvPr/>
        </p:nvSpPr>
        <p:spPr bwMode="auto">
          <a:xfrm>
            <a:off x="2455862" y="2954338"/>
            <a:ext cx="1430338" cy="1746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10" name="Line 17"/>
          <p:cNvSpPr>
            <a:spLocks noChangeShapeType="1"/>
          </p:cNvSpPr>
          <p:nvPr/>
        </p:nvSpPr>
        <p:spPr bwMode="auto">
          <a:xfrm>
            <a:off x="2455862" y="3575050"/>
            <a:ext cx="1430338" cy="1588"/>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Rectangle 18"/>
          <p:cNvSpPr>
            <a:spLocks noChangeArrowheads="1"/>
          </p:cNvSpPr>
          <p:nvPr/>
        </p:nvSpPr>
        <p:spPr bwMode="auto">
          <a:xfrm>
            <a:off x="2455862" y="3575051"/>
            <a:ext cx="1430338" cy="174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12" name="Line 19"/>
          <p:cNvSpPr>
            <a:spLocks noChangeShapeType="1"/>
          </p:cNvSpPr>
          <p:nvPr/>
        </p:nvSpPr>
        <p:spPr bwMode="auto">
          <a:xfrm>
            <a:off x="2455862" y="4103689"/>
            <a:ext cx="1430338" cy="1587"/>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Rectangle 20"/>
          <p:cNvSpPr>
            <a:spLocks noChangeArrowheads="1"/>
          </p:cNvSpPr>
          <p:nvPr/>
        </p:nvSpPr>
        <p:spPr bwMode="auto">
          <a:xfrm>
            <a:off x="2455862" y="4103688"/>
            <a:ext cx="1430338" cy="1746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14" name="Line 21"/>
          <p:cNvSpPr>
            <a:spLocks noChangeShapeType="1"/>
          </p:cNvSpPr>
          <p:nvPr/>
        </p:nvSpPr>
        <p:spPr bwMode="auto">
          <a:xfrm>
            <a:off x="2455862" y="4630739"/>
            <a:ext cx="1430338" cy="1587"/>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Rectangle 22"/>
          <p:cNvSpPr>
            <a:spLocks noChangeArrowheads="1"/>
          </p:cNvSpPr>
          <p:nvPr/>
        </p:nvSpPr>
        <p:spPr bwMode="auto">
          <a:xfrm>
            <a:off x="2455862" y="4630738"/>
            <a:ext cx="1430338" cy="1746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16" name="Line 23"/>
          <p:cNvSpPr>
            <a:spLocks noChangeShapeType="1"/>
          </p:cNvSpPr>
          <p:nvPr/>
        </p:nvSpPr>
        <p:spPr bwMode="auto">
          <a:xfrm>
            <a:off x="2455862" y="1905000"/>
            <a:ext cx="1588" cy="2743200"/>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 name="Rectangle 24"/>
          <p:cNvSpPr>
            <a:spLocks noChangeArrowheads="1"/>
          </p:cNvSpPr>
          <p:nvPr/>
        </p:nvSpPr>
        <p:spPr bwMode="auto">
          <a:xfrm>
            <a:off x="2455863" y="1905000"/>
            <a:ext cx="17463" cy="27432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18" name="Line 25"/>
          <p:cNvSpPr>
            <a:spLocks noChangeShapeType="1"/>
          </p:cNvSpPr>
          <p:nvPr/>
        </p:nvSpPr>
        <p:spPr bwMode="auto">
          <a:xfrm>
            <a:off x="3886201" y="1905000"/>
            <a:ext cx="1587" cy="2743200"/>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 name="Rectangle 26"/>
          <p:cNvSpPr>
            <a:spLocks noChangeArrowheads="1"/>
          </p:cNvSpPr>
          <p:nvPr/>
        </p:nvSpPr>
        <p:spPr bwMode="auto">
          <a:xfrm>
            <a:off x="3886200" y="1905000"/>
            <a:ext cx="17462" cy="27432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20" name="AutoShape 50"/>
          <p:cNvSpPr>
            <a:spLocks noChangeAspect="1" noChangeArrowheads="1" noTextEdit="1"/>
          </p:cNvSpPr>
          <p:nvPr/>
        </p:nvSpPr>
        <p:spPr bwMode="auto">
          <a:xfrm>
            <a:off x="6951662" y="1968500"/>
            <a:ext cx="1447800" cy="27432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Rectangle 51"/>
          <p:cNvSpPr>
            <a:spLocks noChangeArrowheads="1"/>
          </p:cNvSpPr>
          <p:nvPr/>
        </p:nvSpPr>
        <p:spPr bwMode="auto">
          <a:xfrm>
            <a:off x="7527925" y="3081339"/>
            <a:ext cx="29655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dirty="0"/>
              <a:t>C</a:t>
            </a:r>
            <a:endParaRPr lang="en-US" altLang="en-US" dirty="0"/>
          </a:p>
        </p:txBody>
      </p:sp>
      <p:sp>
        <p:nvSpPr>
          <p:cNvPr id="22" name="Rectangle 52"/>
          <p:cNvSpPr>
            <a:spLocks noChangeArrowheads="1"/>
          </p:cNvSpPr>
          <p:nvPr/>
        </p:nvSpPr>
        <p:spPr bwMode="auto">
          <a:xfrm>
            <a:off x="7532783" y="2505809"/>
            <a:ext cx="29655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de-DE" altLang="en-US" sz="3200" dirty="0"/>
              <a:t>D</a:t>
            </a:r>
            <a:endParaRPr lang="en-US" altLang="en-US" dirty="0"/>
          </a:p>
        </p:txBody>
      </p:sp>
      <p:sp>
        <p:nvSpPr>
          <p:cNvPr id="23" name="Line 54"/>
          <p:cNvSpPr>
            <a:spLocks noChangeShapeType="1"/>
          </p:cNvSpPr>
          <p:nvPr/>
        </p:nvSpPr>
        <p:spPr bwMode="auto">
          <a:xfrm>
            <a:off x="6951662" y="1968500"/>
            <a:ext cx="1430338" cy="1588"/>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Rectangle 55"/>
          <p:cNvSpPr>
            <a:spLocks noChangeArrowheads="1"/>
          </p:cNvSpPr>
          <p:nvPr/>
        </p:nvSpPr>
        <p:spPr bwMode="auto">
          <a:xfrm>
            <a:off x="6951662" y="1968501"/>
            <a:ext cx="1430338" cy="174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25" name="Rectangle 56"/>
          <p:cNvSpPr>
            <a:spLocks noChangeArrowheads="1"/>
          </p:cNvSpPr>
          <p:nvPr/>
        </p:nvSpPr>
        <p:spPr bwMode="auto">
          <a:xfrm>
            <a:off x="6951662" y="2501901"/>
            <a:ext cx="1430338" cy="174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26" name="Rectangle 57"/>
          <p:cNvSpPr>
            <a:spLocks noChangeArrowheads="1"/>
          </p:cNvSpPr>
          <p:nvPr/>
        </p:nvSpPr>
        <p:spPr bwMode="auto">
          <a:xfrm>
            <a:off x="6951662" y="3017838"/>
            <a:ext cx="1430338" cy="1746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27" name="Line 58"/>
          <p:cNvSpPr>
            <a:spLocks noChangeShapeType="1"/>
          </p:cNvSpPr>
          <p:nvPr/>
        </p:nvSpPr>
        <p:spPr bwMode="auto">
          <a:xfrm>
            <a:off x="6951662" y="3638550"/>
            <a:ext cx="1430338" cy="1588"/>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Rectangle 59"/>
          <p:cNvSpPr>
            <a:spLocks noChangeArrowheads="1"/>
          </p:cNvSpPr>
          <p:nvPr/>
        </p:nvSpPr>
        <p:spPr bwMode="auto">
          <a:xfrm>
            <a:off x="6951662" y="3638551"/>
            <a:ext cx="1430338" cy="174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29" name="Line 60"/>
          <p:cNvSpPr>
            <a:spLocks noChangeShapeType="1"/>
          </p:cNvSpPr>
          <p:nvPr/>
        </p:nvSpPr>
        <p:spPr bwMode="auto">
          <a:xfrm>
            <a:off x="6951662" y="4167189"/>
            <a:ext cx="1430338" cy="1587"/>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Rectangle 61"/>
          <p:cNvSpPr>
            <a:spLocks noChangeArrowheads="1"/>
          </p:cNvSpPr>
          <p:nvPr/>
        </p:nvSpPr>
        <p:spPr bwMode="auto">
          <a:xfrm>
            <a:off x="6951662" y="4167188"/>
            <a:ext cx="1430338" cy="1746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31" name="Line 62"/>
          <p:cNvSpPr>
            <a:spLocks noChangeShapeType="1"/>
          </p:cNvSpPr>
          <p:nvPr/>
        </p:nvSpPr>
        <p:spPr bwMode="auto">
          <a:xfrm>
            <a:off x="6951662" y="4694239"/>
            <a:ext cx="1430338" cy="1587"/>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Rectangle 63"/>
          <p:cNvSpPr>
            <a:spLocks noChangeArrowheads="1"/>
          </p:cNvSpPr>
          <p:nvPr/>
        </p:nvSpPr>
        <p:spPr bwMode="auto">
          <a:xfrm>
            <a:off x="6951662" y="4694238"/>
            <a:ext cx="1430338" cy="1746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33" name="Line 64"/>
          <p:cNvSpPr>
            <a:spLocks noChangeShapeType="1"/>
          </p:cNvSpPr>
          <p:nvPr/>
        </p:nvSpPr>
        <p:spPr bwMode="auto">
          <a:xfrm>
            <a:off x="6951662" y="1968500"/>
            <a:ext cx="1588" cy="2743200"/>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Rectangle 65"/>
          <p:cNvSpPr>
            <a:spLocks noChangeArrowheads="1"/>
          </p:cNvSpPr>
          <p:nvPr/>
        </p:nvSpPr>
        <p:spPr bwMode="auto">
          <a:xfrm>
            <a:off x="6951663" y="1968500"/>
            <a:ext cx="17463" cy="27432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35" name="Line 66"/>
          <p:cNvSpPr>
            <a:spLocks noChangeShapeType="1"/>
          </p:cNvSpPr>
          <p:nvPr/>
        </p:nvSpPr>
        <p:spPr bwMode="auto">
          <a:xfrm>
            <a:off x="8382001" y="1968500"/>
            <a:ext cx="1587" cy="2743200"/>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Rectangle 67"/>
          <p:cNvSpPr>
            <a:spLocks noChangeArrowheads="1"/>
          </p:cNvSpPr>
          <p:nvPr/>
        </p:nvSpPr>
        <p:spPr bwMode="auto">
          <a:xfrm>
            <a:off x="8382000" y="1968500"/>
            <a:ext cx="17462" cy="27432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37" name="Text Box 68"/>
          <p:cNvSpPr txBox="1">
            <a:spLocks noChangeArrowheads="1"/>
          </p:cNvSpPr>
          <p:nvPr/>
        </p:nvSpPr>
        <p:spPr bwMode="auto">
          <a:xfrm>
            <a:off x="3920752" y="3096727"/>
            <a:ext cx="229235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err="1"/>
              <a:t>q.front</a:t>
            </a:r>
            <a:r>
              <a:rPr lang="en-US" altLang="en-US" sz="2400" dirty="0"/>
              <a:t> = </a:t>
            </a:r>
            <a:r>
              <a:rPr lang="en-US" altLang="en-US" sz="2400" dirty="0" err="1"/>
              <a:t>q.rear</a:t>
            </a:r>
            <a:r>
              <a:rPr lang="en-US" altLang="en-US" sz="2400" dirty="0"/>
              <a:t> = 2</a:t>
            </a:r>
          </a:p>
        </p:txBody>
      </p:sp>
      <p:sp>
        <p:nvSpPr>
          <p:cNvPr id="38" name="Text Box 70"/>
          <p:cNvSpPr txBox="1">
            <a:spLocks noChangeArrowheads="1"/>
          </p:cNvSpPr>
          <p:nvPr/>
        </p:nvSpPr>
        <p:spPr bwMode="auto">
          <a:xfrm>
            <a:off x="8580086" y="3060392"/>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err="1"/>
              <a:t>q.front</a:t>
            </a:r>
            <a:r>
              <a:rPr lang="en-US" altLang="en-US" sz="2400" dirty="0"/>
              <a:t> = 2</a:t>
            </a:r>
          </a:p>
        </p:txBody>
      </p:sp>
      <p:sp>
        <p:nvSpPr>
          <p:cNvPr id="39" name="Text Box 71"/>
          <p:cNvSpPr txBox="1">
            <a:spLocks noChangeArrowheads="1"/>
          </p:cNvSpPr>
          <p:nvPr/>
        </p:nvSpPr>
        <p:spPr bwMode="auto">
          <a:xfrm>
            <a:off x="8580086" y="1980645"/>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err="1"/>
              <a:t>q.rear</a:t>
            </a:r>
            <a:r>
              <a:rPr lang="en-US" altLang="en-US" sz="2400" dirty="0"/>
              <a:t> = 4</a:t>
            </a:r>
          </a:p>
        </p:txBody>
      </p:sp>
      <p:sp>
        <p:nvSpPr>
          <p:cNvPr id="40" name="Text Box 72"/>
          <p:cNvSpPr txBox="1">
            <a:spLocks noChangeArrowheads="1"/>
          </p:cNvSpPr>
          <p:nvPr/>
        </p:nvSpPr>
        <p:spPr bwMode="auto">
          <a:xfrm>
            <a:off x="1540974" y="4901526"/>
            <a:ext cx="8716596"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eaLnBrk="1" hangingPunct="1">
              <a:spcBef>
                <a:spcPct val="50000"/>
              </a:spcBef>
              <a:buFont typeface="Wingdings" panose="05000000000000000000" pitchFamily="2" charset="2"/>
              <a:buChar char="§"/>
            </a:pPr>
            <a:r>
              <a:rPr lang="en-GB" altLang="en-US" sz="2400" dirty="0"/>
              <a:t>Now there are 3 elements the queue but there is room for 5</a:t>
            </a:r>
          </a:p>
          <a:p>
            <a:pPr marL="342900" indent="-342900" eaLnBrk="1" hangingPunct="1">
              <a:spcBef>
                <a:spcPct val="50000"/>
              </a:spcBef>
              <a:buFont typeface="Wingdings" panose="05000000000000000000" pitchFamily="2" charset="2"/>
              <a:buChar char="§"/>
            </a:pPr>
            <a:r>
              <a:rPr lang="en-GB" altLang="en-US" sz="2400" dirty="0"/>
              <a:t>To insert a new value F,</a:t>
            </a:r>
            <a:r>
              <a:rPr lang="en-GB" altLang="en-US" sz="2400" dirty="0">
                <a:solidFill>
                  <a:schemeClr val="accent1">
                    <a:lumMod val="75000"/>
                  </a:schemeClr>
                </a:solidFill>
              </a:rPr>
              <a:t> </a:t>
            </a:r>
            <a:r>
              <a:rPr lang="en-GB" altLang="en-US" sz="2400" dirty="0" err="1">
                <a:solidFill>
                  <a:schemeClr val="accent1">
                    <a:lumMod val="75000"/>
                  </a:schemeClr>
                </a:solidFill>
              </a:rPr>
              <a:t>q.rear</a:t>
            </a:r>
            <a:r>
              <a:rPr lang="en-GB" altLang="en-US" sz="2400" dirty="0">
                <a:solidFill>
                  <a:schemeClr val="accent1">
                    <a:lumMod val="75000"/>
                  </a:schemeClr>
                </a:solidFill>
              </a:rPr>
              <a:t> </a:t>
            </a:r>
            <a:r>
              <a:rPr lang="en-GB" altLang="en-US" sz="2400" dirty="0"/>
              <a:t>must be increased by 1 such that </a:t>
            </a:r>
            <a:r>
              <a:rPr lang="en-GB" altLang="en-US" sz="2400" dirty="0" err="1">
                <a:solidFill>
                  <a:schemeClr val="accent1">
                    <a:lumMod val="75000"/>
                  </a:schemeClr>
                </a:solidFill>
              </a:rPr>
              <a:t>q.items</a:t>
            </a:r>
            <a:r>
              <a:rPr lang="en-GB" altLang="en-US" sz="2400" dirty="0">
                <a:solidFill>
                  <a:schemeClr val="accent1">
                    <a:lumMod val="75000"/>
                  </a:schemeClr>
                </a:solidFill>
              </a:rPr>
              <a:t>[5] </a:t>
            </a:r>
            <a:r>
              <a:rPr lang="en-GB" altLang="en-US" sz="2400" dirty="0"/>
              <a:t>is set to the value F but </a:t>
            </a:r>
            <a:r>
              <a:rPr lang="en-GB" altLang="en-US" sz="2400" dirty="0" err="1">
                <a:solidFill>
                  <a:schemeClr val="accent1">
                    <a:lumMod val="75000"/>
                  </a:schemeClr>
                </a:solidFill>
              </a:rPr>
              <a:t>q.items</a:t>
            </a:r>
            <a:r>
              <a:rPr lang="en-GB" altLang="en-US" sz="2400" dirty="0"/>
              <a:t> is an array of only 5 elements so this insertion cannot be made</a:t>
            </a:r>
          </a:p>
        </p:txBody>
      </p:sp>
      <p:sp>
        <p:nvSpPr>
          <p:cNvPr id="41" name="Line 78"/>
          <p:cNvSpPr>
            <a:spLocks noChangeShapeType="1"/>
          </p:cNvSpPr>
          <p:nvPr/>
        </p:nvSpPr>
        <p:spPr bwMode="auto">
          <a:xfrm>
            <a:off x="6934201" y="1981200"/>
            <a:ext cx="1587" cy="2743200"/>
          </a:xfrm>
          <a:prstGeom prst="line">
            <a:avLst/>
          </a:prstGeom>
          <a:noFill/>
          <a:ln w="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Rectangle 79"/>
          <p:cNvSpPr>
            <a:spLocks noChangeArrowheads="1"/>
          </p:cNvSpPr>
          <p:nvPr/>
        </p:nvSpPr>
        <p:spPr bwMode="auto">
          <a:xfrm>
            <a:off x="6934200" y="1981200"/>
            <a:ext cx="17462" cy="274320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43" name="Rectangle 80"/>
          <p:cNvSpPr>
            <a:spLocks noChangeArrowheads="1"/>
          </p:cNvSpPr>
          <p:nvPr/>
        </p:nvSpPr>
        <p:spPr bwMode="auto">
          <a:xfrm>
            <a:off x="6578600" y="4191001"/>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0</a:t>
            </a:r>
          </a:p>
        </p:txBody>
      </p:sp>
      <p:sp>
        <p:nvSpPr>
          <p:cNvPr id="44" name="Rectangle 81"/>
          <p:cNvSpPr>
            <a:spLocks noChangeArrowheads="1"/>
          </p:cNvSpPr>
          <p:nvPr/>
        </p:nvSpPr>
        <p:spPr bwMode="auto">
          <a:xfrm>
            <a:off x="6553200" y="3657601"/>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1</a:t>
            </a:r>
          </a:p>
        </p:txBody>
      </p:sp>
      <p:sp>
        <p:nvSpPr>
          <p:cNvPr id="45" name="Rectangle 82"/>
          <p:cNvSpPr>
            <a:spLocks noChangeArrowheads="1"/>
          </p:cNvSpPr>
          <p:nvPr/>
        </p:nvSpPr>
        <p:spPr bwMode="auto">
          <a:xfrm>
            <a:off x="6553200" y="3124201"/>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2</a:t>
            </a:r>
          </a:p>
        </p:txBody>
      </p:sp>
      <p:sp>
        <p:nvSpPr>
          <p:cNvPr id="46" name="Rectangle 83"/>
          <p:cNvSpPr>
            <a:spLocks noChangeArrowheads="1"/>
          </p:cNvSpPr>
          <p:nvPr/>
        </p:nvSpPr>
        <p:spPr bwMode="auto">
          <a:xfrm>
            <a:off x="6553200" y="2514601"/>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3</a:t>
            </a:r>
          </a:p>
        </p:txBody>
      </p:sp>
      <p:sp>
        <p:nvSpPr>
          <p:cNvPr id="47" name="Rectangle 84"/>
          <p:cNvSpPr>
            <a:spLocks noChangeArrowheads="1"/>
          </p:cNvSpPr>
          <p:nvPr/>
        </p:nvSpPr>
        <p:spPr bwMode="auto">
          <a:xfrm>
            <a:off x="6553200" y="1981201"/>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4</a:t>
            </a:r>
          </a:p>
        </p:txBody>
      </p:sp>
      <p:sp>
        <p:nvSpPr>
          <p:cNvPr id="48" name="Rectangle 80"/>
          <p:cNvSpPr>
            <a:spLocks noChangeArrowheads="1"/>
          </p:cNvSpPr>
          <p:nvPr/>
        </p:nvSpPr>
        <p:spPr bwMode="auto">
          <a:xfrm>
            <a:off x="2097448" y="4106015"/>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0</a:t>
            </a:r>
          </a:p>
        </p:txBody>
      </p:sp>
      <p:sp>
        <p:nvSpPr>
          <p:cNvPr id="49" name="Rectangle 81"/>
          <p:cNvSpPr>
            <a:spLocks noChangeArrowheads="1"/>
          </p:cNvSpPr>
          <p:nvPr/>
        </p:nvSpPr>
        <p:spPr bwMode="auto">
          <a:xfrm>
            <a:off x="2072048" y="3572615"/>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1</a:t>
            </a:r>
          </a:p>
        </p:txBody>
      </p:sp>
      <p:sp>
        <p:nvSpPr>
          <p:cNvPr id="50" name="Rectangle 82"/>
          <p:cNvSpPr>
            <a:spLocks noChangeArrowheads="1"/>
          </p:cNvSpPr>
          <p:nvPr/>
        </p:nvSpPr>
        <p:spPr bwMode="auto">
          <a:xfrm>
            <a:off x="2072048" y="3039215"/>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2</a:t>
            </a:r>
          </a:p>
        </p:txBody>
      </p:sp>
      <p:sp>
        <p:nvSpPr>
          <p:cNvPr id="51" name="Rectangle 83"/>
          <p:cNvSpPr>
            <a:spLocks noChangeArrowheads="1"/>
          </p:cNvSpPr>
          <p:nvPr/>
        </p:nvSpPr>
        <p:spPr bwMode="auto">
          <a:xfrm>
            <a:off x="2072048" y="2429615"/>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3</a:t>
            </a:r>
          </a:p>
        </p:txBody>
      </p:sp>
      <p:sp>
        <p:nvSpPr>
          <p:cNvPr id="52" name="Rectangle 84"/>
          <p:cNvSpPr>
            <a:spLocks noChangeArrowheads="1"/>
          </p:cNvSpPr>
          <p:nvPr/>
        </p:nvSpPr>
        <p:spPr bwMode="auto">
          <a:xfrm>
            <a:off x="2072048" y="1896215"/>
            <a:ext cx="2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dirty="0"/>
              <a:t>4</a:t>
            </a:r>
          </a:p>
        </p:txBody>
      </p:sp>
      <p:sp>
        <p:nvSpPr>
          <p:cNvPr id="53" name="Rectangle 52"/>
          <p:cNvSpPr>
            <a:spLocks noChangeArrowheads="1"/>
          </p:cNvSpPr>
          <p:nvPr/>
        </p:nvSpPr>
        <p:spPr bwMode="auto">
          <a:xfrm>
            <a:off x="7526927" y="1989989"/>
            <a:ext cx="27411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de-DE" altLang="en-US" sz="3200" dirty="0"/>
              <a:t>E</a:t>
            </a:r>
            <a:endParaRPr lang="en-US" altLang="en-US" dirty="0"/>
          </a:p>
        </p:txBody>
      </p:sp>
      <p:sp>
        <p:nvSpPr>
          <p:cNvPr id="54" name="Rectangle 51"/>
          <p:cNvSpPr>
            <a:spLocks noChangeArrowheads="1"/>
          </p:cNvSpPr>
          <p:nvPr/>
        </p:nvSpPr>
        <p:spPr bwMode="auto">
          <a:xfrm>
            <a:off x="3020397" y="3013936"/>
            <a:ext cx="29655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dirty="0"/>
              <a:t>C</a:t>
            </a:r>
            <a:endParaRPr lang="en-US" altLang="en-US" dirty="0"/>
          </a:p>
        </p:txBody>
      </p:sp>
    </p:spTree>
    <p:extLst>
      <p:ext uri="{BB962C8B-B14F-4D97-AF65-F5344CB8AC3E}">
        <p14:creationId xmlns:p14="http://schemas.microsoft.com/office/powerpoint/2010/main" val="3024655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Solution 1: Shift items</a:t>
            </a:r>
            <a:endParaRPr lang="en-US" b="1" dirty="0"/>
          </a:p>
        </p:txBody>
      </p:sp>
      <p:sp>
        <p:nvSpPr>
          <p:cNvPr id="4" name="Content Placeholder 3"/>
          <p:cNvSpPr>
            <a:spLocks noGrp="1"/>
          </p:cNvSpPr>
          <p:nvPr>
            <p:ph idx="1"/>
          </p:nvPr>
        </p:nvSpPr>
        <p:spPr/>
        <p:txBody>
          <a:bodyPr/>
          <a:lstStyle/>
          <a:p>
            <a:r>
              <a:rPr lang="en-GB" dirty="0">
                <a:solidFill>
                  <a:schemeClr val="accent1">
                    <a:lumMod val="75000"/>
                  </a:schemeClr>
                </a:solidFill>
              </a:rPr>
              <a:t>Shifting</a:t>
            </a:r>
            <a:r>
              <a:rPr lang="en-GB" dirty="0"/>
              <a:t> the elements downward with each deletion</a:t>
            </a:r>
          </a:p>
          <a:p>
            <a:pPr lvl="1"/>
            <a:r>
              <a:rPr lang="en-GB" dirty="0"/>
              <a:t>Check if array is not empty</a:t>
            </a:r>
          </a:p>
          <a:p>
            <a:pPr lvl="1"/>
            <a:r>
              <a:rPr lang="en-GB" dirty="0"/>
              <a:t>Simply </a:t>
            </a:r>
            <a:r>
              <a:rPr lang="en-GB" dirty="0" err="1">
                <a:solidFill>
                  <a:schemeClr val="accent1">
                    <a:lumMod val="75000"/>
                  </a:schemeClr>
                </a:solidFill>
              </a:rPr>
              <a:t>dequeue</a:t>
            </a:r>
            <a:r>
              <a:rPr lang="en-GB" dirty="0"/>
              <a:t> from the </a:t>
            </a:r>
            <a:r>
              <a:rPr lang="en-GB" dirty="0">
                <a:solidFill>
                  <a:schemeClr val="accent1">
                    <a:lumMod val="75000"/>
                  </a:schemeClr>
                </a:solidFill>
              </a:rPr>
              <a:t>first location of array, </a:t>
            </a:r>
            <a:r>
              <a:rPr lang="en-GB" dirty="0"/>
              <a:t>say array[0] i.e., the zeroth index</a:t>
            </a:r>
          </a:p>
          <a:p>
            <a:pPr lvl="1"/>
            <a:r>
              <a:rPr lang="en-GB" dirty="0"/>
              <a:t>After </a:t>
            </a:r>
            <a:r>
              <a:rPr lang="en-GB" dirty="0" err="1"/>
              <a:t>dequeue</a:t>
            </a:r>
            <a:r>
              <a:rPr lang="en-GB" dirty="0"/>
              <a:t> </a:t>
            </a:r>
            <a:r>
              <a:rPr lang="en-GB" dirty="0">
                <a:solidFill>
                  <a:schemeClr val="accent1">
                    <a:lumMod val="75000"/>
                  </a:schemeClr>
                </a:solidFill>
              </a:rPr>
              <a:t>shift</a:t>
            </a:r>
            <a:r>
              <a:rPr lang="en-GB" dirty="0"/>
              <a:t> all the elements of the array from array[index] to array[index-1]</a:t>
            </a:r>
          </a:p>
        </p:txBody>
      </p:sp>
      <p:sp>
        <p:nvSpPr>
          <p:cNvPr id="3" name="Slide Number Placeholder 2"/>
          <p:cNvSpPr>
            <a:spLocks noGrp="1"/>
          </p:cNvSpPr>
          <p:nvPr>
            <p:ph type="sldNum" sz="quarter" idx="12"/>
          </p:nvPr>
        </p:nvSpPr>
        <p:spPr/>
        <p:txBody>
          <a:bodyPr/>
          <a:lstStyle/>
          <a:p>
            <a:pPr>
              <a:defRPr/>
            </a:pPr>
            <a:fld id="{C71BD5D2-A63C-4CF3-9B33-EDAB3DA9185D}" type="slidenum">
              <a:rPr lang="en-US" altLang="en-US" smtClean="0"/>
              <a:pPr>
                <a:defRPr/>
              </a:pPr>
              <a:t>17</a:t>
            </a:fld>
            <a:endParaRPr lang="en-US" altLang="en-US"/>
          </a:p>
        </p:txBody>
      </p:sp>
      <p:graphicFrame>
        <p:nvGraphicFramePr>
          <p:cNvPr id="5" name="Group 4"/>
          <p:cNvGraphicFramePr>
            <a:graphicFrameLocks noGrp="1"/>
          </p:cNvGraphicFramePr>
          <p:nvPr>
            <p:extLst>
              <p:ext uri="{D42A27DB-BD31-4B8C-83A1-F6EECF244321}">
                <p14:modId xmlns:p14="http://schemas.microsoft.com/office/powerpoint/2010/main" val="4291858678"/>
              </p:ext>
            </p:extLst>
          </p:nvPr>
        </p:nvGraphicFramePr>
        <p:xfrm>
          <a:off x="2209800" y="4572177"/>
          <a:ext cx="6019800" cy="518048"/>
        </p:xfrm>
        <a:graphic>
          <a:graphicData uri="http://schemas.openxmlformats.org/drawingml/2006/table">
            <a:tbl>
              <a:tblPr/>
              <a:tblGrid>
                <a:gridCol w="11430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517525">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rPr>
                        <a:t>A</a:t>
                      </a:r>
                    </a:p>
                  </a:txBody>
                  <a:tcPr marT="45664" marB="456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B</a:t>
                      </a:r>
                    </a:p>
                  </a:txBody>
                  <a:tcPr marT="45664" marB="456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C</a:t>
                      </a:r>
                    </a:p>
                  </a:txBody>
                  <a:tcPr marT="45664" marB="456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D</a:t>
                      </a:r>
                    </a:p>
                  </a:txBody>
                  <a:tcPr marT="45664" marB="456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endParaRPr>
                    </a:p>
                  </a:txBody>
                  <a:tcPr marT="45664" marB="456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 name="Text Box 19"/>
          <p:cNvSpPr txBox="1">
            <a:spLocks noChangeArrowheads="1"/>
          </p:cNvSpPr>
          <p:nvPr/>
        </p:nvSpPr>
        <p:spPr bwMode="auto">
          <a:xfrm>
            <a:off x="6569076" y="5287988"/>
            <a:ext cx="8531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Rear</a:t>
            </a:r>
          </a:p>
        </p:txBody>
      </p:sp>
      <p:sp>
        <p:nvSpPr>
          <p:cNvPr id="7" name="Line 21"/>
          <p:cNvSpPr>
            <a:spLocks noChangeShapeType="1"/>
          </p:cNvSpPr>
          <p:nvPr/>
        </p:nvSpPr>
        <p:spPr bwMode="auto">
          <a:xfrm flipH="1" flipV="1">
            <a:off x="6356841" y="5169081"/>
            <a:ext cx="228600" cy="220759"/>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graphicFrame>
        <p:nvGraphicFramePr>
          <p:cNvPr id="8" name="Group 23"/>
          <p:cNvGraphicFramePr>
            <a:graphicFrameLocks noGrp="1"/>
          </p:cNvGraphicFramePr>
          <p:nvPr>
            <p:extLst>
              <p:ext uri="{D42A27DB-BD31-4B8C-83A1-F6EECF244321}">
                <p14:modId xmlns:p14="http://schemas.microsoft.com/office/powerpoint/2010/main" val="2417994687"/>
              </p:ext>
            </p:extLst>
          </p:nvPr>
        </p:nvGraphicFramePr>
        <p:xfrm>
          <a:off x="2198078" y="6207546"/>
          <a:ext cx="6019800" cy="518048"/>
        </p:xfrm>
        <a:graphic>
          <a:graphicData uri="http://schemas.openxmlformats.org/drawingml/2006/table">
            <a:tbl>
              <a:tblPr/>
              <a:tblGrid>
                <a:gridCol w="11430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517525">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B</a:t>
                      </a:r>
                    </a:p>
                  </a:txBody>
                  <a:tcPr marT="45664" marB="456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C</a:t>
                      </a:r>
                    </a:p>
                  </a:txBody>
                  <a:tcPr marT="45664" marB="456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D</a:t>
                      </a:r>
                    </a:p>
                  </a:txBody>
                  <a:tcPr marT="45664" marB="456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endParaRPr>
                    </a:p>
                  </a:txBody>
                  <a:tcPr marT="45664" marB="456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endParaRPr>
                    </a:p>
                  </a:txBody>
                  <a:tcPr marT="45664" marB="456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 name="Text Box 41"/>
          <p:cNvSpPr txBox="1">
            <a:spLocks noChangeArrowheads="1"/>
          </p:cNvSpPr>
          <p:nvPr/>
        </p:nvSpPr>
        <p:spPr bwMode="auto">
          <a:xfrm>
            <a:off x="8335557" y="6235738"/>
            <a:ext cx="13853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dequeue</a:t>
            </a:r>
          </a:p>
        </p:txBody>
      </p:sp>
      <p:sp>
        <p:nvSpPr>
          <p:cNvPr id="10" name="Text Box 44"/>
          <p:cNvSpPr txBox="1">
            <a:spLocks noChangeArrowheads="1"/>
          </p:cNvSpPr>
          <p:nvPr/>
        </p:nvSpPr>
        <p:spPr bwMode="auto">
          <a:xfrm>
            <a:off x="2362200" y="4114978"/>
            <a:ext cx="91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a:t>0</a:t>
            </a:r>
          </a:p>
        </p:txBody>
      </p:sp>
      <p:sp>
        <p:nvSpPr>
          <p:cNvPr id="11" name="Text Box 45"/>
          <p:cNvSpPr txBox="1">
            <a:spLocks noChangeArrowheads="1"/>
          </p:cNvSpPr>
          <p:nvPr/>
        </p:nvSpPr>
        <p:spPr bwMode="auto">
          <a:xfrm>
            <a:off x="3505200" y="4114978"/>
            <a:ext cx="91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a:t>1</a:t>
            </a:r>
          </a:p>
        </p:txBody>
      </p:sp>
      <p:sp>
        <p:nvSpPr>
          <p:cNvPr id="12" name="Text Box 46"/>
          <p:cNvSpPr txBox="1">
            <a:spLocks noChangeArrowheads="1"/>
          </p:cNvSpPr>
          <p:nvPr/>
        </p:nvSpPr>
        <p:spPr bwMode="auto">
          <a:xfrm>
            <a:off x="4724400" y="4114978"/>
            <a:ext cx="91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a:t>2</a:t>
            </a:r>
          </a:p>
        </p:txBody>
      </p:sp>
      <p:sp>
        <p:nvSpPr>
          <p:cNvPr id="13" name="Text Box 47"/>
          <p:cNvSpPr txBox="1">
            <a:spLocks noChangeArrowheads="1"/>
          </p:cNvSpPr>
          <p:nvPr/>
        </p:nvSpPr>
        <p:spPr bwMode="auto">
          <a:xfrm>
            <a:off x="6019800" y="4114978"/>
            <a:ext cx="91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a:t>3</a:t>
            </a:r>
          </a:p>
        </p:txBody>
      </p:sp>
      <p:sp>
        <p:nvSpPr>
          <p:cNvPr id="14" name="Text Box 48"/>
          <p:cNvSpPr txBox="1">
            <a:spLocks noChangeArrowheads="1"/>
          </p:cNvSpPr>
          <p:nvPr/>
        </p:nvSpPr>
        <p:spPr bwMode="auto">
          <a:xfrm>
            <a:off x="7162800" y="4114978"/>
            <a:ext cx="91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a:t>4</a:t>
            </a:r>
          </a:p>
        </p:txBody>
      </p:sp>
      <p:sp>
        <p:nvSpPr>
          <p:cNvPr id="15" name="Text Box 44"/>
          <p:cNvSpPr txBox="1">
            <a:spLocks noChangeArrowheads="1"/>
          </p:cNvSpPr>
          <p:nvPr/>
        </p:nvSpPr>
        <p:spPr bwMode="auto">
          <a:xfrm>
            <a:off x="2356341" y="5744494"/>
            <a:ext cx="91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a:t>0</a:t>
            </a:r>
          </a:p>
        </p:txBody>
      </p:sp>
      <p:sp>
        <p:nvSpPr>
          <p:cNvPr id="16" name="Text Box 45"/>
          <p:cNvSpPr txBox="1">
            <a:spLocks noChangeArrowheads="1"/>
          </p:cNvSpPr>
          <p:nvPr/>
        </p:nvSpPr>
        <p:spPr bwMode="auto">
          <a:xfrm>
            <a:off x="3499341" y="5744494"/>
            <a:ext cx="91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a:t>1</a:t>
            </a:r>
          </a:p>
        </p:txBody>
      </p:sp>
      <p:sp>
        <p:nvSpPr>
          <p:cNvPr id="17" name="Text Box 46"/>
          <p:cNvSpPr txBox="1">
            <a:spLocks noChangeArrowheads="1"/>
          </p:cNvSpPr>
          <p:nvPr/>
        </p:nvSpPr>
        <p:spPr bwMode="auto">
          <a:xfrm>
            <a:off x="4718541" y="5744494"/>
            <a:ext cx="91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a:t>2</a:t>
            </a:r>
          </a:p>
        </p:txBody>
      </p:sp>
      <p:sp>
        <p:nvSpPr>
          <p:cNvPr id="18" name="Text Box 47"/>
          <p:cNvSpPr txBox="1">
            <a:spLocks noChangeArrowheads="1"/>
          </p:cNvSpPr>
          <p:nvPr/>
        </p:nvSpPr>
        <p:spPr bwMode="auto">
          <a:xfrm>
            <a:off x="6013941" y="5744494"/>
            <a:ext cx="91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a:t>3</a:t>
            </a:r>
          </a:p>
        </p:txBody>
      </p:sp>
      <p:sp>
        <p:nvSpPr>
          <p:cNvPr id="19" name="Text Box 48"/>
          <p:cNvSpPr txBox="1">
            <a:spLocks noChangeArrowheads="1"/>
          </p:cNvSpPr>
          <p:nvPr/>
        </p:nvSpPr>
        <p:spPr bwMode="auto">
          <a:xfrm>
            <a:off x="7156941" y="5744494"/>
            <a:ext cx="91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dirty="0"/>
              <a:t>4</a:t>
            </a:r>
          </a:p>
        </p:txBody>
      </p:sp>
      <p:sp>
        <p:nvSpPr>
          <p:cNvPr id="20" name="Text Box 19"/>
          <p:cNvSpPr txBox="1">
            <a:spLocks noChangeArrowheads="1"/>
          </p:cNvSpPr>
          <p:nvPr/>
        </p:nvSpPr>
        <p:spPr bwMode="auto">
          <a:xfrm>
            <a:off x="5165229" y="5343673"/>
            <a:ext cx="8531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Rear</a:t>
            </a:r>
          </a:p>
        </p:txBody>
      </p:sp>
      <p:sp>
        <p:nvSpPr>
          <p:cNvPr id="21" name="Line 21"/>
          <p:cNvSpPr>
            <a:spLocks noChangeShapeType="1"/>
          </p:cNvSpPr>
          <p:nvPr/>
        </p:nvSpPr>
        <p:spPr bwMode="auto">
          <a:xfrm flipH="1">
            <a:off x="5165228" y="5787477"/>
            <a:ext cx="199566" cy="271307"/>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22" name="Rectangle 21">
            <a:extLst>
              <a:ext uri="{FF2B5EF4-FFF2-40B4-BE49-F238E27FC236}">
                <a16:creationId xmlns:a16="http://schemas.microsoft.com/office/drawing/2014/main" id="{815E2209-BE6A-4248-4C33-74B5FAA98EE0}"/>
              </a:ext>
            </a:extLst>
          </p:cNvPr>
          <p:cNvSpPr/>
          <p:nvPr/>
        </p:nvSpPr>
        <p:spPr>
          <a:xfrm>
            <a:off x="2198078" y="4576643"/>
            <a:ext cx="1154722" cy="5287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297232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Solution 1: Updated Dequeue operation</a:t>
            </a:r>
            <a:endParaRPr lang="en-US" b="1" dirty="0"/>
          </a:p>
        </p:txBody>
      </p:sp>
      <p:sp>
        <p:nvSpPr>
          <p:cNvPr id="3" name="Content Placeholder 2"/>
          <p:cNvSpPr>
            <a:spLocks noGrp="1"/>
          </p:cNvSpPr>
          <p:nvPr>
            <p:ph idx="1"/>
          </p:nvPr>
        </p:nvSpPr>
        <p:spPr/>
        <p:txBody>
          <a:bodyPr/>
          <a:lstStyle/>
          <a:p>
            <a:pPr marL="0" indent="0">
              <a:buNone/>
            </a:pPr>
            <a:r>
              <a:rPr lang="en-GB" dirty="0"/>
              <a:t>x = </a:t>
            </a:r>
            <a:r>
              <a:rPr lang="en-GB" dirty="0" err="1"/>
              <a:t>q.items</a:t>
            </a:r>
            <a:r>
              <a:rPr lang="en-GB" dirty="0"/>
              <a:t>[0];</a:t>
            </a:r>
          </a:p>
          <a:p>
            <a:pPr marL="0" indent="0">
              <a:buNone/>
            </a:pPr>
            <a:r>
              <a:rPr lang="en-GB" dirty="0"/>
              <a:t>for ( </a:t>
            </a:r>
            <a:r>
              <a:rPr lang="en-GB" dirty="0" err="1"/>
              <a:t>i</a:t>
            </a:r>
            <a:r>
              <a:rPr lang="en-GB" dirty="0"/>
              <a:t> = 0 ; </a:t>
            </a:r>
            <a:r>
              <a:rPr lang="en-GB" dirty="0" err="1"/>
              <a:t>i</a:t>
            </a:r>
            <a:r>
              <a:rPr lang="en-GB" dirty="0"/>
              <a:t> &lt; </a:t>
            </a:r>
            <a:r>
              <a:rPr lang="en-GB" dirty="0" err="1"/>
              <a:t>q.rear</a:t>
            </a:r>
            <a:r>
              <a:rPr lang="en-GB" dirty="0"/>
              <a:t>; </a:t>
            </a:r>
            <a:r>
              <a:rPr lang="en-GB" dirty="0" err="1"/>
              <a:t>i</a:t>
            </a:r>
            <a:r>
              <a:rPr lang="en-GB" dirty="0"/>
              <a:t>++ )</a:t>
            </a:r>
          </a:p>
          <a:p>
            <a:pPr marL="0" indent="0">
              <a:buNone/>
            </a:pPr>
            <a:r>
              <a:rPr lang="en-GB" dirty="0"/>
              <a:t>	</a:t>
            </a:r>
            <a:r>
              <a:rPr lang="en-GB" dirty="0" err="1"/>
              <a:t>q.items</a:t>
            </a:r>
            <a:r>
              <a:rPr lang="en-GB" dirty="0"/>
              <a:t>[</a:t>
            </a:r>
            <a:r>
              <a:rPr lang="en-GB" dirty="0" err="1"/>
              <a:t>i</a:t>
            </a:r>
            <a:r>
              <a:rPr lang="en-GB" dirty="0"/>
              <a:t>] = </a:t>
            </a:r>
            <a:r>
              <a:rPr lang="en-GB" dirty="0" err="1"/>
              <a:t>q.items</a:t>
            </a:r>
            <a:r>
              <a:rPr lang="en-GB" dirty="0"/>
              <a:t>[i+1]</a:t>
            </a:r>
          </a:p>
          <a:p>
            <a:pPr marL="0" indent="0">
              <a:buNone/>
            </a:pPr>
            <a:r>
              <a:rPr lang="en-GB" dirty="0" err="1"/>
              <a:t>q.rear</a:t>
            </a:r>
            <a:r>
              <a:rPr lang="en-GB" dirty="0"/>
              <a:t>--;</a:t>
            </a:r>
          </a:p>
          <a:p>
            <a:endParaRPr lang="en-GB" dirty="0"/>
          </a:p>
          <a:p>
            <a:r>
              <a:rPr lang="en-GB" dirty="0"/>
              <a:t>Method is costly as we have to move all the elements of the array</a:t>
            </a:r>
          </a:p>
          <a:p>
            <a:r>
              <a:rPr lang="en-GB" dirty="0"/>
              <a:t>Do we need Front Index in this case?</a:t>
            </a:r>
          </a:p>
          <a:p>
            <a:pPr lvl="1"/>
            <a:r>
              <a:rPr lang="en-GB" dirty="0"/>
              <a:t>No, because we are always </a:t>
            </a:r>
            <a:r>
              <a:rPr lang="en-GB" dirty="0" err="1"/>
              <a:t>dequeue</a:t>
            </a:r>
            <a:r>
              <a:rPr lang="en-GB" dirty="0"/>
              <a:t>(</a:t>
            </a:r>
            <a:r>
              <a:rPr lang="en-GB" dirty="0" err="1"/>
              <a:t>ing</a:t>
            </a:r>
            <a:r>
              <a:rPr lang="en-GB" dirty="0"/>
              <a:t>) from the </a:t>
            </a:r>
            <a:r>
              <a:rPr lang="en-GB" dirty="0">
                <a:solidFill>
                  <a:schemeClr val="accent1">
                    <a:lumMod val="75000"/>
                  </a:schemeClr>
                </a:solidFill>
              </a:rPr>
              <a:t>first</a:t>
            </a:r>
            <a:r>
              <a:rPr lang="en-GB" dirty="0"/>
              <a:t> index</a:t>
            </a:r>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18</a:t>
            </a:fld>
            <a:endParaRPr lang="en-US" altLang="en-US"/>
          </a:p>
        </p:txBody>
      </p:sp>
    </p:spTree>
    <p:extLst>
      <p:ext uri="{BB962C8B-B14F-4D97-AF65-F5344CB8AC3E}">
        <p14:creationId xmlns:p14="http://schemas.microsoft.com/office/powerpoint/2010/main" val="26754461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Solution 2: </a:t>
            </a:r>
            <a:r>
              <a:rPr lang="de-DE" b="1" dirty="0"/>
              <a:t>Circular queue</a:t>
            </a:r>
            <a:endParaRPr lang="en-US" b="1" dirty="0"/>
          </a:p>
        </p:txBody>
      </p:sp>
      <p:sp>
        <p:nvSpPr>
          <p:cNvPr id="3" name="Content Placeholder 2"/>
          <p:cNvSpPr>
            <a:spLocks noGrp="1"/>
          </p:cNvSpPr>
          <p:nvPr>
            <p:ph idx="1"/>
          </p:nvPr>
        </p:nvSpPr>
        <p:spPr/>
        <p:txBody>
          <a:bodyPr/>
          <a:lstStyle/>
          <a:p>
            <a:r>
              <a:rPr lang="en-GB" dirty="0"/>
              <a:t>To avoid the costly operation of coping all the elements again we employ another method called </a:t>
            </a:r>
            <a:r>
              <a:rPr lang="en-GB" dirty="0">
                <a:solidFill>
                  <a:schemeClr val="accent1">
                    <a:lumMod val="75000"/>
                  </a:schemeClr>
                </a:solidFill>
              </a:rPr>
              <a:t>circular queue</a:t>
            </a:r>
          </a:p>
          <a:p>
            <a:endParaRPr lang="en-GB" b="1" dirty="0"/>
          </a:p>
          <a:p>
            <a:r>
              <a:rPr lang="en-GB" b="1" dirty="0"/>
              <a:t>Idea</a:t>
            </a:r>
            <a:r>
              <a:rPr lang="en-GB" dirty="0"/>
              <a:t>: To view array as a circular buffer, i.e. wrapping the end to the front</a:t>
            </a:r>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19</a:t>
            </a:fld>
            <a:endParaRPr lang="en-US" altLang="en-US" dirty="0"/>
          </a:p>
        </p:txBody>
      </p:sp>
      <p:graphicFrame>
        <p:nvGraphicFramePr>
          <p:cNvPr id="25" name="Table 24"/>
          <p:cNvGraphicFramePr>
            <a:graphicFrameLocks noGrp="1"/>
          </p:cNvGraphicFramePr>
          <p:nvPr>
            <p:extLst>
              <p:ext uri="{D42A27DB-BD31-4B8C-83A1-F6EECF244321}">
                <p14:modId xmlns:p14="http://schemas.microsoft.com/office/powerpoint/2010/main" val="916269411"/>
              </p:ext>
            </p:extLst>
          </p:nvPr>
        </p:nvGraphicFramePr>
        <p:xfrm>
          <a:off x="649391" y="4703165"/>
          <a:ext cx="4740870" cy="741680"/>
        </p:xfrm>
        <a:graphic>
          <a:graphicData uri="http://schemas.openxmlformats.org/drawingml/2006/table">
            <a:tbl>
              <a:tblPr firstRow="1" bandRow="1">
                <a:tableStyleId>{5C22544A-7EE6-4342-B048-85BDC9FD1C3A}</a:tableStyleId>
              </a:tblPr>
              <a:tblGrid>
                <a:gridCol w="790145">
                  <a:extLst>
                    <a:ext uri="{9D8B030D-6E8A-4147-A177-3AD203B41FA5}">
                      <a16:colId xmlns:a16="http://schemas.microsoft.com/office/drawing/2014/main" val="20000"/>
                    </a:ext>
                  </a:extLst>
                </a:gridCol>
                <a:gridCol w="790145">
                  <a:extLst>
                    <a:ext uri="{9D8B030D-6E8A-4147-A177-3AD203B41FA5}">
                      <a16:colId xmlns:a16="http://schemas.microsoft.com/office/drawing/2014/main" val="20001"/>
                    </a:ext>
                  </a:extLst>
                </a:gridCol>
                <a:gridCol w="790145">
                  <a:extLst>
                    <a:ext uri="{9D8B030D-6E8A-4147-A177-3AD203B41FA5}">
                      <a16:colId xmlns:a16="http://schemas.microsoft.com/office/drawing/2014/main" val="20002"/>
                    </a:ext>
                  </a:extLst>
                </a:gridCol>
                <a:gridCol w="790145">
                  <a:extLst>
                    <a:ext uri="{9D8B030D-6E8A-4147-A177-3AD203B41FA5}">
                      <a16:colId xmlns:a16="http://schemas.microsoft.com/office/drawing/2014/main" val="20003"/>
                    </a:ext>
                  </a:extLst>
                </a:gridCol>
                <a:gridCol w="790145">
                  <a:extLst>
                    <a:ext uri="{9D8B030D-6E8A-4147-A177-3AD203B41FA5}">
                      <a16:colId xmlns:a16="http://schemas.microsoft.com/office/drawing/2014/main" val="20004"/>
                    </a:ext>
                  </a:extLst>
                </a:gridCol>
                <a:gridCol w="790145">
                  <a:extLst>
                    <a:ext uri="{9D8B030D-6E8A-4147-A177-3AD203B41FA5}">
                      <a16:colId xmlns:a16="http://schemas.microsoft.com/office/drawing/2014/main" val="20005"/>
                    </a:ext>
                  </a:extLst>
                </a:gridCol>
              </a:tblGrid>
              <a:tr h="370840">
                <a:tc>
                  <a:txBody>
                    <a:bodyPr/>
                    <a:lstStyle/>
                    <a:p>
                      <a:pPr algn="ctr"/>
                      <a:r>
                        <a:rPr lang="en-US" dirty="0">
                          <a:solidFill>
                            <a:schemeClr val="tx1"/>
                          </a:solidFill>
                        </a:rPr>
                        <a:t>[0]</a:t>
                      </a:r>
                    </a:p>
                  </a:txBody>
                  <a:tcPr anchor="ct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a:t>
                      </a:r>
                    </a:p>
                  </a:txBody>
                  <a:tcPr anchor="ct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a:t>
                      </a:r>
                    </a:p>
                  </a:txBody>
                  <a:tcPr anchor="ct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[3]</a:t>
                      </a:r>
                    </a:p>
                  </a:txBody>
                  <a:tcPr anchor="ct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[4]</a:t>
                      </a:r>
                    </a:p>
                  </a:txBody>
                  <a:tcPr anchor="ct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[5]</a:t>
                      </a:r>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bl>
          </a:graphicData>
        </a:graphic>
      </p:graphicFrame>
      <p:grpSp>
        <p:nvGrpSpPr>
          <p:cNvPr id="33" name="Group 32"/>
          <p:cNvGrpSpPr/>
          <p:nvPr/>
        </p:nvGrpSpPr>
        <p:grpSpPr>
          <a:xfrm>
            <a:off x="6858000" y="3886200"/>
            <a:ext cx="3050730" cy="2749228"/>
            <a:chOff x="6858000" y="3886200"/>
            <a:chExt cx="3050730" cy="2749228"/>
          </a:xfrm>
        </p:grpSpPr>
        <p:graphicFrame>
          <p:nvGraphicFramePr>
            <p:cNvPr id="26" name="Diagram 25"/>
            <p:cNvGraphicFramePr/>
            <p:nvPr>
              <p:extLst>
                <p:ext uri="{D42A27DB-BD31-4B8C-83A1-F6EECF244321}">
                  <p14:modId xmlns:p14="http://schemas.microsoft.com/office/powerpoint/2010/main" val="4011333785"/>
                </p:ext>
              </p:extLst>
            </p:nvPr>
          </p:nvGraphicFramePr>
          <p:xfrm>
            <a:off x="6934200" y="4114800"/>
            <a:ext cx="2898330" cy="22415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7" name="Rectangle 26"/>
            <p:cNvSpPr/>
            <p:nvPr/>
          </p:nvSpPr>
          <p:spPr>
            <a:xfrm>
              <a:off x="7441939" y="3886200"/>
              <a:ext cx="533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8" name="Rectangle 27"/>
            <p:cNvSpPr/>
            <p:nvPr/>
          </p:nvSpPr>
          <p:spPr>
            <a:xfrm>
              <a:off x="8789055" y="3886200"/>
              <a:ext cx="533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9" name="Rectangle 28"/>
            <p:cNvSpPr/>
            <p:nvPr/>
          </p:nvSpPr>
          <p:spPr>
            <a:xfrm>
              <a:off x="9375330" y="5006975"/>
              <a:ext cx="533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0" name="Rectangle 29"/>
            <p:cNvSpPr/>
            <p:nvPr/>
          </p:nvSpPr>
          <p:spPr>
            <a:xfrm>
              <a:off x="8789055" y="6176963"/>
              <a:ext cx="533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1" name="Rectangle 30"/>
            <p:cNvSpPr/>
            <p:nvPr/>
          </p:nvSpPr>
          <p:spPr>
            <a:xfrm>
              <a:off x="7441939" y="6178228"/>
              <a:ext cx="533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2" name="Rectangle 31"/>
            <p:cNvSpPr/>
            <p:nvPr/>
          </p:nvSpPr>
          <p:spPr>
            <a:xfrm>
              <a:off x="6858000" y="5006975"/>
              <a:ext cx="533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spTree>
    <p:extLst>
      <p:ext uri="{BB962C8B-B14F-4D97-AF65-F5344CB8AC3E}">
        <p14:creationId xmlns:p14="http://schemas.microsoft.com/office/powerpoint/2010/main" val="1181124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left)">
                                      <p:cBhvr>
                                        <p:cTn id="1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Circular Queue Operations cont.</a:t>
            </a:r>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20</a:t>
            </a:fld>
            <a:endParaRPr lang="en-US" altLang="en-US"/>
          </a:p>
        </p:txBody>
      </p:sp>
      <p:grpSp>
        <p:nvGrpSpPr>
          <p:cNvPr id="5" name="Group 6"/>
          <p:cNvGrpSpPr>
            <a:grpSpLocks/>
          </p:cNvGrpSpPr>
          <p:nvPr/>
        </p:nvGrpSpPr>
        <p:grpSpPr bwMode="auto">
          <a:xfrm>
            <a:off x="7010400" y="2024411"/>
            <a:ext cx="4343400" cy="2279652"/>
            <a:chOff x="4648200" y="1682748"/>
            <a:chExt cx="4343400" cy="2279652"/>
          </a:xfrm>
        </p:grpSpPr>
        <p:grpSp>
          <p:nvGrpSpPr>
            <p:cNvPr id="6" name="Group 49"/>
            <p:cNvGrpSpPr>
              <a:grpSpLocks/>
            </p:cNvGrpSpPr>
            <p:nvPr/>
          </p:nvGrpSpPr>
          <p:grpSpPr bwMode="auto">
            <a:xfrm>
              <a:off x="4724400" y="3290888"/>
              <a:ext cx="990600" cy="671512"/>
              <a:chOff x="3264" y="3897"/>
              <a:chExt cx="624" cy="423"/>
            </a:xfrm>
          </p:grpSpPr>
          <p:sp>
            <p:nvSpPr>
              <p:cNvPr id="24" name="AutoShape 50"/>
              <p:cNvSpPr>
                <a:spLocks noChangeArrowheads="1"/>
              </p:cNvSpPr>
              <p:nvPr/>
            </p:nvSpPr>
            <p:spPr bwMode="auto">
              <a:xfrm flipV="1">
                <a:off x="3504" y="3897"/>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25" name="Text Box 51"/>
              <p:cNvSpPr txBox="1">
                <a:spLocks noChangeArrowheads="1"/>
              </p:cNvSpPr>
              <p:nvPr/>
            </p:nvSpPr>
            <p:spPr bwMode="auto">
              <a:xfrm>
                <a:off x="3264" y="4089"/>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a:solidFill>
                      <a:schemeClr val="hlink"/>
                    </a:solidFill>
                    <a:latin typeface="Courier New" panose="02070309020205020404" pitchFamily="49" charset="0"/>
                  </a:rPr>
                  <a:t>rear</a:t>
                </a:r>
                <a:endParaRPr lang="en-US" altLang="en-US">
                  <a:solidFill>
                    <a:schemeClr val="hlink"/>
                  </a:solidFill>
                  <a:latin typeface="Comic Sans MS" panose="030F0702030302020204" pitchFamily="66" charset="0"/>
                </a:endParaRPr>
              </a:p>
            </p:txBody>
          </p:sp>
        </p:grpSp>
        <p:grpSp>
          <p:nvGrpSpPr>
            <p:cNvPr id="7" name="Group 1"/>
            <p:cNvGrpSpPr>
              <a:grpSpLocks/>
            </p:cNvGrpSpPr>
            <p:nvPr/>
          </p:nvGrpSpPr>
          <p:grpSpPr bwMode="auto">
            <a:xfrm>
              <a:off x="4648200" y="1682748"/>
              <a:ext cx="4343400" cy="2070102"/>
              <a:chOff x="4648200" y="1682748"/>
              <a:chExt cx="4343400" cy="2070102"/>
            </a:xfrm>
          </p:grpSpPr>
          <p:sp>
            <p:nvSpPr>
              <p:cNvPr id="8" name="Rectangle 34"/>
              <p:cNvSpPr>
                <a:spLocks noChangeArrowheads="1"/>
              </p:cNvSpPr>
              <p:nvPr/>
            </p:nvSpPr>
            <p:spPr bwMode="auto">
              <a:xfrm>
                <a:off x="6934200" y="24384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q[3]</a:t>
                </a:r>
              </a:p>
            </p:txBody>
          </p:sp>
          <p:sp>
            <p:nvSpPr>
              <p:cNvPr id="9" name="Rectangle 35" descr="Outlined diamond"/>
              <p:cNvSpPr>
                <a:spLocks noChangeArrowheads="1"/>
              </p:cNvSpPr>
              <p:nvPr/>
            </p:nvSpPr>
            <p:spPr bwMode="auto">
              <a:xfrm>
                <a:off x="6934200" y="28194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10" name="Rectangle 36"/>
              <p:cNvSpPr>
                <a:spLocks noChangeArrowheads="1"/>
              </p:cNvSpPr>
              <p:nvPr/>
            </p:nvSpPr>
            <p:spPr bwMode="auto">
              <a:xfrm>
                <a:off x="7620000" y="24384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q[4]</a:t>
                </a:r>
              </a:p>
            </p:txBody>
          </p:sp>
          <p:sp>
            <p:nvSpPr>
              <p:cNvPr id="11" name="Rectangle 37" descr="Outlined diamond"/>
              <p:cNvSpPr>
                <a:spLocks noChangeArrowheads="1"/>
              </p:cNvSpPr>
              <p:nvPr/>
            </p:nvSpPr>
            <p:spPr bwMode="auto">
              <a:xfrm>
                <a:off x="7620000" y="28194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12" name="Rectangle 38"/>
              <p:cNvSpPr>
                <a:spLocks noChangeArrowheads="1"/>
              </p:cNvSpPr>
              <p:nvPr/>
            </p:nvSpPr>
            <p:spPr bwMode="auto">
              <a:xfrm>
                <a:off x="8305800" y="24384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q[5]</a:t>
                </a:r>
              </a:p>
            </p:txBody>
          </p:sp>
          <p:sp>
            <p:nvSpPr>
              <p:cNvPr id="13" name="Rectangle 39" descr="Outlined diamond"/>
              <p:cNvSpPr>
                <a:spLocks noChangeArrowheads="1"/>
              </p:cNvSpPr>
              <p:nvPr/>
            </p:nvSpPr>
            <p:spPr bwMode="auto">
              <a:xfrm>
                <a:off x="8305800" y="28194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14" name="Rectangle 40"/>
              <p:cNvSpPr>
                <a:spLocks noChangeArrowheads="1"/>
              </p:cNvSpPr>
              <p:nvPr/>
            </p:nvSpPr>
            <p:spPr bwMode="auto">
              <a:xfrm>
                <a:off x="4876800" y="24384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q[0]</a:t>
                </a:r>
              </a:p>
            </p:txBody>
          </p:sp>
          <p:sp>
            <p:nvSpPr>
              <p:cNvPr id="15" name="Rectangle 41"/>
              <p:cNvSpPr>
                <a:spLocks noChangeArrowheads="1"/>
              </p:cNvSpPr>
              <p:nvPr/>
            </p:nvSpPr>
            <p:spPr bwMode="auto">
              <a:xfrm>
                <a:off x="4876800" y="28194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a:t>
                </a:r>
              </a:p>
            </p:txBody>
          </p:sp>
          <p:sp>
            <p:nvSpPr>
              <p:cNvPr id="16" name="Rectangle 42"/>
              <p:cNvSpPr>
                <a:spLocks noChangeArrowheads="1"/>
              </p:cNvSpPr>
              <p:nvPr/>
            </p:nvSpPr>
            <p:spPr bwMode="auto">
              <a:xfrm>
                <a:off x="5562600" y="24384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q[1]</a:t>
                </a:r>
              </a:p>
            </p:txBody>
          </p:sp>
          <p:sp>
            <p:nvSpPr>
              <p:cNvPr id="17" name="Rectangle 43"/>
              <p:cNvSpPr>
                <a:spLocks noChangeArrowheads="1"/>
              </p:cNvSpPr>
              <p:nvPr/>
            </p:nvSpPr>
            <p:spPr bwMode="auto">
              <a:xfrm>
                <a:off x="6248400" y="24384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q[2]</a:t>
                </a:r>
              </a:p>
            </p:txBody>
          </p:sp>
          <p:sp>
            <p:nvSpPr>
              <p:cNvPr id="18" name="Rectangle 44" descr="Outlined diamond"/>
              <p:cNvSpPr>
                <a:spLocks noChangeArrowheads="1"/>
              </p:cNvSpPr>
              <p:nvPr/>
            </p:nvSpPr>
            <p:spPr bwMode="auto">
              <a:xfrm>
                <a:off x="5562600" y="28194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19" name="Rectangle 45" descr="Outlined diamond"/>
              <p:cNvSpPr>
                <a:spLocks noChangeArrowheads="1"/>
              </p:cNvSpPr>
              <p:nvPr/>
            </p:nvSpPr>
            <p:spPr bwMode="auto">
              <a:xfrm>
                <a:off x="6248400" y="28194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grpSp>
            <p:nvGrpSpPr>
              <p:cNvPr id="20" name="Group 46"/>
              <p:cNvGrpSpPr>
                <a:grpSpLocks/>
              </p:cNvGrpSpPr>
              <p:nvPr/>
            </p:nvGrpSpPr>
            <p:grpSpPr bwMode="auto">
              <a:xfrm>
                <a:off x="4648200" y="1682748"/>
                <a:ext cx="990600" cy="679449"/>
                <a:chOff x="3024" y="1963"/>
                <a:chExt cx="624" cy="428"/>
              </a:xfrm>
            </p:grpSpPr>
            <p:sp>
              <p:nvSpPr>
                <p:cNvPr id="22" name="AutoShape 47"/>
                <p:cNvSpPr>
                  <a:spLocks noChangeArrowheads="1"/>
                </p:cNvSpPr>
                <p:nvPr/>
              </p:nvSpPr>
              <p:spPr bwMode="auto">
                <a:xfrm>
                  <a:off x="3312" y="2199"/>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23" name="Text Box 48"/>
                <p:cNvSpPr txBox="1">
                  <a:spLocks noChangeArrowheads="1"/>
                </p:cNvSpPr>
                <p:nvPr/>
              </p:nvSpPr>
              <p:spPr bwMode="auto">
                <a:xfrm>
                  <a:off x="3024" y="1963"/>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dirty="0">
                      <a:solidFill>
                        <a:schemeClr val="hlink"/>
                      </a:solidFill>
                      <a:latin typeface="Courier New" panose="02070309020205020404" pitchFamily="49" charset="0"/>
                    </a:rPr>
                    <a:t>front</a:t>
                  </a:r>
                  <a:endParaRPr lang="en-US" altLang="en-US" dirty="0">
                    <a:solidFill>
                      <a:schemeClr val="hlink"/>
                    </a:solidFill>
                    <a:latin typeface="Comic Sans MS" panose="030F0702030302020204" pitchFamily="66" charset="0"/>
                  </a:endParaRPr>
                </a:p>
              </p:txBody>
            </p:sp>
          </p:grpSp>
          <p:sp>
            <p:nvSpPr>
              <p:cNvPr id="21" name="TextBox 77"/>
              <p:cNvSpPr txBox="1">
                <a:spLocks noChangeArrowheads="1"/>
              </p:cNvSpPr>
              <p:nvPr/>
            </p:nvSpPr>
            <p:spPr bwMode="auto">
              <a:xfrm>
                <a:off x="5791200" y="3290888"/>
                <a:ext cx="2667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(2) Enqueue(A)</a:t>
                </a:r>
                <a:endParaRPr lang="en-US" altLang="en-US" dirty="0"/>
              </a:p>
            </p:txBody>
          </p:sp>
        </p:grpSp>
      </p:grpSp>
      <p:grpSp>
        <p:nvGrpSpPr>
          <p:cNvPr id="26" name="Group 4"/>
          <p:cNvGrpSpPr>
            <a:grpSpLocks/>
          </p:cNvGrpSpPr>
          <p:nvPr/>
        </p:nvGrpSpPr>
        <p:grpSpPr bwMode="auto">
          <a:xfrm>
            <a:off x="647700" y="4521201"/>
            <a:ext cx="4381500" cy="2239964"/>
            <a:chOff x="190500" y="3841749"/>
            <a:chExt cx="4381500" cy="2239964"/>
          </a:xfrm>
        </p:grpSpPr>
        <p:sp>
          <p:nvSpPr>
            <p:cNvPr id="27" name="Rectangle 52"/>
            <p:cNvSpPr>
              <a:spLocks noChangeArrowheads="1"/>
            </p:cNvSpPr>
            <p:nvPr/>
          </p:nvSpPr>
          <p:spPr bwMode="auto">
            <a:xfrm>
              <a:off x="2514600" y="4572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q[3]</a:t>
              </a:r>
            </a:p>
          </p:txBody>
        </p:sp>
        <p:sp>
          <p:nvSpPr>
            <p:cNvPr id="28" name="Rectangle 53" descr="Outlined diamond"/>
            <p:cNvSpPr>
              <a:spLocks noChangeArrowheads="1"/>
            </p:cNvSpPr>
            <p:nvPr/>
          </p:nvSpPr>
          <p:spPr bwMode="auto">
            <a:xfrm>
              <a:off x="2514600" y="49530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29" name="Rectangle 54"/>
            <p:cNvSpPr>
              <a:spLocks noChangeArrowheads="1"/>
            </p:cNvSpPr>
            <p:nvPr/>
          </p:nvSpPr>
          <p:spPr bwMode="auto">
            <a:xfrm>
              <a:off x="3200400" y="4572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q[4]</a:t>
              </a:r>
            </a:p>
          </p:txBody>
        </p:sp>
        <p:sp>
          <p:nvSpPr>
            <p:cNvPr id="30" name="Rectangle 55" descr="Outlined diamond"/>
            <p:cNvSpPr>
              <a:spLocks noChangeArrowheads="1"/>
            </p:cNvSpPr>
            <p:nvPr/>
          </p:nvSpPr>
          <p:spPr bwMode="auto">
            <a:xfrm>
              <a:off x="3200400" y="49530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31" name="Rectangle 56"/>
            <p:cNvSpPr>
              <a:spLocks noChangeArrowheads="1"/>
            </p:cNvSpPr>
            <p:nvPr/>
          </p:nvSpPr>
          <p:spPr bwMode="auto">
            <a:xfrm>
              <a:off x="3886200" y="4572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q[5]</a:t>
              </a:r>
            </a:p>
          </p:txBody>
        </p:sp>
        <p:sp>
          <p:nvSpPr>
            <p:cNvPr id="32" name="Rectangle 57" descr="Outlined diamond"/>
            <p:cNvSpPr>
              <a:spLocks noChangeArrowheads="1"/>
            </p:cNvSpPr>
            <p:nvPr/>
          </p:nvSpPr>
          <p:spPr bwMode="auto">
            <a:xfrm>
              <a:off x="3886200" y="49530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33" name="Rectangle 58"/>
            <p:cNvSpPr>
              <a:spLocks noChangeArrowheads="1"/>
            </p:cNvSpPr>
            <p:nvPr/>
          </p:nvSpPr>
          <p:spPr bwMode="auto">
            <a:xfrm>
              <a:off x="457200" y="4572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q[0]</a:t>
              </a:r>
            </a:p>
          </p:txBody>
        </p:sp>
        <p:sp>
          <p:nvSpPr>
            <p:cNvPr id="34" name="Rectangle 59"/>
            <p:cNvSpPr>
              <a:spLocks noChangeArrowheads="1"/>
            </p:cNvSpPr>
            <p:nvPr/>
          </p:nvSpPr>
          <p:spPr bwMode="auto">
            <a:xfrm>
              <a:off x="457200" y="4953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a:t>
              </a:r>
            </a:p>
          </p:txBody>
        </p:sp>
        <p:sp>
          <p:nvSpPr>
            <p:cNvPr id="35" name="Rectangle 60"/>
            <p:cNvSpPr>
              <a:spLocks noChangeArrowheads="1"/>
            </p:cNvSpPr>
            <p:nvPr/>
          </p:nvSpPr>
          <p:spPr bwMode="auto">
            <a:xfrm>
              <a:off x="1143000" y="4572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q[1]</a:t>
              </a:r>
            </a:p>
          </p:txBody>
        </p:sp>
        <p:sp>
          <p:nvSpPr>
            <p:cNvPr id="36" name="Rectangle 61"/>
            <p:cNvSpPr>
              <a:spLocks noChangeArrowheads="1"/>
            </p:cNvSpPr>
            <p:nvPr/>
          </p:nvSpPr>
          <p:spPr bwMode="auto">
            <a:xfrm>
              <a:off x="1828800" y="4572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q[2]</a:t>
              </a:r>
            </a:p>
          </p:txBody>
        </p:sp>
        <p:sp>
          <p:nvSpPr>
            <p:cNvPr id="37" name="Rectangle 62"/>
            <p:cNvSpPr>
              <a:spLocks noChangeArrowheads="1"/>
            </p:cNvSpPr>
            <p:nvPr/>
          </p:nvSpPr>
          <p:spPr bwMode="auto">
            <a:xfrm>
              <a:off x="1143000" y="4953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D</a:t>
              </a:r>
            </a:p>
          </p:txBody>
        </p:sp>
        <p:sp>
          <p:nvSpPr>
            <p:cNvPr id="38" name="Rectangle 63" descr="Outlined diamond"/>
            <p:cNvSpPr>
              <a:spLocks noChangeArrowheads="1"/>
            </p:cNvSpPr>
            <p:nvPr/>
          </p:nvSpPr>
          <p:spPr bwMode="auto">
            <a:xfrm>
              <a:off x="1828800" y="49530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grpSp>
          <p:nvGrpSpPr>
            <p:cNvPr id="39" name="Group 64"/>
            <p:cNvGrpSpPr>
              <a:grpSpLocks/>
            </p:cNvGrpSpPr>
            <p:nvPr/>
          </p:nvGrpSpPr>
          <p:grpSpPr bwMode="auto">
            <a:xfrm>
              <a:off x="190500" y="3841749"/>
              <a:ext cx="990600" cy="677863"/>
              <a:chOff x="3000" y="1748"/>
              <a:chExt cx="624" cy="427"/>
            </a:xfrm>
          </p:grpSpPr>
          <p:sp>
            <p:nvSpPr>
              <p:cNvPr id="44" name="AutoShape 65"/>
              <p:cNvSpPr>
                <a:spLocks noChangeArrowheads="1"/>
              </p:cNvSpPr>
              <p:nvPr/>
            </p:nvSpPr>
            <p:spPr bwMode="auto">
              <a:xfrm>
                <a:off x="3312" y="1983"/>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45" name="Text Box 66"/>
              <p:cNvSpPr txBox="1">
                <a:spLocks noChangeArrowheads="1"/>
              </p:cNvSpPr>
              <p:nvPr/>
            </p:nvSpPr>
            <p:spPr bwMode="auto">
              <a:xfrm>
                <a:off x="3000" y="1748"/>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dirty="0">
                    <a:solidFill>
                      <a:schemeClr val="hlink"/>
                    </a:solidFill>
                    <a:latin typeface="Courier New" panose="02070309020205020404" pitchFamily="49" charset="0"/>
                  </a:rPr>
                  <a:t>front</a:t>
                </a:r>
                <a:endParaRPr lang="en-US" altLang="en-US" dirty="0">
                  <a:solidFill>
                    <a:schemeClr val="hlink"/>
                  </a:solidFill>
                  <a:latin typeface="Comic Sans MS" panose="030F0702030302020204" pitchFamily="66" charset="0"/>
                </a:endParaRPr>
              </a:p>
            </p:txBody>
          </p:sp>
        </p:grpSp>
        <p:grpSp>
          <p:nvGrpSpPr>
            <p:cNvPr id="40" name="Group 67"/>
            <p:cNvGrpSpPr>
              <a:grpSpLocks/>
            </p:cNvGrpSpPr>
            <p:nvPr/>
          </p:nvGrpSpPr>
          <p:grpSpPr bwMode="auto">
            <a:xfrm>
              <a:off x="990600" y="5410200"/>
              <a:ext cx="990600" cy="671513"/>
              <a:chOff x="3264" y="3897"/>
              <a:chExt cx="624" cy="423"/>
            </a:xfrm>
          </p:grpSpPr>
          <p:sp>
            <p:nvSpPr>
              <p:cNvPr id="42" name="AutoShape 68"/>
              <p:cNvSpPr>
                <a:spLocks noChangeArrowheads="1"/>
              </p:cNvSpPr>
              <p:nvPr/>
            </p:nvSpPr>
            <p:spPr bwMode="auto">
              <a:xfrm flipV="1">
                <a:off x="3504" y="3897"/>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43" name="Text Box 69"/>
              <p:cNvSpPr txBox="1">
                <a:spLocks noChangeArrowheads="1"/>
              </p:cNvSpPr>
              <p:nvPr/>
            </p:nvSpPr>
            <p:spPr bwMode="auto">
              <a:xfrm>
                <a:off x="3264" y="4089"/>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a:solidFill>
                      <a:schemeClr val="hlink"/>
                    </a:solidFill>
                    <a:latin typeface="Courier New" panose="02070309020205020404" pitchFamily="49" charset="0"/>
                  </a:rPr>
                  <a:t>rear</a:t>
                </a:r>
                <a:endParaRPr lang="en-US" altLang="en-US">
                  <a:solidFill>
                    <a:schemeClr val="hlink"/>
                  </a:solidFill>
                  <a:latin typeface="Comic Sans MS" panose="030F0702030302020204" pitchFamily="66" charset="0"/>
                </a:endParaRPr>
              </a:p>
            </p:txBody>
          </p:sp>
        </p:grpSp>
        <p:sp>
          <p:nvSpPr>
            <p:cNvPr id="41" name="TextBox 79"/>
            <p:cNvSpPr txBox="1">
              <a:spLocks noChangeArrowheads="1"/>
            </p:cNvSpPr>
            <p:nvPr/>
          </p:nvSpPr>
          <p:spPr bwMode="auto">
            <a:xfrm>
              <a:off x="1828800" y="5410200"/>
              <a:ext cx="2667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(3) Enqueue (D)</a:t>
              </a:r>
              <a:endParaRPr lang="en-US" altLang="en-US" dirty="0"/>
            </a:p>
          </p:txBody>
        </p:sp>
      </p:grpSp>
      <p:grpSp>
        <p:nvGrpSpPr>
          <p:cNvPr id="46" name="Group 5"/>
          <p:cNvGrpSpPr>
            <a:grpSpLocks/>
          </p:cNvGrpSpPr>
          <p:nvPr/>
        </p:nvGrpSpPr>
        <p:grpSpPr bwMode="auto">
          <a:xfrm>
            <a:off x="5943600" y="4434059"/>
            <a:ext cx="5257800" cy="2257428"/>
            <a:chOff x="4457700" y="3824285"/>
            <a:chExt cx="5257800" cy="2257428"/>
          </a:xfrm>
        </p:grpSpPr>
        <p:sp>
          <p:nvSpPr>
            <p:cNvPr id="47" name="Rectangle 70"/>
            <p:cNvSpPr>
              <a:spLocks noChangeArrowheads="1"/>
            </p:cNvSpPr>
            <p:nvPr/>
          </p:nvSpPr>
          <p:spPr bwMode="auto">
            <a:xfrm>
              <a:off x="6858000" y="4572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q[3]</a:t>
              </a:r>
            </a:p>
          </p:txBody>
        </p:sp>
        <p:sp>
          <p:nvSpPr>
            <p:cNvPr id="48" name="Rectangle 71" descr="Outlined diamond"/>
            <p:cNvSpPr>
              <a:spLocks noChangeArrowheads="1"/>
            </p:cNvSpPr>
            <p:nvPr/>
          </p:nvSpPr>
          <p:spPr bwMode="auto">
            <a:xfrm>
              <a:off x="6858000" y="49530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49" name="Rectangle 72"/>
            <p:cNvSpPr>
              <a:spLocks noChangeArrowheads="1"/>
            </p:cNvSpPr>
            <p:nvPr/>
          </p:nvSpPr>
          <p:spPr bwMode="auto">
            <a:xfrm>
              <a:off x="7543800" y="4572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q[4]</a:t>
              </a:r>
            </a:p>
          </p:txBody>
        </p:sp>
        <p:sp>
          <p:nvSpPr>
            <p:cNvPr id="50" name="Rectangle 73" descr="Outlined diamond"/>
            <p:cNvSpPr>
              <a:spLocks noChangeArrowheads="1"/>
            </p:cNvSpPr>
            <p:nvPr/>
          </p:nvSpPr>
          <p:spPr bwMode="auto">
            <a:xfrm>
              <a:off x="7543800" y="49530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51" name="Rectangle 74"/>
            <p:cNvSpPr>
              <a:spLocks noChangeArrowheads="1"/>
            </p:cNvSpPr>
            <p:nvPr/>
          </p:nvSpPr>
          <p:spPr bwMode="auto">
            <a:xfrm>
              <a:off x="8229600" y="4572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q[5]</a:t>
              </a:r>
            </a:p>
          </p:txBody>
        </p:sp>
        <p:sp>
          <p:nvSpPr>
            <p:cNvPr id="52" name="Rectangle 75" descr="Outlined diamond"/>
            <p:cNvSpPr>
              <a:spLocks noChangeArrowheads="1"/>
            </p:cNvSpPr>
            <p:nvPr/>
          </p:nvSpPr>
          <p:spPr bwMode="auto">
            <a:xfrm>
              <a:off x="8229600" y="49530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53" name="Rectangle 76"/>
            <p:cNvSpPr>
              <a:spLocks noChangeArrowheads="1"/>
            </p:cNvSpPr>
            <p:nvPr/>
          </p:nvSpPr>
          <p:spPr bwMode="auto">
            <a:xfrm>
              <a:off x="4800600" y="4572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q[0]</a:t>
              </a:r>
            </a:p>
          </p:txBody>
        </p:sp>
        <p:sp>
          <p:nvSpPr>
            <p:cNvPr id="54" name="Rectangle 77"/>
            <p:cNvSpPr>
              <a:spLocks noChangeArrowheads="1"/>
            </p:cNvSpPr>
            <p:nvPr/>
          </p:nvSpPr>
          <p:spPr bwMode="auto">
            <a:xfrm>
              <a:off x="4800600" y="4953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a:t>
              </a:r>
            </a:p>
          </p:txBody>
        </p:sp>
        <p:sp>
          <p:nvSpPr>
            <p:cNvPr id="55" name="Rectangle 78"/>
            <p:cNvSpPr>
              <a:spLocks noChangeArrowheads="1"/>
            </p:cNvSpPr>
            <p:nvPr/>
          </p:nvSpPr>
          <p:spPr bwMode="auto">
            <a:xfrm>
              <a:off x="5486400" y="4572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q[1]</a:t>
              </a:r>
            </a:p>
          </p:txBody>
        </p:sp>
        <p:sp>
          <p:nvSpPr>
            <p:cNvPr id="56" name="Rectangle 79"/>
            <p:cNvSpPr>
              <a:spLocks noChangeArrowheads="1"/>
            </p:cNvSpPr>
            <p:nvPr/>
          </p:nvSpPr>
          <p:spPr bwMode="auto">
            <a:xfrm>
              <a:off x="6172200" y="4572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q[2]</a:t>
              </a:r>
            </a:p>
          </p:txBody>
        </p:sp>
        <p:sp>
          <p:nvSpPr>
            <p:cNvPr id="57" name="Rectangle 80"/>
            <p:cNvSpPr>
              <a:spLocks noChangeArrowheads="1"/>
            </p:cNvSpPr>
            <p:nvPr/>
          </p:nvSpPr>
          <p:spPr bwMode="auto">
            <a:xfrm>
              <a:off x="5486400" y="4953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D</a:t>
              </a:r>
            </a:p>
          </p:txBody>
        </p:sp>
        <p:sp>
          <p:nvSpPr>
            <p:cNvPr id="58" name="Rectangle 81"/>
            <p:cNvSpPr>
              <a:spLocks noChangeArrowheads="1"/>
            </p:cNvSpPr>
            <p:nvPr/>
          </p:nvSpPr>
          <p:spPr bwMode="auto">
            <a:xfrm>
              <a:off x="6172200" y="4953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T</a:t>
              </a:r>
            </a:p>
          </p:txBody>
        </p:sp>
        <p:grpSp>
          <p:nvGrpSpPr>
            <p:cNvPr id="59" name="Group 82"/>
            <p:cNvGrpSpPr>
              <a:grpSpLocks/>
            </p:cNvGrpSpPr>
            <p:nvPr/>
          </p:nvGrpSpPr>
          <p:grpSpPr bwMode="auto">
            <a:xfrm>
              <a:off x="4457700" y="3824285"/>
              <a:ext cx="990600" cy="657225"/>
              <a:chOff x="2952" y="1929"/>
              <a:chExt cx="624" cy="414"/>
            </a:xfrm>
          </p:grpSpPr>
          <p:sp>
            <p:nvSpPr>
              <p:cNvPr id="64" name="AutoShape 83"/>
              <p:cNvSpPr>
                <a:spLocks noChangeArrowheads="1"/>
              </p:cNvSpPr>
              <p:nvPr/>
            </p:nvSpPr>
            <p:spPr bwMode="auto">
              <a:xfrm>
                <a:off x="3288" y="2151"/>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dirty="0">
                  <a:latin typeface="Georgia" panose="02040502050405020303" pitchFamily="18" charset="0"/>
                </a:endParaRPr>
              </a:p>
            </p:txBody>
          </p:sp>
          <p:sp>
            <p:nvSpPr>
              <p:cNvPr id="65" name="Text Box 84"/>
              <p:cNvSpPr txBox="1">
                <a:spLocks noChangeArrowheads="1"/>
              </p:cNvSpPr>
              <p:nvPr/>
            </p:nvSpPr>
            <p:spPr bwMode="auto">
              <a:xfrm>
                <a:off x="2952" y="1929"/>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dirty="0">
                    <a:solidFill>
                      <a:schemeClr val="hlink"/>
                    </a:solidFill>
                    <a:latin typeface="Courier New" panose="02070309020205020404" pitchFamily="49" charset="0"/>
                  </a:rPr>
                  <a:t>front</a:t>
                </a:r>
                <a:endParaRPr lang="en-US" altLang="en-US" dirty="0">
                  <a:solidFill>
                    <a:schemeClr val="hlink"/>
                  </a:solidFill>
                  <a:latin typeface="Comic Sans MS" panose="030F0702030302020204" pitchFamily="66" charset="0"/>
                </a:endParaRPr>
              </a:p>
            </p:txBody>
          </p:sp>
        </p:grpSp>
        <p:grpSp>
          <p:nvGrpSpPr>
            <p:cNvPr id="60" name="Group 85"/>
            <p:cNvGrpSpPr>
              <a:grpSpLocks/>
            </p:cNvGrpSpPr>
            <p:nvPr/>
          </p:nvGrpSpPr>
          <p:grpSpPr bwMode="auto">
            <a:xfrm>
              <a:off x="6096000" y="5410200"/>
              <a:ext cx="990600" cy="671513"/>
              <a:chOff x="3264" y="3897"/>
              <a:chExt cx="624" cy="423"/>
            </a:xfrm>
          </p:grpSpPr>
          <p:sp>
            <p:nvSpPr>
              <p:cNvPr id="62" name="AutoShape 86"/>
              <p:cNvSpPr>
                <a:spLocks noChangeArrowheads="1"/>
              </p:cNvSpPr>
              <p:nvPr/>
            </p:nvSpPr>
            <p:spPr bwMode="auto">
              <a:xfrm flipV="1">
                <a:off x="3504" y="3897"/>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63" name="Text Box 87"/>
              <p:cNvSpPr txBox="1">
                <a:spLocks noChangeArrowheads="1"/>
              </p:cNvSpPr>
              <p:nvPr/>
            </p:nvSpPr>
            <p:spPr bwMode="auto">
              <a:xfrm>
                <a:off x="3264" y="4089"/>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a:solidFill>
                      <a:schemeClr val="hlink"/>
                    </a:solidFill>
                    <a:latin typeface="Courier New" panose="02070309020205020404" pitchFamily="49" charset="0"/>
                  </a:rPr>
                  <a:t>rear</a:t>
                </a:r>
                <a:endParaRPr lang="en-US" altLang="en-US">
                  <a:solidFill>
                    <a:schemeClr val="hlink"/>
                  </a:solidFill>
                  <a:latin typeface="Comic Sans MS" panose="030F0702030302020204" pitchFamily="66" charset="0"/>
                </a:endParaRPr>
              </a:p>
            </p:txBody>
          </p:sp>
        </p:grpSp>
        <p:sp>
          <p:nvSpPr>
            <p:cNvPr id="61" name="TextBox 80"/>
            <p:cNvSpPr txBox="1">
              <a:spLocks noChangeArrowheads="1"/>
            </p:cNvSpPr>
            <p:nvPr/>
          </p:nvSpPr>
          <p:spPr bwMode="auto">
            <a:xfrm>
              <a:off x="7048500" y="5436393"/>
              <a:ext cx="2667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(4) Enqueue (T)</a:t>
              </a:r>
              <a:endParaRPr lang="en-US" altLang="en-US" dirty="0"/>
            </a:p>
          </p:txBody>
        </p:sp>
      </p:grpSp>
      <p:grpSp>
        <p:nvGrpSpPr>
          <p:cNvPr id="66" name="Group 3"/>
          <p:cNvGrpSpPr>
            <a:grpSpLocks/>
          </p:cNvGrpSpPr>
          <p:nvPr/>
        </p:nvGrpSpPr>
        <p:grpSpPr bwMode="auto">
          <a:xfrm>
            <a:off x="590550" y="1784475"/>
            <a:ext cx="4591050" cy="2763717"/>
            <a:chOff x="133350" y="1105022"/>
            <a:chExt cx="4591050" cy="2763717"/>
          </a:xfrm>
        </p:grpSpPr>
        <p:sp>
          <p:nvSpPr>
            <p:cNvPr id="67" name="Rectangle 16"/>
            <p:cNvSpPr>
              <a:spLocks noChangeArrowheads="1"/>
            </p:cNvSpPr>
            <p:nvPr/>
          </p:nvSpPr>
          <p:spPr bwMode="auto">
            <a:xfrm>
              <a:off x="2590800" y="2376488"/>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q[3]</a:t>
              </a:r>
            </a:p>
          </p:txBody>
        </p:sp>
        <p:sp>
          <p:nvSpPr>
            <p:cNvPr id="68" name="Rectangle 17" descr="Outlined diamond"/>
            <p:cNvSpPr>
              <a:spLocks noChangeArrowheads="1"/>
            </p:cNvSpPr>
            <p:nvPr/>
          </p:nvSpPr>
          <p:spPr bwMode="auto">
            <a:xfrm>
              <a:off x="2590800" y="2757488"/>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69" name="Rectangle 18"/>
            <p:cNvSpPr>
              <a:spLocks noChangeArrowheads="1"/>
            </p:cNvSpPr>
            <p:nvPr/>
          </p:nvSpPr>
          <p:spPr bwMode="auto">
            <a:xfrm>
              <a:off x="3276600" y="2376488"/>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q[4]</a:t>
              </a:r>
            </a:p>
          </p:txBody>
        </p:sp>
        <p:sp>
          <p:nvSpPr>
            <p:cNvPr id="70" name="Rectangle 19" descr="Outlined diamond"/>
            <p:cNvSpPr>
              <a:spLocks noChangeArrowheads="1"/>
            </p:cNvSpPr>
            <p:nvPr/>
          </p:nvSpPr>
          <p:spPr bwMode="auto">
            <a:xfrm>
              <a:off x="3276600" y="2757488"/>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71" name="Rectangle 20"/>
            <p:cNvSpPr>
              <a:spLocks noChangeArrowheads="1"/>
            </p:cNvSpPr>
            <p:nvPr/>
          </p:nvSpPr>
          <p:spPr bwMode="auto">
            <a:xfrm>
              <a:off x="3962400" y="2376488"/>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q[5]</a:t>
              </a:r>
            </a:p>
          </p:txBody>
        </p:sp>
        <p:sp>
          <p:nvSpPr>
            <p:cNvPr id="72" name="Rectangle 21" descr="Outlined diamond"/>
            <p:cNvSpPr>
              <a:spLocks noChangeArrowheads="1"/>
            </p:cNvSpPr>
            <p:nvPr/>
          </p:nvSpPr>
          <p:spPr bwMode="auto">
            <a:xfrm>
              <a:off x="3962400" y="2757488"/>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73" name="Rectangle 22"/>
            <p:cNvSpPr>
              <a:spLocks noChangeArrowheads="1"/>
            </p:cNvSpPr>
            <p:nvPr/>
          </p:nvSpPr>
          <p:spPr bwMode="auto">
            <a:xfrm>
              <a:off x="533400" y="2376488"/>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q[0]</a:t>
              </a:r>
            </a:p>
          </p:txBody>
        </p:sp>
        <p:sp>
          <p:nvSpPr>
            <p:cNvPr id="74" name="Rectangle 23" descr="Outlined diamond"/>
            <p:cNvSpPr>
              <a:spLocks noChangeArrowheads="1"/>
            </p:cNvSpPr>
            <p:nvPr/>
          </p:nvSpPr>
          <p:spPr bwMode="auto">
            <a:xfrm>
              <a:off x="533400" y="2757488"/>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75" name="Rectangle 24"/>
            <p:cNvSpPr>
              <a:spLocks noChangeArrowheads="1"/>
            </p:cNvSpPr>
            <p:nvPr/>
          </p:nvSpPr>
          <p:spPr bwMode="auto">
            <a:xfrm>
              <a:off x="1219200" y="2376488"/>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q[1]</a:t>
              </a:r>
            </a:p>
          </p:txBody>
        </p:sp>
        <p:sp>
          <p:nvSpPr>
            <p:cNvPr id="76" name="Rectangle 25"/>
            <p:cNvSpPr>
              <a:spLocks noChangeArrowheads="1"/>
            </p:cNvSpPr>
            <p:nvPr/>
          </p:nvSpPr>
          <p:spPr bwMode="auto">
            <a:xfrm>
              <a:off x="1905000" y="2376488"/>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q[2]</a:t>
              </a:r>
            </a:p>
          </p:txBody>
        </p:sp>
        <p:sp>
          <p:nvSpPr>
            <p:cNvPr id="77" name="Rectangle 26" descr="Outlined diamond"/>
            <p:cNvSpPr>
              <a:spLocks noChangeArrowheads="1"/>
            </p:cNvSpPr>
            <p:nvPr/>
          </p:nvSpPr>
          <p:spPr bwMode="auto">
            <a:xfrm>
              <a:off x="1219200" y="2757488"/>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78" name="Rectangle 27" descr="Outlined diamond"/>
            <p:cNvSpPr>
              <a:spLocks noChangeArrowheads="1"/>
            </p:cNvSpPr>
            <p:nvPr/>
          </p:nvSpPr>
          <p:spPr bwMode="auto">
            <a:xfrm>
              <a:off x="1905000" y="2757488"/>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grpSp>
          <p:nvGrpSpPr>
            <p:cNvPr id="79" name="Group 28"/>
            <p:cNvGrpSpPr>
              <a:grpSpLocks/>
            </p:cNvGrpSpPr>
            <p:nvPr/>
          </p:nvGrpSpPr>
          <p:grpSpPr bwMode="auto">
            <a:xfrm>
              <a:off x="381000" y="3197226"/>
              <a:ext cx="990600" cy="671513"/>
              <a:chOff x="3552" y="4039"/>
              <a:chExt cx="624" cy="423"/>
            </a:xfrm>
          </p:grpSpPr>
          <p:sp>
            <p:nvSpPr>
              <p:cNvPr id="85" name="AutoShape 29"/>
              <p:cNvSpPr>
                <a:spLocks noChangeArrowheads="1"/>
              </p:cNvSpPr>
              <p:nvPr/>
            </p:nvSpPr>
            <p:spPr bwMode="auto">
              <a:xfrm flipV="1">
                <a:off x="3792" y="4039"/>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86" name="Text Box 30"/>
              <p:cNvSpPr txBox="1">
                <a:spLocks noChangeArrowheads="1"/>
              </p:cNvSpPr>
              <p:nvPr/>
            </p:nvSpPr>
            <p:spPr bwMode="auto">
              <a:xfrm>
                <a:off x="3552" y="4231"/>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a:solidFill>
                      <a:schemeClr val="hlink"/>
                    </a:solidFill>
                    <a:latin typeface="Courier New" panose="02070309020205020404" pitchFamily="49" charset="0"/>
                  </a:rPr>
                  <a:t>rear</a:t>
                </a:r>
                <a:endParaRPr lang="en-US" altLang="en-US">
                  <a:solidFill>
                    <a:schemeClr val="hlink"/>
                  </a:solidFill>
                  <a:latin typeface="Comic Sans MS" panose="030F0702030302020204" pitchFamily="66" charset="0"/>
                </a:endParaRPr>
              </a:p>
            </p:txBody>
          </p:sp>
        </p:grpSp>
        <p:grpSp>
          <p:nvGrpSpPr>
            <p:cNvPr id="80" name="Group 31"/>
            <p:cNvGrpSpPr>
              <a:grpSpLocks/>
            </p:cNvGrpSpPr>
            <p:nvPr/>
          </p:nvGrpSpPr>
          <p:grpSpPr bwMode="auto">
            <a:xfrm>
              <a:off x="133350" y="1628776"/>
              <a:ext cx="990600" cy="688976"/>
              <a:chOff x="2964" y="1938"/>
              <a:chExt cx="624" cy="434"/>
            </a:xfrm>
          </p:grpSpPr>
          <p:sp>
            <p:nvSpPr>
              <p:cNvPr id="83" name="AutoShape 32"/>
              <p:cNvSpPr>
                <a:spLocks noChangeArrowheads="1"/>
              </p:cNvSpPr>
              <p:nvPr/>
            </p:nvSpPr>
            <p:spPr bwMode="auto">
              <a:xfrm>
                <a:off x="3336" y="2176"/>
                <a:ext cx="144" cy="196"/>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84" name="Text Box 33"/>
              <p:cNvSpPr txBox="1">
                <a:spLocks noChangeArrowheads="1"/>
              </p:cNvSpPr>
              <p:nvPr/>
            </p:nvSpPr>
            <p:spPr bwMode="auto">
              <a:xfrm>
                <a:off x="2964" y="1938"/>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dirty="0">
                    <a:solidFill>
                      <a:schemeClr val="hlink"/>
                    </a:solidFill>
                    <a:latin typeface="Courier New" panose="02070309020205020404" pitchFamily="49" charset="0"/>
                  </a:rPr>
                  <a:t>front</a:t>
                </a:r>
                <a:endParaRPr lang="en-US" altLang="en-US" dirty="0">
                  <a:solidFill>
                    <a:schemeClr val="hlink"/>
                  </a:solidFill>
                  <a:latin typeface="Comic Sans MS" panose="030F0702030302020204" pitchFamily="66" charset="0"/>
                </a:endParaRPr>
              </a:p>
            </p:txBody>
          </p:sp>
        </p:grpSp>
        <p:sp>
          <p:nvSpPr>
            <p:cNvPr id="81" name="TextBox 76"/>
            <p:cNvSpPr txBox="1">
              <a:spLocks noChangeArrowheads="1"/>
            </p:cNvSpPr>
            <p:nvPr/>
          </p:nvSpPr>
          <p:spPr bwMode="auto">
            <a:xfrm>
              <a:off x="1219200" y="3290888"/>
              <a:ext cx="2743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(1) Empty Queue</a:t>
              </a:r>
              <a:endParaRPr lang="en-US" altLang="en-US" dirty="0"/>
            </a:p>
          </p:txBody>
        </p:sp>
        <p:sp>
          <p:nvSpPr>
            <p:cNvPr id="82" name="TextBox 81"/>
            <p:cNvSpPr txBox="1"/>
            <p:nvPr/>
          </p:nvSpPr>
          <p:spPr>
            <a:xfrm>
              <a:off x="1190625" y="1105022"/>
              <a:ext cx="3533775" cy="1015663"/>
            </a:xfrm>
            <a:prstGeom prst="rect">
              <a:avLst/>
            </a:prstGeom>
            <a:solidFill>
              <a:schemeClr val="accent6">
                <a:lumMod val="40000"/>
                <a:lumOff val="60000"/>
              </a:schemeClr>
            </a:solidFill>
          </p:spPr>
          <p:txBody>
            <a:bodyPr wrap="square">
              <a:spAutoFit/>
            </a:bodyPr>
            <a:lstStyle/>
            <a:p>
              <a:pPr fontAlgn="auto">
                <a:spcBef>
                  <a:spcPts val="0"/>
                </a:spcBef>
                <a:spcAft>
                  <a:spcPts val="0"/>
                </a:spcAft>
                <a:defRPr/>
              </a:pPr>
              <a:r>
                <a:rPr lang="en-US" sz="2000" dirty="0">
                  <a:cs typeface="Arial" panose="020B0604020202020204" pitchFamily="34" charset="0"/>
                </a:rPr>
                <a:t>The queue is empty now</a:t>
              </a:r>
            </a:p>
            <a:p>
              <a:pPr fontAlgn="auto">
                <a:spcBef>
                  <a:spcPts val="0"/>
                </a:spcBef>
                <a:spcAft>
                  <a:spcPts val="0"/>
                </a:spcAft>
                <a:defRPr/>
              </a:pPr>
              <a:r>
                <a:rPr lang="en-US" sz="2000" dirty="0">
                  <a:solidFill>
                    <a:srgbClr val="FF0000"/>
                  </a:solidFill>
                  <a:cs typeface="Arial" panose="020B0604020202020204" pitchFamily="34" charset="0"/>
                </a:rPr>
                <a:t>Condition: </a:t>
              </a:r>
            </a:p>
            <a:p>
              <a:pPr fontAlgn="auto">
                <a:spcBef>
                  <a:spcPts val="0"/>
                </a:spcBef>
                <a:spcAft>
                  <a:spcPts val="0"/>
                </a:spcAft>
                <a:defRPr/>
              </a:pPr>
              <a:r>
                <a:rPr lang="en-US" sz="2000" dirty="0">
                  <a:solidFill>
                    <a:srgbClr val="2F5F48"/>
                  </a:solidFill>
                  <a:cs typeface="Arial" panose="020B0604020202020204" pitchFamily="34" charset="0"/>
                </a:rPr>
                <a:t>     front  == rear</a:t>
              </a:r>
            </a:p>
          </p:txBody>
        </p:sp>
      </p:grpSp>
    </p:spTree>
    <p:extLst>
      <p:ext uri="{BB962C8B-B14F-4D97-AF65-F5344CB8AC3E}">
        <p14:creationId xmlns:p14="http://schemas.microsoft.com/office/powerpoint/2010/main" val="2046976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Circular Queue Operations cont.</a:t>
            </a:r>
          </a:p>
        </p:txBody>
      </p:sp>
      <p:sp>
        <p:nvSpPr>
          <p:cNvPr id="3" name="Slide Number Placeholder 2"/>
          <p:cNvSpPr>
            <a:spLocks noGrp="1"/>
          </p:cNvSpPr>
          <p:nvPr>
            <p:ph type="sldNum" sz="quarter" idx="12"/>
          </p:nvPr>
        </p:nvSpPr>
        <p:spPr/>
        <p:txBody>
          <a:bodyPr/>
          <a:lstStyle/>
          <a:p>
            <a:pPr>
              <a:defRPr/>
            </a:pPr>
            <a:fld id="{C71BD5D2-A63C-4CF3-9B33-EDAB3DA9185D}" type="slidenum">
              <a:rPr lang="en-US" altLang="en-US" smtClean="0"/>
              <a:pPr>
                <a:defRPr/>
              </a:pPr>
              <a:t>21</a:t>
            </a:fld>
            <a:endParaRPr lang="en-US" altLang="en-US"/>
          </a:p>
        </p:txBody>
      </p:sp>
      <p:grpSp>
        <p:nvGrpSpPr>
          <p:cNvPr id="64" name="Group 63"/>
          <p:cNvGrpSpPr/>
          <p:nvPr/>
        </p:nvGrpSpPr>
        <p:grpSpPr>
          <a:xfrm>
            <a:off x="342900" y="1730374"/>
            <a:ext cx="4343400" cy="2482851"/>
            <a:chOff x="1371600" y="1865313"/>
            <a:chExt cx="4343400" cy="2482851"/>
          </a:xfrm>
        </p:grpSpPr>
        <p:sp>
          <p:nvSpPr>
            <p:cNvPr id="4" name="Rectangle 3"/>
            <p:cNvSpPr>
              <a:spLocks noChangeArrowheads="1"/>
            </p:cNvSpPr>
            <p:nvPr/>
          </p:nvSpPr>
          <p:spPr bwMode="auto">
            <a:xfrm>
              <a:off x="3657600" y="2590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q[3]</a:t>
              </a:r>
            </a:p>
          </p:txBody>
        </p:sp>
        <p:sp>
          <p:nvSpPr>
            <p:cNvPr id="5" name="Rectangle 4"/>
            <p:cNvSpPr>
              <a:spLocks noChangeArrowheads="1"/>
            </p:cNvSpPr>
            <p:nvPr/>
          </p:nvSpPr>
          <p:spPr bwMode="auto">
            <a:xfrm>
              <a:off x="3657600" y="29718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E</a:t>
              </a:r>
            </a:p>
          </p:txBody>
        </p:sp>
        <p:sp>
          <p:nvSpPr>
            <p:cNvPr id="6" name="Rectangle 5"/>
            <p:cNvSpPr>
              <a:spLocks noChangeArrowheads="1"/>
            </p:cNvSpPr>
            <p:nvPr/>
          </p:nvSpPr>
          <p:spPr bwMode="auto">
            <a:xfrm>
              <a:off x="4343400" y="2590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q[4]</a:t>
              </a:r>
            </a:p>
          </p:txBody>
        </p:sp>
        <p:sp>
          <p:nvSpPr>
            <p:cNvPr id="7" name="Rectangle 6" descr="Outlined diamond"/>
            <p:cNvSpPr>
              <a:spLocks noChangeArrowheads="1"/>
            </p:cNvSpPr>
            <p:nvPr/>
          </p:nvSpPr>
          <p:spPr bwMode="auto">
            <a:xfrm>
              <a:off x="4343400" y="29718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8" name="Rectangle 7"/>
            <p:cNvSpPr>
              <a:spLocks noChangeArrowheads="1"/>
            </p:cNvSpPr>
            <p:nvPr/>
          </p:nvSpPr>
          <p:spPr bwMode="auto">
            <a:xfrm>
              <a:off x="5029200" y="2590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q[5]</a:t>
              </a:r>
            </a:p>
          </p:txBody>
        </p:sp>
        <p:sp>
          <p:nvSpPr>
            <p:cNvPr id="9" name="Rectangle 8" descr="Outlined diamond"/>
            <p:cNvSpPr>
              <a:spLocks noChangeArrowheads="1"/>
            </p:cNvSpPr>
            <p:nvPr/>
          </p:nvSpPr>
          <p:spPr bwMode="auto">
            <a:xfrm>
              <a:off x="5029200" y="29718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10" name="Rectangle 9"/>
            <p:cNvSpPr>
              <a:spLocks noChangeArrowheads="1"/>
            </p:cNvSpPr>
            <p:nvPr/>
          </p:nvSpPr>
          <p:spPr bwMode="auto">
            <a:xfrm>
              <a:off x="1600200" y="2590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q[0]</a:t>
              </a:r>
            </a:p>
          </p:txBody>
        </p:sp>
        <p:sp>
          <p:nvSpPr>
            <p:cNvPr id="11" name="Rectangle 10"/>
            <p:cNvSpPr>
              <a:spLocks noChangeArrowheads="1"/>
            </p:cNvSpPr>
            <p:nvPr/>
          </p:nvSpPr>
          <p:spPr bwMode="auto">
            <a:xfrm>
              <a:off x="1600200" y="29718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a:t>
              </a:r>
            </a:p>
          </p:txBody>
        </p:sp>
        <p:sp>
          <p:nvSpPr>
            <p:cNvPr id="12" name="Rectangle 11"/>
            <p:cNvSpPr>
              <a:spLocks noChangeArrowheads="1"/>
            </p:cNvSpPr>
            <p:nvPr/>
          </p:nvSpPr>
          <p:spPr bwMode="auto">
            <a:xfrm>
              <a:off x="2286000" y="2590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q[1]</a:t>
              </a:r>
            </a:p>
          </p:txBody>
        </p:sp>
        <p:sp>
          <p:nvSpPr>
            <p:cNvPr id="13" name="Rectangle 12"/>
            <p:cNvSpPr>
              <a:spLocks noChangeArrowheads="1"/>
            </p:cNvSpPr>
            <p:nvPr/>
          </p:nvSpPr>
          <p:spPr bwMode="auto">
            <a:xfrm>
              <a:off x="2971800" y="2590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q[2]</a:t>
              </a:r>
            </a:p>
          </p:txBody>
        </p:sp>
        <p:sp>
          <p:nvSpPr>
            <p:cNvPr id="14" name="Rectangle 13"/>
            <p:cNvSpPr>
              <a:spLocks noChangeArrowheads="1"/>
            </p:cNvSpPr>
            <p:nvPr/>
          </p:nvSpPr>
          <p:spPr bwMode="auto">
            <a:xfrm>
              <a:off x="2286000" y="29718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D</a:t>
              </a:r>
            </a:p>
          </p:txBody>
        </p:sp>
        <p:sp>
          <p:nvSpPr>
            <p:cNvPr id="15" name="Rectangle 14"/>
            <p:cNvSpPr>
              <a:spLocks noChangeArrowheads="1"/>
            </p:cNvSpPr>
            <p:nvPr/>
          </p:nvSpPr>
          <p:spPr bwMode="auto">
            <a:xfrm>
              <a:off x="2971800" y="29718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T</a:t>
              </a:r>
            </a:p>
          </p:txBody>
        </p:sp>
        <p:grpSp>
          <p:nvGrpSpPr>
            <p:cNvPr id="16" name="Group 15"/>
            <p:cNvGrpSpPr>
              <a:grpSpLocks/>
            </p:cNvGrpSpPr>
            <p:nvPr/>
          </p:nvGrpSpPr>
          <p:grpSpPr bwMode="auto">
            <a:xfrm>
              <a:off x="1371600" y="1865313"/>
              <a:ext cx="990600" cy="687388"/>
              <a:chOff x="3072" y="1943"/>
              <a:chExt cx="624" cy="433"/>
            </a:xfrm>
          </p:grpSpPr>
          <p:sp>
            <p:nvSpPr>
              <p:cNvPr id="17" name="AutoShape 16"/>
              <p:cNvSpPr>
                <a:spLocks noChangeArrowheads="1"/>
              </p:cNvSpPr>
              <p:nvPr/>
            </p:nvSpPr>
            <p:spPr bwMode="auto">
              <a:xfrm>
                <a:off x="3384" y="2184"/>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18" name="Text Box 17"/>
              <p:cNvSpPr txBox="1">
                <a:spLocks noChangeArrowheads="1"/>
              </p:cNvSpPr>
              <p:nvPr/>
            </p:nvSpPr>
            <p:spPr bwMode="auto">
              <a:xfrm>
                <a:off x="3072" y="1943"/>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dirty="0">
                    <a:solidFill>
                      <a:schemeClr val="hlink"/>
                    </a:solidFill>
                    <a:latin typeface="Courier New" panose="02070309020205020404" pitchFamily="49" charset="0"/>
                  </a:rPr>
                  <a:t>front</a:t>
                </a:r>
                <a:endParaRPr lang="en-US" altLang="en-US" dirty="0">
                  <a:solidFill>
                    <a:schemeClr val="hlink"/>
                  </a:solidFill>
                  <a:latin typeface="Comic Sans MS" panose="030F0702030302020204" pitchFamily="66" charset="0"/>
                </a:endParaRPr>
              </a:p>
            </p:txBody>
          </p:sp>
        </p:grpSp>
        <p:grpSp>
          <p:nvGrpSpPr>
            <p:cNvPr id="19" name="Group 18"/>
            <p:cNvGrpSpPr>
              <a:grpSpLocks/>
            </p:cNvGrpSpPr>
            <p:nvPr/>
          </p:nvGrpSpPr>
          <p:grpSpPr bwMode="auto">
            <a:xfrm>
              <a:off x="3581400" y="3429001"/>
              <a:ext cx="990600" cy="671513"/>
              <a:chOff x="3264" y="3897"/>
              <a:chExt cx="624" cy="423"/>
            </a:xfrm>
          </p:grpSpPr>
          <p:sp>
            <p:nvSpPr>
              <p:cNvPr id="20" name="AutoShape 19"/>
              <p:cNvSpPr>
                <a:spLocks noChangeArrowheads="1"/>
              </p:cNvSpPr>
              <p:nvPr/>
            </p:nvSpPr>
            <p:spPr bwMode="auto">
              <a:xfrm flipV="1">
                <a:off x="3504" y="3897"/>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21" name="Text Box 20"/>
              <p:cNvSpPr txBox="1">
                <a:spLocks noChangeArrowheads="1"/>
              </p:cNvSpPr>
              <p:nvPr/>
            </p:nvSpPr>
            <p:spPr bwMode="auto">
              <a:xfrm>
                <a:off x="3264" y="4089"/>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a:solidFill>
                      <a:schemeClr val="hlink"/>
                    </a:solidFill>
                    <a:latin typeface="Courier New" panose="02070309020205020404" pitchFamily="49" charset="0"/>
                  </a:rPr>
                  <a:t>rear</a:t>
                </a:r>
                <a:endParaRPr lang="en-US" altLang="en-US">
                  <a:solidFill>
                    <a:schemeClr val="hlink"/>
                  </a:solidFill>
                  <a:latin typeface="Comic Sans MS" panose="030F0702030302020204" pitchFamily="66" charset="0"/>
                </a:endParaRPr>
              </a:p>
            </p:txBody>
          </p:sp>
        </p:grpSp>
        <p:sp>
          <p:nvSpPr>
            <p:cNvPr id="58" name="TextBox 76"/>
            <p:cNvSpPr txBox="1">
              <a:spLocks noChangeArrowheads="1"/>
            </p:cNvSpPr>
            <p:nvPr/>
          </p:nvSpPr>
          <p:spPr bwMode="auto">
            <a:xfrm>
              <a:off x="2514600" y="3886201"/>
              <a:ext cx="2667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(5) Enqueue (E)</a:t>
              </a:r>
              <a:endParaRPr lang="en-US" altLang="en-US" dirty="0"/>
            </a:p>
          </p:txBody>
        </p:sp>
      </p:grpSp>
      <p:grpSp>
        <p:nvGrpSpPr>
          <p:cNvPr id="62" name="Group 61"/>
          <p:cNvGrpSpPr/>
          <p:nvPr/>
        </p:nvGrpSpPr>
        <p:grpSpPr>
          <a:xfrm>
            <a:off x="7086600" y="1877448"/>
            <a:ext cx="4343400" cy="2482854"/>
            <a:chOff x="5715000" y="1865310"/>
            <a:chExt cx="4343400" cy="2482854"/>
          </a:xfrm>
        </p:grpSpPr>
        <p:sp>
          <p:nvSpPr>
            <p:cNvPr id="22" name="Rectangle 21"/>
            <p:cNvSpPr>
              <a:spLocks noChangeArrowheads="1"/>
            </p:cNvSpPr>
            <p:nvPr/>
          </p:nvSpPr>
          <p:spPr bwMode="auto">
            <a:xfrm>
              <a:off x="8001000" y="2590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q[3]</a:t>
              </a:r>
            </a:p>
          </p:txBody>
        </p:sp>
        <p:sp>
          <p:nvSpPr>
            <p:cNvPr id="23" name="Rectangle 22"/>
            <p:cNvSpPr>
              <a:spLocks noChangeArrowheads="1"/>
            </p:cNvSpPr>
            <p:nvPr/>
          </p:nvSpPr>
          <p:spPr bwMode="auto">
            <a:xfrm>
              <a:off x="8001000" y="29718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E</a:t>
              </a:r>
            </a:p>
          </p:txBody>
        </p:sp>
        <p:sp>
          <p:nvSpPr>
            <p:cNvPr id="24" name="Rectangle 23"/>
            <p:cNvSpPr>
              <a:spLocks noChangeArrowheads="1"/>
            </p:cNvSpPr>
            <p:nvPr/>
          </p:nvSpPr>
          <p:spPr bwMode="auto">
            <a:xfrm>
              <a:off x="8686800" y="2590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q[4]</a:t>
              </a:r>
            </a:p>
          </p:txBody>
        </p:sp>
        <p:sp>
          <p:nvSpPr>
            <p:cNvPr id="25" name="Rectangle 24" descr="Outlined diamond"/>
            <p:cNvSpPr>
              <a:spLocks noChangeArrowheads="1"/>
            </p:cNvSpPr>
            <p:nvPr/>
          </p:nvSpPr>
          <p:spPr bwMode="auto">
            <a:xfrm>
              <a:off x="8686800" y="29718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F</a:t>
              </a:r>
            </a:p>
          </p:txBody>
        </p:sp>
        <p:sp>
          <p:nvSpPr>
            <p:cNvPr id="26" name="Rectangle 25"/>
            <p:cNvSpPr>
              <a:spLocks noChangeArrowheads="1"/>
            </p:cNvSpPr>
            <p:nvPr/>
          </p:nvSpPr>
          <p:spPr bwMode="auto">
            <a:xfrm>
              <a:off x="9372600" y="2590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q[5]</a:t>
              </a:r>
            </a:p>
          </p:txBody>
        </p:sp>
        <p:sp>
          <p:nvSpPr>
            <p:cNvPr id="27" name="Rectangle 26" descr="Outlined diamond"/>
            <p:cNvSpPr>
              <a:spLocks noChangeArrowheads="1"/>
            </p:cNvSpPr>
            <p:nvPr/>
          </p:nvSpPr>
          <p:spPr bwMode="auto">
            <a:xfrm>
              <a:off x="9372600" y="29718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t>
              </a:r>
            </a:p>
          </p:txBody>
        </p:sp>
        <p:sp>
          <p:nvSpPr>
            <p:cNvPr id="28" name="Rectangle 27"/>
            <p:cNvSpPr>
              <a:spLocks noChangeArrowheads="1"/>
            </p:cNvSpPr>
            <p:nvPr/>
          </p:nvSpPr>
          <p:spPr bwMode="auto">
            <a:xfrm>
              <a:off x="5943600" y="2590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q[0]</a:t>
              </a:r>
            </a:p>
          </p:txBody>
        </p:sp>
        <p:sp>
          <p:nvSpPr>
            <p:cNvPr id="29" name="Rectangle 28" descr="Outlined diamond"/>
            <p:cNvSpPr>
              <a:spLocks noChangeArrowheads="1"/>
            </p:cNvSpPr>
            <p:nvPr/>
          </p:nvSpPr>
          <p:spPr bwMode="auto">
            <a:xfrm>
              <a:off x="5943600" y="29718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a:t>
              </a:r>
            </a:p>
          </p:txBody>
        </p:sp>
        <p:sp>
          <p:nvSpPr>
            <p:cNvPr id="30" name="Rectangle 29"/>
            <p:cNvSpPr>
              <a:spLocks noChangeArrowheads="1"/>
            </p:cNvSpPr>
            <p:nvPr/>
          </p:nvSpPr>
          <p:spPr bwMode="auto">
            <a:xfrm>
              <a:off x="6629400" y="2590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q[1]</a:t>
              </a:r>
            </a:p>
          </p:txBody>
        </p:sp>
        <p:sp>
          <p:nvSpPr>
            <p:cNvPr id="31" name="Rectangle 30"/>
            <p:cNvSpPr>
              <a:spLocks noChangeArrowheads="1"/>
            </p:cNvSpPr>
            <p:nvPr/>
          </p:nvSpPr>
          <p:spPr bwMode="auto">
            <a:xfrm>
              <a:off x="7315200" y="2590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q[2]</a:t>
              </a:r>
            </a:p>
          </p:txBody>
        </p:sp>
        <p:sp>
          <p:nvSpPr>
            <p:cNvPr id="32" name="Rectangle 31"/>
            <p:cNvSpPr>
              <a:spLocks noChangeArrowheads="1"/>
            </p:cNvSpPr>
            <p:nvPr/>
          </p:nvSpPr>
          <p:spPr bwMode="auto">
            <a:xfrm>
              <a:off x="6629400" y="29718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D</a:t>
              </a:r>
            </a:p>
          </p:txBody>
        </p:sp>
        <p:sp>
          <p:nvSpPr>
            <p:cNvPr id="33" name="Rectangle 32"/>
            <p:cNvSpPr>
              <a:spLocks noChangeArrowheads="1"/>
            </p:cNvSpPr>
            <p:nvPr/>
          </p:nvSpPr>
          <p:spPr bwMode="auto">
            <a:xfrm>
              <a:off x="7315200" y="29718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T</a:t>
              </a:r>
            </a:p>
          </p:txBody>
        </p:sp>
        <p:grpSp>
          <p:nvGrpSpPr>
            <p:cNvPr id="34" name="Group 33"/>
            <p:cNvGrpSpPr>
              <a:grpSpLocks/>
            </p:cNvGrpSpPr>
            <p:nvPr/>
          </p:nvGrpSpPr>
          <p:grpSpPr bwMode="auto">
            <a:xfrm>
              <a:off x="5715000" y="1865310"/>
              <a:ext cx="990600" cy="679450"/>
              <a:chOff x="3024" y="1943"/>
              <a:chExt cx="624" cy="428"/>
            </a:xfrm>
          </p:grpSpPr>
          <p:sp>
            <p:nvSpPr>
              <p:cNvPr id="35" name="AutoShape 34"/>
              <p:cNvSpPr>
                <a:spLocks noChangeArrowheads="1"/>
              </p:cNvSpPr>
              <p:nvPr/>
            </p:nvSpPr>
            <p:spPr bwMode="auto">
              <a:xfrm>
                <a:off x="3316" y="2179"/>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36" name="Text Box 35"/>
              <p:cNvSpPr txBox="1">
                <a:spLocks noChangeArrowheads="1"/>
              </p:cNvSpPr>
              <p:nvPr/>
            </p:nvSpPr>
            <p:spPr bwMode="auto">
              <a:xfrm>
                <a:off x="3024" y="1943"/>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dirty="0">
                    <a:solidFill>
                      <a:schemeClr val="hlink"/>
                    </a:solidFill>
                    <a:latin typeface="Courier New" panose="02070309020205020404" pitchFamily="49" charset="0"/>
                  </a:rPr>
                  <a:t>front</a:t>
                </a:r>
                <a:endParaRPr lang="en-US" altLang="en-US" dirty="0">
                  <a:solidFill>
                    <a:schemeClr val="hlink"/>
                  </a:solidFill>
                  <a:latin typeface="Comic Sans MS" panose="030F0702030302020204" pitchFamily="66" charset="0"/>
                </a:endParaRPr>
              </a:p>
            </p:txBody>
          </p:sp>
        </p:grpSp>
        <p:grpSp>
          <p:nvGrpSpPr>
            <p:cNvPr id="37" name="Group 36"/>
            <p:cNvGrpSpPr>
              <a:grpSpLocks/>
            </p:cNvGrpSpPr>
            <p:nvPr/>
          </p:nvGrpSpPr>
          <p:grpSpPr bwMode="auto">
            <a:xfrm>
              <a:off x="8534400" y="3352801"/>
              <a:ext cx="990600" cy="671513"/>
              <a:chOff x="3264" y="3897"/>
              <a:chExt cx="624" cy="423"/>
            </a:xfrm>
          </p:grpSpPr>
          <p:sp>
            <p:nvSpPr>
              <p:cNvPr id="38" name="AutoShape 37"/>
              <p:cNvSpPr>
                <a:spLocks noChangeArrowheads="1"/>
              </p:cNvSpPr>
              <p:nvPr/>
            </p:nvSpPr>
            <p:spPr bwMode="auto">
              <a:xfrm flipV="1">
                <a:off x="3504" y="3897"/>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39" name="Text Box 38"/>
              <p:cNvSpPr txBox="1">
                <a:spLocks noChangeArrowheads="1"/>
              </p:cNvSpPr>
              <p:nvPr/>
            </p:nvSpPr>
            <p:spPr bwMode="auto">
              <a:xfrm>
                <a:off x="3264" y="4089"/>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a:solidFill>
                      <a:schemeClr val="hlink"/>
                    </a:solidFill>
                    <a:latin typeface="Courier New" panose="02070309020205020404" pitchFamily="49" charset="0"/>
                  </a:rPr>
                  <a:t>rear</a:t>
                </a:r>
                <a:endParaRPr lang="en-US" altLang="en-US">
                  <a:solidFill>
                    <a:schemeClr val="hlink"/>
                  </a:solidFill>
                  <a:latin typeface="Comic Sans MS" panose="030F0702030302020204" pitchFamily="66" charset="0"/>
                </a:endParaRPr>
              </a:p>
            </p:txBody>
          </p:sp>
        </p:grpSp>
        <p:sp>
          <p:nvSpPr>
            <p:cNvPr id="59" name="TextBox 77"/>
            <p:cNvSpPr txBox="1">
              <a:spLocks noChangeArrowheads="1"/>
            </p:cNvSpPr>
            <p:nvPr/>
          </p:nvSpPr>
          <p:spPr bwMode="auto">
            <a:xfrm>
              <a:off x="6934200" y="3886201"/>
              <a:ext cx="2667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(6) Enqueue (F) </a:t>
              </a:r>
              <a:endParaRPr lang="en-US" altLang="en-US" dirty="0"/>
            </a:p>
          </p:txBody>
        </p:sp>
      </p:grpSp>
      <p:grpSp>
        <p:nvGrpSpPr>
          <p:cNvPr id="63" name="Group 62"/>
          <p:cNvGrpSpPr/>
          <p:nvPr/>
        </p:nvGrpSpPr>
        <p:grpSpPr>
          <a:xfrm>
            <a:off x="1292469" y="4468200"/>
            <a:ext cx="8845062" cy="2253275"/>
            <a:chOff x="1295400" y="4208461"/>
            <a:chExt cx="8845062" cy="2577166"/>
          </a:xfrm>
        </p:grpSpPr>
        <p:sp>
          <p:nvSpPr>
            <p:cNvPr id="40" name="Rectangle 39"/>
            <p:cNvSpPr>
              <a:spLocks noChangeArrowheads="1"/>
            </p:cNvSpPr>
            <p:nvPr/>
          </p:nvSpPr>
          <p:spPr bwMode="auto">
            <a:xfrm>
              <a:off x="3505200" y="4876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q[3]</a:t>
              </a:r>
            </a:p>
          </p:txBody>
        </p:sp>
        <p:sp>
          <p:nvSpPr>
            <p:cNvPr id="41" name="Rectangle 40"/>
            <p:cNvSpPr>
              <a:spLocks noChangeArrowheads="1"/>
            </p:cNvSpPr>
            <p:nvPr/>
          </p:nvSpPr>
          <p:spPr bwMode="auto">
            <a:xfrm>
              <a:off x="3505200" y="52578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E</a:t>
              </a:r>
            </a:p>
          </p:txBody>
        </p:sp>
        <p:sp>
          <p:nvSpPr>
            <p:cNvPr id="42" name="Rectangle 41"/>
            <p:cNvSpPr>
              <a:spLocks noChangeArrowheads="1"/>
            </p:cNvSpPr>
            <p:nvPr/>
          </p:nvSpPr>
          <p:spPr bwMode="auto">
            <a:xfrm>
              <a:off x="4191000" y="4876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q[4]</a:t>
              </a:r>
            </a:p>
          </p:txBody>
        </p:sp>
        <p:sp>
          <p:nvSpPr>
            <p:cNvPr id="43" name="Rectangle 42" descr="Outlined diamond"/>
            <p:cNvSpPr>
              <a:spLocks noChangeArrowheads="1"/>
            </p:cNvSpPr>
            <p:nvPr/>
          </p:nvSpPr>
          <p:spPr bwMode="auto">
            <a:xfrm>
              <a:off x="4191000" y="52578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F</a:t>
              </a:r>
            </a:p>
          </p:txBody>
        </p:sp>
        <p:sp>
          <p:nvSpPr>
            <p:cNvPr id="44" name="Rectangle 43"/>
            <p:cNvSpPr>
              <a:spLocks noChangeArrowheads="1"/>
            </p:cNvSpPr>
            <p:nvPr/>
          </p:nvSpPr>
          <p:spPr bwMode="auto">
            <a:xfrm>
              <a:off x="4876800" y="4876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q[5]</a:t>
              </a:r>
            </a:p>
          </p:txBody>
        </p:sp>
        <p:sp>
          <p:nvSpPr>
            <p:cNvPr id="45" name="Rectangle 44" descr="Outlined diamond"/>
            <p:cNvSpPr>
              <a:spLocks noChangeArrowheads="1"/>
            </p:cNvSpPr>
            <p:nvPr/>
          </p:nvSpPr>
          <p:spPr bwMode="auto">
            <a:xfrm>
              <a:off x="4876800" y="52578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G</a:t>
              </a:r>
            </a:p>
          </p:txBody>
        </p:sp>
        <p:sp>
          <p:nvSpPr>
            <p:cNvPr id="46" name="Rectangle 45"/>
            <p:cNvSpPr>
              <a:spLocks noChangeArrowheads="1"/>
            </p:cNvSpPr>
            <p:nvPr/>
          </p:nvSpPr>
          <p:spPr bwMode="auto">
            <a:xfrm>
              <a:off x="1447800" y="4876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q[0]</a:t>
              </a:r>
            </a:p>
          </p:txBody>
        </p:sp>
        <p:sp>
          <p:nvSpPr>
            <p:cNvPr id="47" name="Rectangle 46" descr="Outlined diamond"/>
            <p:cNvSpPr>
              <a:spLocks noChangeArrowheads="1"/>
            </p:cNvSpPr>
            <p:nvPr/>
          </p:nvSpPr>
          <p:spPr bwMode="auto">
            <a:xfrm>
              <a:off x="1447800" y="52578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a:t>
              </a:r>
            </a:p>
          </p:txBody>
        </p:sp>
        <p:sp>
          <p:nvSpPr>
            <p:cNvPr id="48" name="Rectangle 47"/>
            <p:cNvSpPr>
              <a:spLocks noChangeArrowheads="1"/>
            </p:cNvSpPr>
            <p:nvPr/>
          </p:nvSpPr>
          <p:spPr bwMode="auto">
            <a:xfrm>
              <a:off x="2133600" y="4876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q[1]</a:t>
              </a:r>
            </a:p>
          </p:txBody>
        </p:sp>
        <p:sp>
          <p:nvSpPr>
            <p:cNvPr id="49" name="Rectangle 48"/>
            <p:cNvSpPr>
              <a:spLocks noChangeArrowheads="1"/>
            </p:cNvSpPr>
            <p:nvPr/>
          </p:nvSpPr>
          <p:spPr bwMode="auto">
            <a:xfrm>
              <a:off x="2819400" y="48768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q[2]</a:t>
              </a:r>
            </a:p>
          </p:txBody>
        </p:sp>
        <p:sp>
          <p:nvSpPr>
            <p:cNvPr id="50" name="Rectangle 49" descr="Outlined diamond"/>
            <p:cNvSpPr>
              <a:spLocks noChangeArrowheads="1"/>
            </p:cNvSpPr>
            <p:nvPr/>
          </p:nvSpPr>
          <p:spPr bwMode="auto">
            <a:xfrm>
              <a:off x="2133600" y="52578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D</a:t>
              </a:r>
            </a:p>
          </p:txBody>
        </p:sp>
        <p:sp>
          <p:nvSpPr>
            <p:cNvPr id="51" name="Rectangle 50"/>
            <p:cNvSpPr>
              <a:spLocks noChangeArrowheads="1"/>
            </p:cNvSpPr>
            <p:nvPr/>
          </p:nvSpPr>
          <p:spPr bwMode="auto">
            <a:xfrm>
              <a:off x="2819400" y="52578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T</a:t>
              </a:r>
            </a:p>
          </p:txBody>
        </p:sp>
        <p:grpSp>
          <p:nvGrpSpPr>
            <p:cNvPr id="52" name="Group 51"/>
            <p:cNvGrpSpPr>
              <a:grpSpLocks/>
            </p:cNvGrpSpPr>
            <p:nvPr/>
          </p:nvGrpSpPr>
          <p:grpSpPr bwMode="auto">
            <a:xfrm>
              <a:off x="1295400" y="4208461"/>
              <a:ext cx="990600" cy="638175"/>
              <a:chOff x="3072" y="1931"/>
              <a:chExt cx="624" cy="402"/>
            </a:xfrm>
          </p:grpSpPr>
          <p:sp>
            <p:nvSpPr>
              <p:cNvPr id="53" name="AutoShape 52"/>
              <p:cNvSpPr>
                <a:spLocks noChangeArrowheads="1"/>
              </p:cNvSpPr>
              <p:nvPr/>
            </p:nvSpPr>
            <p:spPr bwMode="auto">
              <a:xfrm>
                <a:off x="3312" y="2141"/>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54" name="Text Box 53"/>
              <p:cNvSpPr txBox="1">
                <a:spLocks noChangeArrowheads="1"/>
              </p:cNvSpPr>
              <p:nvPr/>
            </p:nvSpPr>
            <p:spPr bwMode="auto">
              <a:xfrm>
                <a:off x="3072" y="1931"/>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dirty="0">
                    <a:solidFill>
                      <a:schemeClr val="hlink"/>
                    </a:solidFill>
                    <a:latin typeface="Courier New" panose="02070309020205020404" pitchFamily="49" charset="0"/>
                  </a:rPr>
                  <a:t>front</a:t>
                </a:r>
                <a:endParaRPr lang="en-US" altLang="en-US" dirty="0">
                  <a:solidFill>
                    <a:schemeClr val="hlink"/>
                  </a:solidFill>
                  <a:latin typeface="Comic Sans MS" panose="030F0702030302020204" pitchFamily="66" charset="0"/>
                </a:endParaRPr>
              </a:p>
            </p:txBody>
          </p:sp>
        </p:grpSp>
        <p:grpSp>
          <p:nvGrpSpPr>
            <p:cNvPr id="55" name="Group 54"/>
            <p:cNvGrpSpPr>
              <a:grpSpLocks/>
            </p:cNvGrpSpPr>
            <p:nvPr/>
          </p:nvGrpSpPr>
          <p:grpSpPr bwMode="auto">
            <a:xfrm>
              <a:off x="4724400" y="5638801"/>
              <a:ext cx="990600" cy="671513"/>
              <a:chOff x="3264" y="3897"/>
              <a:chExt cx="624" cy="423"/>
            </a:xfrm>
          </p:grpSpPr>
          <p:sp>
            <p:nvSpPr>
              <p:cNvPr id="56" name="AutoShape 55"/>
              <p:cNvSpPr>
                <a:spLocks noChangeArrowheads="1"/>
              </p:cNvSpPr>
              <p:nvPr/>
            </p:nvSpPr>
            <p:spPr bwMode="auto">
              <a:xfrm flipV="1">
                <a:off x="3504" y="3897"/>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57" name="Text Box 56"/>
              <p:cNvSpPr txBox="1">
                <a:spLocks noChangeArrowheads="1"/>
              </p:cNvSpPr>
              <p:nvPr/>
            </p:nvSpPr>
            <p:spPr bwMode="auto">
              <a:xfrm>
                <a:off x="3264" y="4089"/>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a:solidFill>
                      <a:schemeClr val="hlink"/>
                    </a:solidFill>
                    <a:latin typeface="Courier New" panose="02070309020205020404" pitchFamily="49" charset="0"/>
                  </a:rPr>
                  <a:t>rear</a:t>
                </a:r>
                <a:endParaRPr lang="en-US" altLang="en-US">
                  <a:solidFill>
                    <a:schemeClr val="hlink"/>
                  </a:solidFill>
                  <a:latin typeface="Comic Sans MS" panose="030F0702030302020204" pitchFamily="66" charset="0"/>
                </a:endParaRPr>
              </a:p>
            </p:txBody>
          </p:sp>
        </p:grpSp>
        <p:sp>
          <p:nvSpPr>
            <p:cNvPr id="60" name="TextBox 78"/>
            <p:cNvSpPr txBox="1">
              <a:spLocks noChangeArrowheads="1"/>
            </p:cNvSpPr>
            <p:nvPr/>
          </p:nvSpPr>
          <p:spPr bwMode="auto">
            <a:xfrm>
              <a:off x="2247900" y="6093616"/>
              <a:ext cx="2667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(7) Enqueue (G) </a:t>
              </a:r>
              <a:endParaRPr lang="en-US" altLang="en-US" dirty="0"/>
            </a:p>
          </p:txBody>
        </p:sp>
        <p:sp>
          <p:nvSpPr>
            <p:cNvPr id="61" name="TextBox 80"/>
            <p:cNvSpPr txBox="1">
              <a:spLocks noChangeArrowheads="1"/>
            </p:cNvSpPr>
            <p:nvPr/>
          </p:nvSpPr>
          <p:spPr bwMode="auto">
            <a:xfrm>
              <a:off x="5715000" y="4846635"/>
              <a:ext cx="4425462" cy="1938992"/>
            </a:xfrm>
            <a:prstGeom prst="rect">
              <a:avLst/>
            </a:prstGeom>
            <a:gradFill rotWithShape="1">
              <a:gsLst>
                <a:gs pos="0">
                  <a:srgbClr val="5E9EFF"/>
                </a:gs>
                <a:gs pos="39999">
                  <a:srgbClr val="85C2FF"/>
                </a:gs>
                <a:gs pos="70000">
                  <a:srgbClr val="C4D6EB"/>
                </a:gs>
                <a:gs pos="100000">
                  <a:srgbClr val="FFEBFA"/>
                </a:gs>
              </a:gsLst>
              <a:path path="rect">
                <a:fillToRect l="100000" t="10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Now the queue is full, what is the condition to check that? </a:t>
              </a:r>
            </a:p>
            <a:p>
              <a:pPr eaLnBrk="1" hangingPunct="1"/>
              <a:r>
                <a:rPr lang="en-US" altLang="en-US" sz="2400" dirty="0">
                  <a:solidFill>
                    <a:srgbClr val="FF0000"/>
                  </a:solidFill>
                </a:rPr>
                <a:t>Condition: </a:t>
              </a:r>
            </a:p>
            <a:p>
              <a:pPr eaLnBrk="1" hangingPunct="1"/>
              <a:r>
                <a:rPr lang="en-US" altLang="en-US" sz="2400" dirty="0">
                  <a:solidFill>
                    <a:srgbClr val="2F5F48"/>
                  </a:solidFill>
                </a:rPr>
                <a:t> (rear + 1) % capacity == front</a:t>
              </a:r>
            </a:p>
            <a:p>
              <a:pPr eaLnBrk="1" hangingPunct="1"/>
              <a:endParaRPr lang="en-US" altLang="en-US" sz="2400" dirty="0">
                <a:solidFill>
                  <a:srgbClr val="2F5F48"/>
                </a:solidFill>
              </a:endParaRPr>
            </a:p>
          </p:txBody>
        </p:sp>
      </p:grpSp>
    </p:spTree>
    <p:extLst>
      <p:ext uri="{BB962C8B-B14F-4D97-AF65-F5344CB8AC3E}">
        <p14:creationId xmlns:p14="http://schemas.microsoft.com/office/powerpoint/2010/main" val="3277171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63"/>
                                        </p:tgtEl>
                                        <p:attrNameLst>
                                          <p:attrName>style.visibility</p:attrName>
                                        </p:attrNameLst>
                                      </p:cBhvr>
                                      <p:to>
                                        <p:strVal val="visible"/>
                                      </p:to>
                                    </p:set>
                                    <p:animEffect transition="in" filter="fade">
                                      <p:cBhvr>
                                        <p:cTn id="11" dur="1000"/>
                                        <p:tgtEl>
                                          <p:spTgt spid="63"/>
                                        </p:tgtEl>
                                      </p:cBhvr>
                                    </p:animEffect>
                                    <p:anim calcmode="lin" valueType="num">
                                      <p:cBhvr>
                                        <p:cTn id="12" dur="1000" fill="hold"/>
                                        <p:tgtEl>
                                          <p:spTgt spid="63"/>
                                        </p:tgtEl>
                                        <p:attrNameLst>
                                          <p:attrName>ppt_x</p:attrName>
                                        </p:attrNameLst>
                                      </p:cBhvr>
                                      <p:tavLst>
                                        <p:tav tm="0">
                                          <p:val>
                                            <p:strVal val="#ppt_x"/>
                                          </p:val>
                                        </p:tav>
                                        <p:tav tm="100000">
                                          <p:val>
                                            <p:strVal val="#ppt_x"/>
                                          </p:val>
                                        </p:tav>
                                      </p:tavLst>
                                    </p:anim>
                                    <p:anim calcmode="lin" valueType="num">
                                      <p:cBhvr>
                                        <p:cTn id="13" dur="1000" fill="hold"/>
                                        <p:tgtEl>
                                          <p:spTgt spid="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Circular Queue Operations cont.</a:t>
            </a:r>
          </a:p>
        </p:txBody>
      </p:sp>
      <p:sp>
        <p:nvSpPr>
          <p:cNvPr id="3" name="Slide Number Placeholder 2"/>
          <p:cNvSpPr>
            <a:spLocks noGrp="1"/>
          </p:cNvSpPr>
          <p:nvPr>
            <p:ph type="sldNum" sz="quarter" idx="12"/>
          </p:nvPr>
        </p:nvSpPr>
        <p:spPr/>
        <p:txBody>
          <a:bodyPr/>
          <a:lstStyle/>
          <a:p>
            <a:pPr>
              <a:defRPr/>
            </a:pPr>
            <a:fld id="{C71BD5D2-A63C-4CF3-9B33-EDAB3DA9185D}" type="slidenum">
              <a:rPr lang="en-US" altLang="en-US" smtClean="0"/>
              <a:pPr>
                <a:defRPr/>
              </a:pPr>
              <a:t>22</a:t>
            </a:fld>
            <a:endParaRPr lang="en-US" altLang="en-US"/>
          </a:p>
        </p:txBody>
      </p:sp>
      <p:grpSp>
        <p:nvGrpSpPr>
          <p:cNvPr id="45" name="Group 1"/>
          <p:cNvGrpSpPr>
            <a:grpSpLocks/>
          </p:cNvGrpSpPr>
          <p:nvPr/>
        </p:nvGrpSpPr>
        <p:grpSpPr bwMode="auto">
          <a:xfrm>
            <a:off x="876300" y="1904256"/>
            <a:ext cx="4267200" cy="2305048"/>
            <a:chOff x="533400" y="1585915"/>
            <a:chExt cx="4267200" cy="2305048"/>
          </a:xfrm>
        </p:grpSpPr>
        <p:sp>
          <p:nvSpPr>
            <p:cNvPr id="46" name="Rectangle 3"/>
            <p:cNvSpPr>
              <a:spLocks noChangeArrowheads="1"/>
            </p:cNvSpPr>
            <p:nvPr/>
          </p:nvSpPr>
          <p:spPr bwMode="auto">
            <a:xfrm>
              <a:off x="25908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dirty="0">
                  <a:solidFill>
                    <a:schemeClr val="hlink"/>
                  </a:solidFill>
                  <a:latin typeface="Courier New" panose="02070309020205020404" pitchFamily="49" charset="0"/>
                </a:rPr>
                <a:t>q[3]</a:t>
              </a:r>
            </a:p>
          </p:txBody>
        </p:sp>
        <p:sp>
          <p:nvSpPr>
            <p:cNvPr id="47" name="Rectangle 4"/>
            <p:cNvSpPr>
              <a:spLocks noChangeArrowheads="1"/>
            </p:cNvSpPr>
            <p:nvPr/>
          </p:nvSpPr>
          <p:spPr bwMode="auto">
            <a:xfrm>
              <a:off x="25908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E</a:t>
              </a:r>
            </a:p>
          </p:txBody>
        </p:sp>
        <p:sp>
          <p:nvSpPr>
            <p:cNvPr id="48" name="Rectangle 5"/>
            <p:cNvSpPr>
              <a:spLocks noChangeArrowheads="1"/>
            </p:cNvSpPr>
            <p:nvPr/>
          </p:nvSpPr>
          <p:spPr bwMode="auto">
            <a:xfrm>
              <a:off x="32766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q[4]</a:t>
              </a:r>
            </a:p>
          </p:txBody>
        </p:sp>
        <p:sp>
          <p:nvSpPr>
            <p:cNvPr id="49" name="Rectangle 6" descr="Outlined diamond"/>
            <p:cNvSpPr>
              <a:spLocks noChangeArrowheads="1"/>
            </p:cNvSpPr>
            <p:nvPr/>
          </p:nvSpPr>
          <p:spPr bwMode="auto">
            <a:xfrm>
              <a:off x="32766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F</a:t>
              </a:r>
            </a:p>
          </p:txBody>
        </p:sp>
        <p:sp>
          <p:nvSpPr>
            <p:cNvPr id="50" name="Rectangle 7"/>
            <p:cNvSpPr>
              <a:spLocks noChangeArrowheads="1"/>
            </p:cNvSpPr>
            <p:nvPr/>
          </p:nvSpPr>
          <p:spPr bwMode="auto">
            <a:xfrm>
              <a:off x="39624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q[5]</a:t>
              </a:r>
            </a:p>
          </p:txBody>
        </p:sp>
        <p:sp>
          <p:nvSpPr>
            <p:cNvPr id="51" name="Rectangle 8" descr="Outlined diamond"/>
            <p:cNvSpPr>
              <a:spLocks noChangeArrowheads="1"/>
            </p:cNvSpPr>
            <p:nvPr/>
          </p:nvSpPr>
          <p:spPr bwMode="auto">
            <a:xfrm>
              <a:off x="39624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G</a:t>
              </a:r>
            </a:p>
          </p:txBody>
        </p:sp>
        <p:sp>
          <p:nvSpPr>
            <p:cNvPr id="52" name="Rectangle 9"/>
            <p:cNvSpPr>
              <a:spLocks noChangeArrowheads="1"/>
            </p:cNvSpPr>
            <p:nvPr/>
          </p:nvSpPr>
          <p:spPr bwMode="auto">
            <a:xfrm>
              <a:off x="5334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q[0]</a:t>
              </a:r>
            </a:p>
          </p:txBody>
        </p:sp>
        <p:sp>
          <p:nvSpPr>
            <p:cNvPr id="53" name="Rectangle 10"/>
            <p:cNvSpPr>
              <a:spLocks noChangeArrowheads="1"/>
            </p:cNvSpPr>
            <p:nvPr/>
          </p:nvSpPr>
          <p:spPr bwMode="auto">
            <a:xfrm>
              <a:off x="533400" y="26670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a:t>
              </a:r>
            </a:p>
          </p:txBody>
        </p:sp>
        <p:sp>
          <p:nvSpPr>
            <p:cNvPr id="54" name="Rectangle 11"/>
            <p:cNvSpPr>
              <a:spLocks noChangeArrowheads="1"/>
            </p:cNvSpPr>
            <p:nvPr/>
          </p:nvSpPr>
          <p:spPr bwMode="auto">
            <a:xfrm>
              <a:off x="12192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q[1]</a:t>
              </a:r>
            </a:p>
          </p:txBody>
        </p:sp>
        <p:sp>
          <p:nvSpPr>
            <p:cNvPr id="55" name="Rectangle 12"/>
            <p:cNvSpPr>
              <a:spLocks noChangeArrowheads="1"/>
            </p:cNvSpPr>
            <p:nvPr/>
          </p:nvSpPr>
          <p:spPr bwMode="auto">
            <a:xfrm>
              <a:off x="19050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q[2]</a:t>
              </a:r>
            </a:p>
          </p:txBody>
        </p:sp>
        <p:sp>
          <p:nvSpPr>
            <p:cNvPr id="56" name="Rectangle 13"/>
            <p:cNvSpPr>
              <a:spLocks noChangeArrowheads="1"/>
            </p:cNvSpPr>
            <p:nvPr/>
          </p:nvSpPr>
          <p:spPr bwMode="auto">
            <a:xfrm>
              <a:off x="12192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D</a:t>
              </a:r>
            </a:p>
          </p:txBody>
        </p:sp>
        <p:sp>
          <p:nvSpPr>
            <p:cNvPr id="57" name="Rectangle 14"/>
            <p:cNvSpPr>
              <a:spLocks noChangeArrowheads="1"/>
            </p:cNvSpPr>
            <p:nvPr/>
          </p:nvSpPr>
          <p:spPr bwMode="auto">
            <a:xfrm>
              <a:off x="19050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T</a:t>
              </a:r>
            </a:p>
          </p:txBody>
        </p:sp>
        <p:grpSp>
          <p:nvGrpSpPr>
            <p:cNvPr id="58" name="Group 15"/>
            <p:cNvGrpSpPr>
              <a:grpSpLocks/>
            </p:cNvGrpSpPr>
            <p:nvPr/>
          </p:nvGrpSpPr>
          <p:grpSpPr bwMode="auto">
            <a:xfrm>
              <a:off x="1122363" y="1585915"/>
              <a:ext cx="990600" cy="685801"/>
              <a:chOff x="3299" y="1911"/>
              <a:chExt cx="624" cy="432"/>
            </a:xfrm>
          </p:grpSpPr>
          <p:sp>
            <p:nvSpPr>
              <p:cNvPr id="63" name="AutoShape 16"/>
              <p:cNvSpPr>
                <a:spLocks noChangeArrowheads="1"/>
              </p:cNvSpPr>
              <p:nvPr/>
            </p:nvSpPr>
            <p:spPr bwMode="auto">
              <a:xfrm>
                <a:off x="3504" y="2151"/>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64" name="Text Box 17"/>
              <p:cNvSpPr txBox="1">
                <a:spLocks noChangeArrowheads="1"/>
              </p:cNvSpPr>
              <p:nvPr/>
            </p:nvSpPr>
            <p:spPr bwMode="auto">
              <a:xfrm>
                <a:off x="3299" y="1911"/>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dirty="0">
                    <a:solidFill>
                      <a:schemeClr val="hlink"/>
                    </a:solidFill>
                    <a:latin typeface="Courier New" panose="02070309020205020404" pitchFamily="49" charset="0"/>
                  </a:rPr>
                  <a:t>front</a:t>
                </a:r>
                <a:endParaRPr lang="en-US" altLang="en-US" dirty="0">
                  <a:solidFill>
                    <a:schemeClr val="hlink"/>
                  </a:solidFill>
                  <a:latin typeface="Comic Sans MS" panose="030F0702030302020204" pitchFamily="66" charset="0"/>
                </a:endParaRPr>
              </a:p>
            </p:txBody>
          </p:sp>
        </p:grpSp>
        <p:grpSp>
          <p:nvGrpSpPr>
            <p:cNvPr id="59" name="Group 58"/>
            <p:cNvGrpSpPr>
              <a:grpSpLocks/>
            </p:cNvGrpSpPr>
            <p:nvPr/>
          </p:nvGrpSpPr>
          <p:grpSpPr bwMode="auto">
            <a:xfrm>
              <a:off x="3810000" y="3048000"/>
              <a:ext cx="990600" cy="671513"/>
              <a:chOff x="3264" y="3897"/>
              <a:chExt cx="624" cy="423"/>
            </a:xfrm>
          </p:grpSpPr>
          <p:sp>
            <p:nvSpPr>
              <p:cNvPr id="61" name="AutoShape 19"/>
              <p:cNvSpPr>
                <a:spLocks noChangeArrowheads="1"/>
              </p:cNvSpPr>
              <p:nvPr/>
            </p:nvSpPr>
            <p:spPr bwMode="auto">
              <a:xfrm flipV="1">
                <a:off x="3504" y="3897"/>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62" name="Text Box 20"/>
              <p:cNvSpPr txBox="1">
                <a:spLocks noChangeArrowheads="1"/>
              </p:cNvSpPr>
              <p:nvPr/>
            </p:nvSpPr>
            <p:spPr bwMode="auto">
              <a:xfrm>
                <a:off x="3264" y="4089"/>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a:solidFill>
                      <a:schemeClr val="hlink"/>
                    </a:solidFill>
                    <a:latin typeface="Courier New" panose="02070309020205020404" pitchFamily="49" charset="0"/>
                  </a:rPr>
                  <a:t>rear</a:t>
                </a:r>
                <a:endParaRPr lang="en-US" altLang="en-US">
                  <a:solidFill>
                    <a:schemeClr val="hlink"/>
                  </a:solidFill>
                  <a:latin typeface="Comic Sans MS" panose="030F0702030302020204" pitchFamily="66" charset="0"/>
                </a:endParaRPr>
              </a:p>
            </p:txBody>
          </p:sp>
        </p:grpSp>
        <p:sp>
          <p:nvSpPr>
            <p:cNvPr id="60" name="TextBox 76"/>
            <p:cNvSpPr txBox="1">
              <a:spLocks noChangeArrowheads="1"/>
            </p:cNvSpPr>
            <p:nvPr/>
          </p:nvSpPr>
          <p:spPr bwMode="auto">
            <a:xfrm>
              <a:off x="1447800" y="3429000"/>
              <a:ext cx="2667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(8) Dequeue</a:t>
              </a:r>
              <a:endParaRPr lang="en-US" altLang="en-US" dirty="0"/>
            </a:p>
          </p:txBody>
        </p:sp>
      </p:grpSp>
      <p:grpSp>
        <p:nvGrpSpPr>
          <p:cNvPr id="65" name="Group 2"/>
          <p:cNvGrpSpPr>
            <a:grpSpLocks/>
          </p:cNvGrpSpPr>
          <p:nvPr/>
        </p:nvGrpSpPr>
        <p:grpSpPr bwMode="auto">
          <a:xfrm>
            <a:off x="6819900" y="1898775"/>
            <a:ext cx="4267200" cy="2306640"/>
            <a:chOff x="4876800" y="1584323"/>
            <a:chExt cx="4267200" cy="2306640"/>
          </a:xfrm>
        </p:grpSpPr>
        <p:sp>
          <p:nvSpPr>
            <p:cNvPr id="66" name="Rectangle 21"/>
            <p:cNvSpPr>
              <a:spLocks noChangeArrowheads="1"/>
            </p:cNvSpPr>
            <p:nvPr/>
          </p:nvSpPr>
          <p:spPr bwMode="auto">
            <a:xfrm>
              <a:off x="69342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q[3]</a:t>
              </a:r>
            </a:p>
          </p:txBody>
        </p:sp>
        <p:sp>
          <p:nvSpPr>
            <p:cNvPr id="67" name="Rectangle 22"/>
            <p:cNvSpPr>
              <a:spLocks noChangeArrowheads="1"/>
            </p:cNvSpPr>
            <p:nvPr/>
          </p:nvSpPr>
          <p:spPr bwMode="auto">
            <a:xfrm>
              <a:off x="69342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E</a:t>
              </a:r>
            </a:p>
          </p:txBody>
        </p:sp>
        <p:sp>
          <p:nvSpPr>
            <p:cNvPr id="68" name="Rectangle 23"/>
            <p:cNvSpPr>
              <a:spLocks noChangeArrowheads="1"/>
            </p:cNvSpPr>
            <p:nvPr/>
          </p:nvSpPr>
          <p:spPr bwMode="auto">
            <a:xfrm>
              <a:off x="76200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q[4]</a:t>
              </a:r>
            </a:p>
          </p:txBody>
        </p:sp>
        <p:sp>
          <p:nvSpPr>
            <p:cNvPr id="69" name="Rectangle 24" descr="Outlined diamond"/>
            <p:cNvSpPr>
              <a:spLocks noChangeArrowheads="1"/>
            </p:cNvSpPr>
            <p:nvPr/>
          </p:nvSpPr>
          <p:spPr bwMode="auto">
            <a:xfrm>
              <a:off x="76200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F</a:t>
              </a:r>
            </a:p>
          </p:txBody>
        </p:sp>
        <p:sp>
          <p:nvSpPr>
            <p:cNvPr id="70" name="Rectangle 25"/>
            <p:cNvSpPr>
              <a:spLocks noChangeArrowheads="1"/>
            </p:cNvSpPr>
            <p:nvPr/>
          </p:nvSpPr>
          <p:spPr bwMode="auto">
            <a:xfrm>
              <a:off x="83058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dirty="0">
                  <a:solidFill>
                    <a:schemeClr val="hlink"/>
                  </a:solidFill>
                  <a:latin typeface="Courier New" panose="02070309020205020404" pitchFamily="49" charset="0"/>
                </a:rPr>
                <a:t>q[5]</a:t>
              </a:r>
            </a:p>
          </p:txBody>
        </p:sp>
        <p:sp>
          <p:nvSpPr>
            <p:cNvPr id="71" name="Rectangle 26" descr="Outlined diamond"/>
            <p:cNvSpPr>
              <a:spLocks noChangeArrowheads="1"/>
            </p:cNvSpPr>
            <p:nvPr/>
          </p:nvSpPr>
          <p:spPr bwMode="auto">
            <a:xfrm>
              <a:off x="83058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G</a:t>
              </a:r>
            </a:p>
          </p:txBody>
        </p:sp>
        <p:sp>
          <p:nvSpPr>
            <p:cNvPr id="72" name="Rectangle 27"/>
            <p:cNvSpPr>
              <a:spLocks noChangeArrowheads="1"/>
            </p:cNvSpPr>
            <p:nvPr/>
          </p:nvSpPr>
          <p:spPr bwMode="auto">
            <a:xfrm>
              <a:off x="48768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q[0]</a:t>
              </a:r>
            </a:p>
          </p:txBody>
        </p:sp>
        <p:sp>
          <p:nvSpPr>
            <p:cNvPr id="73" name="Rectangle 28" descr="Outlined diamond"/>
            <p:cNvSpPr>
              <a:spLocks noChangeArrowheads="1"/>
            </p:cNvSpPr>
            <p:nvPr/>
          </p:nvSpPr>
          <p:spPr bwMode="auto">
            <a:xfrm>
              <a:off x="4876800" y="26670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A</a:t>
              </a:r>
            </a:p>
          </p:txBody>
        </p:sp>
        <p:sp>
          <p:nvSpPr>
            <p:cNvPr id="74" name="Rectangle 29"/>
            <p:cNvSpPr>
              <a:spLocks noChangeArrowheads="1"/>
            </p:cNvSpPr>
            <p:nvPr/>
          </p:nvSpPr>
          <p:spPr bwMode="auto">
            <a:xfrm>
              <a:off x="55626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q[1]</a:t>
              </a:r>
            </a:p>
          </p:txBody>
        </p:sp>
        <p:sp>
          <p:nvSpPr>
            <p:cNvPr id="75" name="Rectangle 30"/>
            <p:cNvSpPr>
              <a:spLocks noChangeArrowheads="1"/>
            </p:cNvSpPr>
            <p:nvPr/>
          </p:nvSpPr>
          <p:spPr bwMode="auto">
            <a:xfrm>
              <a:off x="62484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q[2]</a:t>
              </a:r>
            </a:p>
          </p:txBody>
        </p:sp>
        <p:sp>
          <p:nvSpPr>
            <p:cNvPr id="76" name="Rectangle 31"/>
            <p:cNvSpPr>
              <a:spLocks noChangeArrowheads="1"/>
            </p:cNvSpPr>
            <p:nvPr/>
          </p:nvSpPr>
          <p:spPr bwMode="auto">
            <a:xfrm>
              <a:off x="5562600" y="26670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D</a:t>
              </a:r>
            </a:p>
          </p:txBody>
        </p:sp>
        <p:sp>
          <p:nvSpPr>
            <p:cNvPr id="77" name="Rectangle 32"/>
            <p:cNvSpPr>
              <a:spLocks noChangeArrowheads="1"/>
            </p:cNvSpPr>
            <p:nvPr/>
          </p:nvSpPr>
          <p:spPr bwMode="auto">
            <a:xfrm>
              <a:off x="62484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T</a:t>
              </a:r>
            </a:p>
          </p:txBody>
        </p:sp>
        <p:grpSp>
          <p:nvGrpSpPr>
            <p:cNvPr id="78" name="Group 33"/>
            <p:cNvGrpSpPr>
              <a:grpSpLocks/>
            </p:cNvGrpSpPr>
            <p:nvPr/>
          </p:nvGrpSpPr>
          <p:grpSpPr bwMode="auto">
            <a:xfrm>
              <a:off x="6096000" y="1584323"/>
              <a:ext cx="990600" cy="676275"/>
              <a:chOff x="3264" y="1910"/>
              <a:chExt cx="624" cy="426"/>
            </a:xfrm>
          </p:grpSpPr>
          <p:sp>
            <p:nvSpPr>
              <p:cNvPr id="83" name="AutoShape 34"/>
              <p:cNvSpPr>
                <a:spLocks noChangeArrowheads="1"/>
              </p:cNvSpPr>
              <p:nvPr/>
            </p:nvSpPr>
            <p:spPr bwMode="auto">
              <a:xfrm>
                <a:off x="3504" y="2144"/>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84" name="Text Box 35"/>
              <p:cNvSpPr txBox="1">
                <a:spLocks noChangeArrowheads="1"/>
              </p:cNvSpPr>
              <p:nvPr/>
            </p:nvSpPr>
            <p:spPr bwMode="auto">
              <a:xfrm>
                <a:off x="3264" y="1910"/>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dirty="0">
                    <a:solidFill>
                      <a:schemeClr val="hlink"/>
                    </a:solidFill>
                    <a:latin typeface="Courier New" panose="02070309020205020404" pitchFamily="49" charset="0"/>
                  </a:rPr>
                  <a:t>front</a:t>
                </a:r>
                <a:endParaRPr lang="en-US" altLang="en-US" dirty="0">
                  <a:solidFill>
                    <a:schemeClr val="hlink"/>
                  </a:solidFill>
                  <a:latin typeface="Comic Sans MS" panose="030F0702030302020204" pitchFamily="66" charset="0"/>
                </a:endParaRPr>
              </a:p>
            </p:txBody>
          </p:sp>
        </p:grpSp>
        <p:grpSp>
          <p:nvGrpSpPr>
            <p:cNvPr id="79" name="Group 36"/>
            <p:cNvGrpSpPr>
              <a:grpSpLocks/>
            </p:cNvGrpSpPr>
            <p:nvPr/>
          </p:nvGrpSpPr>
          <p:grpSpPr bwMode="auto">
            <a:xfrm>
              <a:off x="8153400" y="3048000"/>
              <a:ext cx="990600" cy="671513"/>
              <a:chOff x="3264" y="3897"/>
              <a:chExt cx="624" cy="423"/>
            </a:xfrm>
          </p:grpSpPr>
          <p:sp>
            <p:nvSpPr>
              <p:cNvPr id="81" name="AutoShape 37"/>
              <p:cNvSpPr>
                <a:spLocks noChangeArrowheads="1"/>
              </p:cNvSpPr>
              <p:nvPr/>
            </p:nvSpPr>
            <p:spPr bwMode="auto">
              <a:xfrm flipV="1">
                <a:off x="3504" y="3897"/>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82" name="Text Box 38"/>
              <p:cNvSpPr txBox="1">
                <a:spLocks noChangeArrowheads="1"/>
              </p:cNvSpPr>
              <p:nvPr/>
            </p:nvSpPr>
            <p:spPr bwMode="auto">
              <a:xfrm>
                <a:off x="3264" y="4089"/>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a:solidFill>
                      <a:schemeClr val="hlink"/>
                    </a:solidFill>
                    <a:latin typeface="Courier New" panose="02070309020205020404" pitchFamily="49" charset="0"/>
                  </a:rPr>
                  <a:t>rear</a:t>
                </a:r>
                <a:endParaRPr lang="en-US" altLang="en-US">
                  <a:solidFill>
                    <a:schemeClr val="hlink"/>
                  </a:solidFill>
                  <a:latin typeface="Comic Sans MS" panose="030F0702030302020204" pitchFamily="66" charset="0"/>
                </a:endParaRPr>
              </a:p>
            </p:txBody>
          </p:sp>
        </p:grpSp>
        <p:sp>
          <p:nvSpPr>
            <p:cNvPr id="80" name="TextBox 77"/>
            <p:cNvSpPr txBox="1">
              <a:spLocks noChangeArrowheads="1"/>
            </p:cNvSpPr>
            <p:nvPr/>
          </p:nvSpPr>
          <p:spPr bwMode="auto">
            <a:xfrm>
              <a:off x="5867400" y="3429000"/>
              <a:ext cx="2667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(9) Dequeue </a:t>
              </a:r>
              <a:endParaRPr lang="en-US" altLang="en-US" dirty="0"/>
            </a:p>
          </p:txBody>
        </p:sp>
      </p:grpSp>
      <p:sp>
        <p:nvSpPr>
          <p:cNvPr id="85" name="TextBox 84"/>
          <p:cNvSpPr txBox="1"/>
          <p:nvPr/>
        </p:nvSpPr>
        <p:spPr>
          <a:xfrm>
            <a:off x="1943100" y="5175489"/>
            <a:ext cx="7543800" cy="1569660"/>
          </a:xfrm>
          <a:prstGeom prst="rect">
            <a:avLst/>
          </a:prstGeom>
          <a:solidFill>
            <a:schemeClr val="accent2">
              <a:lumMod val="20000"/>
              <a:lumOff val="80000"/>
            </a:schemeClr>
          </a:solidFill>
        </p:spPr>
        <p:txBody>
          <a:bodyPr wrap="square">
            <a:spAutoFit/>
          </a:bodyPr>
          <a:lstStyle/>
          <a:p>
            <a:pPr fontAlgn="auto">
              <a:spcBef>
                <a:spcPts val="0"/>
              </a:spcBef>
              <a:spcAft>
                <a:spcPts val="0"/>
              </a:spcAft>
              <a:defRPr/>
            </a:pPr>
            <a:r>
              <a:rPr lang="en-US" sz="2400" dirty="0">
                <a:solidFill>
                  <a:srgbClr val="FF0000"/>
                </a:solidFill>
                <a:cs typeface="Arial" panose="020B0604020202020204" pitchFamily="34" charset="0"/>
              </a:rPr>
              <a:t>Is it possible now, to insert new item into the queue? </a:t>
            </a:r>
          </a:p>
          <a:p>
            <a:pPr fontAlgn="auto">
              <a:spcBef>
                <a:spcPts val="0"/>
              </a:spcBef>
              <a:spcAft>
                <a:spcPts val="0"/>
              </a:spcAft>
              <a:defRPr/>
            </a:pPr>
            <a:r>
              <a:rPr lang="en-US" sz="2400" dirty="0">
                <a:cs typeface="Arial" panose="020B0604020202020204" pitchFamily="34" charset="0"/>
              </a:rPr>
              <a:t>Yes</a:t>
            </a:r>
          </a:p>
          <a:p>
            <a:pPr fontAlgn="auto">
              <a:spcBef>
                <a:spcPts val="0"/>
              </a:spcBef>
              <a:spcAft>
                <a:spcPts val="0"/>
              </a:spcAft>
              <a:defRPr/>
            </a:pPr>
            <a:r>
              <a:rPr lang="en-US" sz="2400" dirty="0">
                <a:solidFill>
                  <a:srgbClr val="FF0000"/>
                </a:solidFill>
                <a:cs typeface="Arial" panose="020B0604020202020204" pitchFamily="34" charset="0"/>
              </a:rPr>
              <a:t>Where would it be inserted?</a:t>
            </a:r>
          </a:p>
          <a:p>
            <a:pPr fontAlgn="auto">
              <a:spcBef>
                <a:spcPts val="0"/>
              </a:spcBef>
              <a:spcAft>
                <a:spcPts val="0"/>
              </a:spcAft>
              <a:defRPr/>
            </a:pPr>
            <a:r>
              <a:rPr lang="en-US" sz="2400" dirty="0">
                <a:cs typeface="Arial" panose="020B0604020202020204" pitchFamily="34" charset="0"/>
              </a:rPr>
              <a:t>At 0</a:t>
            </a:r>
            <a:r>
              <a:rPr lang="en-US" sz="2400" baseline="30000" dirty="0">
                <a:cs typeface="Arial" panose="020B0604020202020204" pitchFamily="34" charset="0"/>
              </a:rPr>
              <a:t>th</a:t>
            </a:r>
            <a:r>
              <a:rPr lang="en-US" sz="2400" dirty="0">
                <a:cs typeface="Arial" panose="020B0604020202020204" pitchFamily="34" charset="0"/>
              </a:rPr>
              <a:t> index, as we are using circular queue</a:t>
            </a:r>
          </a:p>
        </p:txBody>
      </p:sp>
    </p:spTree>
    <p:extLst>
      <p:ext uri="{BB962C8B-B14F-4D97-AF65-F5344CB8AC3E}">
        <p14:creationId xmlns:p14="http://schemas.microsoft.com/office/powerpoint/2010/main" val="4149859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Circular Queue Operations cont.</a:t>
            </a:r>
          </a:p>
        </p:txBody>
      </p:sp>
      <p:sp>
        <p:nvSpPr>
          <p:cNvPr id="3" name="Slide Number Placeholder 2"/>
          <p:cNvSpPr>
            <a:spLocks noGrp="1"/>
          </p:cNvSpPr>
          <p:nvPr>
            <p:ph type="sldNum" sz="quarter" idx="12"/>
          </p:nvPr>
        </p:nvSpPr>
        <p:spPr/>
        <p:txBody>
          <a:bodyPr/>
          <a:lstStyle/>
          <a:p>
            <a:pPr>
              <a:defRPr/>
            </a:pPr>
            <a:fld id="{C71BD5D2-A63C-4CF3-9B33-EDAB3DA9185D}" type="slidenum">
              <a:rPr lang="en-US" altLang="en-US" smtClean="0"/>
              <a:pPr>
                <a:defRPr/>
              </a:pPr>
              <a:t>23</a:t>
            </a:fld>
            <a:endParaRPr lang="en-US" altLang="en-US"/>
          </a:p>
        </p:txBody>
      </p:sp>
      <p:grpSp>
        <p:nvGrpSpPr>
          <p:cNvPr id="4" name="Group 1"/>
          <p:cNvGrpSpPr>
            <a:grpSpLocks/>
          </p:cNvGrpSpPr>
          <p:nvPr/>
        </p:nvGrpSpPr>
        <p:grpSpPr bwMode="auto">
          <a:xfrm>
            <a:off x="845598" y="1828800"/>
            <a:ext cx="4267200" cy="2290763"/>
            <a:chOff x="381000" y="1600200"/>
            <a:chExt cx="4267200" cy="2290763"/>
          </a:xfrm>
        </p:grpSpPr>
        <p:sp>
          <p:nvSpPr>
            <p:cNvPr id="5" name="Rectangle 3"/>
            <p:cNvSpPr>
              <a:spLocks noChangeArrowheads="1"/>
            </p:cNvSpPr>
            <p:nvPr/>
          </p:nvSpPr>
          <p:spPr bwMode="auto">
            <a:xfrm>
              <a:off x="25908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q[3]</a:t>
              </a:r>
            </a:p>
          </p:txBody>
        </p:sp>
        <p:sp>
          <p:nvSpPr>
            <p:cNvPr id="6" name="Rectangle 4"/>
            <p:cNvSpPr>
              <a:spLocks noChangeArrowheads="1"/>
            </p:cNvSpPr>
            <p:nvPr/>
          </p:nvSpPr>
          <p:spPr bwMode="auto">
            <a:xfrm>
              <a:off x="25908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E</a:t>
              </a:r>
            </a:p>
          </p:txBody>
        </p:sp>
        <p:sp>
          <p:nvSpPr>
            <p:cNvPr id="7" name="Rectangle 5"/>
            <p:cNvSpPr>
              <a:spLocks noChangeArrowheads="1"/>
            </p:cNvSpPr>
            <p:nvPr/>
          </p:nvSpPr>
          <p:spPr bwMode="auto">
            <a:xfrm>
              <a:off x="32766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q[4]</a:t>
              </a:r>
            </a:p>
          </p:txBody>
        </p:sp>
        <p:sp>
          <p:nvSpPr>
            <p:cNvPr id="8" name="Rectangle 6" descr="Outlined diamond"/>
            <p:cNvSpPr>
              <a:spLocks noChangeArrowheads="1"/>
            </p:cNvSpPr>
            <p:nvPr/>
          </p:nvSpPr>
          <p:spPr bwMode="auto">
            <a:xfrm>
              <a:off x="32766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F</a:t>
              </a:r>
            </a:p>
          </p:txBody>
        </p:sp>
        <p:sp>
          <p:nvSpPr>
            <p:cNvPr id="9" name="Rectangle 7"/>
            <p:cNvSpPr>
              <a:spLocks noChangeArrowheads="1"/>
            </p:cNvSpPr>
            <p:nvPr/>
          </p:nvSpPr>
          <p:spPr bwMode="auto">
            <a:xfrm>
              <a:off x="39624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q[5]</a:t>
              </a:r>
            </a:p>
          </p:txBody>
        </p:sp>
        <p:sp>
          <p:nvSpPr>
            <p:cNvPr id="10" name="Rectangle 8" descr="Outlined diamond"/>
            <p:cNvSpPr>
              <a:spLocks noChangeArrowheads="1"/>
            </p:cNvSpPr>
            <p:nvPr/>
          </p:nvSpPr>
          <p:spPr bwMode="auto">
            <a:xfrm>
              <a:off x="39624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G</a:t>
              </a:r>
            </a:p>
          </p:txBody>
        </p:sp>
        <p:sp>
          <p:nvSpPr>
            <p:cNvPr id="11" name="Rectangle 9"/>
            <p:cNvSpPr>
              <a:spLocks noChangeArrowheads="1"/>
            </p:cNvSpPr>
            <p:nvPr/>
          </p:nvSpPr>
          <p:spPr bwMode="auto">
            <a:xfrm>
              <a:off x="5334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q[0]</a:t>
              </a:r>
            </a:p>
          </p:txBody>
        </p:sp>
        <p:sp>
          <p:nvSpPr>
            <p:cNvPr id="12" name="Rectangle 10"/>
            <p:cNvSpPr>
              <a:spLocks noChangeArrowheads="1"/>
            </p:cNvSpPr>
            <p:nvPr/>
          </p:nvSpPr>
          <p:spPr bwMode="auto">
            <a:xfrm>
              <a:off x="5334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H</a:t>
              </a:r>
            </a:p>
          </p:txBody>
        </p:sp>
        <p:sp>
          <p:nvSpPr>
            <p:cNvPr id="13" name="Rectangle 11"/>
            <p:cNvSpPr>
              <a:spLocks noChangeArrowheads="1"/>
            </p:cNvSpPr>
            <p:nvPr/>
          </p:nvSpPr>
          <p:spPr bwMode="auto">
            <a:xfrm>
              <a:off x="12192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q[1]</a:t>
              </a:r>
            </a:p>
          </p:txBody>
        </p:sp>
        <p:sp>
          <p:nvSpPr>
            <p:cNvPr id="14" name="Rectangle 12"/>
            <p:cNvSpPr>
              <a:spLocks noChangeArrowheads="1"/>
            </p:cNvSpPr>
            <p:nvPr/>
          </p:nvSpPr>
          <p:spPr bwMode="auto">
            <a:xfrm>
              <a:off x="19050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q[2]</a:t>
              </a:r>
            </a:p>
          </p:txBody>
        </p:sp>
        <p:sp>
          <p:nvSpPr>
            <p:cNvPr id="15" name="Rectangle 13"/>
            <p:cNvSpPr>
              <a:spLocks noChangeArrowheads="1"/>
            </p:cNvSpPr>
            <p:nvPr/>
          </p:nvSpPr>
          <p:spPr bwMode="auto">
            <a:xfrm>
              <a:off x="1219200" y="2667000"/>
              <a:ext cx="685800" cy="381000"/>
            </a:xfrm>
            <a:prstGeom prst="rect">
              <a:avLst/>
            </a:prstGeom>
            <a:pattFill prst="openDmnd">
              <a:fgClr>
                <a:schemeClr val="bg2"/>
              </a:fgClr>
              <a:bgClr>
                <a:schemeClr val="tx2"/>
              </a:bgClr>
            </a:patt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D</a:t>
              </a:r>
            </a:p>
          </p:txBody>
        </p:sp>
        <p:sp>
          <p:nvSpPr>
            <p:cNvPr id="16" name="Rectangle 14"/>
            <p:cNvSpPr>
              <a:spLocks noChangeArrowheads="1"/>
            </p:cNvSpPr>
            <p:nvPr/>
          </p:nvSpPr>
          <p:spPr bwMode="auto">
            <a:xfrm>
              <a:off x="1905000" y="2667000"/>
              <a:ext cx="685800" cy="381000"/>
            </a:xfrm>
            <a:prstGeom prst="rect">
              <a:avLst/>
            </a:prstGeom>
            <a:solidFill>
              <a:srgbClr val="44546A"/>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T</a:t>
              </a:r>
            </a:p>
          </p:txBody>
        </p:sp>
        <p:grpSp>
          <p:nvGrpSpPr>
            <p:cNvPr id="17" name="Group 15"/>
            <p:cNvGrpSpPr>
              <a:grpSpLocks/>
            </p:cNvGrpSpPr>
            <p:nvPr/>
          </p:nvGrpSpPr>
          <p:grpSpPr bwMode="auto">
            <a:xfrm>
              <a:off x="1752600" y="1600200"/>
              <a:ext cx="990600" cy="671513"/>
              <a:chOff x="2832" y="1920"/>
              <a:chExt cx="624" cy="423"/>
            </a:xfrm>
          </p:grpSpPr>
          <p:sp>
            <p:nvSpPr>
              <p:cNvPr id="22" name="AutoShape 16"/>
              <p:cNvSpPr>
                <a:spLocks noChangeArrowheads="1"/>
              </p:cNvSpPr>
              <p:nvPr/>
            </p:nvSpPr>
            <p:spPr bwMode="auto">
              <a:xfrm>
                <a:off x="3072" y="2151"/>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23" name="Text Box 17"/>
              <p:cNvSpPr txBox="1">
                <a:spLocks noChangeArrowheads="1"/>
              </p:cNvSpPr>
              <p:nvPr/>
            </p:nvSpPr>
            <p:spPr bwMode="auto">
              <a:xfrm>
                <a:off x="2832" y="1920"/>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a:solidFill>
                      <a:schemeClr val="hlink"/>
                    </a:solidFill>
                    <a:latin typeface="Courier New" panose="02070309020205020404" pitchFamily="49" charset="0"/>
                  </a:rPr>
                  <a:t>front</a:t>
                </a:r>
                <a:endParaRPr lang="en-US" altLang="en-US">
                  <a:solidFill>
                    <a:schemeClr val="hlink"/>
                  </a:solidFill>
                  <a:latin typeface="Comic Sans MS" panose="030F0702030302020204" pitchFamily="66" charset="0"/>
                </a:endParaRPr>
              </a:p>
            </p:txBody>
          </p:sp>
        </p:grpSp>
        <p:grpSp>
          <p:nvGrpSpPr>
            <p:cNvPr id="18" name="Group 18"/>
            <p:cNvGrpSpPr>
              <a:grpSpLocks/>
            </p:cNvGrpSpPr>
            <p:nvPr/>
          </p:nvGrpSpPr>
          <p:grpSpPr bwMode="auto">
            <a:xfrm>
              <a:off x="381000" y="3048000"/>
              <a:ext cx="990600" cy="671513"/>
              <a:chOff x="3264" y="3897"/>
              <a:chExt cx="624" cy="423"/>
            </a:xfrm>
          </p:grpSpPr>
          <p:sp>
            <p:nvSpPr>
              <p:cNvPr id="20" name="AutoShape 19"/>
              <p:cNvSpPr>
                <a:spLocks noChangeArrowheads="1"/>
              </p:cNvSpPr>
              <p:nvPr/>
            </p:nvSpPr>
            <p:spPr bwMode="auto">
              <a:xfrm flipV="1">
                <a:off x="3504" y="3897"/>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21" name="Text Box 20"/>
              <p:cNvSpPr txBox="1">
                <a:spLocks noChangeArrowheads="1"/>
              </p:cNvSpPr>
              <p:nvPr/>
            </p:nvSpPr>
            <p:spPr bwMode="auto">
              <a:xfrm>
                <a:off x="3264" y="4089"/>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a:solidFill>
                      <a:schemeClr val="hlink"/>
                    </a:solidFill>
                    <a:latin typeface="Courier New" panose="02070309020205020404" pitchFamily="49" charset="0"/>
                  </a:rPr>
                  <a:t>rear</a:t>
                </a:r>
                <a:endParaRPr lang="en-US" altLang="en-US">
                  <a:solidFill>
                    <a:schemeClr val="hlink"/>
                  </a:solidFill>
                  <a:latin typeface="Comic Sans MS" panose="030F0702030302020204" pitchFamily="66" charset="0"/>
                </a:endParaRPr>
              </a:p>
            </p:txBody>
          </p:sp>
        </p:grpSp>
        <p:sp>
          <p:nvSpPr>
            <p:cNvPr id="19" name="TextBox 76"/>
            <p:cNvSpPr txBox="1">
              <a:spLocks noChangeArrowheads="1"/>
            </p:cNvSpPr>
            <p:nvPr/>
          </p:nvSpPr>
          <p:spPr bwMode="auto">
            <a:xfrm>
              <a:off x="1447800" y="3429000"/>
              <a:ext cx="2667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(10) Enqueue (H)</a:t>
              </a:r>
              <a:endParaRPr lang="en-US" altLang="en-US" dirty="0"/>
            </a:p>
          </p:txBody>
        </p:sp>
      </p:grpSp>
      <p:grpSp>
        <p:nvGrpSpPr>
          <p:cNvPr id="24" name="Group 2"/>
          <p:cNvGrpSpPr>
            <a:grpSpLocks/>
          </p:cNvGrpSpPr>
          <p:nvPr/>
        </p:nvGrpSpPr>
        <p:grpSpPr bwMode="auto">
          <a:xfrm>
            <a:off x="7010400" y="1822142"/>
            <a:ext cx="4114800" cy="2290763"/>
            <a:chOff x="4876800" y="1600200"/>
            <a:chExt cx="4114800" cy="2290763"/>
          </a:xfrm>
        </p:grpSpPr>
        <p:sp>
          <p:nvSpPr>
            <p:cNvPr id="25" name="Rectangle 21"/>
            <p:cNvSpPr>
              <a:spLocks noChangeArrowheads="1"/>
            </p:cNvSpPr>
            <p:nvPr/>
          </p:nvSpPr>
          <p:spPr bwMode="auto">
            <a:xfrm>
              <a:off x="69342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q[3]</a:t>
              </a:r>
            </a:p>
          </p:txBody>
        </p:sp>
        <p:sp>
          <p:nvSpPr>
            <p:cNvPr id="26" name="Rectangle 22"/>
            <p:cNvSpPr>
              <a:spLocks noChangeArrowheads="1"/>
            </p:cNvSpPr>
            <p:nvPr/>
          </p:nvSpPr>
          <p:spPr bwMode="auto">
            <a:xfrm>
              <a:off x="69342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E</a:t>
              </a:r>
            </a:p>
          </p:txBody>
        </p:sp>
        <p:sp>
          <p:nvSpPr>
            <p:cNvPr id="27" name="Rectangle 23"/>
            <p:cNvSpPr>
              <a:spLocks noChangeArrowheads="1"/>
            </p:cNvSpPr>
            <p:nvPr/>
          </p:nvSpPr>
          <p:spPr bwMode="auto">
            <a:xfrm>
              <a:off x="76200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q[4]</a:t>
              </a:r>
            </a:p>
          </p:txBody>
        </p:sp>
        <p:sp>
          <p:nvSpPr>
            <p:cNvPr id="28" name="Rectangle 24" descr="Outlined diamond"/>
            <p:cNvSpPr>
              <a:spLocks noChangeArrowheads="1"/>
            </p:cNvSpPr>
            <p:nvPr/>
          </p:nvSpPr>
          <p:spPr bwMode="auto">
            <a:xfrm>
              <a:off x="76200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F</a:t>
              </a:r>
            </a:p>
          </p:txBody>
        </p:sp>
        <p:sp>
          <p:nvSpPr>
            <p:cNvPr id="29" name="Rectangle 25"/>
            <p:cNvSpPr>
              <a:spLocks noChangeArrowheads="1"/>
            </p:cNvSpPr>
            <p:nvPr/>
          </p:nvSpPr>
          <p:spPr bwMode="auto">
            <a:xfrm>
              <a:off x="83058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q[5]</a:t>
              </a:r>
            </a:p>
          </p:txBody>
        </p:sp>
        <p:sp>
          <p:nvSpPr>
            <p:cNvPr id="30" name="Rectangle 26" descr="Outlined diamond"/>
            <p:cNvSpPr>
              <a:spLocks noChangeArrowheads="1"/>
            </p:cNvSpPr>
            <p:nvPr/>
          </p:nvSpPr>
          <p:spPr bwMode="auto">
            <a:xfrm>
              <a:off x="83058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G</a:t>
              </a:r>
            </a:p>
          </p:txBody>
        </p:sp>
        <p:sp>
          <p:nvSpPr>
            <p:cNvPr id="31" name="Rectangle 27"/>
            <p:cNvSpPr>
              <a:spLocks noChangeArrowheads="1"/>
            </p:cNvSpPr>
            <p:nvPr/>
          </p:nvSpPr>
          <p:spPr bwMode="auto">
            <a:xfrm>
              <a:off x="48768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q[0]</a:t>
              </a:r>
            </a:p>
          </p:txBody>
        </p:sp>
        <p:sp>
          <p:nvSpPr>
            <p:cNvPr id="32" name="Rectangle 28" descr="Outlined diamond"/>
            <p:cNvSpPr>
              <a:spLocks noChangeArrowheads="1"/>
            </p:cNvSpPr>
            <p:nvPr/>
          </p:nvSpPr>
          <p:spPr bwMode="auto">
            <a:xfrm>
              <a:off x="48768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H</a:t>
              </a:r>
            </a:p>
          </p:txBody>
        </p:sp>
        <p:sp>
          <p:nvSpPr>
            <p:cNvPr id="33" name="Rectangle 29"/>
            <p:cNvSpPr>
              <a:spLocks noChangeArrowheads="1"/>
            </p:cNvSpPr>
            <p:nvPr/>
          </p:nvSpPr>
          <p:spPr bwMode="auto">
            <a:xfrm>
              <a:off x="55626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dirty="0">
                  <a:solidFill>
                    <a:schemeClr val="hlink"/>
                  </a:solidFill>
                  <a:latin typeface="Courier New" panose="02070309020205020404" pitchFamily="49" charset="0"/>
                </a:rPr>
                <a:t>q[1]</a:t>
              </a:r>
            </a:p>
          </p:txBody>
        </p:sp>
        <p:sp>
          <p:nvSpPr>
            <p:cNvPr id="34" name="Rectangle 30"/>
            <p:cNvSpPr>
              <a:spLocks noChangeArrowheads="1"/>
            </p:cNvSpPr>
            <p:nvPr/>
          </p:nvSpPr>
          <p:spPr bwMode="auto">
            <a:xfrm>
              <a:off x="6248400" y="22860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q[2]</a:t>
              </a:r>
            </a:p>
          </p:txBody>
        </p:sp>
        <p:sp>
          <p:nvSpPr>
            <p:cNvPr id="35" name="Rectangle 31"/>
            <p:cNvSpPr>
              <a:spLocks noChangeArrowheads="1"/>
            </p:cNvSpPr>
            <p:nvPr/>
          </p:nvSpPr>
          <p:spPr bwMode="auto">
            <a:xfrm>
              <a:off x="55626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I</a:t>
              </a:r>
            </a:p>
          </p:txBody>
        </p:sp>
        <p:sp>
          <p:nvSpPr>
            <p:cNvPr id="36" name="Rectangle 32"/>
            <p:cNvSpPr>
              <a:spLocks noChangeArrowheads="1"/>
            </p:cNvSpPr>
            <p:nvPr/>
          </p:nvSpPr>
          <p:spPr bwMode="auto">
            <a:xfrm>
              <a:off x="6248400" y="26670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T</a:t>
              </a:r>
            </a:p>
          </p:txBody>
        </p:sp>
        <p:grpSp>
          <p:nvGrpSpPr>
            <p:cNvPr id="37" name="Group 33"/>
            <p:cNvGrpSpPr>
              <a:grpSpLocks/>
            </p:cNvGrpSpPr>
            <p:nvPr/>
          </p:nvGrpSpPr>
          <p:grpSpPr bwMode="auto">
            <a:xfrm>
              <a:off x="6096000" y="1600200"/>
              <a:ext cx="990600" cy="671513"/>
              <a:chOff x="2832" y="1920"/>
              <a:chExt cx="624" cy="423"/>
            </a:xfrm>
          </p:grpSpPr>
          <p:sp>
            <p:nvSpPr>
              <p:cNvPr id="42" name="AutoShape 34"/>
              <p:cNvSpPr>
                <a:spLocks noChangeArrowheads="1"/>
              </p:cNvSpPr>
              <p:nvPr/>
            </p:nvSpPr>
            <p:spPr bwMode="auto">
              <a:xfrm>
                <a:off x="3072" y="2151"/>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43" name="Text Box 35"/>
              <p:cNvSpPr txBox="1">
                <a:spLocks noChangeArrowheads="1"/>
              </p:cNvSpPr>
              <p:nvPr/>
            </p:nvSpPr>
            <p:spPr bwMode="auto">
              <a:xfrm>
                <a:off x="2832" y="1920"/>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a:solidFill>
                      <a:schemeClr val="hlink"/>
                    </a:solidFill>
                    <a:latin typeface="Courier New" panose="02070309020205020404" pitchFamily="49" charset="0"/>
                  </a:rPr>
                  <a:t>front</a:t>
                </a:r>
                <a:endParaRPr lang="en-US" altLang="en-US">
                  <a:solidFill>
                    <a:schemeClr val="hlink"/>
                  </a:solidFill>
                  <a:latin typeface="Comic Sans MS" panose="030F0702030302020204" pitchFamily="66" charset="0"/>
                </a:endParaRPr>
              </a:p>
            </p:txBody>
          </p:sp>
        </p:grpSp>
        <p:grpSp>
          <p:nvGrpSpPr>
            <p:cNvPr id="38" name="Group 36"/>
            <p:cNvGrpSpPr>
              <a:grpSpLocks/>
            </p:cNvGrpSpPr>
            <p:nvPr/>
          </p:nvGrpSpPr>
          <p:grpSpPr bwMode="auto">
            <a:xfrm>
              <a:off x="5410200" y="3048000"/>
              <a:ext cx="990600" cy="671513"/>
              <a:chOff x="3264" y="3897"/>
              <a:chExt cx="624" cy="423"/>
            </a:xfrm>
          </p:grpSpPr>
          <p:sp>
            <p:nvSpPr>
              <p:cNvPr id="40" name="AutoShape 37"/>
              <p:cNvSpPr>
                <a:spLocks noChangeArrowheads="1"/>
              </p:cNvSpPr>
              <p:nvPr/>
            </p:nvSpPr>
            <p:spPr bwMode="auto">
              <a:xfrm flipV="1">
                <a:off x="3504" y="3897"/>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41" name="Text Box 38"/>
              <p:cNvSpPr txBox="1">
                <a:spLocks noChangeArrowheads="1"/>
              </p:cNvSpPr>
              <p:nvPr/>
            </p:nvSpPr>
            <p:spPr bwMode="auto">
              <a:xfrm>
                <a:off x="3264" y="4089"/>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dirty="0">
                    <a:solidFill>
                      <a:schemeClr val="hlink"/>
                    </a:solidFill>
                    <a:latin typeface="Courier New" panose="02070309020205020404" pitchFamily="49" charset="0"/>
                  </a:rPr>
                  <a:t>rear</a:t>
                </a:r>
                <a:endParaRPr lang="en-US" altLang="en-US" dirty="0">
                  <a:solidFill>
                    <a:schemeClr val="hlink"/>
                  </a:solidFill>
                  <a:latin typeface="Comic Sans MS" panose="030F0702030302020204" pitchFamily="66" charset="0"/>
                </a:endParaRPr>
              </a:p>
            </p:txBody>
          </p:sp>
        </p:grpSp>
        <p:sp>
          <p:nvSpPr>
            <p:cNvPr id="39" name="TextBox 77"/>
            <p:cNvSpPr txBox="1">
              <a:spLocks noChangeArrowheads="1"/>
            </p:cNvSpPr>
            <p:nvPr/>
          </p:nvSpPr>
          <p:spPr bwMode="auto">
            <a:xfrm>
              <a:off x="6096000" y="3429000"/>
              <a:ext cx="2438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(12) Enqueue (I) </a:t>
              </a:r>
              <a:endParaRPr lang="en-US" altLang="en-US" dirty="0"/>
            </a:p>
          </p:txBody>
        </p:sp>
      </p:grpSp>
      <p:sp>
        <p:nvSpPr>
          <p:cNvPr id="44" name="TextBox 62"/>
          <p:cNvSpPr txBox="1">
            <a:spLocks noChangeArrowheads="1"/>
          </p:cNvSpPr>
          <p:nvPr/>
        </p:nvSpPr>
        <p:spPr bwMode="auto">
          <a:xfrm>
            <a:off x="997998" y="5105493"/>
            <a:ext cx="9968315" cy="1200329"/>
          </a:xfrm>
          <a:prstGeom prst="rect">
            <a:avLst/>
          </a:prstGeom>
          <a:gradFill rotWithShape="1">
            <a:gsLst>
              <a:gs pos="0">
                <a:srgbClr val="5E9EFF"/>
              </a:gs>
              <a:gs pos="39999">
                <a:srgbClr val="85C2FF"/>
              </a:gs>
              <a:gs pos="70000">
                <a:srgbClr val="C4D6EB"/>
              </a:gs>
              <a:gs pos="100000">
                <a:srgbClr val="FFEBFA"/>
              </a:gs>
            </a:gsLst>
            <a:path path="rect">
              <a:fillToRect l="100000" t="10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Now the queue is full, what is the condition to check that? </a:t>
            </a:r>
          </a:p>
          <a:p>
            <a:pPr eaLnBrk="1" hangingPunct="1"/>
            <a:r>
              <a:rPr lang="en-US" altLang="en-US" sz="2400" dirty="0">
                <a:solidFill>
                  <a:srgbClr val="FF0000"/>
                </a:solidFill>
              </a:rPr>
              <a:t>Condition: </a:t>
            </a:r>
          </a:p>
          <a:p>
            <a:pPr eaLnBrk="1" hangingPunct="1"/>
            <a:r>
              <a:rPr lang="en-US" altLang="en-US" sz="2400" dirty="0">
                <a:solidFill>
                  <a:srgbClr val="2F5F48"/>
                </a:solidFill>
              </a:rPr>
              <a:t>	(rear + 1) % capacity == front</a:t>
            </a:r>
          </a:p>
        </p:txBody>
      </p:sp>
    </p:spTree>
    <p:extLst>
      <p:ext uri="{BB962C8B-B14F-4D97-AF65-F5344CB8AC3E}">
        <p14:creationId xmlns:p14="http://schemas.microsoft.com/office/powerpoint/2010/main" val="384789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Circular Queue Operations cont.</a:t>
            </a:r>
          </a:p>
        </p:txBody>
      </p:sp>
      <p:sp>
        <p:nvSpPr>
          <p:cNvPr id="4" name="Content Placeholder 3"/>
          <p:cNvSpPr>
            <a:spLocks noGrp="1"/>
          </p:cNvSpPr>
          <p:nvPr>
            <p:ph idx="1"/>
          </p:nvPr>
        </p:nvSpPr>
        <p:spPr/>
        <p:txBody>
          <a:bodyPr>
            <a:noAutofit/>
          </a:bodyPr>
          <a:lstStyle/>
          <a:p>
            <a:r>
              <a:rPr lang="en-GB" sz="2400" dirty="0"/>
              <a:t>In order to have distinguishing condition for empty queue and full queue:</a:t>
            </a:r>
          </a:p>
          <a:p>
            <a:pPr lvl="1"/>
            <a:r>
              <a:rPr lang="en-GB" dirty="0"/>
              <a:t>Keep an empty slot between Front and Rear</a:t>
            </a:r>
          </a:p>
          <a:p>
            <a:endParaRPr lang="en-GB" sz="2400" dirty="0"/>
          </a:p>
          <a:p>
            <a:endParaRPr lang="en-GB" sz="2400" dirty="0"/>
          </a:p>
          <a:p>
            <a:endParaRPr lang="en-GB" sz="2400" dirty="0"/>
          </a:p>
          <a:p>
            <a:endParaRPr lang="en-GB" sz="2400" dirty="0"/>
          </a:p>
          <a:p>
            <a:pPr marL="0" indent="0">
              <a:buNone/>
            </a:pPr>
            <a:endParaRPr lang="en-GB" sz="2400" dirty="0"/>
          </a:p>
          <a:p>
            <a:r>
              <a:rPr lang="en-GB" sz="2400" dirty="0"/>
              <a:t>The condition would then be:</a:t>
            </a:r>
          </a:p>
          <a:p>
            <a:pPr marL="0" indent="0">
              <a:buNone/>
            </a:pPr>
            <a:r>
              <a:rPr lang="en-GB" sz="2400" dirty="0"/>
              <a:t>	</a:t>
            </a:r>
            <a:r>
              <a:rPr lang="en-US" altLang="en-US" sz="2400" dirty="0">
                <a:solidFill>
                  <a:srgbClr val="2F5F48"/>
                </a:solidFill>
              </a:rPr>
              <a:t> (rear + 1) % capacity == front  (1+1 % 6 = 2%6 = 2 ==front)</a:t>
            </a:r>
            <a:endParaRPr lang="en-GB" sz="2400" dirty="0"/>
          </a:p>
          <a:p>
            <a:r>
              <a:rPr lang="en-GB" sz="2400" dirty="0"/>
              <a:t>Now the condition to check an empty queue is different than the condition to check a full queue.</a:t>
            </a:r>
          </a:p>
        </p:txBody>
      </p:sp>
      <p:sp>
        <p:nvSpPr>
          <p:cNvPr id="3" name="Slide Number Placeholder 2"/>
          <p:cNvSpPr>
            <a:spLocks noGrp="1"/>
          </p:cNvSpPr>
          <p:nvPr>
            <p:ph type="sldNum" sz="quarter" idx="12"/>
          </p:nvPr>
        </p:nvSpPr>
        <p:spPr/>
        <p:txBody>
          <a:bodyPr/>
          <a:lstStyle/>
          <a:p>
            <a:pPr>
              <a:defRPr/>
            </a:pPr>
            <a:fld id="{C71BD5D2-A63C-4CF3-9B33-EDAB3DA9185D}" type="slidenum">
              <a:rPr lang="en-US" altLang="en-US" smtClean="0"/>
              <a:pPr>
                <a:defRPr/>
              </a:pPr>
              <a:t>24</a:t>
            </a:fld>
            <a:endParaRPr lang="en-US" altLang="en-US"/>
          </a:p>
        </p:txBody>
      </p:sp>
      <p:sp>
        <p:nvSpPr>
          <p:cNvPr id="5" name="Rectangle 39"/>
          <p:cNvSpPr>
            <a:spLocks noChangeArrowheads="1"/>
          </p:cNvSpPr>
          <p:nvPr/>
        </p:nvSpPr>
        <p:spPr bwMode="auto">
          <a:xfrm>
            <a:off x="6019800" y="32004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q[3]</a:t>
            </a:r>
          </a:p>
        </p:txBody>
      </p:sp>
      <p:sp>
        <p:nvSpPr>
          <p:cNvPr id="6" name="Rectangle 40"/>
          <p:cNvSpPr>
            <a:spLocks noChangeArrowheads="1"/>
          </p:cNvSpPr>
          <p:nvPr/>
        </p:nvSpPr>
        <p:spPr bwMode="auto">
          <a:xfrm>
            <a:off x="6019800" y="35814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E</a:t>
            </a:r>
          </a:p>
        </p:txBody>
      </p:sp>
      <p:sp>
        <p:nvSpPr>
          <p:cNvPr id="7" name="Rectangle 41"/>
          <p:cNvSpPr>
            <a:spLocks noChangeArrowheads="1"/>
          </p:cNvSpPr>
          <p:nvPr/>
        </p:nvSpPr>
        <p:spPr bwMode="auto">
          <a:xfrm>
            <a:off x="6705600" y="32004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q[4]</a:t>
            </a:r>
          </a:p>
        </p:txBody>
      </p:sp>
      <p:sp>
        <p:nvSpPr>
          <p:cNvPr id="8" name="Rectangle 42" descr="Outlined diamond"/>
          <p:cNvSpPr>
            <a:spLocks noChangeArrowheads="1"/>
          </p:cNvSpPr>
          <p:nvPr/>
        </p:nvSpPr>
        <p:spPr bwMode="auto">
          <a:xfrm>
            <a:off x="6705600" y="35814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F</a:t>
            </a:r>
          </a:p>
        </p:txBody>
      </p:sp>
      <p:sp>
        <p:nvSpPr>
          <p:cNvPr id="9" name="Rectangle 43"/>
          <p:cNvSpPr>
            <a:spLocks noChangeArrowheads="1"/>
          </p:cNvSpPr>
          <p:nvPr/>
        </p:nvSpPr>
        <p:spPr bwMode="auto">
          <a:xfrm>
            <a:off x="7391400" y="32004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q[5]</a:t>
            </a:r>
          </a:p>
        </p:txBody>
      </p:sp>
      <p:sp>
        <p:nvSpPr>
          <p:cNvPr id="10" name="Rectangle 44" descr="Outlined diamond"/>
          <p:cNvSpPr>
            <a:spLocks noChangeArrowheads="1"/>
          </p:cNvSpPr>
          <p:nvPr/>
        </p:nvSpPr>
        <p:spPr bwMode="auto">
          <a:xfrm>
            <a:off x="7391400" y="35814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G</a:t>
            </a:r>
          </a:p>
        </p:txBody>
      </p:sp>
      <p:sp>
        <p:nvSpPr>
          <p:cNvPr id="11" name="Rectangle 45"/>
          <p:cNvSpPr>
            <a:spLocks noChangeArrowheads="1"/>
          </p:cNvSpPr>
          <p:nvPr/>
        </p:nvSpPr>
        <p:spPr bwMode="auto">
          <a:xfrm>
            <a:off x="3962400" y="32004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q[0]</a:t>
            </a:r>
          </a:p>
        </p:txBody>
      </p:sp>
      <p:sp>
        <p:nvSpPr>
          <p:cNvPr id="12" name="Rectangle 46" descr="Outlined diamond"/>
          <p:cNvSpPr>
            <a:spLocks noChangeArrowheads="1"/>
          </p:cNvSpPr>
          <p:nvPr/>
        </p:nvSpPr>
        <p:spPr bwMode="auto">
          <a:xfrm>
            <a:off x="3962400" y="35814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H</a:t>
            </a:r>
          </a:p>
        </p:txBody>
      </p:sp>
      <p:sp>
        <p:nvSpPr>
          <p:cNvPr id="13" name="Rectangle 47"/>
          <p:cNvSpPr>
            <a:spLocks noChangeArrowheads="1"/>
          </p:cNvSpPr>
          <p:nvPr/>
        </p:nvSpPr>
        <p:spPr bwMode="auto">
          <a:xfrm>
            <a:off x="4648200" y="32004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q[1]</a:t>
            </a:r>
          </a:p>
        </p:txBody>
      </p:sp>
      <p:sp>
        <p:nvSpPr>
          <p:cNvPr id="14" name="Rectangle 48"/>
          <p:cNvSpPr>
            <a:spLocks noChangeArrowheads="1"/>
          </p:cNvSpPr>
          <p:nvPr/>
        </p:nvSpPr>
        <p:spPr bwMode="auto">
          <a:xfrm>
            <a:off x="5334000" y="3200400"/>
            <a:ext cx="685800" cy="381000"/>
          </a:xfrm>
          <a:prstGeom prst="rect">
            <a:avLst/>
          </a:prstGeom>
          <a:solidFill>
            <a:srgbClr val="800080"/>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hlink"/>
                </a:solidFill>
                <a:latin typeface="Courier New" panose="02070309020205020404" pitchFamily="49" charset="0"/>
              </a:rPr>
              <a:t>q[2]</a:t>
            </a:r>
          </a:p>
        </p:txBody>
      </p:sp>
      <p:sp>
        <p:nvSpPr>
          <p:cNvPr id="15" name="Rectangle 49" descr="Outlined diamond"/>
          <p:cNvSpPr>
            <a:spLocks noChangeArrowheads="1"/>
          </p:cNvSpPr>
          <p:nvPr/>
        </p:nvSpPr>
        <p:spPr bwMode="auto">
          <a:xfrm>
            <a:off x="4648200" y="35814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I</a:t>
            </a:r>
          </a:p>
        </p:txBody>
      </p:sp>
      <p:sp>
        <p:nvSpPr>
          <p:cNvPr id="16" name="Rectangle 50"/>
          <p:cNvSpPr>
            <a:spLocks noChangeArrowheads="1"/>
          </p:cNvSpPr>
          <p:nvPr/>
        </p:nvSpPr>
        <p:spPr bwMode="auto">
          <a:xfrm>
            <a:off x="5334000" y="3581400"/>
            <a:ext cx="685800" cy="381000"/>
          </a:xfrm>
          <a:prstGeom prst="rect">
            <a:avLst/>
          </a:prstGeom>
          <a:solidFill>
            <a:schemeClr val="tx2"/>
          </a:solidFill>
          <a:ln w="9525">
            <a:solidFill>
              <a:schemeClr val="tx1"/>
            </a:solidFill>
            <a:miter lim="800000"/>
            <a:headEnd/>
            <a:tailEnd/>
          </a:ln>
        </p:spPr>
        <p:txBody>
          <a:bodyPr wrap="none" lIns="92075" tIns="46038" rIns="92075" bIns="46038"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chemeClr val="bg1"/>
                </a:solidFill>
                <a:latin typeface="Tahoma" panose="020B0604030504040204" pitchFamily="34" charset="0"/>
              </a:rPr>
              <a:t>T</a:t>
            </a:r>
          </a:p>
        </p:txBody>
      </p:sp>
      <p:grpSp>
        <p:nvGrpSpPr>
          <p:cNvPr id="17" name="Group 51"/>
          <p:cNvGrpSpPr>
            <a:grpSpLocks/>
          </p:cNvGrpSpPr>
          <p:nvPr/>
        </p:nvGrpSpPr>
        <p:grpSpPr bwMode="auto">
          <a:xfrm>
            <a:off x="5181600" y="2514600"/>
            <a:ext cx="990600" cy="671512"/>
            <a:chOff x="2832" y="1920"/>
            <a:chExt cx="624" cy="423"/>
          </a:xfrm>
        </p:grpSpPr>
        <p:sp>
          <p:nvSpPr>
            <p:cNvPr id="18" name="AutoShape 52"/>
            <p:cNvSpPr>
              <a:spLocks noChangeArrowheads="1"/>
            </p:cNvSpPr>
            <p:nvPr/>
          </p:nvSpPr>
          <p:spPr bwMode="auto">
            <a:xfrm>
              <a:off x="3072" y="2151"/>
              <a:ext cx="144" cy="192"/>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dirty="0">
                <a:latin typeface="Georgia" panose="02040502050405020303" pitchFamily="18" charset="0"/>
              </a:endParaRPr>
            </a:p>
          </p:txBody>
        </p:sp>
        <p:sp>
          <p:nvSpPr>
            <p:cNvPr id="19" name="Text Box 53"/>
            <p:cNvSpPr txBox="1">
              <a:spLocks noChangeArrowheads="1"/>
            </p:cNvSpPr>
            <p:nvPr/>
          </p:nvSpPr>
          <p:spPr bwMode="auto">
            <a:xfrm>
              <a:off x="2832" y="1920"/>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dirty="0">
                  <a:solidFill>
                    <a:schemeClr val="hlink"/>
                  </a:solidFill>
                  <a:latin typeface="Courier New" panose="02070309020205020404" pitchFamily="49" charset="0"/>
                </a:rPr>
                <a:t>front</a:t>
              </a:r>
              <a:endParaRPr lang="en-US" altLang="en-US" dirty="0">
                <a:solidFill>
                  <a:schemeClr val="hlink"/>
                </a:solidFill>
                <a:latin typeface="Comic Sans MS" panose="030F0702030302020204" pitchFamily="66" charset="0"/>
              </a:endParaRPr>
            </a:p>
          </p:txBody>
        </p:sp>
      </p:grpSp>
      <p:sp>
        <p:nvSpPr>
          <p:cNvPr id="22" name="AutoShape 37">
            <a:extLst>
              <a:ext uri="{FF2B5EF4-FFF2-40B4-BE49-F238E27FC236}">
                <a16:creationId xmlns:a16="http://schemas.microsoft.com/office/drawing/2014/main" id="{0DDA520E-A5C1-17B8-E252-7880F4CDBCE4}"/>
              </a:ext>
            </a:extLst>
          </p:cNvPr>
          <p:cNvSpPr>
            <a:spLocks noChangeArrowheads="1"/>
          </p:cNvSpPr>
          <p:nvPr/>
        </p:nvSpPr>
        <p:spPr bwMode="auto">
          <a:xfrm flipV="1">
            <a:off x="4876800" y="4038600"/>
            <a:ext cx="228600" cy="304800"/>
          </a:xfrm>
          <a:prstGeom prst="downArrow">
            <a:avLst>
              <a:gd name="adj1" fmla="val 50000"/>
              <a:gd name="adj2" fmla="val 33333"/>
            </a:avLst>
          </a:prstGeom>
          <a:solidFill>
            <a:srgbClr val="0066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Georgia" panose="02040502050405020303" pitchFamily="18" charset="0"/>
            </a:endParaRPr>
          </a:p>
        </p:txBody>
      </p:sp>
      <p:sp>
        <p:nvSpPr>
          <p:cNvPr id="23" name="Text Box 38">
            <a:extLst>
              <a:ext uri="{FF2B5EF4-FFF2-40B4-BE49-F238E27FC236}">
                <a16:creationId xmlns:a16="http://schemas.microsoft.com/office/drawing/2014/main" id="{40852D28-5AA3-7E37-BC36-DA0B0DCEA38F}"/>
              </a:ext>
            </a:extLst>
          </p:cNvPr>
          <p:cNvSpPr txBox="1">
            <a:spLocks noChangeArrowheads="1"/>
          </p:cNvSpPr>
          <p:nvPr/>
        </p:nvSpPr>
        <p:spPr bwMode="auto">
          <a:xfrm>
            <a:off x="4495800" y="4343400"/>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en-US" b="1" dirty="0">
                <a:solidFill>
                  <a:schemeClr val="hlink"/>
                </a:solidFill>
                <a:latin typeface="Courier New" panose="02070309020205020404" pitchFamily="49" charset="0"/>
              </a:rPr>
              <a:t>rear</a:t>
            </a:r>
            <a:endParaRPr lang="en-US" altLang="en-US" dirty="0">
              <a:solidFill>
                <a:schemeClr val="hlink"/>
              </a:solidFill>
              <a:latin typeface="Comic Sans MS" panose="030F0702030302020204" pitchFamily="66" charset="0"/>
            </a:endParaRPr>
          </a:p>
        </p:txBody>
      </p:sp>
    </p:spTree>
    <p:extLst>
      <p:ext uri="{BB962C8B-B14F-4D97-AF65-F5344CB8AC3E}">
        <p14:creationId xmlns:p14="http://schemas.microsoft.com/office/powerpoint/2010/main" val="24374318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FEA2C-651F-4213-ACE2-B0BE02492223}"/>
              </a:ext>
            </a:extLst>
          </p:cNvPr>
          <p:cNvSpPr>
            <a:spLocks noGrp="1"/>
          </p:cNvSpPr>
          <p:nvPr>
            <p:ph type="title"/>
          </p:nvPr>
        </p:nvSpPr>
        <p:spPr/>
        <p:txBody>
          <a:bodyPr/>
          <a:lstStyle/>
          <a:p>
            <a:r>
              <a:rPr lang="en-PK" b="1" dirty="0"/>
              <a:t>Circular Queue (Empty/Full?)</a:t>
            </a:r>
          </a:p>
        </p:txBody>
      </p:sp>
      <p:graphicFrame>
        <p:nvGraphicFramePr>
          <p:cNvPr id="5" name="Content Placeholder 4">
            <a:extLst>
              <a:ext uri="{FF2B5EF4-FFF2-40B4-BE49-F238E27FC236}">
                <a16:creationId xmlns:a16="http://schemas.microsoft.com/office/drawing/2014/main" id="{4941E252-BC1C-902C-8C1B-D4D4A41227FA}"/>
              </a:ext>
            </a:extLst>
          </p:cNvPr>
          <p:cNvGraphicFramePr>
            <a:graphicFrameLocks noGrp="1"/>
          </p:cNvGraphicFramePr>
          <p:nvPr>
            <p:ph idx="1"/>
            <p:extLst>
              <p:ext uri="{D42A27DB-BD31-4B8C-83A1-F6EECF244321}">
                <p14:modId xmlns:p14="http://schemas.microsoft.com/office/powerpoint/2010/main" val="393511994"/>
              </p:ext>
            </p:extLst>
          </p:nvPr>
        </p:nvGraphicFramePr>
        <p:xfrm>
          <a:off x="838200" y="2209800"/>
          <a:ext cx="10515600" cy="3032760"/>
        </p:xfrm>
        <a:graphic>
          <a:graphicData uri="http://schemas.openxmlformats.org/drawingml/2006/table">
            <a:tbl>
              <a:tblPr/>
              <a:tblGrid>
                <a:gridCol w="2667000">
                  <a:extLst>
                    <a:ext uri="{9D8B030D-6E8A-4147-A177-3AD203B41FA5}">
                      <a16:colId xmlns:a16="http://schemas.microsoft.com/office/drawing/2014/main" val="3494764651"/>
                    </a:ext>
                  </a:extLst>
                </a:gridCol>
                <a:gridCol w="4343400">
                  <a:extLst>
                    <a:ext uri="{9D8B030D-6E8A-4147-A177-3AD203B41FA5}">
                      <a16:colId xmlns:a16="http://schemas.microsoft.com/office/drawing/2014/main" val="4222315223"/>
                    </a:ext>
                  </a:extLst>
                </a:gridCol>
                <a:gridCol w="3505200">
                  <a:extLst>
                    <a:ext uri="{9D8B030D-6E8A-4147-A177-3AD203B41FA5}">
                      <a16:colId xmlns:a16="http://schemas.microsoft.com/office/drawing/2014/main" val="2847792689"/>
                    </a:ext>
                  </a:extLst>
                </a:gridCol>
              </a:tblGrid>
              <a:tr h="0">
                <a:tc>
                  <a:txBody>
                    <a:bodyPr/>
                    <a:lstStyle/>
                    <a:p>
                      <a:r>
                        <a:rPr lang="en-GB" sz="2500" b="1"/>
                        <a:t>Queue State</a:t>
                      </a:r>
                    </a:p>
                  </a:txBody>
                  <a:tcPr anchor="ctr">
                    <a:lnL>
                      <a:noFill/>
                    </a:lnL>
                    <a:lnR>
                      <a:noFill/>
                    </a:lnR>
                    <a:lnT>
                      <a:noFill/>
                    </a:lnT>
                    <a:lnB>
                      <a:noFill/>
                    </a:lnB>
                    <a:noFill/>
                  </a:tcPr>
                </a:tc>
                <a:tc>
                  <a:txBody>
                    <a:bodyPr/>
                    <a:lstStyle/>
                    <a:p>
                      <a:r>
                        <a:rPr lang="en-GB" sz="2500" b="1" dirty="0"/>
                        <a:t>Condition</a:t>
                      </a:r>
                    </a:p>
                  </a:txBody>
                  <a:tcPr anchor="ctr">
                    <a:lnL>
                      <a:noFill/>
                    </a:lnL>
                    <a:lnR>
                      <a:noFill/>
                    </a:lnR>
                    <a:lnT>
                      <a:noFill/>
                    </a:lnT>
                    <a:lnB>
                      <a:noFill/>
                    </a:lnB>
                    <a:noFill/>
                  </a:tcPr>
                </a:tc>
                <a:tc>
                  <a:txBody>
                    <a:bodyPr/>
                    <a:lstStyle/>
                    <a:p>
                      <a:r>
                        <a:rPr lang="en-GB" sz="2500" b="1" dirty="0"/>
                        <a:t>Explanation</a:t>
                      </a:r>
                    </a:p>
                  </a:txBody>
                  <a:tcPr anchor="ctr">
                    <a:lnL>
                      <a:noFill/>
                    </a:lnL>
                    <a:lnR>
                      <a:noFill/>
                    </a:lnR>
                    <a:lnT>
                      <a:noFill/>
                    </a:lnT>
                    <a:lnB>
                      <a:noFill/>
                    </a:lnB>
                    <a:noFill/>
                  </a:tcPr>
                </a:tc>
                <a:extLst>
                  <a:ext uri="{0D108BD9-81ED-4DB2-BD59-A6C34878D82A}">
                    <a16:rowId xmlns:a16="http://schemas.microsoft.com/office/drawing/2014/main" val="860026051"/>
                  </a:ext>
                </a:extLst>
              </a:tr>
              <a:tr h="0">
                <a:tc>
                  <a:txBody>
                    <a:bodyPr/>
                    <a:lstStyle/>
                    <a:p>
                      <a:r>
                        <a:rPr lang="en-GB" sz="2500" b="1"/>
                        <a:t>Empty</a:t>
                      </a:r>
                      <a:endParaRPr lang="en-GB" sz="2500"/>
                    </a:p>
                  </a:txBody>
                  <a:tcPr anchor="ctr">
                    <a:lnL>
                      <a:noFill/>
                    </a:lnL>
                    <a:lnR>
                      <a:noFill/>
                    </a:lnR>
                    <a:lnT>
                      <a:noFill/>
                    </a:lnT>
                    <a:lnB>
                      <a:noFill/>
                    </a:lnB>
                    <a:noFill/>
                  </a:tcPr>
                </a:tc>
                <a:tc>
                  <a:txBody>
                    <a:bodyPr/>
                    <a:lstStyle/>
                    <a:p>
                      <a:r>
                        <a:rPr lang="en-GB" sz="2500"/>
                        <a:t>front == rear</a:t>
                      </a:r>
                    </a:p>
                  </a:txBody>
                  <a:tcPr anchor="ctr">
                    <a:lnL>
                      <a:noFill/>
                    </a:lnL>
                    <a:lnR>
                      <a:noFill/>
                    </a:lnR>
                    <a:lnT>
                      <a:noFill/>
                    </a:lnT>
                    <a:lnB>
                      <a:noFill/>
                    </a:lnB>
                    <a:noFill/>
                  </a:tcPr>
                </a:tc>
                <a:tc>
                  <a:txBody>
                    <a:bodyPr/>
                    <a:lstStyle/>
                    <a:p>
                      <a:r>
                        <a:rPr lang="en-GB" sz="2500"/>
                        <a:t>No elements in the queue</a:t>
                      </a:r>
                    </a:p>
                  </a:txBody>
                  <a:tcPr anchor="ctr">
                    <a:lnL>
                      <a:noFill/>
                    </a:lnL>
                    <a:lnR>
                      <a:noFill/>
                    </a:lnR>
                    <a:lnT>
                      <a:noFill/>
                    </a:lnT>
                    <a:lnB>
                      <a:noFill/>
                    </a:lnB>
                    <a:noFill/>
                  </a:tcPr>
                </a:tc>
                <a:extLst>
                  <a:ext uri="{0D108BD9-81ED-4DB2-BD59-A6C34878D82A}">
                    <a16:rowId xmlns:a16="http://schemas.microsoft.com/office/drawing/2014/main" val="4109073904"/>
                  </a:ext>
                </a:extLst>
              </a:tr>
              <a:tr h="0">
                <a:tc>
                  <a:txBody>
                    <a:bodyPr/>
                    <a:lstStyle/>
                    <a:p>
                      <a:r>
                        <a:rPr lang="en-GB" sz="2500" b="1" dirty="0"/>
                        <a:t>Full</a:t>
                      </a:r>
                      <a:endParaRPr lang="en-GB" sz="2500" dirty="0"/>
                    </a:p>
                  </a:txBody>
                  <a:tcPr anchor="ctr">
                    <a:lnL>
                      <a:noFill/>
                    </a:lnL>
                    <a:lnR>
                      <a:noFill/>
                    </a:lnR>
                    <a:lnT>
                      <a:noFill/>
                    </a:lnT>
                    <a:lnB>
                      <a:noFill/>
                    </a:lnB>
                    <a:noFill/>
                  </a:tcPr>
                </a:tc>
                <a:tc>
                  <a:txBody>
                    <a:bodyPr/>
                    <a:lstStyle/>
                    <a:p>
                      <a:r>
                        <a:rPr lang="en-GB" sz="2500" dirty="0"/>
                        <a:t>(rear + 1) % capacity == front</a:t>
                      </a:r>
                    </a:p>
                  </a:txBody>
                  <a:tcPr anchor="ctr">
                    <a:lnL>
                      <a:noFill/>
                    </a:lnL>
                    <a:lnR>
                      <a:noFill/>
                    </a:lnR>
                    <a:lnT>
                      <a:noFill/>
                    </a:lnT>
                    <a:lnB>
                      <a:noFill/>
                    </a:lnB>
                    <a:noFill/>
                  </a:tcPr>
                </a:tc>
                <a:tc>
                  <a:txBody>
                    <a:bodyPr/>
                    <a:lstStyle/>
                    <a:p>
                      <a:r>
                        <a:rPr lang="en-GB" sz="2500" dirty="0"/>
                        <a:t>Next insert would overwrite front!</a:t>
                      </a:r>
                    </a:p>
                  </a:txBody>
                  <a:tcPr anchor="ctr">
                    <a:lnL>
                      <a:noFill/>
                    </a:lnL>
                    <a:lnR>
                      <a:noFill/>
                    </a:lnR>
                    <a:lnT>
                      <a:noFill/>
                    </a:lnT>
                    <a:lnB>
                      <a:noFill/>
                    </a:lnB>
                    <a:noFill/>
                  </a:tcPr>
                </a:tc>
                <a:extLst>
                  <a:ext uri="{0D108BD9-81ED-4DB2-BD59-A6C34878D82A}">
                    <a16:rowId xmlns:a16="http://schemas.microsoft.com/office/drawing/2014/main" val="672484282"/>
                  </a:ext>
                </a:extLst>
              </a:tr>
              <a:tr h="0">
                <a:tc>
                  <a:txBody>
                    <a:bodyPr/>
                    <a:lstStyle/>
                    <a:p>
                      <a:r>
                        <a:rPr lang="en-GB" sz="2500" b="1"/>
                        <a:t>One slot unused</a:t>
                      </a:r>
                      <a:endParaRPr lang="en-GB" sz="2500"/>
                    </a:p>
                  </a:txBody>
                  <a:tcPr anchor="ctr">
                    <a:lnL>
                      <a:noFill/>
                    </a:lnL>
                    <a:lnR>
                      <a:noFill/>
                    </a:lnR>
                    <a:lnT>
                      <a:noFill/>
                    </a:lnT>
                    <a:lnB>
                      <a:noFill/>
                    </a:lnB>
                    <a:noFill/>
                  </a:tcPr>
                </a:tc>
                <a:tc>
                  <a:txBody>
                    <a:bodyPr/>
                    <a:lstStyle/>
                    <a:p>
                      <a:r>
                        <a:rPr lang="en-GB" sz="2500"/>
                        <a:t>Always left intentionally</a:t>
                      </a:r>
                    </a:p>
                  </a:txBody>
                  <a:tcPr anchor="ctr">
                    <a:lnL>
                      <a:noFill/>
                    </a:lnL>
                    <a:lnR>
                      <a:noFill/>
                    </a:lnR>
                    <a:lnT>
                      <a:noFill/>
                    </a:lnT>
                    <a:lnB>
                      <a:noFill/>
                    </a:lnB>
                    <a:noFill/>
                  </a:tcPr>
                </a:tc>
                <a:tc>
                  <a:txBody>
                    <a:bodyPr/>
                    <a:lstStyle/>
                    <a:p>
                      <a:r>
                        <a:rPr lang="en-GB" sz="2500" dirty="0"/>
                        <a:t>Prevent ambiguity between full/empty</a:t>
                      </a:r>
                    </a:p>
                  </a:txBody>
                  <a:tcPr anchor="ctr">
                    <a:lnL>
                      <a:noFill/>
                    </a:lnL>
                    <a:lnR>
                      <a:noFill/>
                    </a:lnR>
                    <a:lnT>
                      <a:noFill/>
                    </a:lnT>
                    <a:lnB>
                      <a:noFill/>
                    </a:lnB>
                    <a:noFill/>
                  </a:tcPr>
                </a:tc>
                <a:extLst>
                  <a:ext uri="{0D108BD9-81ED-4DB2-BD59-A6C34878D82A}">
                    <a16:rowId xmlns:a16="http://schemas.microsoft.com/office/drawing/2014/main" val="1176461791"/>
                  </a:ext>
                </a:extLst>
              </a:tr>
            </a:tbl>
          </a:graphicData>
        </a:graphic>
      </p:graphicFrame>
      <p:sp>
        <p:nvSpPr>
          <p:cNvPr id="4" name="Slide Number Placeholder 3">
            <a:extLst>
              <a:ext uri="{FF2B5EF4-FFF2-40B4-BE49-F238E27FC236}">
                <a16:creationId xmlns:a16="http://schemas.microsoft.com/office/drawing/2014/main" id="{729602C0-36C4-5A3B-7695-0C61C27323AB}"/>
              </a:ext>
            </a:extLst>
          </p:cNvPr>
          <p:cNvSpPr>
            <a:spLocks noGrp="1"/>
          </p:cNvSpPr>
          <p:nvPr>
            <p:ph type="sldNum" sz="quarter" idx="12"/>
          </p:nvPr>
        </p:nvSpPr>
        <p:spPr/>
        <p:txBody>
          <a:bodyPr/>
          <a:lstStyle/>
          <a:p>
            <a:pPr>
              <a:defRPr/>
            </a:pPr>
            <a:fld id="{F350D435-2DCA-4D63-B007-D33EC4F44F07}" type="slidenum">
              <a:rPr lang="en-US" altLang="en-US" smtClean="0"/>
              <a:pPr>
                <a:defRPr/>
              </a:pPr>
              <a:t>25</a:t>
            </a:fld>
            <a:endParaRPr lang="en-US" altLang="en-US"/>
          </a:p>
        </p:txBody>
      </p:sp>
    </p:spTree>
    <p:extLst>
      <p:ext uri="{BB962C8B-B14F-4D97-AF65-F5344CB8AC3E}">
        <p14:creationId xmlns:p14="http://schemas.microsoft.com/office/powerpoint/2010/main" val="7367260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Implementation (1/2)</a:t>
            </a:r>
            <a:endParaRPr lang="en-US" dirty="0"/>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26</a:t>
            </a:fld>
            <a:endParaRPr lang="en-US" altLang="en-US"/>
          </a:p>
        </p:txBody>
      </p:sp>
      <p:sp>
        <p:nvSpPr>
          <p:cNvPr id="6" name="Rectangle 3"/>
          <p:cNvSpPr txBox="1">
            <a:spLocks noChangeArrowheads="1"/>
          </p:cNvSpPr>
          <p:nvPr/>
        </p:nvSpPr>
        <p:spPr>
          <a:xfrm>
            <a:off x="990600" y="1828800"/>
            <a:ext cx="4404944" cy="4892675"/>
          </a:xfrm>
          <a:prstGeom prst="rect">
            <a:avLst/>
          </a:prstGeom>
          <a:solidFill>
            <a:schemeClr val="accent1">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SzPct val="60000"/>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Calibri" panose="020F050202020403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alibri" panose="020F050202020403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Calibri" panose="020F050202020403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None/>
            </a:pPr>
            <a:r>
              <a:rPr lang="en-US" altLang="en-US" sz="2000" dirty="0"/>
              <a:t>const int SIZE = 5;  </a:t>
            </a:r>
            <a:r>
              <a:rPr lang="en-US" altLang="en-US" sz="2000" dirty="0">
                <a:solidFill>
                  <a:srgbClr val="00B050"/>
                </a:solidFill>
              </a:rPr>
              <a:t>// Capacity is 5, usable slots = 4 (one kept empty intentionally)</a:t>
            </a:r>
          </a:p>
          <a:p>
            <a:pPr>
              <a:lnSpc>
                <a:spcPct val="80000"/>
              </a:lnSpc>
              <a:buFont typeface="Wingdings" panose="05000000000000000000" pitchFamily="2" charset="2"/>
              <a:buNone/>
            </a:pPr>
            <a:endParaRPr lang="en-US" altLang="en-US" sz="2000" dirty="0"/>
          </a:p>
          <a:p>
            <a:pPr>
              <a:lnSpc>
                <a:spcPct val="80000"/>
              </a:lnSpc>
              <a:buFont typeface="Wingdings" panose="05000000000000000000" pitchFamily="2" charset="2"/>
              <a:buNone/>
            </a:pPr>
            <a:r>
              <a:rPr lang="en-US" altLang="en-US" sz="2000" dirty="0"/>
              <a:t>struct </a:t>
            </a:r>
            <a:r>
              <a:rPr lang="en-US" altLang="en-US" sz="2000" dirty="0" err="1"/>
              <a:t>CircularQueue</a:t>
            </a:r>
            <a:r>
              <a:rPr lang="en-US" altLang="en-US" sz="2000" dirty="0"/>
              <a:t> {</a:t>
            </a:r>
          </a:p>
          <a:p>
            <a:pPr>
              <a:lnSpc>
                <a:spcPct val="80000"/>
              </a:lnSpc>
              <a:buFont typeface="Wingdings" panose="05000000000000000000" pitchFamily="2" charset="2"/>
              <a:buNone/>
            </a:pPr>
            <a:r>
              <a:rPr lang="en-US" altLang="en-US" sz="2000" dirty="0"/>
              <a:t>    int items[SIZE];</a:t>
            </a:r>
          </a:p>
          <a:p>
            <a:pPr>
              <a:lnSpc>
                <a:spcPct val="80000"/>
              </a:lnSpc>
              <a:buFont typeface="Wingdings" panose="05000000000000000000" pitchFamily="2" charset="2"/>
              <a:buNone/>
            </a:pPr>
            <a:r>
              <a:rPr lang="en-US" altLang="en-US" sz="2000" dirty="0"/>
              <a:t>    int front;</a:t>
            </a:r>
          </a:p>
          <a:p>
            <a:pPr>
              <a:lnSpc>
                <a:spcPct val="80000"/>
              </a:lnSpc>
              <a:buFont typeface="Wingdings" panose="05000000000000000000" pitchFamily="2" charset="2"/>
              <a:buNone/>
            </a:pPr>
            <a:r>
              <a:rPr lang="en-US" altLang="en-US" sz="2000" dirty="0"/>
              <a:t>    int rear;</a:t>
            </a:r>
          </a:p>
          <a:p>
            <a:pPr>
              <a:lnSpc>
                <a:spcPct val="80000"/>
              </a:lnSpc>
              <a:buFont typeface="Wingdings" panose="05000000000000000000" pitchFamily="2" charset="2"/>
              <a:buNone/>
            </a:pPr>
            <a:endParaRPr lang="en-US" altLang="en-US" sz="2000" dirty="0"/>
          </a:p>
          <a:p>
            <a:pPr>
              <a:lnSpc>
                <a:spcPct val="80000"/>
              </a:lnSpc>
              <a:buFont typeface="Wingdings" panose="05000000000000000000" pitchFamily="2" charset="2"/>
              <a:buNone/>
            </a:pPr>
            <a:r>
              <a:rPr lang="en-US" altLang="en-US" sz="2000" dirty="0"/>
              <a:t>    </a:t>
            </a:r>
            <a:r>
              <a:rPr lang="en-US" altLang="en-US" sz="2000" dirty="0">
                <a:solidFill>
                  <a:srgbClr val="00B050"/>
                </a:solidFill>
              </a:rPr>
              <a:t>// Constructor</a:t>
            </a:r>
          </a:p>
          <a:p>
            <a:pPr>
              <a:lnSpc>
                <a:spcPct val="80000"/>
              </a:lnSpc>
              <a:buFont typeface="Wingdings" panose="05000000000000000000" pitchFamily="2" charset="2"/>
              <a:buNone/>
            </a:pPr>
            <a:r>
              <a:rPr lang="en-US" altLang="en-US" sz="2000" dirty="0"/>
              <a:t>    </a:t>
            </a:r>
            <a:r>
              <a:rPr lang="en-US" altLang="en-US" sz="2000" dirty="0" err="1"/>
              <a:t>CircularQueue</a:t>
            </a:r>
            <a:r>
              <a:rPr lang="en-US" altLang="en-US" sz="2000" dirty="0"/>
              <a:t>() {</a:t>
            </a:r>
          </a:p>
          <a:p>
            <a:pPr>
              <a:lnSpc>
                <a:spcPct val="80000"/>
              </a:lnSpc>
              <a:buFont typeface="Wingdings" panose="05000000000000000000" pitchFamily="2" charset="2"/>
              <a:buNone/>
            </a:pPr>
            <a:r>
              <a:rPr lang="en-US" altLang="en-US" sz="2000" dirty="0"/>
              <a:t>        front = 0;</a:t>
            </a:r>
          </a:p>
          <a:p>
            <a:pPr>
              <a:lnSpc>
                <a:spcPct val="80000"/>
              </a:lnSpc>
              <a:buFont typeface="Wingdings" panose="05000000000000000000" pitchFamily="2" charset="2"/>
              <a:buNone/>
            </a:pPr>
            <a:r>
              <a:rPr lang="en-US" altLang="en-US" sz="2000" dirty="0"/>
              <a:t>        rear = 0;</a:t>
            </a:r>
          </a:p>
          <a:p>
            <a:pPr>
              <a:lnSpc>
                <a:spcPct val="80000"/>
              </a:lnSpc>
              <a:buFont typeface="Wingdings" panose="05000000000000000000" pitchFamily="2" charset="2"/>
              <a:buNone/>
            </a:pPr>
            <a:r>
              <a:rPr lang="en-US" altLang="en-US" sz="2000" dirty="0"/>
              <a:t>    }</a:t>
            </a:r>
            <a:endParaRPr lang="en-US" altLang="en-US" sz="2000" dirty="0">
              <a:solidFill>
                <a:srgbClr val="C00000"/>
              </a:solidFill>
            </a:endParaRPr>
          </a:p>
        </p:txBody>
      </p:sp>
      <p:sp>
        <p:nvSpPr>
          <p:cNvPr id="7" name="Rectangle 4"/>
          <p:cNvSpPr txBox="1">
            <a:spLocks noChangeArrowheads="1"/>
          </p:cNvSpPr>
          <p:nvPr/>
        </p:nvSpPr>
        <p:spPr>
          <a:xfrm>
            <a:off x="5562600" y="1828800"/>
            <a:ext cx="4826976" cy="3886200"/>
          </a:xfrm>
          <a:prstGeom prst="rect">
            <a:avLst/>
          </a:prstGeom>
          <a:solidFill>
            <a:schemeClr val="accent2">
              <a:lumMod val="20000"/>
              <a:lumOff val="80000"/>
            </a:schemeClr>
          </a:solidFill>
          <a:ln>
            <a:miter lim="800000"/>
            <a:headEnd/>
            <a:tailEnd/>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indent="-274320">
              <a:lnSpc>
                <a:spcPct val="80000"/>
              </a:lnSpc>
              <a:buNone/>
              <a:defRPr/>
            </a:pPr>
            <a:r>
              <a:rPr lang="en-US" sz="2000" dirty="0">
                <a:solidFill>
                  <a:srgbClr val="00B050"/>
                </a:solidFill>
                <a:latin typeface="Arial" panose="020B0604020202020204" pitchFamily="34" charset="0"/>
                <a:cs typeface="Arial" panose="020B0604020202020204" pitchFamily="34" charset="0"/>
              </a:rPr>
              <a:t>// Check if the queue is empty</a:t>
            </a:r>
          </a:p>
          <a:p>
            <a:pPr marL="274320" indent="-274320">
              <a:lnSpc>
                <a:spcPct val="80000"/>
              </a:lnSpc>
              <a:buNone/>
              <a:defRPr/>
            </a:pPr>
            <a:r>
              <a:rPr lang="en-US" sz="2000" dirty="0">
                <a:solidFill>
                  <a:srgbClr val="C00000"/>
                </a:solidFill>
                <a:latin typeface="Arial" panose="020B0604020202020204" pitchFamily="34" charset="0"/>
                <a:cs typeface="Arial" panose="020B0604020202020204" pitchFamily="34" charset="0"/>
              </a:rPr>
              <a:t>    bool </a:t>
            </a:r>
            <a:r>
              <a:rPr lang="en-US" sz="2000" dirty="0" err="1">
                <a:solidFill>
                  <a:srgbClr val="C00000"/>
                </a:solidFill>
                <a:latin typeface="Arial" panose="020B0604020202020204" pitchFamily="34" charset="0"/>
                <a:cs typeface="Arial" panose="020B0604020202020204" pitchFamily="34" charset="0"/>
              </a:rPr>
              <a:t>isEmpty</a:t>
            </a:r>
            <a:r>
              <a:rPr lang="en-US" sz="2000" dirty="0">
                <a:solidFill>
                  <a:srgbClr val="C00000"/>
                </a:solidFill>
                <a:latin typeface="Arial" panose="020B0604020202020204" pitchFamily="34" charset="0"/>
                <a:cs typeface="Arial" panose="020B0604020202020204" pitchFamily="34" charset="0"/>
              </a:rPr>
              <a:t>() {</a:t>
            </a:r>
          </a:p>
          <a:p>
            <a:pPr marL="274320" indent="-274320">
              <a:lnSpc>
                <a:spcPct val="80000"/>
              </a:lnSpc>
              <a:buNone/>
              <a:defRPr/>
            </a:pPr>
            <a:r>
              <a:rPr lang="en-US" sz="2000" dirty="0">
                <a:solidFill>
                  <a:srgbClr val="C00000"/>
                </a:solidFill>
                <a:latin typeface="Arial" panose="020B0604020202020204" pitchFamily="34" charset="0"/>
                <a:cs typeface="Arial" panose="020B0604020202020204" pitchFamily="34" charset="0"/>
              </a:rPr>
              <a:t>        return front == rear;</a:t>
            </a:r>
          </a:p>
          <a:p>
            <a:pPr marL="274320" indent="-274320">
              <a:lnSpc>
                <a:spcPct val="80000"/>
              </a:lnSpc>
              <a:buNone/>
              <a:defRPr/>
            </a:pPr>
            <a:r>
              <a:rPr lang="en-US" sz="2000" dirty="0">
                <a:solidFill>
                  <a:srgbClr val="C00000"/>
                </a:solidFill>
                <a:latin typeface="Arial" panose="020B0604020202020204" pitchFamily="34" charset="0"/>
                <a:cs typeface="Arial" panose="020B0604020202020204" pitchFamily="34" charset="0"/>
              </a:rPr>
              <a:t>    }</a:t>
            </a:r>
          </a:p>
          <a:p>
            <a:pPr marL="274320" indent="-274320">
              <a:lnSpc>
                <a:spcPct val="80000"/>
              </a:lnSpc>
              <a:buNone/>
              <a:defRPr/>
            </a:pPr>
            <a:r>
              <a:rPr lang="en-US" sz="2000" dirty="0">
                <a:solidFill>
                  <a:srgbClr val="00B050"/>
                </a:solidFill>
                <a:latin typeface="Arial" panose="020B0604020202020204" pitchFamily="34" charset="0"/>
                <a:cs typeface="Arial" panose="020B0604020202020204" pitchFamily="34" charset="0"/>
              </a:rPr>
              <a:t>// Check if the queue is full (one slot left empty to distinguish from empty)</a:t>
            </a:r>
          </a:p>
          <a:p>
            <a:pPr marL="274320" indent="-274320">
              <a:lnSpc>
                <a:spcPct val="80000"/>
              </a:lnSpc>
              <a:buNone/>
              <a:defRPr/>
            </a:pPr>
            <a:r>
              <a:rPr lang="en-US" sz="2000" dirty="0">
                <a:solidFill>
                  <a:srgbClr val="C00000"/>
                </a:solidFill>
                <a:latin typeface="Arial" panose="020B0604020202020204" pitchFamily="34" charset="0"/>
                <a:cs typeface="Arial" panose="020B0604020202020204" pitchFamily="34" charset="0"/>
              </a:rPr>
              <a:t>    bool </a:t>
            </a:r>
            <a:r>
              <a:rPr lang="en-US" sz="2000" dirty="0" err="1">
                <a:solidFill>
                  <a:srgbClr val="C00000"/>
                </a:solidFill>
                <a:latin typeface="Arial" panose="020B0604020202020204" pitchFamily="34" charset="0"/>
                <a:cs typeface="Arial" panose="020B0604020202020204" pitchFamily="34" charset="0"/>
              </a:rPr>
              <a:t>isFull</a:t>
            </a:r>
            <a:r>
              <a:rPr lang="en-US" sz="2000" dirty="0">
                <a:solidFill>
                  <a:srgbClr val="C00000"/>
                </a:solidFill>
                <a:latin typeface="Arial" panose="020B0604020202020204" pitchFamily="34" charset="0"/>
                <a:cs typeface="Arial" panose="020B0604020202020204" pitchFamily="34" charset="0"/>
              </a:rPr>
              <a:t>() {</a:t>
            </a:r>
          </a:p>
          <a:p>
            <a:pPr marL="274320" indent="-274320">
              <a:lnSpc>
                <a:spcPct val="80000"/>
              </a:lnSpc>
              <a:buNone/>
              <a:defRPr/>
            </a:pPr>
            <a:r>
              <a:rPr lang="en-US" sz="2000" dirty="0">
                <a:solidFill>
                  <a:srgbClr val="C00000"/>
                </a:solidFill>
                <a:latin typeface="Arial" panose="020B0604020202020204" pitchFamily="34" charset="0"/>
                <a:cs typeface="Arial" panose="020B0604020202020204" pitchFamily="34" charset="0"/>
              </a:rPr>
              <a:t>        return (rear + 1) % SIZE == front;</a:t>
            </a:r>
          </a:p>
          <a:p>
            <a:pPr marL="274320" indent="-274320">
              <a:lnSpc>
                <a:spcPct val="80000"/>
              </a:lnSpc>
              <a:buNone/>
              <a:defRPr/>
            </a:pPr>
            <a:r>
              <a:rPr lang="en-US" sz="2000" dirty="0">
                <a:solidFill>
                  <a:srgbClr val="C00000"/>
                </a:solidFill>
                <a:latin typeface="Arial" panose="020B0604020202020204" pitchFamily="34" charset="0"/>
                <a:cs typeface="Arial" panose="020B0604020202020204" pitchFamily="34" charset="0"/>
              </a:rPr>
              <a:t>    }</a:t>
            </a:r>
            <a:endParaRPr lang="en-US" sz="2000" dirty="0">
              <a:latin typeface="Arial" panose="020B0604020202020204" pitchFamily="34" charset="0"/>
              <a:cs typeface="Arial" panose="020B0604020202020204" pitchFamily="34" charset="0"/>
            </a:endParaRPr>
          </a:p>
        </p:txBody>
      </p:sp>
      <p:sp>
        <p:nvSpPr>
          <p:cNvPr id="8" name="Rectangle 7"/>
          <p:cNvSpPr/>
          <p:nvPr/>
        </p:nvSpPr>
        <p:spPr>
          <a:xfrm>
            <a:off x="5715000" y="5952034"/>
            <a:ext cx="5791200" cy="769441"/>
          </a:xfrm>
          <a:prstGeom prst="rect">
            <a:avLst/>
          </a:prstGeom>
        </p:spPr>
        <p:txBody>
          <a:bodyPr wrap="square">
            <a:spAutoFit/>
          </a:bodyPr>
          <a:lstStyle/>
          <a:p>
            <a:pPr>
              <a:buFont typeface="Wingdings" panose="05000000000000000000" pitchFamily="2" charset="2"/>
              <a:buNone/>
            </a:pPr>
            <a:r>
              <a:rPr lang="en-US" altLang="en-US" sz="2200" b="1" dirty="0">
                <a:cs typeface="Arial" panose="020B0604020202020204" pitchFamily="34" charset="0"/>
              </a:rPr>
              <a:t>Full:</a:t>
            </a:r>
            <a:r>
              <a:rPr lang="en-US" altLang="en-US" sz="2200" dirty="0">
                <a:cs typeface="Arial" panose="020B0604020202020204" pitchFamily="34" charset="0"/>
              </a:rPr>
              <a:t>       ( (rear + 1) % capacity == front)</a:t>
            </a:r>
          </a:p>
          <a:p>
            <a:pPr>
              <a:buFont typeface="Wingdings" panose="05000000000000000000" pitchFamily="2" charset="2"/>
              <a:buNone/>
            </a:pPr>
            <a:r>
              <a:rPr lang="de-DE" altLang="en-US" sz="2200" b="1" dirty="0">
                <a:cs typeface="Arial" panose="020B0604020202020204" pitchFamily="34" charset="0"/>
              </a:rPr>
              <a:t>Empty:</a:t>
            </a:r>
            <a:r>
              <a:rPr lang="de-DE" altLang="en-US" sz="2200" dirty="0">
                <a:cs typeface="Arial" panose="020B0604020202020204" pitchFamily="34" charset="0"/>
              </a:rPr>
              <a:t>   rear == front</a:t>
            </a:r>
            <a:endParaRPr lang="en-US" altLang="en-US" sz="2200" dirty="0">
              <a:cs typeface="Arial" panose="020B0604020202020204" pitchFamily="34" charset="0"/>
            </a:endParaRPr>
          </a:p>
        </p:txBody>
      </p:sp>
    </p:spTree>
    <p:extLst>
      <p:ext uri="{BB962C8B-B14F-4D97-AF65-F5344CB8AC3E}">
        <p14:creationId xmlns:p14="http://schemas.microsoft.com/office/powerpoint/2010/main" val="344967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Implementation (2/2)</a:t>
            </a:r>
            <a:endParaRPr lang="en-US" dirty="0"/>
          </a:p>
        </p:txBody>
      </p:sp>
      <p:sp>
        <p:nvSpPr>
          <p:cNvPr id="3" name="Slide Number Placeholder 2"/>
          <p:cNvSpPr>
            <a:spLocks noGrp="1"/>
          </p:cNvSpPr>
          <p:nvPr>
            <p:ph type="sldNum" sz="quarter" idx="12"/>
          </p:nvPr>
        </p:nvSpPr>
        <p:spPr/>
        <p:txBody>
          <a:bodyPr/>
          <a:lstStyle/>
          <a:p>
            <a:pPr>
              <a:defRPr/>
            </a:pPr>
            <a:fld id="{C71BD5D2-A63C-4CF3-9B33-EDAB3DA9185D}" type="slidenum">
              <a:rPr lang="en-US" altLang="en-US" smtClean="0"/>
              <a:pPr>
                <a:defRPr/>
              </a:pPr>
              <a:t>27</a:t>
            </a:fld>
            <a:endParaRPr lang="en-US" altLang="en-US"/>
          </a:p>
        </p:txBody>
      </p:sp>
      <p:sp>
        <p:nvSpPr>
          <p:cNvPr id="4" name="Rectangle 1027"/>
          <p:cNvSpPr txBox="1">
            <a:spLocks noChangeArrowheads="1"/>
          </p:cNvSpPr>
          <p:nvPr/>
        </p:nvSpPr>
        <p:spPr>
          <a:xfrm>
            <a:off x="609600" y="2073275"/>
            <a:ext cx="4563208" cy="4648200"/>
          </a:xfrm>
          <a:prstGeom prst="rect">
            <a:avLst/>
          </a:prstGeom>
          <a:solidFill>
            <a:schemeClr val="accent1">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SzPct val="60000"/>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Calibri" panose="020F050202020403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alibri" panose="020F050202020403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Calibri" panose="020F050202020403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None/>
            </a:pPr>
            <a:r>
              <a:rPr lang="en-US" altLang="en-US" sz="2000" dirty="0">
                <a:solidFill>
                  <a:srgbClr val="00B050"/>
                </a:solidFill>
              </a:rPr>
              <a:t>//Insert an element</a:t>
            </a:r>
          </a:p>
          <a:p>
            <a:pPr>
              <a:lnSpc>
                <a:spcPct val="80000"/>
              </a:lnSpc>
              <a:buFont typeface="Wingdings" panose="05000000000000000000" pitchFamily="2" charset="2"/>
              <a:buNone/>
            </a:pPr>
            <a:r>
              <a:rPr lang="en-US" altLang="en-US" sz="2000" dirty="0">
                <a:solidFill>
                  <a:srgbClr val="C00000"/>
                </a:solidFill>
              </a:rPr>
              <a:t>void enqueue(int x) {</a:t>
            </a:r>
          </a:p>
          <a:p>
            <a:pPr>
              <a:lnSpc>
                <a:spcPct val="80000"/>
              </a:lnSpc>
              <a:buFont typeface="Wingdings" panose="05000000000000000000" pitchFamily="2" charset="2"/>
              <a:buNone/>
            </a:pPr>
            <a:r>
              <a:rPr lang="en-US" altLang="en-US" sz="2000" dirty="0"/>
              <a:t>        if (</a:t>
            </a:r>
            <a:r>
              <a:rPr lang="en-US" altLang="en-US" sz="2000" dirty="0" err="1"/>
              <a:t>isFull</a:t>
            </a:r>
            <a:r>
              <a:rPr lang="en-US" altLang="en-US" sz="2000" dirty="0"/>
              <a:t>()) {</a:t>
            </a:r>
          </a:p>
          <a:p>
            <a:pPr>
              <a:lnSpc>
                <a:spcPct val="80000"/>
              </a:lnSpc>
              <a:buFont typeface="Wingdings" panose="05000000000000000000" pitchFamily="2" charset="2"/>
              <a:buNone/>
            </a:pPr>
            <a:r>
              <a:rPr lang="en-US" altLang="en-US" sz="2000" dirty="0"/>
              <a:t>            </a:t>
            </a:r>
            <a:r>
              <a:rPr lang="en-US" altLang="en-US" sz="2000" dirty="0" err="1"/>
              <a:t>cout</a:t>
            </a:r>
            <a:r>
              <a:rPr lang="en-US" altLang="en-US" sz="2000" dirty="0"/>
              <a:t> &lt;&lt; </a:t>
            </a:r>
            <a:r>
              <a:rPr lang="en-US" altLang="en-US" sz="2000" dirty="0">
                <a:solidFill>
                  <a:srgbClr val="00B050"/>
                </a:solidFill>
              </a:rPr>
              <a:t>“Queue is full”</a:t>
            </a:r>
            <a:r>
              <a:rPr lang="en-US" altLang="en-US" sz="2000" dirty="0"/>
              <a:t>&lt;&lt;</a:t>
            </a:r>
            <a:r>
              <a:rPr lang="en-US" altLang="en-US" sz="2000" dirty="0" err="1"/>
              <a:t>endl</a:t>
            </a:r>
            <a:r>
              <a:rPr lang="en-US" altLang="en-US" sz="2000" dirty="0">
                <a:solidFill>
                  <a:srgbClr val="00B050"/>
                </a:solidFill>
              </a:rPr>
              <a:t>;</a:t>
            </a:r>
          </a:p>
          <a:p>
            <a:pPr>
              <a:lnSpc>
                <a:spcPct val="80000"/>
              </a:lnSpc>
              <a:buFont typeface="Wingdings" panose="05000000000000000000" pitchFamily="2" charset="2"/>
              <a:buNone/>
            </a:pPr>
            <a:r>
              <a:rPr lang="en-US" altLang="en-US" sz="2000" dirty="0"/>
              <a:t>            return;</a:t>
            </a:r>
          </a:p>
          <a:p>
            <a:pPr>
              <a:lnSpc>
                <a:spcPct val="80000"/>
              </a:lnSpc>
              <a:buFont typeface="Wingdings" panose="05000000000000000000" pitchFamily="2" charset="2"/>
              <a:buNone/>
            </a:pPr>
            <a:r>
              <a:rPr lang="en-US" altLang="en-US" sz="2000" dirty="0"/>
              <a:t>        }</a:t>
            </a:r>
          </a:p>
          <a:p>
            <a:pPr>
              <a:lnSpc>
                <a:spcPct val="80000"/>
              </a:lnSpc>
              <a:buFont typeface="Wingdings" panose="05000000000000000000" pitchFamily="2" charset="2"/>
              <a:buNone/>
            </a:pPr>
            <a:r>
              <a:rPr lang="en-US" altLang="en-US" sz="2000" dirty="0"/>
              <a:t>        </a:t>
            </a:r>
            <a:r>
              <a:rPr lang="en-US" altLang="en-US" sz="2000" dirty="0" err="1"/>
              <a:t>arr</a:t>
            </a:r>
            <a:r>
              <a:rPr lang="en-US" altLang="en-US" sz="2000" dirty="0"/>
              <a:t>[rear] = x;</a:t>
            </a:r>
          </a:p>
          <a:p>
            <a:pPr>
              <a:lnSpc>
                <a:spcPct val="80000"/>
              </a:lnSpc>
              <a:buFont typeface="Wingdings" panose="05000000000000000000" pitchFamily="2" charset="2"/>
              <a:buNone/>
            </a:pPr>
            <a:r>
              <a:rPr lang="en-US" altLang="en-US" sz="2000" dirty="0"/>
              <a:t>        rear = (rear + 1) % MAX;</a:t>
            </a:r>
          </a:p>
          <a:p>
            <a:pPr>
              <a:lnSpc>
                <a:spcPct val="80000"/>
              </a:lnSpc>
              <a:buFont typeface="Wingdings" panose="05000000000000000000" pitchFamily="2" charset="2"/>
              <a:buNone/>
            </a:pPr>
            <a:r>
              <a:rPr lang="en-US" altLang="en-US" sz="2000" dirty="0">
                <a:solidFill>
                  <a:srgbClr val="C00000"/>
                </a:solidFill>
              </a:rPr>
              <a:t>    }</a:t>
            </a:r>
            <a:endParaRPr lang="en-US" altLang="en-US" dirty="0"/>
          </a:p>
        </p:txBody>
      </p:sp>
      <p:sp>
        <p:nvSpPr>
          <p:cNvPr id="5" name="Rectangle 1027"/>
          <p:cNvSpPr txBox="1">
            <a:spLocks noChangeArrowheads="1"/>
          </p:cNvSpPr>
          <p:nvPr/>
        </p:nvSpPr>
        <p:spPr>
          <a:xfrm>
            <a:off x="6400800" y="2073275"/>
            <a:ext cx="4580792" cy="4648200"/>
          </a:xfrm>
          <a:prstGeom prst="rect">
            <a:avLst/>
          </a:prstGeom>
          <a:solidFill>
            <a:schemeClr val="accent2">
              <a:lumMod val="20000"/>
              <a:lumOff val="80000"/>
            </a:schemeClr>
          </a:solidFill>
        </p:spPr>
        <p:txBody>
          <a:bodyPr>
            <a:noAutofit/>
          </a:bodyPr>
          <a:lstStyle/>
          <a:p>
            <a:pPr fontAlgn="auto">
              <a:spcBef>
                <a:spcPts val="0"/>
              </a:spcBef>
              <a:spcAft>
                <a:spcPts val="300"/>
              </a:spcAft>
              <a:defRPr/>
            </a:pPr>
            <a:r>
              <a:rPr lang="en-US" sz="2000" dirty="0">
                <a:solidFill>
                  <a:srgbClr val="00B050"/>
                </a:solidFill>
                <a:cs typeface="Arial" panose="020B0604020202020204" pitchFamily="34" charset="0"/>
              </a:rPr>
              <a:t>// Remove and return an element</a:t>
            </a:r>
          </a:p>
          <a:p>
            <a:pPr fontAlgn="auto">
              <a:spcBef>
                <a:spcPts val="0"/>
              </a:spcBef>
              <a:spcAft>
                <a:spcPts val="300"/>
              </a:spcAft>
              <a:defRPr/>
            </a:pPr>
            <a:r>
              <a:rPr lang="en-US" sz="2000" dirty="0">
                <a:solidFill>
                  <a:srgbClr val="C00000"/>
                </a:solidFill>
                <a:cs typeface="Arial" panose="020B0604020202020204" pitchFamily="34" charset="0"/>
              </a:rPr>
              <a:t>    int dequeue() {</a:t>
            </a:r>
          </a:p>
          <a:p>
            <a:pPr fontAlgn="auto">
              <a:spcBef>
                <a:spcPts val="0"/>
              </a:spcBef>
              <a:spcAft>
                <a:spcPts val="300"/>
              </a:spcAft>
              <a:defRPr/>
            </a:pPr>
            <a:r>
              <a:rPr lang="en-US" sz="2000" dirty="0">
                <a:cs typeface="Arial" panose="020B0604020202020204" pitchFamily="34" charset="0"/>
              </a:rPr>
              <a:t>        if (</a:t>
            </a:r>
            <a:r>
              <a:rPr lang="en-US" sz="2000" dirty="0" err="1">
                <a:cs typeface="Arial" panose="020B0604020202020204" pitchFamily="34" charset="0"/>
              </a:rPr>
              <a:t>isEmpty</a:t>
            </a:r>
            <a:r>
              <a:rPr lang="en-US" sz="2000" dirty="0">
                <a:cs typeface="Arial" panose="020B0604020202020204" pitchFamily="34" charset="0"/>
              </a:rPr>
              <a:t>()) {</a:t>
            </a:r>
          </a:p>
          <a:p>
            <a:pPr fontAlgn="auto">
              <a:spcBef>
                <a:spcPts val="0"/>
              </a:spcBef>
              <a:spcAft>
                <a:spcPts val="300"/>
              </a:spcAft>
              <a:defRPr/>
            </a:pPr>
            <a:r>
              <a:rPr lang="en-US" sz="2000" dirty="0">
                <a:cs typeface="Arial" panose="020B0604020202020204" pitchFamily="34" charset="0"/>
              </a:rPr>
              <a:t>            </a:t>
            </a:r>
            <a:r>
              <a:rPr lang="en-US" sz="2000" dirty="0" err="1">
                <a:cs typeface="Arial" panose="020B0604020202020204" pitchFamily="34" charset="0"/>
              </a:rPr>
              <a:t>cout</a:t>
            </a:r>
            <a:r>
              <a:rPr lang="en-US" sz="2000" dirty="0">
                <a:cs typeface="Arial" panose="020B0604020202020204" pitchFamily="34" charset="0"/>
              </a:rPr>
              <a:t> &lt;&lt; </a:t>
            </a:r>
            <a:r>
              <a:rPr lang="en-US" sz="2000" dirty="0">
                <a:solidFill>
                  <a:srgbClr val="00B050"/>
                </a:solidFill>
                <a:cs typeface="Arial" panose="020B0604020202020204" pitchFamily="34" charset="0"/>
              </a:rPr>
              <a:t>"Queue is Empty. Nothing to dequeue." </a:t>
            </a:r>
            <a:r>
              <a:rPr lang="en-US" sz="2000" dirty="0">
                <a:cs typeface="Arial" panose="020B0604020202020204" pitchFamily="34" charset="0"/>
              </a:rPr>
              <a:t>&lt;&lt; </a:t>
            </a:r>
            <a:r>
              <a:rPr lang="en-US" sz="2000" dirty="0" err="1">
                <a:cs typeface="Arial" panose="020B0604020202020204" pitchFamily="34" charset="0"/>
              </a:rPr>
              <a:t>endl</a:t>
            </a:r>
            <a:r>
              <a:rPr lang="en-US" sz="2000" dirty="0">
                <a:cs typeface="Arial" panose="020B0604020202020204" pitchFamily="34" charset="0"/>
              </a:rPr>
              <a:t>;</a:t>
            </a:r>
          </a:p>
          <a:p>
            <a:pPr fontAlgn="auto">
              <a:spcBef>
                <a:spcPts val="0"/>
              </a:spcBef>
              <a:spcAft>
                <a:spcPts val="300"/>
              </a:spcAft>
              <a:defRPr/>
            </a:pPr>
            <a:r>
              <a:rPr lang="en-US" sz="2000" dirty="0">
                <a:cs typeface="Arial" panose="020B0604020202020204" pitchFamily="34" charset="0"/>
              </a:rPr>
              <a:t>            return -1;</a:t>
            </a:r>
          </a:p>
          <a:p>
            <a:pPr fontAlgn="auto">
              <a:spcBef>
                <a:spcPts val="0"/>
              </a:spcBef>
              <a:spcAft>
                <a:spcPts val="300"/>
              </a:spcAft>
              <a:defRPr/>
            </a:pPr>
            <a:r>
              <a:rPr lang="en-US" sz="2000" dirty="0">
                <a:cs typeface="Arial" panose="020B0604020202020204" pitchFamily="34" charset="0"/>
              </a:rPr>
              <a:t>        } else {</a:t>
            </a:r>
          </a:p>
          <a:p>
            <a:pPr fontAlgn="auto">
              <a:spcBef>
                <a:spcPts val="0"/>
              </a:spcBef>
              <a:spcAft>
                <a:spcPts val="300"/>
              </a:spcAft>
              <a:defRPr/>
            </a:pPr>
            <a:r>
              <a:rPr lang="en-US" sz="2000" dirty="0">
                <a:cs typeface="Arial" panose="020B0604020202020204" pitchFamily="34" charset="0"/>
              </a:rPr>
              <a:t>            front = (front + 1) % SIZE;</a:t>
            </a:r>
          </a:p>
          <a:p>
            <a:pPr fontAlgn="auto">
              <a:spcBef>
                <a:spcPts val="0"/>
              </a:spcBef>
              <a:spcAft>
                <a:spcPts val="300"/>
              </a:spcAft>
              <a:defRPr/>
            </a:pPr>
            <a:r>
              <a:rPr lang="en-US" sz="2000" dirty="0">
                <a:cs typeface="Arial" panose="020B0604020202020204" pitchFamily="34" charset="0"/>
              </a:rPr>
              <a:t>            int value = items[front];</a:t>
            </a:r>
          </a:p>
          <a:p>
            <a:pPr fontAlgn="auto">
              <a:spcBef>
                <a:spcPts val="0"/>
              </a:spcBef>
              <a:spcAft>
                <a:spcPts val="300"/>
              </a:spcAft>
              <a:defRPr/>
            </a:pPr>
            <a:r>
              <a:rPr lang="en-US" sz="2000" dirty="0">
                <a:cs typeface="Arial" panose="020B0604020202020204" pitchFamily="34" charset="0"/>
              </a:rPr>
              <a:t>            </a:t>
            </a:r>
            <a:r>
              <a:rPr lang="en-US" sz="2000" dirty="0" err="1">
                <a:cs typeface="Arial" panose="020B0604020202020204" pitchFamily="34" charset="0"/>
              </a:rPr>
              <a:t>cout</a:t>
            </a:r>
            <a:r>
              <a:rPr lang="en-US" sz="2000" dirty="0">
                <a:cs typeface="Arial" panose="020B0604020202020204" pitchFamily="34" charset="0"/>
              </a:rPr>
              <a:t> &lt;&lt; </a:t>
            </a:r>
            <a:r>
              <a:rPr lang="en-US" sz="2000" dirty="0">
                <a:solidFill>
                  <a:srgbClr val="00B050"/>
                </a:solidFill>
                <a:cs typeface="Arial" panose="020B0604020202020204" pitchFamily="34" charset="0"/>
              </a:rPr>
              <a:t>"Dequeued: " </a:t>
            </a:r>
            <a:r>
              <a:rPr lang="en-US" sz="2000" dirty="0">
                <a:cs typeface="Arial" panose="020B0604020202020204" pitchFamily="34" charset="0"/>
              </a:rPr>
              <a:t>&lt;&lt; value &lt;&lt; </a:t>
            </a:r>
            <a:r>
              <a:rPr lang="en-US" sz="2000" dirty="0" err="1">
                <a:cs typeface="Arial" panose="020B0604020202020204" pitchFamily="34" charset="0"/>
              </a:rPr>
              <a:t>endl</a:t>
            </a:r>
            <a:r>
              <a:rPr lang="en-US" sz="2000" dirty="0">
                <a:cs typeface="Arial" panose="020B0604020202020204" pitchFamily="34" charset="0"/>
              </a:rPr>
              <a:t>;</a:t>
            </a:r>
          </a:p>
          <a:p>
            <a:pPr fontAlgn="auto">
              <a:spcBef>
                <a:spcPts val="0"/>
              </a:spcBef>
              <a:spcAft>
                <a:spcPts val="300"/>
              </a:spcAft>
              <a:defRPr/>
            </a:pPr>
            <a:r>
              <a:rPr lang="en-US" sz="2000" dirty="0">
                <a:cs typeface="Arial" panose="020B0604020202020204" pitchFamily="34" charset="0"/>
              </a:rPr>
              <a:t>            return value;</a:t>
            </a:r>
          </a:p>
          <a:p>
            <a:pPr fontAlgn="auto">
              <a:spcBef>
                <a:spcPts val="0"/>
              </a:spcBef>
              <a:spcAft>
                <a:spcPts val="300"/>
              </a:spcAft>
              <a:defRPr/>
            </a:pPr>
            <a:r>
              <a:rPr lang="en-US" sz="2000" dirty="0">
                <a:cs typeface="Arial" panose="020B0604020202020204" pitchFamily="34" charset="0"/>
              </a:rPr>
              <a:t>        }</a:t>
            </a:r>
          </a:p>
          <a:p>
            <a:pPr fontAlgn="auto">
              <a:spcBef>
                <a:spcPts val="0"/>
              </a:spcBef>
              <a:spcAft>
                <a:spcPts val="300"/>
              </a:spcAft>
              <a:defRPr/>
            </a:pPr>
            <a:r>
              <a:rPr lang="en-US" sz="2000" dirty="0">
                <a:solidFill>
                  <a:srgbClr val="C00000"/>
                </a:solidFill>
                <a:cs typeface="Arial" panose="020B0604020202020204" pitchFamily="34" charset="0"/>
              </a:rPr>
              <a:t>    }</a:t>
            </a:r>
            <a:endParaRPr lang="en-US" sz="2000" dirty="0">
              <a:cs typeface="Arial" panose="020B0604020202020204" pitchFamily="34" charset="0"/>
            </a:endParaRPr>
          </a:p>
        </p:txBody>
      </p:sp>
    </p:spTree>
    <p:extLst>
      <p:ext uri="{BB962C8B-B14F-4D97-AF65-F5344CB8AC3E}">
        <p14:creationId xmlns:p14="http://schemas.microsoft.com/office/powerpoint/2010/main" val="20528435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Another way</a:t>
            </a:r>
            <a:endParaRPr lang="en-US" dirty="0"/>
          </a:p>
        </p:txBody>
      </p:sp>
      <p:sp>
        <p:nvSpPr>
          <p:cNvPr id="4" name="Content Placeholder 3"/>
          <p:cNvSpPr>
            <a:spLocks noGrp="1"/>
          </p:cNvSpPr>
          <p:nvPr>
            <p:ph sz="half" idx="1"/>
          </p:nvPr>
        </p:nvSpPr>
        <p:spPr/>
        <p:txBody>
          <a:bodyPr>
            <a:normAutofit fontScale="55000" lnSpcReduction="20000"/>
          </a:bodyPr>
          <a:lstStyle/>
          <a:p>
            <a:r>
              <a:rPr lang="en-GB" dirty="0"/>
              <a:t>To have different conditions for a </a:t>
            </a:r>
            <a:r>
              <a:rPr lang="en-GB" dirty="0">
                <a:solidFill>
                  <a:schemeClr val="accent1">
                    <a:lumMod val="75000"/>
                  </a:schemeClr>
                </a:solidFill>
              </a:rPr>
              <a:t>full</a:t>
            </a:r>
            <a:r>
              <a:rPr lang="en-GB" dirty="0"/>
              <a:t> and </a:t>
            </a:r>
            <a:r>
              <a:rPr lang="en-GB" dirty="0">
                <a:solidFill>
                  <a:schemeClr val="accent1">
                    <a:lumMod val="75000"/>
                  </a:schemeClr>
                </a:solidFill>
              </a:rPr>
              <a:t>empty</a:t>
            </a:r>
            <a:r>
              <a:rPr lang="en-GB" dirty="0"/>
              <a:t> circular queue </a:t>
            </a:r>
          </a:p>
          <a:p>
            <a:pPr lvl="1"/>
            <a:r>
              <a:rPr lang="en-GB" sz="2800" dirty="0"/>
              <a:t>Add a ‘count’ variable which keeps track of how many elements exist in the queue</a:t>
            </a:r>
          </a:p>
          <a:p>
            <a:pPr lvl="1"/>
            <a:r>
              <a:rPr lang="en-GB" sz="2800" dirty="0"/>
              <a:t>Initialize count to zero</a:t>
            </a:r>
          </a:p>
          <a:p>
            <a:pPr lvl="1"/>
            <a:r>
              <a:rPr lang="en-GB" sz="2800" dirty="0"/>
              <a:t>Increment count each time an element is </a:t>
            </a:r>
            <a:r>
              <a:rPr lang="en-GB" sz="2800" dirty="0" err="1"/>
              <a:t>enqueued</a:t>
            </a:r>
            <a:endParaRPr lang="en-GB" sz="2800" dirty="0"/>
          </a:p>
          <a:p>
            <a:pPr lvl="1"/>
            <a:r>
              <a:rPr lang="en-GB" sz="2800" dirty="0"/>
              <a:t>Decrement count each time an element is </a:t>
            </a:r>
            <a:r>
              <a:rPr lang="en-GB" sz="2800" dirty="0" err="1"/>
              <a:t>dequeued</a:t>
            </a:r>
            <a:endParaRPr lang="en-GB" sz="2800" dirty="0"/>
          </a:p>
        </p:txBody>
      </p:sp>
      <p:sp>
        <p:nvSpPr>
          <p:cNvPr id="5" name="Content Placeholder 4"/>
          <p:cNvSpPr>
            <a:spLocks noGrp="1"/>
          </p:cNvSpPr>
          <p:nvPr>
            <p:ph sz="half" idx="2"/>
          </p:nvPr>
        </p:nvSpPr>
        <p:spPr/>
        <p:txBody>
          <a:bodyPr>
            <a:normAutofit fontScale="55000" lnSpcReduction="20000"/>
          </a:bodyPr>
          <a:lstStyle/>
          <a:p>
            <a:pPr marL="0" indent="0">
              <a:lnSpc>
                <a:spcPct val="120000"/>
              </a:lnSpc>
              <a:spcBef>
                <a:spcPts val="0"/>
              </a:spcBef>
              <a:buNone/>
            </a:pPr>
            <a:r>
              <a:rPr lang="en-GB" dirty="0" err="1"/>
              <a:t>struct</a:t>
            </a:r>
            <a:r>
              <a:rPr lang="en-GB" dirty="0"/>
              <a:t> Queue { </a:t>
            </a:r>
          </a:p>
          <a:p>
            <a:pPr marL="0" indent="0">
              <a:lnSpc>
                <a:spcPct val="120000"/>
              </a:lnSpc>
              <a:spcBef>
                <a:spcPts val="0"/>
              </a:spcBef>
              <a:buNone/>
            </a:pPr>
            <a:r>
              <a:rPr lang="en-GB" dirty="0"/>
              <a:t>	</a:t>
            </a:r>
            <a:r>
              <a:rPr lang="en-GB" dirty="0" err="1"/>
              <a:t>int</a:t>
            </a:r>
            <a:r>
              <a:rPr lang="en-GB" dirty="0"/>
              <a:t> Count; </a:t>
            </a:r>
            <a:r>
              <a:rPr lang="en-GB" dirty="0">
                <a:solidFill>
                  <a:srgbClr val="00B050"/>
                </a:solidFill>
              </a:rPr>
              <a:t>// number of queue items</a:t>
            </a:r>
          </a:p>
          <a:p>
            <a:pPr marL="0" indent="0">
              <a:lnSpc>
                <a:spcPct val="120000"/>
              </a:lnSpc>
              <a:spcBef>
                <a:spcPts val="0"/>
              </a:spcBef>
              <a:buNone/>
            </a:pPr>
            <a:r>
              <a:rPr lang="en-GB" dirty="0"/>
              <a:t>	</a:t>
            </a:r>
            <a:r>
              <a:rPr lang="en-GB" dirty="0" err="1"/>
              <a:t>int</a:t>
            </a:r>
            <a:r>
              <a:rPr lang="en-GB" dirty="0"/>
              <a:t> Front; </a:t>
            </a:r>
            <a:r>
              <a:rPr lang="en-GB" dirty="0">
                <a:solidFill>
                  <a:srgbClr val="00B050"/>
                </a:solidFill>
              </a:rPr>
              <a:t>// head of queue </a:t>
            </a:r>
          </a:p>
          <a:p>
            <a:pPr marL="0" indent="0">
              <a:lnSpc>
                <a:spcPct val="120000"/>
              </a:lnSpc>
              <a:spcBef>
                <a:spcPts val="0"/>
              </a:spcBef>
              <a:buNone/>
            </a:pPr>
            <a:r>
              <a:rPr lang="en-GB" dirty="0"/>
              <a:t>	</a:t>
            </a:r>
            <a:r>
              <a:rPr lang="en-GB" dirty="0" err="1"/>
              <a:t>int</a:t>
            </a:r>
            <a:r>
              <a:rPr lang="en-GB" dirty="0"/>
              <a:t> Rear; </a:t>
            </a:r>
            <a:r>
              <a:rPr lang="en-GB" dirty="0">
                <a:solidFill>
                  <a:srgbClr val="00B050"/>
                </a:solidFill>
              </a:rPr>
              <a:t>// tail of queue </a:t>
            </a:r>
          </a:p>
          <a:p>
            <a:pPr marL="0" indent="0">
              <a:lnSpc>
                <a:spcPct val="120000"/>
              </a:lnSpc>
              <a:spcBef>
                <a:spcPts val="0"/>
              </a:spcBef>
              <a:buNone/>
            </a:pPr>
            <a:r>
              <a:rPr lang="en-GB" dirty="0"/>
              <a:t>	</a:t>
            </a:r>
            <a:r>
              <a:rPr lang="en-GB" dirty="0" err="1"/>
              <a:t>int</a:t>
            </a:r>
            <a:r>
              <a:rPr lang="en-GB" dirty="0"/>
              <a:t> Items[length]; </a:t>
            </a:r>
          </a:p>
          <a:p>
            <a:pPr marL="0" indent="0">
              <a:lnSpc>
                <a:spcPct val="120000"/>
              </a:lnSpc>
              <a:spcBef>
                <a:spcPts val="0"/>
              </a:spcBef>
              <a:buNone/>
            </a:pPr>
            <a:r>
              <a:rPr lang="en-GB" dirty="0"/>
              <a:t>};</a:t>
            </a:r>
          </a:p>
          <a:p>
            <a:pPr marL="274320" indent="-274320">
              <a:lnSpc>
                <a:spcPct val="120000"/>
              </a:lnSpc>
              <a:spcBef>
                <a:spcPts val="0"/>
              </a:spcBef>
              <a:buNone/>
              <a:defRPr/>
            </a:pPr>
            <a:r>
              <a:rPr lang="en-US" dirty="0"/>
              <a:t>void </a:t>
            </a:r>
            <a:r>
              <a:rPr lang="en-US" dirty="0" err="1"/>
              <a:t>InitializeQueue</a:t>
            </a:r>
            <a:r>
              <a:rPr lang="en-US" dirty="0"/>
              <a:t>(Queue *Q) {</a:t>
            </a:r>
          </a:p>
          <a:p>
            <a:pPr marL="274320" indent="-274320">
              <a:lnSpc>
                <a:spcPct val="120000"/>
              </a:lnSpc>
              <a:spcBef>
                <a:spcPts val="0"/>
              </a:spcBef>
              <a:buNone/>
              <a:defRPr/>
            </a:pPr>
            <a:r>
              <a:rPr lang="en-US" dirty="0"/>
              <a:t> 	Q-&gt;Count = 0; </a:t>
            </a:r>
            <a:r>
              <a:rPr lang="en-US" dirty="0">
                <a:solidFill>
                  <a:srgbClr val="00B050"/>
                </a:solidFill>
              </a:rPr>
              <a:t>// zero count of items</a:t>
            </a:r>
          </a:p>
          <a:p>
            <a:pPr marL="274320" indent="-274320">
              <a:lnSpc>
                <a:spcPct val="120000"/>
              </a:lnSpc>
              <a:spcBef>
                <a:spcPts val="0"/>
              </a:spcBef>
              <a:buNone/>
              <a:defRPr/>
            </a:pPr>
            <a:r>
              <a:rPr lang="en-US" dirty="0"/>
              <a:t>	Q-&gt;Front = length-1; </a:t>
            </a:r>
          </a:p>
          <a:p>
            <a:pPr marL="274320" indent="-274320">
              <a:lnSpc>
                <a:spcPct val="120000"/>
              </a:lnSpc>
              <a:spcBef>
                <a:spcPts val="0"/>
              </a:spcBef>
              <a:buNone/>
              <a:defRPr/>
            </a:pPr>
            <a:r>
              <a:rPr lang="en-US" dirty="0"/>
              <a:t>	Q-&gt;Rear = length-1; </a:t>
            </a:r>
          </a:p>
          <a:p>
            <a:pPr marL="274320" indent="-274320">
              <a:lnSpc>
                <a:spcPct val="120000"/>
              </a:lnSpc>
              <a:spcBef>
                <a:spcPts val="0"/>
              </a:spcBef>
              <a:buNone/>
              <a:defRPr/>
            </a:pPr>
            <a:r>
              <a:rPr lang="en-US" dirty="0"/>
              <a:t>} </a:t>
            </a:r>
          </a:p>
          <a:p>
            <a:pPr marL="274320" indent="-274320">
              <a:lnSpc>
                <a:spcPct val="120000"/>
              </a:lnSpc>
              <a:spcBef>
                <a:spcPts val="0"/>
              </a:spcBef>
              <a:buNone/>
              <a:defRPr/>
            </a:pPr>
            <a:r>
              <a:rPr lang="en-US" dirty="0" err="1"/>
              <a:t>int</a:t>
            </a:r>
            <a:r>
              <a:rPr lang="en-US" dirty="0"/>
              <a:t> </a:t>
            </a:r>
            <a:r>
              <a:rPr lang="en-US" dirty="0" err="1"/>
              <a:t>isEmpty</a:t>
            </a:r>
            <a:r>
              <a:rPr lang="en-US" dirty="0"/>
              <a:t>(Queue *Q) 	{</a:t>
            </a:r>
          </a:p>
          <a:p>
            <a:pPr marL="274320" indent="-274320">
              <a:lnSpc>
                <a:spcPct val="120000"/>
              </a:lnSpc>
              <a:spcBef>
                <a:spcPts val="0"/>
              </a:spcBef>
              <a:buNone/>
              <a:defRPr/>
            </a:pPr>
            <a:r>
              <a:rPr lang="en-US" dirty="0"/>
              <a:t>	 return (Q-&gt;Count == 0); </a:t>
            </a:r>
          </a:p>
          <a:p>
            <a:pPr marL="274320" indent="-274320">
              <a:lnSpc>
                <a:spcPct val="120000"/>
              </a:lnSpc>
              <a:spcBef>
                <a:spcPts val="0"/>
              </a:spcBef>
              <a:buNone/>
              <a:defRPr/>
            </a:pPr>
            <a:r>
              <a:rPr lang="en-US" dirty="0"/>
              <a:t>} </a:t>
            </a:r>
          </a:p>
          <a:p>
            <a:pPr marL="274320" indent="-274320">
              <a:lnSpc>
                <a:spcPct val="120000"/>
              </a:lnSpc>
              <a:spcBef>
                <a:spcPts val="0"/>
              </a:spcBef>
              <a:buNone/>
              <a:defRPr/>
            </a:pPr>
            <a:r>
              <a:rPr lang="en-US" dirty="0" err="1"/>
              <a:t>int</a:t>
            </a:r>
            <a:r>
              <a:rPr lang="en-US" dirty="0"/>
              <a:t> </a:t>
            </a:r>
            <a:r>
              <a:rPr lang="en-US" dirty="0" err="1"/>
              <a:t>isFull</a:t>
            </a:r>
            <a:r>
              <a:rPr lang="en-US" dirty="0"/>
              <a:t>(Queue *Q) {</a:t>
            </a:r>
          </a:p>
          <a:p>
            <a:pPr marL="274320" indent="-274320">
              <a:lnSpc>
                <a:spcPct val="120000"/>
              </a:lnSpc>
              <a:spcBef>
                <a:spcPts val="0"/>
              </a:spcBef>
              <a:buNone/>
              <a:defRPr/>
            </a:pPr>
            <a:r>
              <a:rPr lang="en-US" dirty="0"/>
              <a:t>	 return (Q-&gt;Count == length); </a:t>
            </a:r>
          </a:p>
          <a:p>
            <a:pPr marL="274320" indent="-274320">
              <a:lnSpc>
                <a:spcPct val="120000"/>
              </a:lnSpc>
              <a:spcBef>
                <a:spcPts val="0"/>
              </a:spcBef>
              <a:buNone/>
              <a:defRPr/>
            </a:pPr>
            <a:r>
              <a:rPr lang="en-US" dirty="0"/>
              <a:t>}</a:t>
            </a:r>
          </a:p>
        </p:txBody>
      </p:sp>
      <p:sp>
        <p:nvSpPr>
          <p:cNvPr id="3" name="Slide Number Placeholder 2"/>
          <p:cNvSpPr>
            <a:spLocks noGrp="1"/>
          </p:cNvSpPr>
          <p:nvPr>
            <p:ph type="sldNum" sz="quarter" idx="12"/>
          </p:nvPr>
        </p:nvSpPr>
        <p:spPr/>
        <p:txBody>
          <a:bodyPr/>
          <a:lstStyle/>
          <a:p>
            <a:pPr>
              <a:defRPr/>
            </a:pPr>
            <a:fld id="{C71BD5D2-A63C-4CF3-9B33-EDAB3DA9185D}" type="slidenum">
              <a:rPr lang="en-US" altLang="en-US" smtClean="0"/>
              <a:pPr>
                <a:defRPr/>
              </a:pPr>
              <a:t>28</a:t>
            </a:fld>
            <a:endParaRPr lang="en-US" altLang="en-US"/>
          </a:p>
        </p:txBody>
      </p:sp>
    </p:spTree>
    <p:extLst>
      <p:ext uri="{BB962C8B-B14F-4D97-AF65-F5344CB8AC3E}">
        <p14:creationId xmlns:p14="http://schemas.microsoft.com/office/powerpoint/2010/main" val="13301331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de-DE" b="1" dirty="0" err="1"/>
              <a:t>Linked</a:t>
            </a:r>
            <a:r>
              <a:rPr lang="de-DE" b="1" dirty="0"/>
              <a:t> </a:t>
            </a:r>
            <a:r>
              <a:rPr lang="de-DE" b="1" dirty="0" err="1"/>
              <a:t>list</a:t>
            </a:r>
            <a:r>
              <a:rPr lang="de-DE" b="1" dirty="0"/>
              <a:t> </a:t>
            </a:r>
            <a:r>
              <a:rPr lang="de-DE" b="1" dirty="0" err="1"/>
              <a:t>based</a:t>
            </a:r>
            <a:r>
              <a:rPr lang="de-DE" b="1" dirty="0"/>
              <a:t> Implementation </a:t>
            </a:r>
            <a:r>
              <a:rPr lang="de-DE" b="1" dirty="0" err="1"/>
              <a:t>of</a:t>
            </a:r>
            <a:r>
              <a:rPr lang="de-DE" b="1" dirty="0"/>
              <a:t> Queues</a:t>
            </a:r>
            <a:endParaRPr lang="en-US" b="1" dirty="0"/>
          </a:p>
        </p:txBody>
      </p:sp>
      <p:sp>
        <p:nvSpPr>
          <p:cNvPr id="7" name="Text Placeholder 6"/>
          <p:cNvSpPr>
            <a:spLocks noGrp="1"/>
          </p:cNvSpPr>
          <p:nvPr>
            <p:ph type="body" idx="1"/>
          </p:nvPr>
        </p:nvSpPr>
        <p:spPr/>
        <p:txBody>
          <a:bodyPr/>
          <a:lstStyle/>
          <a:p>
            <a:r>
              <a:rPr lang="de-DE" dirty="0"/>
              <a:t>What about linked list implementation of queues?</a:t>
            </a:r>
            <a:endParaRPr lang="en-US" dirty="0"/>
          </a:p>
          <a:p>
            <a:endParaRPr lang="en-US" dirty="0"/>
          </a:p>
        </p:txBody>
      </p:sp>
      <p:sp>
        <p:nvSpPr>
          <p:cNvPr id="5" name="Slide Number Placeholder 4"/>
          <p:cNvSpPr>
            <a:spLocks noGrp="1"/>
          </p:cNvSpPr>
          <p:nvPr>
            <p:ph type="sldNum" sz="quarter" idx="12"/>
          </p:nvPr>
        </p:nvSpPr>
        <p:spPr/>
        <p:txBody>
          <a:bodyPr/>
          <a:lstStyle/>
          <a:p>
            <a:pPr>
              <a:defRPr/>
            </a:pPr>
            <a:fld id="{07574BD9-A853-4283-85D1-C9F1BF83FE24}" type="slidenum">
              <a:rPr lang="en-US" altLang="en-US" smtClean="0"/>
              <a:pPr>
                <a:defRPr/>
              </a:pPr>
              <a:t>29</a:t>
            </a:fld>
            <a:endParaRPr lang="en-US" altLang="en-US"/>
          </a:p>
        </p:txBody>
      </p:sp>
    </p:spTree>
    <p:extLst>
      <p:ext uri="{BB962C8B-B14F-4D97-AF65-F5344CB8AC3E}">
        <p14:creationId xmlns:p14="http://schemas.microsoft.com/office/powerpoint/2010/main" val="474759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de-DE" b="1" dirty="0"/>
              <a:t>Linked List Based Implementation of Queues? (1/2)</a:t>
            </a:r>
            <a:endParaRPr lang="en-US" b="1" dirty="0"/>
          </a:p>
        </p:txBody>
      </p:sp>
      <p:sp>
        <p:nvSpPr>
          <p:cNvPr id="12" name="TextBox 11"/>
          <p:cNvSpPr txBox="1"/>
          <p:nvPr/>
        </p:nvSpPr>
        <p:spPr>
          <a:xfrm>
            <a:off x="838200" y="1842113"/>
            <a:ext cx="9906000" cy="369332"/>
          </a:xfrm>
          <a:prstGeom prst="rect">
            <a:avLst/>
          </a:prstGeom>
          <a:noFill/>
        </p:spPr>
        <p:txBody>
          <a:bodyPr wrap="square" rtlCol="0">
            <a:spAutoFit/>
          </a:bodyPr>
          <a:lstStyle/>
          <a:p>
            <a:r>
              <a:rPr lang="en-US" dirty="0"/>
              <a:t>Maintain pointers to the first and last nodes in the Linked List.</a:t>
            </a:r>
          </a:p>
        </p:txBody>
      </p:sp>
      <p:pic>
        <p:nvPicPr>
          <p:cNvPr id="2050" name="Picture 2" descr="Queue-Linked-List-Implementation_">
            <a:extLst>
              <a:ext uri="{FF2B5EF4-FFF2-40B4-BE49-F238E27FC236}">
                <a16:creationId xmlns:a16="http://schemas.microsoft.com/office/drawing/2014/main" id="{D7BA26CE-542C-40EA-E580-155597258B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682" y="2474856"/>
            <a:ext cx="10160000"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35246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de&#10;&#10;Description automatically generated with medium confidence">
            <a:extLst>
              <a:ext uri="{FF2B5EF4-FFF2-40B4-BE49-F238E27FC236}">
                <a16:creationId xmlns:a16="http://schemas.microsoft.com/office/drawing/2014/main" id="{3C63F2DC-E80C-D3E1-017F-7981681B44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5076" y="68263"/>
            <a:ext cx="8401847" cy="6721475"/>
          </a:xfrm>
          <a:prstGeom prst="rect">
            <a:avLst/>
          </a:prstGeom>
          <a:noFill/>
        </p:spPr>
      </p:pic>
      <p:sp>
        <p:nvSpPr>
          <p:cNvPr id="8" name="Rectangle 7">
            <a:extLst>
              <a:ext uri="{FF2B5EF4-FFF2-40B4-BE49-F238E27FC236}">
                <a16:creationId xmlns:a16="http://schemas.microsoft.com/office/drawing/2014/main" id="{23321B52-8E20-6189-4F62-83DF6AA8E01C}"/>
              </a:ext>
            </a:extLst>
          </p:cNvPr>
          <p:cNvSpPr/>
          <p:nvPr/>
        </p:nvSpPr>
        <p:spPr>
          <a:xfrm>
            <a:off x="2133600" y="1447800"/>
            <a:ext cx="8686800" cy="1828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 name="Rectangle 8">
            <a:extLst>
              <a:ext uri="{FF2B5EF4-FFF2-40B4-BE49-F238E27FC236}">
                <a16:creationId xmlns:a16="http://schemas.microsoft.com/office/drawing/2014/main" id="{97394BD8-C97E-FFC7-F032-4C7FFC4CAA59}"/>
              </a:ext>
            </a:extLst>
          </p:cNvPr>
          <p:cNvSpPr/>
          <p:nvPr/>
        </p:nvSpPr>
        <p:spPr>
          <a:xfrm>
            <a:off x="2108616" y="3204369"/>
            <a:ext cx="8686800" cy="1828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1" name="Rectangle 10">
            <a:extLst>
              <a:ext uri="{FF2B5EF4-FFF2-40B4-BE49-F238E27FC236}">
                <a16:creationId xmlns:a16="http://schemas.microsoft.com/office/drawing/2014/main" id="{AE92CD8A-DF07-3B3B-C4DF-8BEC765626A8}"/>
              </a:ext>
            </a:extLst>
          </p:cNvPr>
          <p:cNvSpPr/>
          <p:nvPr/>
        </p:nvSpPr>
        <p:spPr>
          <a:xfrm>
            <a:off x="2083632" y="5181599"/>
            <a:ext cx="8686800" cy="1572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7" name="TextBox 16">
            <a:extLst>
              <a:ext uri="{FF2B5EF4-FFF2-40B4-BE49-F238E27FC236}">
                <a16:creationId xmlns:a16="http://schemas.microsoft.com/office/drawing/2014/main" id="{465E5607-1124-0C0C-163E-CAEC92CFE224}"/>
              </a:ext>
            </a:extLst>
          </p:cNvPr>
          <p:cNvSpPr txBox="1"/>
          <p:nvPr/>
        </p:nvSpPr>
        <p:spPr>
          <a:xfrm>
            <a:off x="8471942" y="111873"/>
            <a:ext cx="2367196" cy="369332"/>
          </a:xfrm>
          <a:prstGeom prst="rect">
            <a:avLst/>
          </a:prstGeom>
          <a:noFill/>
        </p:spPr>
        <p:txBody>
          <a:bodyPr wrap="square">
            <a:spAutoFit/>
          </a:bodyPr>
          <a:lstStyle/>
          <a:p>
            <a:pPr algn="l"/>
            <a:r>
              <a:rPr lang="en-GB" b="1" i="0" dirty="0">
                <a:solidFill>
                  <a:srgbClr val="222A48"/>
                </a:solidFill>
                <a:effectLst/>
                <a:latin typeface="Euclid Circular A"/>
              </a:rPr>
              <a:t>Enqueue</a:t>
            </a:r>
          </a:p>
        </p:txBody>
      </p:sp>
    </p:spTree>
    <p:extLst>
      <p:ext uri="{BB962C8B-B14F-4D97-AF65-F5344CB8AC3E}">
        <p14:creationId xmlns:p14="http://schemas.microsoft.com/office/powerpoint/2010/main" val="346135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4E8CD-3B4A-9551-40B2-AF1D92D0B607}"/>
            </a:ext>
          </a:extLst>
        </p:cNvPr>
        <p:cNvGrpSpPr/>
        <p:nvPr/>
      </p:nvGrpSpPr>
      <p:grpSpPr>
        <a:xfrm>
          <a:off x="0" y="0"/>
          <a:ext cx="0" cy="0"/>
          <a:chOff x="0" y="0"/>
          <a:chExt cx="0" cy="0"/>
        </a:xfrm>
      </p:grpSpPr>
      <p:pic>
        <p:nvPicPr>
          <p:cNvPr id="4" name="Picture 3" descr="A diagram of a computer code&#10;&#10;Description automatically generated with medium confidence">
            <a:extLst>
              <a:ext uri="{FF2B5EF4-FFF2-40B4-BE49-F238E27FC236}">
                <a16:creationId xmlns:a16="http://schemas.microsoft.com/office/drawing/2014/main" id="{1F24CEC0-BA1C-17DE-F329-88649C39FB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3632" y="680492"/>
            <a:ext cx="7772400" cy="6073130"/>
          </a:xfrm>
          <a:prstGeom prst="rect">
            <a:avLst/>
          </a:prstGeom>
        </p:spPr>
      </p:pic>
      <p:sp>
        <p:nvSpPr>
          <p:cNvPr id="8" name="Rectangle 7">
            <a:extLst>
              <a:ext uri="{FF2B5EF4-FFF2-40B4-BE49-F238E27FC236}">
                <a16:creationId xmlns:a16="http://schemas.microsoft.com/office/drawing/2014/main" id="{1E33646F-A377-1BB3-8125-1C89EE44B23C}"/>
              </a:ext>
            </a:extLst>
          </p:cNvPr>
          <p:cNvSpPr/>
          <p:nvPr/>
        </p:nvSpPr>
        <p:spPr>
          <a:xfrm>
            <a:off x="2136099" y="2040657"/>
            <a:ext cx="8686800" cy="1676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 name="Rectangle 8">
            <a:extLst>
              <a:ext uri="{FF2B5EF4-FFF2-40B4-BE49-F238E27FC236}">
                <a16:creationId xmlns:a16="http://schemas.microsoft.com/office/drawing/2014/main" id="{C35F2BF9-5F67-AEF7-BBEE-4E58C8BBCA6D}"/>
              </a:ext>
            </a:extLst>
          </p:cNvPr>
          <p:cNvSpPr/>
          <p:nvPr/>
        </p:nvSpPr>
        <p:spPr>
          <a:xfrm>
            <a:off x="2108616" y="3916343"/>
            <a:ext cx="8686800" cy="13601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1" name="Rectangle 10">
            <a:extLst>
              <a:ext uri="{FF2B5EF4-FFF2-40B4-BE49-F238E27FC236}">
                <a16:creationId xmlns:a16="http://schemas.microsoft.com/office/drawing/2014/main" id="{929369D8-DFAA-96F5-6F64-F9F8FA91BD20}"/>
              </a:ext>
            </a:extLst>
          </p:cNvPr>
          <p:cNvSpPr/>
          <p:nvPr/>
        </p:nvSpPr>
        <p:spPr>
          <a:xfrm>
            <a:off x="2083632" y="5393456"/>
            <a:ext cx="8686800" cy="13526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7" name="TextBox 16">
            <a:extLst>
              <a:ext uri="{FF2B5EF4-FFF2-40B4-BE49-F238E27FC236}">
                <a16:creationId xmlns:a16="http://schemas.microsoft.com/office/drawing/2014/main" id="{BCA6658F-08AD-A9C1-F46B-77D9492A07C7}"/>
              </a:ext>
            </a:extLst>
          </p:cNvPr>
          <p:cNvSpPr txBox="1"/>
          <p:nvPr/>
        </p:nvSpPr>
        <p:spPr>
          <a:xfrm>
            <a:off x="8471942" y="111873"/>
            <a:ext cx="2367196" cy="369332"/>
          </a:xfrm>
          <a:prstGeom prst="rect">
            <a:avLst/>
          </a:prstGeom>
          <a:noFill/>
        </p:spPr>
        <p:txBody>
          <a:bodyPr wrap="square">
            <a:spAutoFit/>
          </a:bodyPr>
          <a:lstStyle/>
          <a:p>
            <a:pPr algn="l"/>
            <a:r>
              <a:rPr lang="en-GB" b="1" i="0" dirty="0">
                <a:solidFill>
                  <a:srgbClr val="222A48"/>
                </a:solidFill>
                <a:effectLst/>
                <a:latin typeface="Euclid Circular A"/>
              </a:rPr>
              <a:t>Dequeue</a:t>
            </a:r>
          </a:p>
        </p:txBody>
      </p:sp>
    </p:spTree>
    <p:extLst>
      <p:ext uri="{BB962C8B-B14F-4D97-AF65-F5344CB8AC3E}">
        <p14:creationId xmlns:p14="http://schemas.microsoft.com/office/powerpoint/2010/main" val="2688070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968202B-2A95-9CB7-E328-C7D1DF541086}"/>
              </a:ext>
            </a:extLst>
          </p:cNvPr>
          <p:cNvSpPr>
            <a:spLocks noGrp="1"/>
          </p:cNvSpPr>
          <p:nvPr>
            <p:ph type="ctrTitle"/>
          </p:nvPr>
        </p:nvSpPr>
        <p:spPr>
          <a:xfrm>
            <a:off x="1524000" y="2514600"/>
            <a:ext cx="9144000" cy="2387600"/>
          </a:xfrm>
        </p:spPr>
        <p:txBody>
          <a:bodyPr/>
          <a:lstStyle/>
          <a:p>
            <a:r>
              <a:rPr lang="en-PK" b="1" dirty="0"/>
              <a:t>Other Types of Queues</a:t>
            </a:r>
          </a:p>
        </p:txBody>
      </p:sp>
      <p:sp>
        <p:nvSpPr>
          <p:cNvPr id="5" name="Slide Number Placeholder 4">
            <a:extLst>
              <a:ext uri="{FF2B5EF4-FFF2-40B4-BE49-F238E27FC236}">
                <a16:creationId xmlns:a16="http://schemas.microsoft.com/office/drawing/2014/main" id="{7A212457-838F-842E-B554-02ED2493B174}"/>
              </a:ext>
            </a:extLst>
          </p:cNvPr>
          <p:cNvSpPr>
            <a:spLocks noGrp="1"/>
          </p:cNvSpPr>
          <p:nvPr>
            <p:ph type="sldNum" sz="quarter" idx="12"/>
          </p:nvPr>
        </p:nvSpPr>
        <p:spPr/>
        <p:txBody>
          <a:bodyPr/>
          <a:lstStyle/>
          <a:p>
            <a:pPr>
              <a:defRPr/>
            </a:pPr>
            <a:fld id="{A66EA107-19E7-413B-9DC1-F1B3865A107D}" type="slidenum">
              <a:rPr lang="en-US" altLang="en-US" smtClean="0"/>
              <a:pPr>
                <a:defRPr/>
              </a:pPr>
              <a:t>33</a:t>
            </a:fld>
            <a:endParaRPr lang="en-US" altLang="en-US"/>
          </a:p>
        </p:txBody>
      </p:sp>
    </p:spTree>
    <p:extLst>
      <p:ext uri="{BB962C8B-B14F-4D97-AF65-F5344CB8AC3E}">
        <p14:creationId xmlns:p14="http://schemas.microsoft.com/office/powerpoint/2010/main" val="32835790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Priority queues</a:t>
            </a:r>
            <a:endParaRPr lang="en-US" b="1" dirty="0"/>
          </a:p>
        </p:txBody>
      </p:sp>
      <p:sp>
        <p:nvSpPr>
          <p:cNvPr id="4" name="Content Placeholder 3"/>
          <p:cNvSpPr>
            <a:spLocks noGrp="1"/>
          </p:cNvSpPr>
          <p:nvPr>
            <p:ph idx="1"/>
          </p:nvPr>
        </p:nvSpPr>
        <p:spPr>
          <a:xfrm>
            <a:off x="838200" y="1825625"/>
            <a:ext cx="10515600" cy="4895850"/>
          </a:xfrm>
        </p:spPr>
        <p:txBody>
          <a:bodyPr>
            <a:normAutofit/>
          </a:bodyPr>
          <a:lstStyle/>
          <a:p>
            <a:r>
              <a:rPr lang="en-GB" sz="2400" dirty="0"/>
              <a:t>In many situations, simple queues are inadequate, because first in/first out scheduling has to be overruled using some priority criteria</a:t>
            </a:r>
          </a:p>
          <a:p>
            <a:pPr lvl="1"/>
            <a:r>
              <a:rPr lang="en-GB" dirty="0"/>
              <a:t>A handicapped person may have priority over others and may be served first </a:t>
            </a:r>
          </a:p>
          <a:p>
            <a:pPr lvl="1"/>
            <a:r>
              <a:rPr lang="en-GB" dirty="0"/>
              <a:t>On roads with tollbooths, some vehicles may be put through immediately, even without paying (police cars, ambulances, fire engines, and the like)</a:t>
            </a:r>
          </a:p>
          <a:p>
            <a:pPr lvl="1"/>
            <a:r>
              <a:rPr lang="en-GB" dirty="0"/>
              <a:t>In a sequence of processes, process P2 may need to be executed before process P1 for the proper functioning of a system </a:t>
            </a:r>
          </a:p>
          <a:p>
            <a:r>
              <a:rPr lang="en-GB" sz="2400" dirty="0"/>
              <a:t>In priority queues, elements are </a:t>
            </a:r>
            <a:r>
              <a:rPr lang="en-GB" sz="2400" dirty="0" err="1">
                <a:solidFill>
                  <a:schemeClr val="accent1">
                    <a:lumMod val="75000"/>
                  </a:schemeClr>
                </a:solidFill>
              </a:rPr>
              <a:t>dequeued</a:t>
            </a:r>
            <a:r>
              <a:rPr lang="en-GB" sz="2400" dirty="0"/>
              <a:t> according to their priority and their current queue position</a:t>
            </a:r>
          </a:p>
          <a:p>
            <a:r>
              <a:rPr lang="en-GB" sz="2400" dirty="0"/>
              <a:t>Although </a:t>
            </a:r>
            <a:r>
              <a:rPr lang="en-GB" sz="2400" dirty="0">
                <a:solidFill>
                  <a:schemeClr val="accent1">
                    <a:lumMod val="75000"/>
                  </a:schemeClr>
                </a:solidFill>
              </a:rPr>
              <a:t>priority queue </a:t>
            </a:r>
            <a:r>
              <a:rPr lang="en-GB" sz="2400" dirty="0"/>
              <a:t>can be implemented using many of the data structures e.g., an array, a linked list etc., they do not provide the most efficient operations. To make all of the operations very efficient, </a:t>
            </a:r>
            <a:r>
              <a:rPr lang="en-GB" sz="2400" b="1" dirty="0">
                <a:solidFill>
                  <a:schemeClr val="accent1">
                    <a:lumMod val="75000"/>
                  </a:schemeClr>
                </a:solidFill>
              </a:rPr>
              <a:t>heap</a:t>
            </a:r>
            <a:r>
              <a:rPr lang="en-GB" sz="2400" dirty="0"/>
              <a:t> data structure is typically employed</a:t>
            </a:r>
            <a:endParaRPr lang="en-US" sz="2400" dirty="0"/>
          </a:p>
        </p:txBody>
      </p:sp>
      <p:sp>
        <p:nvSpPr>
          <p:cNvPr id="3" name="Slide Number Placeholder 2"/>
          <p:cNvSpPr>
            <a:spLocks noGrp="1"/>
          </p:cNvSpPr>
          <p:nvPr>
            <p:ph type="sldNum" sz="quarter" idx="12"/>
          </p:nvPr>
        </p:nvSpPr>
        <p:spPr/>
        <p:txBody>
          <a:bodyPr/>
          <a:lstStyle/>
          <a:p>
            <a:pPr>
              <a:defRPr/>
            </a:pPr>
            <a:fld id="{C71BD5D2-A63C-4CF3-9B33-EDAB3DA9185D}" type="slidenum">
              <a:rPr lang="en-US" altLang="en-US" smtClean="0"/>
              <a:pPr>
                <a:defRPr/>
              </a:pPr>
              <a:t>34</a:t>
            </a:fld>
            <a:endParaRPr lang="en-US" altLang="en-US"/>
          </a:p>
        </p:txBody>
      </p:sp>
    </p:spTree>
    <p:extLst>
      <p:ext uri="{BB962C8B-B14F-4D97-AF65-F5344CB8AC3E}">
        <p14:creationId xmlns:p14="http://schemas.microsoft.com/office/powerpoint/2010/main" val="9048985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0A75F-7DA1-664E-EA47-77622F807C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67FE1-2F53-E6E8-BFBF-03D0B87AE402}"/>
              </a:ext>
            </a:extLst>
          </p:cNvPr>
          <p:cNvSpPr>
            <a:spLocks noGrp="1"/>
          </p:cNvSpPr>
          <p:nvPr>
            <p:ph type="title"/>
          </p:nvPr>
        </p:nvSpPr>
        <p:spPr/>
        <p:txBody>
          <a:bodyPr/>
          <a:lstStyle/>
          <a:p>
            <a:r>
              <a:rPr lang="de-DE" b="1" dirty="0" err="1"/>
              <a:t>Example</a:t>
            </a:r>
            <a:r>
              <a:rPr lang="de-DE" b="1" dirty="0"/>
              <a:t> </a:t>
            </a:r>
            <a:r>
              <a:rPr lang="de-DE" b="1" dirty="0" err="1"/>
              <a:t>of</a:t>
            </a:r>
            <a:r>
              <a:rPr lang="de-DE" b="1" dirty="0"/>
              <a:t> </a:t>
            </a:r>
            <a:r>
              <a:rPr lang="de-DE" b="1" dirty="0" err="1"/>
              <a:t>Priority</a:t>
            </a:r>
            <a:r>
              <a:rPr lang="de-DE" b="1" dirty="0"/>
              <a:t> </a:t>
            </a:r>
            <a:r>
              <a:rPr lang="de-DE" b="1" dirty="0" err="1"/>
              <a:t>queue</a:t>
            </a:r>
            <a:endParaRPr lang="en-US" b="1" dirty="0"/>
          </a:p>
        </p:txBody>
      </p:sp>
      <p:sp>
        <p:nvSpPr>
          <p:cNvPr id="3" name="Slide Number Placeholder 2">
            <a:extLst>
              <a:ext uri="{FF2B5EF4-FFF2-40B4-BE49-F238E27FC236}">
                <a16:creationId xmlns:a16="http://schemas.microsoft.com/office/drawing/2014/main" id="{7DE55CCA-47F4-EA32-5567-B991C9531C32}"/>
              </a:ext>
            </a:extLst>
          </p:cNvPr>
          <p:cNvSpPr>
            <a:spLocks noGrp="1"/>
          </p:cNvSpPr>
          <p:nvPr>
            <p:ph type="sldNum" sz="quarter" idx="12"/>
          </p:nvPr>
        </p:nvSpPr>
        <p:spPr/>
        <p:txBody>
          <a:bodyPr/>
          <a:lstStyle/>
          <a:p>
            <a:pPr>
              <a:defRPr/>
            </a:pPr>
            <a:fld id="{C71BD5D2-A63C-4CF3-9B33-EDAB3DA9185D}" type="slidenum">
              <a:rPr lang="en-US" altLang="en-US" smtClean="0"/>
              <a:pPr>
                <a:defRPr/>
              </a:pPr>
              <a:t>35</a:t>
            </a:fld>
            <a:endParaRPr lang="en-US" altLang="en-US"/>
          </a:p>
        </p:txBody>
      </p:sp>
      <p:pic>
        <p:nvPicPr>
          <p:cNvPr id="6146" name="Picture 2" descr="Priority_Queue_1.webp">
            <a:extLst>
              <a:ext uri="{FF2B5EF4-FFF2-40B4-BE49-F238E27FC236}">
                <a16:creationId xmlns:a16="http://schemas.microsoft.com/office/drawing/2014/main" id="{7A369285-07B4-B738-9865-C6397CBE6B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1778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29318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87421-FECF-F002-16B8-2890B9B18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B97A1E-3700-8AC3-B9CD-17421ECEEF7F}"/>
              </a:ext>
            </a:extLst>
          </p:cNvPr>
          <p:cNvSpPr>
            <a:spLocks noGrp="1"/>
          </p:cNvSpPr>
          <p:nvPr>
            <p:ph type="title"/>
          </p:nvPr>
        </p:nvSpPr>
        <p:spPr/>
        <p:txBody>
          <a:bodyPr/>
          <a:lstStyle/>
          <a:p>
            <a:r>
              <a:rPr lang="de-DE" b="1" dirty="0" err="1"/>
              <a:t>Example</a:t>
            </a:r>
            <a:r>
              <a:rPr lang="de-DE" b="1" dirty="0"/>
              <a:t> </a:t>
            </a:r>
            <a:r>
              <a:rPr lang="de-DE" b="1" dirty="0" err="1"/>
              <a:t>of</a:t>
            </a:r>
            <a:r>
              <a:rPr lang="de-DE" b="1" dirty="0"/>
              <a:t> </a:t>
            </a:r>
            <a:r>
              <a:rPr lang="de-DE" b="1" dirty="0" err="1"/>
              <a:t>Priority</a:t>
            </a:r>
            <a:r>
              <a:rPr lang="de-DE" b="1" dirty="0"/>
              <a:t> </a:t>
            </a:r>
            <a:r>
              <a:rPr lang="de-DE" b="1" dirty="0" err="1"/>
              <a:t>queue</a:t>
            </a:r>
            <a:endParaRPr lang="en-US" b="1" dirty="0"/>
          </a:p>
        </p:txBody>
      </p:sp>
      <p:sp>
        <p:nvSpPr>
          <p:cNvPr id="3" name="Slide Number Placeholder 2">
            <a:extLst>
              <a:ext uri="{FF2B5EF4-FFF2-40B4-BE49-F238E27FC236}">
                <a16:creationId xmlns:a16="http://schemas.microsoft.com/office/drawing/2014/main" id="{241DC0CA-6348-03A5-6585-4D0E08DA20C2}"/>
              </a:ext>
            </a:extLst>
          </p:cNvPr>
          <p:cNvSpPr>
            <a:spLocks noGrp="1"/>
          </p:cNvSpPr>
          <p:nvPr>
            <p:ph type="sldNum" sz="quarter" idx="12"/>
          </p:nvPr>
        </p:nvSpPr>
        <p:spPr/>
        <p:txBody>
          <a:bodyPr/>
          <a:lstStyle/>
          <a:p>
            <a:pPr>
              <a:defRPr/>
            </a:pPr>
            <a:fld id="{C71BD5D2-A63C-4CF3-9B33-EDAB3DA9185D}" type="slidenum">
              <a:rPr lang="en-US" altLang="en-US" smtClean="0"/>
              <a:pPr>
                <a:defRPr/>
              </a:pPr>
              <a:t>36</a:t>
            </a:fld>
            <a:endParaRPr lang="en-US" altLang="en-US"/>
          </a:p>
        </p:txBody>
      </p:sp>
      <p:pic>
        <p:nvPicPr>
          <p:cNvPr id="7170" name="Picture 2" descr="Priority-Queue-2.webp">
            <a:extLst>
              <a:ext uri="{FF2B5EF4-FFF2-40B4-BE49-F238E27FC236}">
                <a16:creationId xmlns:a16="http://schemas.microsoft.com/office/drawing/2014/main" id="{FB6CBA75-BD71-A591-28EF-F272E5E892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1775502"/>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40479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D7AED-EE85-72CA-DEB5-1CAEE57A3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A41200-4FAB-2BC4-101B-AB0A24FC73A4}"/>
              </a:ext>
            </a:extLst>
          </p:cNvPr>
          <p:cNvSpPr>
            <a:spLocks noGrp="1"/>
          </p:cNvSpPr>
          <p:nvPr>
            <p:ph type="title"/>
          </p:nvPr>
        </p:nvSpPr>
        <p:spPr>
          <a:xfrm>
            <a:off x="609600" y="365125"/>
            <a:ext cx="11049000" cy="1325563"/>
          </a:xfrm>
        </p:spPr>
        <p:txBody>
          <a:bodyPr/>
          <a:lstStyle/>
          <a:p>
            <a:r>
              <a:rPr lang="en-GB" b="1" dirty="0"/>
              <a:t>Common Implementations of Priority Queues</a:t>
            </a:r>
            <a:endParaRPr lang="en-US" b="1" dirty="0"/>
          </a:p>
        </p:txBody>
      </p:sp>
      <p:sp>
        <p:nvSpPr>
          <p:cNvPr id="3" name="Slide Number Placeholder 2">
            <a:extLst>
              <a:ext uri="{FF2B5EF4-FFF2-40B4-BE49-F238E27FC236}">
                <a16:creationId xmlns:a16="http://schemas.microsoft.com/office/drawing/2014/main" id="{9D513FB1-0FAD-695B-786C-B9177F379B53}"/>
              </a:ext>
            </a:extLst>
          </p:cNvPr>
          <p:cNvSpPr>
            <a:spLocks noGrp="1"/>
          </p:cNvSpPr>
          <p:nvPr>
            <p:ph type="sldNum" sz="quarter" idx="12"/>
          </p:nvPr>
        </p:nvSpPr>
        <p:spPr/>
        <p:txBody>
          <a:bodyPr/>
          <a:lstStyle/>
          <a:p>
            <a:pPr>
              <a:defRPr/>
            </a:pPr>
            <a:fld id="{C71BD5D2-A63C-4CF3-9B33-EDAB3DA9185D}" type="slidenum">
              <a:rPr lang="en-US" altLang="en-US" smtClean="0"/>
              <a:pPr>
                <a:defRPr/>
              </a:pPr>
              <a:t>37</a:t>
            </a:fld>
            <a:endParaRPr lang="en-US" altLang="en-US"/>
          </a:p>
        </p:txBody>
      </p:sp>
      <p:graphicFrame>
        <p:nvGraphicFramePr>
          <p:cNvPr id="8" name="Content Placeholder 7">
            <a:extLst>
              <a:ext uri="{FF2B5EF4-FFF2-40B4-BE49-F238E27FC236}">
                <a16:creationId xmlns:a16="http://schemas.microsoft.com/office/drawing/2014/main" id="{DED9DA99-2881-6B31-C509-9CDCB4DDBC8E}"/>
              </a:ext>
            </a:extLst>
          </p:cNvPr>
          <p:cNvGraphicFramePr>
            <a:graphicFrameLocks noGrp="1"/>
          </p:cNvGraphicFramePr>
          <p:nvPr>
            <p:ph idx="1"/>
            <p:extLst>
              <p:ext uri="{D42A27DB-BD31-4B8C-83A1-F6EECF244321}">
                <p14:modId xmlns:p14="http://schemas.microsoft.com/office/powerpoint/2010/main" val="11516216"/>
              </p:ext>
            </p:extLst>
          </p:nvPr>
        </p:nvGraphicFramePr>
        <p:xfrm>
          <a:off x="838200" y="2401094"/>
          <a:ext cx="10515600" cy="3749040"/>
        </p:xfrm>
        <a:graphic>
          <a:graphicData uri="http://schemas.openxmlformats.org/drawingml/2006/table">
            <a:tbl>
              <a:tblPr/>
              <a:tblGrid>
                <a:gridCol w="2895600">
                  <a:extLst>
                    <a:ext uri="{9D8B030D-6E8A-4147-A177-3AD203B41FA5}">
                      <a16:colId xmlns:a16="http://schemas.microsoft.com/office/drawing/2014/main" val="478715314"/>
                    </a:ext>
                  </a:extLst>
                </a:gridCol>
                <a:gridCol w="7620000">
                  <a:extLst>
                    <a:ext uri="{9D8B030D-6E8A-4147-A177-3AD203B41FA5}">
                      <a16:colId xmlns:a16="http://schemas.microsoft.com/office/drawing/2014/main" val="393188071"/>
                    </a:ext>
                  </a:extLst>
                </a:gridCol>
              </a:tblGrid>
              <a:tr h="0">
                <a:tc>
                  <a:txBody>
                    <a:bodyPr/>
                    <a:lstStyle/>
                    <a:p>
                      <a:r>
                        <a:rPr lang="en-GB" sz="2400" b="1" dirty="0"/>
                        <a:t>Implementation</a:t>
                      </a:r>
                    </a:p>
                  </a:txBody>
                  <a:tcPr anchor="ctr">
                    <a:lnL>
                      <a:noFill/>
                    </a:lnL>
                    <a:lnR>
                      <a:noFill/>
                    </a:lnR>
                    <a:lnT>
                      <a:noFill/>
                    </a:lnT>
                    <a:lnB>
                      <a:noFill/>
                    </a:lnB>
                    <a:noFill/>
                  </a:tcPr>
                </a:tc>
                <a:tc>
                  <a:txBody>
                    <a:bodyPr/>
                    <a:lstStyle/>
                    <a:p>
                      <a:r>
                        <a:rPr lang="en-GB" sz="2400" b="1" dirty="0"/>
                        <a:t>Description</a:t>
                      </a:r>
                    </a:p>
                  </a:txBody>
                  <a:tcPr anchor="ctr">
                    <a:lnL>
                      <a:noFill/>
                    </a:lnL>
                    <a:lnR>
                      <a:noFill/>
                    </a:lnR>
                    <a:lnT>
                      <a:noFill/>
                    </a:lnT>
                    <a:lnB>
                      <a:noFill/>
                    </a:lnB>
                    <a:noFill/>
                  </a:tcPr>
                </a:tc>
                <a:extLst>
                  <a:ext uri="{0D108BD9-81ED-4DB2-BD59-A6C34878D82A}">
                    <a16:rowId xmlns:a16="http://schemas.microsoft.com/office/drawing/2014/main" val="41288955"/>
                  </a:ext>
                </a:extLst>
              </a:tr>
              <a:tr h="0">
                <a:tc>
                  <a:txBody>
                    <a:bodyPr/>
                    <a:lstStyle/>
                    <a:p>
                      <a:r>
                        <a:rPr lang="en-GB" sz="2400" b="1"/>
                        <a:t>Unsorted Array</a:t>
                      </a:r>
                      <a:endParaRPr lang="en-GB" sz="2400"/>
                    </a:p>
                  </a:txBody>
                  <a:tcPr anchor="ctr">
                    <a:lnL>
                      <a:noFill/>
                    </a:lnL>
                    <a:lnR>
                      <a:noFill/>
                    </a:lnR>
                    <a:lnT>
                      <a:noFill/>
                    </a:lnT>
                    <a:lnB>
                      <a:noFill/>
                    </a:lnB>
                    <a:noFill/>
                  </a:tcPr>
                </a:tc>
                <a:tc>
                  <a:txBody>
                    <a:bodyPr/>
                    <a:lstStyle/>
                    <a:p>
                      <a:r>
                        <a:rPr lang="en-GB" sz="2400"/>
                        <a:t>Elements inserted at end; highest priority element found by linear search.</a:t>
                      </a:r>
                    </a:p>
                  </a:txBody>
                  <a:tcPr anchor="ctr">
                    <a:lnL>
                      <a:noFill/>
                    </a:lnL>
                    <a:lnR>
                      <a:noFill/>
                    </a:lnR>
                    <a:lnT>
                      <a:noFill/>
                    </a:lnT>
                    <a:lnB>
                      <a:noFill/>
                    </a:lnB>
                    <a:noFill/>
                  </a:tcPr>
                </a:tc>
                <a:extLst>
                  <a:ext uri="{0D108BD9-81ED-4DB2-BD59-A6C34878D82A}">
                    <a16:rowId xmlns:a16="http://schemas.microsoft.com/office/drawing/2014/main" val="1850942416"/>
                  </a:ext>
                </a:extLst>
              </a:tr>
              <a:tr h="0">
                <a:tc>
                  <a:txBody>
                    <a:bodyPr/>
                    <a:lstStyle/>
                    <a:p>
                      <a:r>
                        <a:rPr lang="en-GB" sz="2400" b="1"/>
                        <a:t>Sorted Array</a:t>
                      </a:r>
                      <a:endParaRPr lang="en-GB" sz="2400"/>
                    </a:p>
                  </a:txBody>
                  <a:tcPr anchor="ctr">
                    <a:lnL>
                      <a:noFill/>
                    </a:lnL>
                    <a:lnR>
                      <a:noFill/>
                    </a:lnR>
                    <a:lnT>
                      <a:noFill/>
                    </a:lnT>
                    <a:lnB>
                      <a:noFill/>
                    </a:lnB>
                    <a:noFill/>
                  </a:tcPr>
                </a:tc>
                <a:tc>
                  <a:txBody>
                    <a:bodyPr/>
                    <a:lstStyle/>
                    <a:p>
                      <a:r>
                        <a:rPr lang="en-GB" sz="2400"/>
                        <a:t>Elements inserted in sorted order; highest priority at the end or front.</a:t>
                      </a:r>
                    </a:p>
                  </a:txBody>
                  <a:tcPr anchor="ctr">
                    <a:lnL>
                      <a:noFill/>
                    </a:lnL>
                    <a:lnR>
                      <a:noFill/>
                    </a:lnR>
                    <a:lnT>
                      <a:noFill/>
                    </a:lnT>
                    <a:lnB>
                      <a:noFill/>
                    </a:lnB>
                    <a:noFill/>
                  </a:tcPr>
                </a:tc>
                <a:extLst>
                  <a:ext uri="{0D108BD9-81ED-4DB2-BD59-A6C34878D82A}">
                    <a16:rowId xmlns:a16="http://schemas.microsoft.com/office/drawing/2014/main" val="3141844651"/>
                  </a:ext>
                </a:extLst>
              </a:tr>
              <a:tr h="0">
                <a:tc>
                  <a:txBody>
                    <a:bodyPr/>
                    <a:lstStyle/>
                    <a:p>
                      <a:r>
                        <a:rPr lang="en-GB" sz="2400" b="1"/>
                        <a:t>Binary Heap</a:t>
                      </a:r>
                      <a:endParaRPr lang="en-GB" sz="2400"/>
                    </a:p>
                  </a:txBody>
                  <a:tcPr anchor="ctr">
                    <a:lnL>
                      <a:noFill/>
                    </a:lnL>
                    <a:lnR>
                      <a:noFill/>
                    </a:lnR>
                    <a:lnT>
                      <a:noFill/>
                    </a:lnT>
                    <a:lnB>
                      <a:noFill/>
                    </a:lnB>
                    <a:noFill/>
                  </a:tcPr>
                </a:tc>
                <a:tc>
                  <a:txBody>
                    <a:bodyPr/>
                    <a:lstStyle/>
                    <a:p>
                      <a:r>
                        <a:rPr lang="en-GB" sz="2400"/>
                        <a:t>Most efficient; used in many real-world applications. Supports fast insertion and deletion of highest priority element.</a:t>
                      </a:r>
                    </a:p>
                  </a:txBody>
                  <a:tcPr anchor="ctr">
                    <a:lnL>
                      <a:noFill/>
                    </a:lnL>
                    <a:lnR>
                      <a:noFill/>
                    </a:lnR>
                    <a:lnT>
                      <a:noFill/>
                    </a:lnT>
                    <a:lnB>
                      <a:noFill/>
                    </a:lnB>
                    <a:noFill/>
                  </a:tcPr>
                </a:tc>
                <a:extLst>
                  <a:ext uri="{0D108BD9-81ED-4DB2-BD59-A6C34878D82A}">
                    <a16:rowId xmlns:a16="http://schemas.microsoft.com/office/drawing/2014/main" val="2146131092"/>
                  </a:ext>
                </a:extLst>
              </a:tr>
              <a:tr h="0">
                <a:tc>
                  <a:txBody>
                    <a:bodyPr/>
                    <a:lstStyle/>
                    <a:p>
                      <a:r>
                        <a:rPr lang="en-GB" sz="2400" b="1"/>
                        <a:t>Fibonacci Heap</a:t>
                      </a:r>
                      <a:endParaRPr lang="en-GB" sz="2400"/>
                    </a:p>
                  </a:txBody>
                  <a:tcPr anchor="ctr">
                    <a:lnL>
                      <a:noFill/>
                    </a:lnL>
                    <a:lnR>
                      <a:noFill/>
                    </a:lnR>
                    <a:lnT>
                      <a:noFill/>
                    </a:lnT>
                    <a:lnB>
                      <a:noFill/>
                    </a:lnB>
                    <a:noFill/>
                  </a:tcPr>
                </a:tc>
                <a:tc>
                  <a:txBody>
                    <a:bodyPr/>
                    <a:lstStyle/>
                    <a:p>
                      <a:r>
                        <a:rPr lang="en-GB" sz="2400" dirty="0"/>
                        <a:t>Advanced version for specific algorithms (e.g., Dijkstra’s).</a:t>
                      </a:r>
                    </a:p>
                  </a:txBody>
                  <a:tcPr anchor="ctr">
                    <a:lnL>
                      <a:noFill/>
                    </a:lnL>
                    <a:lnR>
                      <a:noFill/>
                    </a:lnR>
                    <a:lnT>
                      <a:noFill/>
                    </a:lnT>
                    <a:lnB>
                      <a:noFill/>
                    </a:lnB>
                    <a:noFill/>
                  </a:tcPr>
                </a:tc>
                <a:extLst>
                  <a:ext uri="{0D108BD9-81ED-4DB2-BD59-A6C34878D82A}">
                    <a16:rowId xmlns:a16="http://schemas.microsoft.com/office/drawing/2014/main" val="2250455936"/>
                  </a:ext>
                </a:extLst>
              </a:tr>
            </a:tbl>
          </a:graphicData>
        </a:graphic>
      </p:graphicFrame>
    </p:spTree>
    <p:extLst>
      <p:ext uri="{BB962C8B-B14F-4D97-AF65-F5344CB8AC3E}">
        <p14:creationId xmlns:p14="http://schemas.microsoft.com/office/powerpoint/2010/main" val="1840409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B36DB-71F9-F86B-3A0C-03B9664D23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41689-C6E0-247C-ECE2-BCF2D747D684}"/>
              </a:ext>
            </a:extLst>
          </p:cNvPr>
          <p:cNvSpPr>
            <a:spLocks noGrp="1"/>
          </p:cNvSpPr>
          <p:nvPr>
            <p:ph type="title"/>
          </p:nvPr>
        </p:nvSpPr>
        <p:spPr>
          <a:xfrm>
            <a:off x="609600" y="365125"/>
            <a:ext cx="11049000" cy="1325563"/>
          </a:xfrm>
        </p:spPr>
        <p:txBody>
          <a:bodyPr/>
          <a:lstStyle/>
          <a:p>
            <a:r>
              <a:rPr lang="en-GB" b="1" dirty="0"/>
              <a:t>Priority Queues</a:t>
            </a:r>
            <a:br>
              <a:rPr lang="en-GB" b="1" dirty="0"/>
            </a:br>
            <a:r>
              <a:rPr lang="en-GB" b="1" dirty="0"/>
              <a:t>Coming Soon: After Mid Exams!</a:t>
            </a:r>
            <a:endParaRPr lang="en-US" b="1" dirty="0"/>
          </a:p>
        </p:txBody>
      </p:sp>
      <p:sp>
        <p:nvSpPr>
          <p:cNvPr id="3" name="Slide Number Placeholder 2">
            <a:extLst>
              <a:ext uri="{FF2B5EF4-FFF2-40B4-BE49-F238E27FC236}">
                <a16:creationId xmlns:a16="http://schemas.microsoft.com/office/drawing/2014/main" id="{81F19EA4-1442-99E5-8E9E-3B745C8F526F}"/>
              </a:ext>
            </a:extLst>
          </p:cNvPr>
          <p:cNvSpPr>
            <a:spLocks noGrp="1"/>
          </p:cNvSpPr>
          <p:nvPr>
            <p:ph type="sldNum" sz="quarter" idx="12"/>
          </p:nvPr>
        </p:nvSpPr>
        <p:spPr/>
        <p:txBody>
          <a:bodyPr/>
          <a:lstStyle/>
          <a:p>
            <a:pPr>
              <a:defRPr/>
            </a:pPr>
            <a:fld id="{C71BD5D2-A63C-4CF3-9B33-EDAB3DA9185D}" type="slidenum">
              <a:rPr lang="en-US" altLang="en-US" smtClean="0"/>
              <a:pPr>
                <a:defRPr/>
              </a:pPr>
              <a:t>38</a:t>
            </a:fld>
            <a:endParaRPr lang="en-US" altLang="en-US"/>
          </a:p>
        </p:txBody>
      </p:sp>
      <p:sp>
        <p:nvSpPr>
          <p:cNvPr id="5" name="Content Placeholder 4">
            <a:extLst>
              <a:ext uri="{FF2B5EF4-FFF2-40B4-BE49-F238E27FC236}">
                <a16:creationId xmlns:a16="http://schemas.microsoft.com/office/drawing/2014/main" id="{B77B33D9-CD71-F160-399E-3D6FBA43744C}"/>
              </a:ext>
            </a:extLst>
          </p:cNvPr>
          <p:cNvSpPr>
            <a:spLocks noGrp="1"/>
          </p:cNvSpPr>
          <p:nvPr>
            <p:ph idx="1"/>
          </p:nvPr>
        </p:nvSpPr>
        <p:spPr/>
        <p:txBody>
          <a:bodyPr>
            <a:normAutofit/>
          </a:bodyPr>
          <a:lstStyle/>
          <a:p>
            <a:r>
              <a:rPr lang="en-GB" sz="3200" dirty="0"/>
              <a:t>We will explore:</a:t>
            </a:r>
          </a:p>
          <a:p>
            <a:pPr lvl="1"/>
            <a:r>
              <a:rPr lang="en-GB" sz="3200" dirty="0"/>
              <a:t>How priority queues work</a:t>
            </a:r>
          </a:p>
          <a:p>
            <a:pPr lvl="1"/>
            <a:r>
              <a:rPr lang="en-GB" sz="3200" dirty="0"/>
              <a:t>Their implementation using heaps</a:t>
            </a:r>
          </a:p>
          <a:p>
            <a:pPr lvl="1"/>
            <a:r>
              <a:rPr lang="en-GB" sz="3200" dirty="0"/>
              <a:t>Real-world use cases and coding examples</a:t>
            </a:r>
          </a:p>
          <a:p>
            <a:r>
              <a:rPr lang="en-GB" sz="3200" dirty="0"/>
              <a:t>Stay tuned!</a:t>
            </a:r>
            <a:endParaRPr lang="en-PK" sz="3200" dirty="0"/>
          </a:p>
        </p:txBody>
      </p:sp>
    </p:spTree>
    <p:extLst>
      <p:ext uri="{BB962C8B-B14F-4D97-AF65-F5344CB8AC3E}">
        <p14:creationId xmlns:p14="http://schemas.microsoft.com/office/powerpoint/2010/main" val="1203860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t>Double-</a:t>
            </a:r>
            <a:r>
              <a:rPr lang="de-DE" b="1" dirty="0" err="1"/>
              <a:t>Ended</a:t>
            </a:r>
            <a:r>
              <a:rPr lang="de-DE" b="1" dirty="0"/>
              <a:t> Queue (</a:t>
            </a:r>
            <a:r>
              <a:rPr lang="de-DE" b="1" dirty="0" err="1"/>
              <a:t>Deques</a:t>
            </a:r>
            <a:r>
              <a:rPr lang="de-DE" b="1" dirty="0"/>
              <a:t>)</a:t>
            </a:r>
            <a:endParaRPr lang="en-US" b="1" dirty="0"/>
          </a:p>
        </p:txBody>
      </p:sp>
      <p:sp>
        <p:nvSpPr>
          <p:cNvPr id="3" name="Content Placeholder 2"/>
          <p:cNvSpPr>
            <a:spLocks noGrp="1"/>
          </p:cNvSpPr>
          <p:nvPr>
            <p:ph idx="1"/>
          </p:nvPr>
        </p:nvSpPr>
        <p:spPr/>
        <p:txBody>
          <a:bodyPr/>
          <a:lstStyle/>
          <a:p>
            <a:r>
              <a:rPr lang="en-GB" dirty="0"/>
              <a:t>A </a:t>
            </a:r>
            <a:r>
              <a:rPr lang="en-GB" dirty="0" err="1"/>
              <a:t>deque</a:t>
            </a:r>
            <a:r>
              <a:rPr lang="en-GB" dirty="0"/>
              <a:t> is a </a:t>
            </a:r>
            <a:r>
              <a:rPr lang="en-GB" b="1" u="sng" dirty="0">
                <a:solidFill>
                  <a:schemeClr val="accent1">
                    <a:lumMod val="75000"/>
                  </a:schemeClr>
                </a:solidFill>
              </a:rPr>
              <a:t>d</a:t>
            </a:r>
            <a:r>
              <a:rPr lang="en-GB" dirty="0">
                <a:solidFill>
                  <a:schemeClr val="accent1">
                    <a:lumMod val="75000"/>
                  </a:schemeClr>
                </a:solidFill>
              </a:rPr>
              <a:t>ouble-</a:t>
            </a:r>
            <a:r>
              <a:rPr lang="en-GB" b="1" u="sng" dirty="0">
                <a:solidFill>
                  <a:schemeClr val="accent1">
                    <a:lumMod val="75000"/>
                  </a:schemeClr>
                </a:solidFill>
              </a:rPr>
              <a:t>e</a:t>
            </a:r>
            <a:r>
              <a:rPr lang="en-GB" dirty="0">
                <a:solidFill>
                  <a:schemeClr val="accent1">
                    <a:lumMod val="75000"/>
                  </a:schemeClr>
                </a:solidFill>
              </a:rPr>
              <a:t>nded </a:t>
            </a:r>
            <a:r>
              <a:rPr lang="en-GB" b="1" u="sng" dirty="0"/>
              <a:t>que</a:t>
            </a:r>
            <a:r>
              <a:rPr lang="en-GB" dirty="0"/>
              <a:t>ue</a:t>
            </a:r>
          </a:p>
          <a:p>
            <a:r>
              <a:rPr lang="en-GB" dirty="0"/>
              <a:t>Insertions and deletions can occur at </a:t>
            </a:r>
            <a:r>
              <a:rPr lang="en-GB" dirty="0">
                <a:solidFill>
                  <a:schemeClr val="accent1">
                    <a:lumMod val="75000"/>
                  </a:schemeClr>
                </a:solidFill>
              </a:rPr>
              <a:t>either</a:t>
            </a:r>
            <a:r>
              <a:rPr lang="en-GB" dirty="0"/>
              <a:t> end</a:t>
            </a:r>
          </a:p>
          <a:p>
            <a:r>
              <a:rPr lang="en-GB" dirty="0"/>
              <a:t>Implementation is similar to that for queues</a:t>
            </a:r>
          </a:p>
          <a:p>
            <a:r>
              <a:rPr lang="en-GB" dirty="0"/>
              <a:t>This differs from the </a:t>
            </a:r>
            <a:r>
              <a:rPr lang="en-GB" b="1" dirty="0"/>
              <a:t>queue</a:t>
            </a:r>
            <a:r>
              <a:rPr lang="en-GB" dirty="0"/>
              <a:t> abstract data type or First-In-First-Out List (FIFO), where elements can only be added to </a:t>
            </a:r>
            <a:r>
              <a:rPr lang="en-GB" dirty="0">
                <a:solidFill>
                  <a:schemeClr val="accent1">
                    <a:lumMod val="75000"/>
                  </a:schemeClr>
                </a:solidFill>
              </a:rPr>
              <a:t>one end </a:t>
            </a:r>
            <a:r>
              <a:rPr lang="en-GB" dirty="0"/>
              <a:t>and removed from the </a:t>
            </a:r>
            <a:r>
              <a:rPr lang="en-GB" dirty="0">
                <a:solidFill>
                  <a:schemeClr val="accent1">
                    <a:lumMod val="75000"/>
                  </a:schemeClr>
                </a:solidFill>
              </a:rPr>
              <a:t>other</a:t>
            </a:r>
            <a:endParaRPr lang="en-GB" dirty="0"/>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39</a:t>
            </a:fld>
            <a:endParaRPr lang="en-US" altLang="en-US"/>
          </a:p>
        </p:txBody>
      </p:sp>
      <p:graphicFrame>
        <p:nvGraphicFramePr>
          <p:cNvPr id="5" name="Group 4"/>
          <p:cNvGraphicFramePr>
            <a:graphicFrameLocks noGrp="1"/>
          </p:cNvGraphicFramePr>
          <p:nvPr>
            <p:extLst>
              <p:ext uri="{D42A27DB-BD31-4B8C-83A1-F6EECF244321}">
                <p14:modId xmlns:p14="http://schemas.microsoft.com/office/powerpoint/2010/main" val="96999145"/>
              </p:ext>
            </p:extLst>
          </p:nvPr>
        </p:nvGraphicFramePr>
        <p:xfrm>
          <a:off x="3429000" y="5429741"/>
          <a:ext cx="4800598" cy="518048"/>
        </p:xfrm>
        <a:graphic>
          <a:graphicData uri="http://schemas.openxmlformats.org/drawingml/2006/table">
            <a:tbl>
              <a:tblPr/>
              <a:tblGrid>
                <a:gridCol w="911506">
                  <a:extLst>
                    <a:ext uri="{9D8B030D-6E8A-4147-A177-3AD203B41FA5}">
                      <a16:colId xmlns:a16="http://schemas.microsoft.com/office/drawing/2014/main" val="20000"/>
                    </a:ext>
                  </a:extLst>
                </a:gridCol>
                <a:gridCol w="972273">
                  <a:extLst>
                    <a:ext uri="{9D8B030D-6E8A-4147-A177-3AD203B41FA5}">
                      <a16:colId xmlns:a16="http://schemas.microsoft.com/office/drawing/2014/main" val="20001"/>
                    </a:ext>
                  </a:extLst>
                </a:gridCol>
                <a:gridCol w="972273">
                  <a:extLst>
                    <a:ext uri="{9D8B030D-6E8A-4147-A177-3AD203B41FA5}">
                      <a16:colId xmlns:a16="http://schemas.microsoft.com/office/drawing/2014/main" val="20002"/>
                    </a:ext>
                  </a:extLst>
                </a:gridCol>
                <a:gridCol w="972273">
                  <a:extLst>
                    <a:ext uri="{9D8B030D-6E8A-4147-A177-3AD203B41FA5}">
                      <a16:colId xmlns:a16="http://schemas.microsoft.com/office/drawing/2014/main" val="20003"/>
                    </a:ext>
                  </a:extLst>
                </a:gridCol>
                <a:gridCol w="972273">
                  <a:extLst>
                    <a:ext uri="{9D8B030D-6E8A-4147-A177-3AD203B41FA5}">
                      <a16:colId xmlns:a16="http://schemas.microsoft.com/office/drawing/2014/main" val="20004"/>
                    </a:ext>
                  </a:extLst>
                </a:gridCol>
              </a:tblGrid>
              <a:tr h="517525">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endParaRPr>
                    </a:p>
                  </a:txBody>
                  <a:tcPr marT="45664" marB="456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endParaRPr>
                    </a:p>
                  </a:txBody>
                  <a:tcPr marT="45664" marB="456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endParaRPr>
                    </a:p>
                  </a:txBody>
                  <a:tcPr marT="45664" marB="456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endParaRPr>
                    </a:p>
                  </a:txBody>
                  <a:tcPr marT="45664" marB="4566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endParaRPr>
                    </a:p>
                  </a:txBody>
                  <a:tcPr marT="45664" marB="456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cxnSp>
        <p:nvCxnSpPr>
          <p:cNvPr id="6" name="Connector: Curved 6"/>
          <p:cNvCxnSpPr/>
          <p:nvPr/>
        </p:nvCxnSpPr>
        <p:spPr>
          <a:xfrm flipV="1">
            <a:off x="8342676" y="5133735"/>
            <a:ext cx="490171" cy="413238"/>
          </a:xfrm>
          <a:prstGeom prst="curvedConnector3">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 name="Connector: Curved 7"/>
          <p:cNvCxnSpPr/>
          <p:nvPr/>
        </p:nvCxnSpPr>
        <p:spPr>
          <a:xfrm>
            <a:off x="8342188" y="5857087"/>
            <a:ext cx="490659" cy="322933"/>
          </a:xfrm>
          <a:prstGeom prst="curvedConnector3">
            <a:avLst/>
          </a:prstGeom>
          <a:ln w="1905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8" name="Connector: Curved 8"/>
          <p:cNvCxnSpPr/>
          <p:nvPr/>
        </p:nvCxnSpPr>
        <p:spPr>
          <a:xfrm>
            <a:off x="2799854" y="5185937"/>
            <a:ext cx="490659" cy="322933"/>
          </a:xfrm>
          <a:prstGeom prst="curvedConnector3">
            <a:avLst/>
          </a:prstGeom>
          <a:ln w="1905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9" name="Connector: Curved 9"/>
          <p:cNvCxnSpPr/>
          <p:nvPr/>
        </p:nvCxnSpPr>
        <p:spPr>
          <a:xfrm flipV="1">
            <a:off x="2753573" y="5901044"/>
            <a:ext cx="490171" cy="413238"/>
          </a:xfrm>
          <a:prstGeom prst="curvedConnector3">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482977" y="4927167"/>
            <a:ext cx="931985" cy="461665"/>
          </a:xfrm>
          <a:prstGeom prst="rect">
            <a:avLst/>
          </a:prstGeom>
          <a:noFill/>
        </p:spPr>
        <p:txBody>
          <a:bodyPr wrap="square" rtlCol="0">
            <a:spAutoFit/>
          </a:bodyPr>
          <a:lstStyle/>
          <a:p>
            <a:r>
              <a:rPr lang="de-DE" sz="2400" dirty="0">
                <a:cs typeface="Arial" panose="020B0604020202020204" pitchFamily="34" charset="0"/>
              </a:rPr>
              <a:t>rear</a:t>
            </a:r>
            <a:endParaRPr lang="en-US" dirty="0">
              <a:latin typeface="Arial" panose="020B0604020202020204" pitchFamily="34" charset="0"/>
              <a:cs typeface="Arial" panose="020B0604020202020204" pitchFamily="34" charset="0"/>
            </a:endParaRPr>
          </a:p>
        </p:txBody>
      </p:sp>
      <p:sp>
        <p:nvSpPr>
          <p:cNvPr id="11" name="TextBox 10"/>
          <p:cNvSpPr txBox="1"/>
          <p:nvPr/>
        </p:nvSpPr>
        <p:spPr>
          <a:xfrm>
            <a:off x="7297614" y="4955104"/>
            <a:ext cx="931985" cy="461665"/>
          </a:xfrm>
          <a:prstGeom prst="rect">
            <a:avLst/>
          </a:prstGeom>
          <a:noFill/>
        </p:spPr>
        <p:txBody>
          <a:bodyPr wrap="square" rtlCol="0">
            <a:spAutoFit/>
          </a:bodyPr>
          <a:lstStyle/>
          <a:p>
            <a:r>
              <a:rPr lang="de-DE" sz="2400" dirty="0">
                <a:cs typeface="Arial" panose="020B0604020202020204" pitchFamily="34" charset="0"/>
              </a:rPr>
              <a:t>front</a:t>
            </a:r>
            <a:endParaRPr lang="en-US" dirty="0">
              <a:latin typeface="Arial" panose="020B0604020202020204" pitchFamily="34" charset="0"/>
              <a:cs typeface="Arial" panose="020B0604020202020204" pitchFamily="34" charset="0"/>
            </a:endParaRPr>
          </a:p>
        </p:txBody>
      </p:sp>
      <p:sp>
        <p:nvSpPr>
          <p:cNvPr id="12" name="TextBox 11"/>
          <p:cNvSpPr txBox="1"/>
          <p:nvPr/>
        </p:nvSpPr>
        <p:spPr>
          <a:xfrm>
            <a:off x="8862646" y="4677873"/>
            <a:ext cx="1678109" cy="830997"/>
          </a:xfrm>
          <a:prstGeom prst="rect">
            <a:avLst/>
          </a:prstGeom>
          <a:noFill/>
        </p:spPr>
        <p:txBody>
          <a:bodyPr wrap="square" rtlCol="0">
            <a:spAutoFit/>
          </a:bodyPr>
          <a:lstStyle/>
          <a:p>
            <a:r>
              <a:rPr lang="de-DE" sz="2400" dirty="0">
                <a:cs typeface="Arial" panose="020B0604020202020204" pitchFamily="34" charset="0"/>
              </a:rPr>
              <a:t>remove from front</a:t>
            </a:r>
            <a:endParaRPr lang="en-US" dirty="0">
              <a:latin typeface="Arial" panose="020B0604020202020204" pitchFamily="34" charset="0"/>
              <a:cs typeface="Arial" panose="020B0604020202020204" pitchFamily="34" charset="0"/>
            </a:endParaRPr>
          </a:p>
        </p:txBody>
      </p:sp>
      <p:sp>
        <p:nvSpPr>
          <p:cNvPr id="13" name="TextBox 12"/>
          <p:cNvSpPr txBox="1"/>
          <p:nvPr/>
        </p:nvSpPr>
        <p:spPr>
          <a:xfrm>
            <a:off x="1749661" y="6279045"/>
            <a:ext cx="2988164" cy="461665"/>
          </a:xfrm>
          <a:prstGeom prst="rect">
            <a:avLst/>
          </a:prstGeom>
          <a:noFill/>
        </p:spPr>
        <p:txBody>
          <a:bodyPr wrap="square" rtlCol="0">
            <a:spAutoFit/>
          </a:bodyPr>
          <a:lstStyle/>
          <a:p>
            <a:r>
              <a:rPr lang="de-DE" sz="2400" dirty="0">
                <a:cs typeface="Arial" panose="020B0604020202020204" pitchFamily="34" charset="0"/>
              </a:rPr>
              <a:t>Add to rear</a:t>
            </a:r>
            <a:endParaRPr lang="en-US" dirty="0">
              <a:latin typeface="Arial" panose="020B0604020202020204" pitchFamily="34" charset="0"/>
              <a:cs typeface="Arial" panose="020B0604020202020204" pitchFamily="34" charset="0"/>
            </a:endParaRPr>
          </a:p>
        </p:txBody>
      </p:sp>
      <p:sp>
        <p:nvSpPr>
          <p:cNvPr id="14" name="TextBox 13"/>
          <p:cNvSpPr txBox="1"/>
          <p:nvPr/>
        </p:nvSpPr>
        <p:spPr>
          <a:xfrm>
            <a:off x="1529987" y="4827504"/>
            <a:ext cx="1785937" cy="830997"/>
          </a:xfrm>
          <a:prstGeom prst="rect">
            <a:avLst/>
          </a:prstGeom>
          <a:noFill/>
        </p:spPr>
        <p:txBody>
          <a:bodyPr wrap="square" rtlCol="0">
            <a:spAutoFit/>
          </a:bodyPr>
          <a:lstStyle/>
          <a:p>
            <a:r>
              <a:rPr lang="de-DE" sz="2400" dirty="0">
                <a:cs typeface="Arial" panose="020B0604020202020204" pitchFamily="34" charset="0"/>
              </a:rPr>
              <a:t>remove from rear</a:t>
            </a:r>
            <a:endParaRPr lang="en-US" dirty="0">
              <a:latin typeface="Arial" panose="020B0604020202020204" pitchFamily="34" charset="0"/>
              <a:cs typeface="Arial" panose="020B0604020202020204" pitchFamily="34" charset="0"/>
            </a:endParaRPr>
          </a:p>
        </p:txBody>
      </p:sp>
      <p:sp>
        <p:nvSpPr>
          <p:cNvPr id="15" name="TextBox 14"/>
          <p:cNvSpPr txBox="1"/>
          <p:nvPr/>
        </p:nvSpPr>
        <p:spPr>
          <a:xfrm>
            <a:off x="7934631" y="6193802"/>
            <a:ext cx="2052209" cy="461665"/>
          </a:xfrm>
          <a:prstGeom prst="rect">
            <a:avLst/>
          </a:prstGeom>
          <a:noFill/>
        </p:spPr>
        <p:txBody>
          <a:bodyPr wrap="square" rtlCol="0">
            <a:spAutoFit/>
          </a:bodyPr>
          <a:lstStyle/>
          <a:p>
            <a:r>
              <a:rPr lang="de-DE" sz="2400" dirty="0">
                <a:cs typeface="Arial" panose="020B0604020202020204" pitchFamily="34" charset="0"/>
              </a:rPr>
              <a:t>Add to front</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9366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81DBF-247B-8818-FCCE-81E20A21B1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FDAFE-27B2-7402-02B0-E0C0ECF23966}"/>
              </a:ext>
            </a:extLst>
          </p:cNvPr>
          <p:cNvSpPr>
            <a:spLocks noGrp="1"/>
          </p:cNvSpPr>
          <p:nvPr>
            <p:ph type="title"/>
          </p:nvPr>
        </p:nvSpPr>
        <p:spPr/>
        <p:txBody>
          <a:bodyPr/>
          <a:lstStyle/>
          <a:p>
            <a:r>
              <a:rPr lang="de-DE" b="1" dirty="0" err="1"/>
              <a:t>Types</a:t>
            </a:r>
            <a:r>
              <a:rPr lang="de-DE" b="1" dirty="0"/>
              <a:t> </a:t>
            </a:r>
            <a:r>
              <a:rPr lang="de-DE" b="1" dirty="0" err="1"/>
              <a:t>of</a:t>
            </a:r>
            <a:r>
              <a:rPr lang="de-DE" b="1" dirty="0"/>
              <a:t> </a:t>
            </a:r>
            <a:r>
              <a:rPr lang="de-DE" b="1" dirty="0" err="1"/>
              <a:t>Deques</a:t>
            </a:r>
            <a:endParaRPr lang="en-US" b="1" dirty="0"/>
          </a:p>
        </p:txBody>
      </p:sp>
      <p:graphicFrame>
        <p:nvGraphicFramePr>
          <p:cNvPr id="18" name="Content Placeholder 17">
            <a:extLst>
              <a:ext uri="{FF2B5EF4-FFF2-40B4-BE49-F238E27FC236}">
                <a16:creationId xmlns:a16="http://schemas.microsoft.com/office/drawing/2014/main" id="{6B4C9D6F-BE94-7C65-231A-29B6FFC9EC54}"/>
              </a:ext>
            </a:extLst>
          </p:cNvPr>
          <p:cNvGraphicFramePr>
            <a:graphicFrameLocks noGrp="1"/>
          </p:cNvGraphicFramePr>
          <p:nvPr>
            <p:ph idx="1"/>
            <p:extLst>
              <p:ext uri="{D42A27DB-BD31-4B8C-83A1-F6EECF244321}">
                <p14:modId xmlns:p14="http://schemas.microsoft.com/office/powerpoint/2010/main" val="3768887102"/>
              </p:ext>
            </p:extLst>
          </p:nvPr>
        </p:nvGraphicFramePr>
        <p:xfrm>
          <a:off x="815715" y="2514600"/>
          <a:ext cx="10515600" cy="2651760"/>
        </p:xfrm>
        <a:graphic>
          <a:graphicData uri="http://schemas.openxmlformats.org/drawingml/2006/table">
            <a:tbl>
              <a:tblPr/>
              <a:tblGrid>
                <a:gridCol w="5257800">
                  <a:extLst>
                    <a:ext uri="{9D8B030D-6E8A-4147-A177-3AD203B41FA5}">
                      <a16:colId xmlns:a16="http://schemas.microsoft.com/office/drawing/2014/main" val="3439960288"/>
                    </a:ext>
                  </a:extLst>
                </a:gridCol>
                <a:gridCol w="5257800">
                  <a:extLst>
                    <a:ext uri="{9D8B030D-6E8A-4147-A177-3AD203B41FA5}">
                      <a16:colId xmlns:a16="http://schemas.microsoft.com/office/drawing/2014/main" val="3895138801"/>
                    </a:ext>
                  </a:extLst>
                </a:gridCol>
              </a:tblGrid>
              <a:tr h="0">
                <a:tc>
                  <a:txBody>
                    <a:bodyPr/>
                    <a:lstStyle/>
                    <a:p>
                      <a:r>
                        <a:rPr lang="en-GB" sz="2500" b="1"/>
                        <a:t>Type</a:t>
                      </a:r>
                    </a:p>
                  </a:txBody>
                  <a:tcPr anchor="ctr">
                    <a:lnL>
                      <a:noFill/>
                    </a:lnL>
                    <a:lnR>
                      <a:noFill/>
                    </a:lnR>
                    <a:lnT>
                      <a:noFill/>
                    </a:lnT>
                    <a:lnB>
                      <a:noFill/>
                    </a:lnB>
                    <a:noFill/>
                  </a:tcPr>
                </a:tc>
                <a:tc>
                  <a:txBody>
                    <a:bodyPr/>
                    <a:lstStyle/>
                    <a:p>
                      <a:r>
                        <a:rPr lang="en-GB" sz="2500" b="1" dirty="0"/>
                        <a:t>Description</a:t>
                      </a:r>
                    </a:p>
                  </a:txBody>
                  <a:tcPr anchor="ctr">
                    <a:lnL>
                      <a:noFill/>
                    </a:lnL>
                    <a:lnR>
                      <a:noFill/>
                    </a:lnR>
                    <a:lnT>
                      <a:noFill/>
                    </a:lnT>
                    <a:lnB>
                      <a:noFill/>
                    </a:lnB>
                    <a:noFill/>
                  </a:tcPr>
                </a:tc>
                <a:extLst>
                  <a:ext uri="{0D108BD9-81ED-4DB2-BD59-A6C34878D82A}">
                    <a16:rowId xmlns:a16="http://schemas.microsoft.com/office/drawing/2014/main" val="384139527"/>
                  </a:ext>
                </a:extLst>
              </a:tr>
              <a:tr h="0">
                <a:tc>
                  <a:txBody>
                    <a:bodyPr/>
                    <a:lstStyle/>
                    <a:p>
                      <a:r>
                        <a:rPr lang="en-GB" sz="2500" b="1" dirty="0"/>
                        <a:t>Input-restricted deque</a:t>
                      </a:r>
                      <a:endParaRPr lang="en-GB" sz="2500" dirty="0"/>
                    </a:p>
                  </a:txBody>
                  <a:tcPr anchor="ctr">
                    <a:lnL>
                      <a:noFill/>
                    </a:lnL>
                    <a:lnR>
                      <a:noFill/>
                    </a:lnR>
                    <a:lnT>
                      <a:noFill/>
                    </a:lnT>
                    <a:lnB>
                      <a:noFill/>
                    </a:lnB>
                    <a:noFill/>
                  </a:tcPr>
                </a:tc>
                <a:tc>
                  <a:txBody>
                    <a:bodyPr/>
                    <a:lstStyle/>
                    <a:p>
                      <a:r>
                        <a:rPr lang="en-GB" sz="2500"/>
                        <a:t>Insertion at </a:t>
                      </a:r>
                      <a:r>
                        <a:rPr lang="en-GB" sz="2500" b="1"/>
                        <a:t>only one end</a:t>
                      </a:r>
                      <a:r>
                        <a:rPr lang="en-GB" sz="2500"/>
                        <a:t> (usually rear), deletion from </a:t>
                      </a:r>
                      <a:r>
                        <a:rPr lang="en-GB" sz="2500" b="1"/>
                        <a:t>both</a:t>
                      </a:r>
                      <a:r>
                        <a:rPr lang="en-GB" sz="2500"/>
                        <a:t> ends</a:t>
                      </a:r>
                    </a:p>
                  </a:txBody>
                  <a:tcPr anchor="ctr">
                    <a:lnL>
                      <a:noFill/>
                    </a:lnL>
                    <a:lnR>
                      <a:noFill/>
                    </a:lnR>
                    <a:lnT>
                      <a:noFill/>
                    </a:lnT>
                    <a:lnB>
                      <a:noFill/>
                    </a:lnB>
                    <a:noFill/>
                  </a:tcPr>
                </a:tc>
                <a:extLst>
                  <a:ext uri="{0D108BD9-81ED-4DB2-BD59-A6C34878D82A}">
                    <a16:rowId xmlns:a16="http://schemas.microsoft.com/office/drawing/2014/main" val="877406091"/>
                  </a:ext>
                </a:extLst>
              </a:tr>
              <a:tr h="0">
                <a:tc>
                  <a:txBody>
                    <a:bodyPr/>
                    <a:lstStyle/>
                    <a:p>
                      <a:r>
                        <a:rPr lang="en-GB" sz="2500" b="1"/>
                        <a:t>Output-restricted deque</a:t>
                      </a:r>
                      <a:endParaRPr lang="en-GB" sz="2500"/>
                    </a:p>
                  </a:txBody>
                  <a:tcPr anchor="ctr">
                    <a:lnL>
                      <a:noFill/>
                    </a:lnL>
                    <a:lnR>
                      <a:noFill/>
                    </a:lnR>
                    <a:lnT>
                      <a:noFill/>
                    </a:lnT>
                    <a:lnB>
                      <a:noFill/>
                    </a:lnB>
                    <a:noFill/>
                  </a:tcPr>
                </a:tc>
                <a:tc>
                  <a:txBody>
                    <a:bodyPr/>
                    <a:lstStyle/>
                    <a:p>
                      <a:r>
                        <a:rPr lang="en-GB" sz="2500"/>
                        <a:t>Deletion at </a:t>
                      </a:r>
                      <a:r>
                        <a:rPr lang="en-GB" sz="2500" b="1"/>
                        <a:t>only one end</a:t>
                      </a:r>
                      <a:r>
                        <a:rPr lang="en-GB" sz="2500"/>
                        <a:t> (usually front), insertion from </a:t>
                      </a:r>
                      <a:r>
                        <a:rPr lang="en-GB" sz="2500" b="1"/>
                        <a:t>both</a:t>
                      </a:r>
                      <a:r>
                        <a:rPr lang="en-GB" sz="2500"/>
                        <a:t> ends</a:t>
                      </a:r>
                    </a:p>
                  </a:txBody>
                  <a:tcPr anchor="ctr">
                    <a:lnL>
                      <a:noFill/>
                    </a:lnL>
                    <a:lnR>
                      <a:noFill/>
                    </a:lnR>
                    <a:lnT>
                      <a:noFill/>
                    </a:lnT>
                    <a:lnB>
                      <a:noFill/>
                    </a:lnB>
                    <a:noFill/>
                  </a:tcPr>
                </a:tc>
                <a:extLst>
                  <a:ext uri="{0D108BD9-81ED-4DB2-BD59-A6C34878D82A}">
                    <a16:rowId xmlns:a16="http://schemas.microsoft.com/office/drawing/2014/main" val="2947192814"/>
                  </a:ext>
                </a:extLst>
              </a:tr>
              <a:tr h="0">
                <a:tc>
                  <a:txBody>
                    <a:bodyPr/>
                    <a:lstStyle/>
                    <a:p>
                      <a:r>
                        <a:rPr lang="en-GB" sz="2500" b="1"/>
                        <a:t>General deque</a:t>
                      </a:r>
                      <a:endParaRPr lang="en-GB" sz="2500"/>
                    </a:p>
                  </a:txBody>
                  <a:tcPr anchor="ctr">
                    <a:lnL>
                      <a:noFill/>
                    </a:lnL>
                    <a:lnR>
                      <a:noFill/>
                    </a:lnR>
                    <a:lnT>
                      <a:noFill/>
                    </a:lnT>
                    <a:lnB>
                      <a:noFill/>
                    </a:lnB>
                    <a:noFill/>
                  </a:tcPr>
                </a:tc>
                <a:tc>
                  <a:txBody>
                    <a:bodyPr/>
                    <a:lstStyle/>
                    <a:p>
                      <a:r>
                        <a:rPr lang="en-GB" sz="2500" dirty="0"/>
                        <a:t>Insertion and deletion at </a:t>
                      </a:r>
                      <a:r>
                        <a:rPr lang="en-GB" sz="2500" b="1" dirty="0"/>
                        <a:t>both ends</a:t>
                      </a:r>
                      <a:endParaRPr lang="en-GB" sz="2500" dirty="0"/>
                    </a:p>
                  </a:txBody>
                  <a:tcPr anchor="ctr">
                    <a:lnL>
                      <a:noFill/>
                    </a:lnL>
                    <a:lnR>
                      <a:noFill/>
                    </a:lnR>
                    <a:lnT>
                      <a:noFill/>
                    </a:lnT>
                    <a:lnB>
                      <a:noFill/>
                    </a:lnB>
                    <a:noFill/>
                  </a:tcPr>
                </a:tc>
                <a:extLst>
                  <a:ext uri="{0D108BD9-81ED-4DB2-BD59-A6C34878D82A}">
                    <a16:rowId xmlns:a16="http://schemas.microsoft.com/office/drawing/2014/main" val="2294833834"/>
                  </a:ext>
                </a:extLst>
              </a:tr>
            </a:tbl>
          </a:graphicData>
        </a:graphic>
      </p:graphicFrame>
    </p:spTree>
    <p:extLst>
      <p:ext uri="{BB962C8B-B14F-4D97-AF65-F5344CB8AC3E}">
        <p14:creationId xmlns:p14="http://schemas.microsoft.com/office/powerpoint/2010/main" val="29488083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Deque Operations</a:t>
            </a:r>
            <a:endParaRPr lang="en-US" dirty="0"/>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41</a:t>
            </a:fld>
            <a:endParaRPr lang="en-US" altLang="en-US"/>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404332823"/>
              </p:ext>
            </p:extLst>
          </p:nvPr>
        </p:nvGraphicFramePr>
        <p:xfrm>
          <a:off x="-457200" y="1752600"/>
          <a:ext cx="11430000" cy="4968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01378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Deques</a:t>
            </a:r>
            <a:endParaRPr lang="en-US" dirty="0"/>
          </a:p>
        </p:txBody>
      </p:sp>
      <p:sp>
        <p:nvSpPr>
          <p:cNvPr id="3" name="Content Placeholder 2"/>
          <p:cNvSpPr>
            <a:spLocks noGrp="1"/>
          </p:cNvSpPr>
          <p:nvPr>
            <p:ph idx="1"/>
          </p:nvPr>
        </p:nvSpPr>
        <p:spPr/>
        <p:txBody>
          <a:bodyPr>
            <a:normAutofit lnSpcReduction="10000"/>
          </a:bodyPr>
          <a:lstStyle/>
          <a:p>
            <a:r>
              <a:rPr lang="en-GB" dirty="0"/>
              <a:t>Both the basic and most common list types in computing, </a:t>
            </a:r>
            <a:r>
              <a:rPr lang="en-GB" dirty="0">
                <a:solidFill>
                  <a:schemeClr val="accent1">
                    <a:lumMod val="75000"/>
                  </a:schemeClr>
                </a:solidFill>
              </a:rPr>
              <a:t>queues</a:t>
            </a:r>
            <a:r>
              <a:rPr lang="en-GB" dirty="0"/>
              <a:t> and </a:t>
            </a:r>
            <a:r>
              <a:rPr lang="en-GB" dirty="0">
                <a:solidFill>
                  <a:schemeClr val="accent1">
                    <a:lumMod val="75000"/>
                  </a:schemeClr>
                </a:solidFill>
              </a:rPr>
              <a:t>stacks</a:t>
            </a:r>
            <a:r>
              <a:rPr lang="en-GB" dirty="0"/>
              <a:t> can be considered specializations of </a:t>
            </a:r>
            <a:r>
              <a:rPr lang="en-GB" dirty="0" err="1">
                <a:solidFill>
                  <a:schemeClr val="accent1">
                    <a:lumMod val="75000"/>
                  </a:schemeClr>
                </a:solidFill>
              </a:rPr>
              <a:t>deques</a:t>
            </a:r>
            <a:r>
              <a:rPr lang="en-GB" dirty="0"/>
              <a:t>, and can be implemented using </a:t>
            </a:r>
            <a:r>
              <a:rPr lang="en-GB" dirty="0" err="1"/>
              <a:t>deques</a:t>
            </a:r>
            <a:endParaRPr lang="en-GB" dirty="0"/>
          </a:p>
          <a:p>
            <a:pPr lvl="1"/>
            <a:r>
              <a:rPr lang="en-GB" dirty="0"/>
              <a:t>i.e., this hybrid linear structure provides all the capabilities of stacks and queues in a single data structure</a:t>
            </a:r>
          </a:p>
          <a:p>
            <a:endParaRPr lang="en-GB" dirty="0"/>
          </a:p>
          <a:p>
            <a:r>
              <a:rPr lang="en-GB" dirty="0" err="1"/>
              <a:t>Deques</a:t>
            </a:r>
            <a:r>
              <a:rPr lang="en-GB" dirty="0"/>
              <a:t> are not heavily used</a:t>
            </a:r>
          </a:p>
          <a:p>
            <a:endParaRPr lang="en-GB" dirty="0"/>
          </a:p>
          <a:p>
            <a:r>
              <a:rPr lang="en-GB" dirty="0"/>
              <a:t>You should know what a </a:t>
            </a:r>
            <a:r>
              <a:rPr lang="en-GB" dirty="0" err="1"/>
              <a:t>deque</a:t>
            </a:r>
            <a:r>
              <a:rPr lang="en-GB" dirty="0"/>
              <a:t> is, but we won’t explore them much further</a:t>
            </a:r>
          </a:p>
        </p:txBody>
      </p:sp>
      <p:sp>
        <p:nvSpPr>
          <p:cNvPr id="4" name="Slide Number Placeholder 3"/>
          <p:cNvSpPr>
            <a:spLocks noGrp="1"/>
          </p:cNvSpPr>
          <p:nvPr>
            <p:ph type="sldNum" sz="quarter" idx="12"/>
          </p:nvPr>
        </p:nvSpPr>
        <p:spPr/>
        <p:txBody>
          <a:bodyPr/>
          <a:lstStyle/>
          <a:p>
            <a:pPr>
              <a:defRPr/>
            </a:pPr>
            <a:fld id="{F350D435-2DCA-4D63-B007-D33EC4F44F07}" type="slidenum">
              <a:rPr lang="en-US" altLang="en-US" smtClean="0"/>
              <a:pPr>
                <a:defRPr/>
              </a:pPr>
              <a:t>42</a:t>
            </a:fld>
            <a:endParaRPr lang="en-US" altLang="en-US"/>
          </a:p>
        </p:txBody>
      </p:sp>
    </p:spTree>
    <p:extLst>
      <p:ext uri="{BB962C8B-B14F-4D97-AF65-F5344CB8AC3E}">
        <p14:creationId xmlns:p14="http://schemas.microsoft.com/office/powerpoint/2010/main" val="40381443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a:t>Thank you</a:t>
            </a:r>
          </a:p>
        </p:txBody>
      </p:sp>
      <p:sp>
        <p:nvSpPr>
          <p:cNvPr id="7" name="Subtitle 6"/>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8852956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4005</TotalTime>
  <Words>2977</Words>
  <Application>Microsoft Macintosh PowerPoint</Application>
  <PresentationFormat>Widescreen</PresentationFormat>
  <Paragraphs>630</Paragraphs>
  <Slides>43</Slides>
  <Notes>6</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43</vt:i4>
      </vt:variant>
    </vt:vector>
  </HeadingPairs>
  <TitlesOfParts>
    <vt:vector size="54" baseType="lpstr">
      <vt:lpstr>Euclid Circular A</vt:lpstr>
      <vt:lpstr>Arial</vt:lpstr>
      <vt:lpstr>Calibri</vt:lpstr>
      <vt:lpstr>Calibri Light</vt:lpstr>
      <vt:lpstr>Comic Sans MS</vt:lpstr>
      <vt:lpstr>Courier New</vt:lpstr>
      <vt:lpstr>Georgia</vt:lpstr>
      <vt:lpstr>Tahoma</vt:lpstr>
      <vt:lpstr>Times New Roman</vt:lpstr>
      <vt:lpstr>Wingdings</vt:lpstr>
      <vt:lpstr>Office Theme</vt:lpstr>
      <vt:lpstr>All about Queues!</vt:lpstr>
      <vt:lpstr>Lecture Outline</vt:lpstr>
      <vt:lpstr>What is a Queue?</vt:lpstr>
      <vt:lpstr>Queues</vt:lpstr>
      <vt:lpstr>Examples</vt:lpstr>
      <vt:lpstr>Attributes of a Queue</vt:lpstr>
      <vt:lpstr>Operations on a Queue(1/3)</vt:lpstr>
      <vt:lpstr>Operations on a Queue (2/3)</vt:lpstr>
      <vt:lpstr>Operations on a Queue (3/3)</vt:lpstr>
      <vt:lpstr>Choice of implementation</vt:lpstr>
      <vt:lpstr>Array based Implementation</vt:lpstr>
      <vt:lpstr>Array based queue implementation </vt:lpstr>
      <vt:lpstr>Array based Queue Implementation  (Linear Queue)</vt:lpstr>
      <vt:lpstr>Array based Queue Implementation  (Linear Queue)</vt:lpstr>
      <vt:lpstr>Array based queue implementation </vt:lpstr>
      <vt:lpstr>Problem: Run out of space</vt:lpstr>
      <vt:lpstr>Solution 1: Shift items</vt:lpstr>
      <vt:lpstr>Solution 1: Updated Dequeue operation</vt:lpstr>
      <vt:lpstr>Solution 2: Circular queue</vt:lpstr>
      <vt:lpstr>Circular Queue Operations cont.</vt:lpstr>
      <vt:lpstr>Circular Queue Operations cont.</vt:lpstr>
      <vt:lpstr>Circular Queue Operations cont.</vt:lpstr>
      <vt:lpstr>Circular Queue Operations cont.</vt:lpstr>
      <vt:lpstr>Circular Queue Operations cont.</vt:lpstr>
      <vt:lpstr>Circular Queue (Empty/Full?)</vt:lpstr>
      <vt:lpstr>Implementation (1/2)</vt:lpstr>
      <vt:lpstr>Implementation (2/2)</vt:lpstr>
      <vt:lpstr>Another way</vt:lpstr>
      <vt:lpstr>Linked list based Implementation of Queues</vt:lpstr>
      <vt:lpstr>Linked List Based Implementation of Queues? (1/2)</vt:lpstr>
      <vt:lpstr>PowerPoint Presentation</vt:lpstr>
      <vt:lpstr>PowerPoint Presentation</vt:lpstr>
      <vt:lpstr>Other Types of Queues</vt:lpstr>
      <vt:lpstr>Priority queues</vt:lpstr>
      <vt:lpstr>Example of Priority queue</vt:lpstr>
      <vt:lpstr>Example of Priority queue</vt:lpstr>
      <vt:lpstr>Common Implementations of Priority Queues</vt:lpstr>
      <vt:lpstr>Priority Queues Coming Soon: After Mid Exams!</vt:lpstr>
      <vt:lpstr>Double-Ended Queue (Deques)</vt:lpstr>
      <vt:lpstr>Types of Deques</vt:lpstr>
      <vt:lpstr>Deque Operations</vt:lpstr>
      <vt:lpstr>Deques</vt:lpstr>
      <vt:lpstr>Thank you</vt:lpstr>
    </vt:vector>
  </TitlesOfParts>
  <Company>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dc:title>
  <dc:creator>Salman</dc:creator>
  <cp:lastModifiedBy>Dr. Ayesha Hakim</cp:lastModifiedBy>
  <cp:revision>501</cp:revision>
  <dcterms:created xsi:type="dcterms:W3CDTF">2009-01-19T04:49:55Z</dcterms:created>
  <dcterms:modified xsi:type="dcterms:W3CDTF">2025-09-29T13:13:10Z</dcterms:modified>
</cp:coreProperties>
</file>