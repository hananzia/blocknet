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42" r:id="rId1"/>
  </p:sldMasterIdLst>
  <p:notesMasterIdLst>
    <p:notesMasterId r:id="rId67"/>
  </p:notesMasterIdLst>
  <p:sldIdLst>
    <p:sldId id="256" r:id="rId2"/>
    <p:sldId id="342" r:id="rId3"/>
    <p:sldId id="257" r:id="rId4"/>
    <p:sldId id="332" r:id="rId5"/>
    <p:sldId id="333" r:id="rId6"/>
    <p:sldId id="265" r:id="rId7"/>
    <p:sldId id="343" r:id="rId8"/>
    <p:sldId id="344" r:id="rId9"/>
    <p:sldId id="345" r:id="rId10"/>
    <p:sldId id="346" r:id="rId11"/>
    <p:sldId id="268" r:id="rId12"/>
    <p:sldId id="366" r:id="rId13"/>
    <p:sldId id="367" r:id="rId14"/>
    <p:sldId id="349" r:id="rId15"/>
    <p:sldId id="368" r:id="rId16"/>
    <p:sldId id="369" r:id="rId17"/>
    <p:sldId id="370" r:id="rId18"/>
    <p:sldId id="371" r:id="rId19"/>
    <p:sldId id="372" r:id="rId20"/>
    <p:sldId id="373" r:id="rId21"/>
    <p:sldId id="374" r:id="rId22"/>
    <p:sldId id="375" r:id="rId23"/>
    <p:sldId id="377" r:id="rId24"/>
    <p:sldId id="378" r:id="rId25"/>
    <p:sldId id="379" r:id="rId26"/>
    <p:sldId id="380" r:id="rId27"/>
    <p:sldId id="381" r:id="rId28"/>
    <p:sldId id="382" r:id="rId29"/>
    <p:sldId id="383" r:id="rId30"/>
    <p:sldId id="384" r:id="rId31"/>
    <p:sldId id="385" r:id="rId32"/>
    <p:sldId id="387" r:id="rId33"/>
    <p:sldId id="388" r:id="rId34"/>
    <p:sldId id="389" r:id="rId35"/>
    <p:sldId id="390" r:id="rId36"/>
    <p:sldId id="391" r:id="rId37"/>
    <p:sldId id="392" r:id="rId38"/>
    <p:sldId id="393" r:id="rId39"/>
    <p:sldId id="420" r:id="rId40"/>
    <p:sldId id="421" r:id="rId41"/>
    <p:sldId id="422" r:id="rId42"/>
    <p:sldId id="423" r:id="rId43"/>
    <p:sldId id="424" r:id="rId44"/>
    <p:sldId id="399" r:id="rId45"/>
    <p:sldId id="425" r:id="rId46"/>
    <p:sldId id="401" r:id="rId47"/>
    <p:sldId id="426" r:id="rId48"/>
    <p:sldId id="427" r:id="rId49"/>
    <p:sldId id="404" r:id="rId50"/>
    <p:sldId id="405" r:id="rId51"/>
    <p:sldId id="428" r:id="rId52"/>
    <p:sldId id="408" r:id="rId53"/>
    <p:sldId id="430" r:id="rId54"/>
    <p:sldId id="431" r:id="rId55"/>
    <p:sldId id="432" r:id="rId56"/>
    <p:sldId id="433" r:id="rId57"/>
    <p:sldId id="412" r:id="rId58"/>
    <p:sldId id="413" r:id="rId59"/>
    <p:sldId id="434" r:id="rId60"/>
    <p:sldId id="415" r:id="rId61"/>
    <p:sldId id="416" r:id="rId62"/>
    <p:sldId id="417" r:id="rId63"/>
    <p:sldId id="418" r:id="rId64"/>
    <p:sldId id="435" r:id="rId65"/>
    <p:sldId id="341" r:id="rId6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6" autoAdjust="0"/>
    <p:restoredTop sz="88986" autoAdjust="0"/>
  </p:normalViewPr>
  <p:slideViewPr>
    <p:cSldViewPr>
      <p:cViewPr varScale="1">
        <p:scale>
          <a:sx n="70" d="100"/>
          <a:sy n="70" d="100"/>
        </p:scale>
        <p:origin x="180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30973A-9B90-41B4-9A04-9CC65D9EEF95}" type="doc">
      <dgm:prSet loTypeId="urn:microsoft.com/office/officeart/2008/layout/AlternatingHexagons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D4168AA-F963-4620-B729-D63E22E241A8}">
      <dgm:prSet phldrT="[Text]"/>
      <dgm:spPr/>
      <dgm:t>
        <a:bodyPr/>
        <a:lstStyle/>
        <a:p>
          <a:r>
            <a:rPr lang="en-US" dirty="0"/>
            <a:t>Static Allocation</a:t>
          </a:r>
        </a:p>
      </dgm:t>
    </dgm:pt>
    <dgm:pt modelId="{AB5557FC-3D72-46D6-A362-7AEA25291B94}" type="parTrans" cxnId="{880FC66E-1405-4D60-A7CD-6A673FE1445D}">
      <dgm:prSet/>
      <dgm:spPr/>
      <dgm:t>
        <a:bodyPr/>
        <a:lstStyle/>
        <a:p>
          <a:endParaRPr lang="en-US"/>
        </a:p>
      </dgm:t>
    </dgm:pt>
    <dgm:pt modelId="{401AD7A7-5212-4285-BB13-DA78608FED64}" type="sibTrans" cxnId="{880FC66E-1405-4D60-A7CD-6A673FE1445D}">
      <dgm:prSet/>
      <dgm:spPr/>
      <dgm:t>
        <a:bodyPr/>
        <a:lstStyle/>
        <a:p>
          <a:endParaRPr lang="en-US"/>
        </a:p>
      </dgm:t>
    </dgm:pt>
    <dgm:pt modelId="{DA44851F-78D1-4B29-BE76-92FD8A4F838A}">
      <dgm:prSet phldrT="[Text]"/>
      <dgm:spPr/>
      <dgm:t>
        <a:bodyPr/>
        <a:lstStyle/>
        <a:p>
          <a:r>
            <a:rPr lang="en-US" dirty="0"/>
            <a:t>Dynamic Allocation</a:t>
          </a:r>
        </a:p>
      </dgm:t>
    </dgm:pt>
    <dgm:pt modelId="{7F80C26C-C4BE-4A8C-9877-6853B3E013E5}" type="parTrans" cxnId="{4474FD3B-AFFC-43F0-BD00-1E6842E62B62}">
      <dgm:prSet/>
      <dgm:spPr/>
      <dgm:t>
        <a:bodyPr/>
        <a:lstStyle/>
        <a:p>
          <a:endParaRPr lang="en-US"/>
        </a:p>
      </dgm:t>
    </dgm:pt>
    <dgm:pt modelId="{B597380F-E013-4543-A1C9-F6CFD7E261BF}" type="sibTrans" cxnId="{4474FD3B-AFFC-43F0-BD00-1E6842E62B62}">
      <dgm:prSet/>
      <dgm:spPr/>
      <dgm:t>
        <a:bodyPr/>
        <a:lstStyle/>
        <a:p>
          <a:endParaRPr lang="en-US"/>
        </a:p>
      </dgm:t>
    </dgm:pt>
    <dgm:pt modelId="{57AA5A60-4CB4-41F4-93DA-6BEDE5B5989E}">
      <dgm:prSet phldrT="[Text]"/>
      <dgm:spPr/>
      <dgm:t>
        <a:bodyPr/>
        <a:lstStyle/>
        <a:p>
          <a:r>
            <a:rPr kumimoji="0" lang="en-US" altLang="en-US" b="1" baseline="0"/>
            <a:t>Static allocation is the allocation of memory space at compile time.</a:t>
          </a:r>
          <a:endParaRPr lang="en-US" dirty="0"/>
        </a:p>
      </dgm:t>
    </dgm:pt>
    <dgm:pt modelId="{65CF6A58-EA9D-4BF0-86BB-B33E935813AD}" type="parTrans" cxnId="{7166B32E-A789-4E77-A659-33B7DAD4E698}">
      <dgm:prSet/>
      <dgm:spPr/>
      <dgm:t>
        <a:bodyPr/>
        <a:lstStyle/>
        <a:p>
          <a:endParaRPr lang="en-US"/>
        </a:p>
      </dgm:t>
    </dgm:pt>
    <dgm:pt modelId="{E98603E4-E690-41BA-A620-D7D4A7007B15}" type="sibTrans" cxnId="{7166B32E-A789-4E77-A659-33B7DAD4E698}">
      <dgm:prSet/>
      <dgm:spPr/>
      <dgm:t>
        <a:bodyPr/>
        <a:lstStyle/>
        <a:p>
          <a:endParaRPr lang="en-US"/>
        </a:p>
      </dgm:t>
    </dgm:pt>
    <dgm:pt modelId="{ADCB5F57-70CE-4090-AF01-73359AC01304}">
      <dgm:prSet phldrT="[Text]"/>
      <dgm:spPr/>
      <dgm:t>
        <a:bodyPr/>
        <a:lstStyle/>
        <a:p>
          <a:r>
            <a:rPr kumimoji="0" lang="en-US" altLang="en-US" b="1" baseline="0"/>
            <a:t>Dynamic allocation is the allocation of memory space at run time by using operator </a:t>
          </a:r>
          <a:r>
            <a:rPr lang="en-US" altLang="en-US" b="1" baseline="0">
              <a:latin typeface="Courier New" panose="02070309020205020404" pitchFamily="49" charset="0"/>
              <a:cs typeface="Courier New" panose="02070309020205020404" pitchFamily="49" charset="0"/>
            </a:rPr>
            <a:t>new</a:t>
          </a:r>
          <a:r>
            <a:rPr kumimoji="0" lang="en-US" altLang="en-US" b="1" baseline="0"/>
            <a:t>.</a:t>
          </a:r>
          <a:endParaRPr lang="en-US" dirty="0"/>
        </a:p>
      </dgm:t>
    </dgm:pt>
    <dgm:pt modelId="{2F7218FB-0DBB-4836-B794-868A5A405F49}" type="parTrans" cxnId="{00FBE2EA-569C-41C4-A008-4EB766E110EF}">
      <dgm:prSet/>
      <dgm:spPr/>
      <dgm:t>
        <a:bodyPr/>
        <a:lstStyle/>
        <a:p>
          <a:endParaRPr lang="en-US"/>
        </a:p>
      </dgm:t>
    </dgm:pt>
    <dgm:pt modelId="{27F97F2D-8DAF-4F40-8CA8-7B292CB3542A}" type="sibTrans" cxnId="{00FBE2EA-569C-41C4-A008-4EB766E110EF}">
      <dgm:prSet/>
      <dgm:spPr/>
      <dgm:t>
        <a:bodyPr/>
        <a:lstStyle/>
        <a:p>
          <a:endParaRPr lang="en-US"/>
        </a:p>
      </dgm:t>
    </dgm:pt>
    <dgm:pt modelId="{CD348318-9FDB-4EC4-95B0-1A71855548F5}" type="pres">
      <dgm:prSet presAssocID="{1F30973A-9B90-41B4-9A04-9CC65D9EEF95}" presName="Name0" presStyleCnt="0">
        <dgm:presLayoutVars>
          <dgm:chMax/>
          <dgm:chPref/>
          <dgm:dir/>
          <dgm:animLvl val="lvl"/>
        </dgm:presLayoutVars>
      </dgm:prSet>
      <dgm:spPr/>
    </dgm:pt>
    <dgm:pt modelId="{20DE87E9-A5DB-4B14-A9C3-435362973889}" type="pres">
      <dgm:prSet presAssocID="{ED4168AA-F963-4620-B729-D63E22E241A8}" presName="composite" presStyleCnt="0"/>
      <dgm:spPr/>
    </dgm:pt>
    <dgm:pt modelId="{E61FD455-8C3D-457B-9A89-7E6AB24F754C}" type="pres">
      <dgm:prSet presAssocID="{ED4168AA-F963-4620-B729-D63E22E241A8}" presName="Parent1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EECC0470-5ABD-4015-8C95-069140EF9CD6}" type="pres">
      <dgm:prSet presAssocID="{ED4168AA-F963-4620-B729-D63E22E241A8}" presName="Childtext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D760B94E-4CB3-40E7-87AB-1B93316FB237}" type="pres">
      <dgm:prSet presAssocID="{ED4168AA-F963-4620-B729-D63E22E241A8}" presName="BalanceSpacing" presStyleCnt="0"/>
      <dgm:spPr/>
    </dgm:pt>
    <dgm:pt modelId="{04312EDE-F486-4D95-82C0-8EA3F3F4256A}" type="pres">
      <dgm:prSet presAssocID="{ED4168AA-F963-4620-B729-D63E22E241A8}" presName="BalanceSpacing1" presStyleCnt="0"/>
      <dgm:spPr/>
    </dgm:pt>
    <dgm:pt modelId="{760E7B37-B5A0-4B1D-ADC6-983CCAEF5F37}" type="pres">
      <dgm:prSet presAssocID="{401AD7A7-5212-4285-BB13-DA78608FED64}" presName="Accent1Text" presStyleLbl="node1" presStyleIdx="1" presStyleCnt="4"/>
      <dgm:spPr/>
    </dgm:pt>
    <dgm:pt modelId="{8F1DE7BF-1543-4A79-A157-48C71D0B0F5E}" type="pres">
      <dgm:prSet presAssocID="{401AD7A7-5212-4285-BB13-DA78608FED64}" presName="spaceBetweenRectangles" presStyleCnt="0"/>
      <dgm:spPr/>
    </dgm:pt>
    <dgm:pt modelId="{2ACC1C53-2406-41E3-B306-F88792C2A2CE}" type="pres">
      <dgm:prSet presAssocID="{DA44851F-78D1-4B29-BE76-92FD8A4F838A}" presName="composite" presStyleCnt="0"/>
      <dgm:spPr/>
    </dgm:pt>
    <dgm:pt modelId="{C239F140-92F2-466C-B59B-A221E264B115}" type="pres">
      <dgm:prSet presAssocID="{DA44851F-78D1-4B29-BE76-92FD8A4F838A}" presName="Parent1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7B631260-7911-472D-B8CB-049B237CF326}" type="pres">
      <dgm:prSet presAssocID="{DA44851F-78D1-4B29-BE76-92FD8A4F838A}" presName="Childtext1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DA83BB9E-9219-4C56-B36B-074FAB9C9D6D}" type="pres">
      <dgm:prSet presAssocID="{DA44851F-78D1-4B29-BE76-92FD8A4F838A}" presName="BalanceSpacing" presStyleCnt="0"/>
      <dgm:spPr/>
    </dgm:pt>
    <dgm:pt modelId="{2D45EEC8-FC9C-4015-977B-637C026C76D9}" type="pres">
      <dgm:prSet presAssocID="{DA44851F-78D1-4B29-BE76-92FD8A4F838A}" presName="BalanceSpacing1" presStyleCnt="0"/>
      <dgm:spPr/>
    </dgm:pt>
    <dgm:pt modelId="{BF670FE4-87D7-4658-804B-0114B70B4C1F}" type="pres">
      <dgm:prSet presAssocID="{B597380F-E013-4543-A1C9-F6CFD7E261BF}" presName="Accent1Text" presStyleLbl="node1" presStyleIdx="3" presStyleCnt="4"/>
      <dgm:spPr/>
    </dgm:pt>
  </dgm:ptLst>
  <dgm:cxnLst>
    <dgm:cxn modelId="{2003AD2A-BCA2-48E6-8B41-7EB2DB105BC3}" type="presOf" srcId="{ED4168AA-F963-4620-B729-D63E22E241A8}" destId="{E61FD455-8C3D-457B-9A89-7E6AB24F754C}" srcOrd="0" destOrd="0" presId="urn:microsoft.com/office/officeart/2008/layout/AlternatingHexagons"/>
    <dgm:cxn modelId="{7166B32E-A789-4E77-A659-33B7DAD4E698}" srcId="{ED4168AA-F963-4620-B729-D63E22E241A8}" destId="{57AA5A60-4CB4-41F4-93DA-6BEDE5B5989E}" srcOrd="0" destOrd="0" parTransId="{65CF6A58-EA9D-4BF0-86BB-B33E935813AD}" sibTransId="{E98603E4-E690-41BA-A620-D7D4A7007B15}"/>
    <dgm:cxn modelId="{4474FD3B-AFFC-43F0-BD00-1E6842E62B62}" srcId="{1F30973A-9B90-41B4-9A04-9CC65D9EEF95}" destId="{DA44851F-78D1-4B29-BE76-92FD8A4F838A}" srcOrd="1" destOrd="0" parTransId="{7F80C26C-C4BE-4A8C-9877-6853B3E013E5}" sibTransId="{B597380F-E013-4543-A1C9-F6CFD7E261BF}"/>
    <dgm:cxn modelId="{405F866E-5B87-4545-87F0-946BF73CD1EB}" type="presOf" srcId="{ADCB5F57-70CE-4090-AF01-73359AC01304}" destId="{7B631260-7911-472D-B8CB-049B237CF326}" srcOrd="0" destOrd="0" presId="urn:microsoft.com/office/officeart/2008/layout/AlternatingHexagons"/>
    <dgm:cxn modelId="{880FC66E-1405-4D60-A7CD-6A673FE1445D}" srcId="{1F30973A-9B90-41B4-9A04-9CC65D9EEF95}" destId="{ED4168AA-F963-4620-B729-D63E22E241A8}" srcOrd="0" destOrd="0" parTransId="{AB5557FC-3D72-46D6-A362-7AEA25291B94}" sibTransId="{401AD7A7-5212-4285-BB13-DA78608FED64}"/>
    <dgm:cxn modelId="{12A63458-054B-4B53-A2CD-1700BC843E6A}" type="presOf" srcId="{401AD7A7-5212-4285-BB13-DA78608FED64}" destId="{760E7B37-B5A0-4B1D-ADC6-983CCAEF5F37}" srcOrd="0" destOrd="0" presId="urn:microsoft.com/office/officeart/2008/layout/AlternatingHexagons"/>
    <dgm:cxn modelId="{992CCA7D-4D57-4ECC-ADC7-5EC6CE15C57E}" type="presOf" srcId="{DA44851F-78D1-4B29-BE76-92FD8A4F838A}" destId="{C239F140-92F2-466C-B59B-A221E264B115}" srcOrd="0" destOrd="0" presId="urn:microsoft.com/office/officeart/2008/layout/AlternatingHexagons"/>
    <dgm:cxn modelId="{0934FAB5-2B72-4FC1-9B79-63922AFFBE62}" type="presOf" srcId="{1F30973A-9B90-41B4-9A04-9CC65D9EEF95}" destId="{CD348318-9FDB-4EC4-95B0-1A71855548F5}" srcOrd="0" destOrd="0" presId="urn:microsoft.com/office/officeart/2008/layout/AlternatingHexagons"/>
    <dgm:cxn modelId="{303911B8-2A48-4FA7-A064-89FA111637B0}" type="presOf" srcId="{B597380F-E013-4543-A1C9-F6CFD7E261BF}" destId="{BF670FE4-87D7-4658-804B-0114B70B4C1F}" srcOrd="0" destOrd="0" presId="urn:microsoft.com/office/officeart/2008/layout/AlternatingHexagons"/>
    <dgm:cxn modelId="{00FBE2EA-569C-41C4-A008-4EB766E110EF}" srcId="{DA44851F-78D1-4B29-BE76-92FD8A4F838A}" destId="{ADCB5F57-70CE-4090-AF01-73359AC01304}" srcOrd="0" destOrd="0" parTransId="{2F7218FB-0DBB-4836-B794-868A5A405F49}" sibTransId="{27F97F2D-8DAF-4F40-8CA8-7B292CB3542A}"/>
    <dgm:cxn modelId="{1BB89EF8-4B11-4684-9928-8A8315C99981}" type="presOf" srcId="{57AA5A60-4CB4-41F4-93DA-6BEDE5B5989E}" destId="{EECC0470-5ABD-4015-8C95-069140EF9CD6}" srcOrd="0" destOrd="0" presId="urn:microsoft.com/office/officeart/2008/layout/AlternatingHexagons"/>
    <dgm:cxn modelId="{030DBE41-1221-4B80-9966-BD9727AB6C93}" type="presParOf" srcId="{CD348318-9FDB-4EC4-95B0-1A71855548F5}" destId="{20DE87E9-A5DB-4B14-A9C3-435362973889}" srcOrd="0" destOrd="0" presId="urn:microsoft.com/office/officeart/2008/layout/AlternatingHexagons"/>
    <dgm:cxn modelId="{78B219DF-882F-450D-8A7F-B9B8EDB5F5C3}" type="presParOf" srcId="{20DE87E9-A5DB-4B14-A9C3-435362973889}" destId="{E61FD455-8C3D-457B-9A89-7E6AB24F754C}" srcOrd="0" destOrd="0" presId="urn:microsoft.com/office/officeart/2008/layout/AlternatingHexagons"/>
    <dgm:cxn modelId="{AA80E6EA-FFBE-4162-A35B-FC8CF90FFF37}" type="presParOf" srcId="{20DE87E9-A5DB-4B14-A9C3-435362973889}" destId="{EECC0470-5ABD-4015-8C95-069140EF9CD6}" srcOrd="1" destOrd="0" presId="urn:microsoft.com/office/officeart/2008/layout/AlternatingHexagons"/>
    <dgm:cxn modelId="{37F2D85A-0433-4E5E-95B7-2D4E3F5A8B03}" type="presParOf" srcId="{20DE87E9-A5DB-4B14-A9C3-435362973889}" destId="{D760B94E-4CB3-40E7-87AB-1B93316FB237}" srcOrd="2" destOrd="0" presId="urn:microsoft.com/office/officeart/2008/layout/AlternatingHexagons"/>
    <dgm:cxn modelId="{BB03FADF-93BA-4F7E-91AE-55115793CA81}" type="presParOf" srcId="{20DE87E9-A5DB-4B14-A9C3-435362973889}" destId="{04312EDE-F486-4D95-82C0-8EA3F3F4256A}" srcOrd="3" destOrd="0" presId="urn:microsoft.com/office/officeart/2008/layout/AlternatingHexagons"/>
    <dgm:cxn modelId="{AF78CB8F-25FB-4AA8-8AA7-321D8724357D}" type="presParOf" srcId="{20DE87E9-A5DB-4B14-A9C3-435362973889}" destId="{760E7B37-B5A0-4B1D-ADC6-983CCAEF5F37}" srcOrd="4" destOrd="0" presId="urn:microsoft.com/office/officeart/2008/layout/AlternatingHexagons"/>
    <dgm:cxn modelId="{1557348E-01A8-42CC-B4BA-01D553EF77F7}" type="presParOf" srcId="{CD348318-9FDB-4EC4-95B0-1A71855548F5}" destId="{8F1DE7BF-1543-4A79-A157-48C71D0B0F5E}" srcOrd="1" destOrd="0" presId="urn:microsoft.com/office/officeart/2008/layout/AlternatingHexagons"/>
    <dgm:cxn modelId="{B340E14E-7875-4CEA-B2F8-259FB56E648B}" type="presParOf" srcId="{CD348318-9FDB-4EC4-95B0-1A71855548F5}" destId="{2ACC1C53-2406-41E3-B306-F88792C2A2CE}" srcOrd="2" destOrd="0" presId="urn:microsoft.com/office/officeart/2008/layout/AlternatingHexagons"/>
    <dgm:cxn modelId="{B175E072-0CD3-46C2-93E5-0D7ED8E4838F}" type="presParOf" srcId="{2ACC1C53-2406-41E3-B306-F88792C2A2CE}" destId="{C239F140-92F2-466C-B59B-A221E264B115}" srcOrd="0" destOrd="0" presId="urn:microsoft.com/office/officeart/2008/layout/AlternatingHexagons"/>
    <dgm:cxn modelId="{0A871AF2-CD97-4F7B-A389-A32DA4029451}" type="presParOf" srcId="{2ACC1C53-2406-41E3-B306-F88792C2A2CE}" destId="{7B631260-7911-472D-B8CB-049B237CF326}" srcOrd="1" destOrd="0" presId="urn:microsoft.com/office/officeart/2008/layout/AlternatingHexagons"/>
    <dgm:cxn modelId="{DBBA80A9-B4A3-42CC-8DA1-B5CBCE616DEC}" type="presParOf" srcId="{2ACC1C53-2406-41E3-B306-F88792C2A2CE}" destId="{DA83BB9E-9219-4C56-B36B-074FAB9C9D6D}" srcOrd="2" destOrd="0" presId="urn:microsoft.com/office/officeart/2008/layout/AlternatingHexagons"/>
    <dgm:cxn modelId="{B58587EE-BA4F-4892-A806-044975576C03}" type="presParOf" srcId="{2ACC1C53-2406-41E3-B306-F88792C2A2CE}" destId="{2D45EEC8-FC9C-4015-977B-637C026C76D9}" srcOrd="3" destOrd="0" presId="urn:microsoft.com/office/officeart/2008/layout/AlternatingHexagons"/>
    <dgm:cxn modelId="{86637680-29C2-470F-B359-7BF3B2B436A4}" type="presParOf" srcId="{2ACC1C53-2406-41E3-B306-F88792C2A2CE}" destId="{BF670FE4-87D7-4658-804B-0114B70B4C1F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1FD455-8C3D-457B-9A89-7E6AB24F754C}">
      <dsp:nvSpPr>
        <dsp:cNvPr id="0" name=""/>
        <dsp:cNvSpPr/>
      </dsp:nvSpPr>
      <dsp:spPr>
        <a:xfrm rot="5400000">
          <a:off x="2578269" y="576749"/>
          <a:ext cx="1693333" cy="1473200"/>
        </a:xfrm>
        <a:prstGeom prst="hexagon">
          <a:avLst>
            <a:gd name="adj" fmla="val 25000"/>
            <a:gd name="vf" fmla="val 11547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Static Allocation</a:t>
          </a:r>
        </a:p>
      </dsp:txBody>
      <dsp:txXfrm rot="-5400000">
        <a:off x="2917909" y="730561"/>
        <a:ext cx="1014052" cy="1165577"/>
      </dsp:txXfrm>
    </dsp:sp>
    <dsp:sp modelId="{EECC0470-5ABD-4015-8C95-069140EF9CD6}">
      <dsp:nvSpPr>
        <dsp:cNvPr id="0" name=""/>
        <dsp:cNvSpPr/>
      </dsp:nvSpPr>
      <dsp:spPr>
        <a:xfrm>
          <a:off x="4206240" y="805349"/>
          <a:ext cx="1889760" cy="101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1300" b="1" kern="1200" baseline="0"/>
            <a:t>Static allocation is the allocation of memory space at compile time.</a:t>
          </a:r>
          <a:endParaRPr lang="en-US" sz="1300" kern="1200" dirty="0"/>
        </a:p>
      </dsp:txBody>
      <dsp:txXfrm>
        <a:off x="4206240" y="805349"/>
        <a:ext cx="1889760" cy="1016000"/>
      </dsp:txXfrm>
    </dsp:sp>
    <dsp:sp modelId="{760E7B37-B5A0-4B1D-ADC6-983CCAEF5F37}">
      <dsp:nvSpPr>
        <dsp:cNvPr id="0" name=""/>
        <dsp:cNvSpPr/>
      </dsp:nvSpPr>
      <dsp:spPr>
        <a:xfrm rot="5400000">
          <a:off x="987213" y="576749"/>
          <a:ext cx="1693333" cy="1473200"/>
        </a:xfrm>
        <a:prstGeom prst="hexagon">
          <a:avLst>
            <a:gd name="adj" fmla="val 25000"/>
            <a:gd name="vf" fmla="val 115470"/>
          </a:avLst>
        </a:prstGeom>
        <a:solidFill>
          <a:schemeClr val="accent5">
            <a:hueOff val="-2451115"/>
            <a:satOff val="-3409"/>
            <a:lumOff val="-130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1326853" y="730561"/>
        <a:ext cx="1014052" cy="1165577"/>
      </dsp:txXfrm>
    </dsp:sp>
    <dsp:sp modelId="{C239F140-92F2-466C-B59B-A221E264B115}">
      <dsp:nvSpPr>
        <dsp:cNvPr id="0" name=""/>
        <dsp:cNvSpPr/>
      </dsp:nvSpPr>
      <dsp:spPr>
        <a:xfrm rot="5400000">
          <a:off x="1779693" y="2014050"/>
          <a:ext cx="1693333" cy="1473200"/>
        </a:xfrm>
        <a:prstGeom prst="hexagon">
          <a:avLst>
            <a:gd name="adj" fmla="val 25000"/>
            <a:gd name="vf" fmla="val 115470"/>
          </a:avLst>
        </a:prstGeom>
        <a:solidFill>
          <a:schemeClr val="accent5">
            <a:hueOff val="-4902230"/>
            <a:satOff val="-6819"/>
            <a:lumOff val="-261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Dynamic Allocation</a:t>
          </a:r>
        </a:p>
      </dsp:txBody>
      <dsp:txXfrm rot="-5400000">
        <a:off x="2119333" y="2167862"/>
        <a:ext cx="1014052" cy="1165577"/>
      </dsp:txXfrm>
    </dsp:sp>
    <dsp:sp modelId="{7B631260-7911-472D-B8CB-049B237CF326}">
      <dsp:nvSpPr>
        <dsp:cNvPr id="0" name=""/>
        <dsp:cNvSpPr/>
      </dsp:nvSpPr>
      <dsp:spPr>
        <a:xfrm>
          <a:off x="0" y="2242650"/>
          <a:ext cx="1828800" cy="101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1300" b="1" kern="1200" baseline="0"/>
            <a:t>Dynamic allocation is the allocation of memory space at run time by using operator </a:t>
          </a:r>
          <a:r>
            <a:rPr lang="en-US" altLang="en-US" sz="1300" b="1" kern="1200" baseline="0">
              <a:latin typeface="Courier New" panose="02070309020205020404" pitchFamily="49" charset="0"/>
              <a:cs typeface="Courier New" panose="02070309020205020404" pitchFamily="49" charset="0"/>
            </a:rPr>
            <a:t>new</a:t>
          </a:r>
          <a:r>
            <a:rPr kumimoji="0" lang="en-US" altLang="en-US" sz="1300" b="1" kern="1200" baseline="0"/>
            <a:t>.</a:t>
          </a:r>
          <a:endParaRPr lang="en-US" sz="1300" kern="1200" dirty="0"/>
        </a:p>
      </dsp:txBody>
      <dsp:txXfrm>
        <a:off x="0" y="2242650"/>
        <a:ext cx="1828800" cy="1016000"/>
      </dsp:txXfrm>
    </dsp:sp>
    <dsp:sp modelId="{BF670FE4-87D7-4658-804B-0114B70B4C1F}">
      <dsp:nvSpPr>
        <dsp:cNvPr id="0" name=""/>
        <dsp:cNvSpPr/>
      </dsp:nvSpPr>
      <dsp:spPr>
        <a:xfrm rot="5400000">
          <a:off x="3370749" y="2014050"/>
          <a:ext cx="1693333" cy="1473200"/>
        </a:xfrm>
        <a:prstGeom prst="hexagon">
          <a:avLst>
            <a:gd name="adj" fmla="val 25000"/>
            <a:gd name="vf" fmla="val 115470"/>
          </a:avLst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3710389" y="2167862"/>
        <a:ext cx="1014052" cy="11655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42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42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45C1C40-39DB-4BFC-B4BA-B8FAADDB51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6208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A94D45-6B00-4B8A-83A5-7AE89772CDC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493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A251828-783B-4BAA-846E-770B838F291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4364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9CD7B9-C61D-4172-96B3-F9DE49942A5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0851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2A2C9-04A3-4179-9392-87D0F018E8C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284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u="sng" dirty="0"/>
              <a:t>No submission via email</a:t>
            </a:r>
            <a:r>
              <a:rPr lang="en-US" dirty="0"/>
              <a:t> will ever be acknowledged or accepted.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Each student will have a total of </a:t>
            </a:r>
            <a:r>
              <a:rPr lang="en-US" u="sng" dirty="0"/>
              <a:t>5 late days</a:t>
            </a:r>
            <a:r>
              <a:rPr lang="en-US" dirty="0"/>
              <a:t> which can be utilized for submitting any assignment or project without a penalty.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Students will keep </a:t>
            </a:r>
            <a:r>
              <a:rPr lang="en-US" u="sng" dirty="0"/>
              <a:t>track</a:t>
            </a:r>
            <a:r>
              <a:rPr lang="en-US" dirty="0"/>
              <a:t> of late days consumed by them.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At the end of the course, for any late day consumed beyond the 5 late days, a penalty of 2% will be applied to the student’s overall score in assignments.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2A2C9-04A3-4179-9392-87D0F018E8C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834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Primitive</a:t>
            </a:r>
            <a:r>
              <a:rPr lang="en-GB" dirty="0"/>
              <a:t>: Simple, built-in (int, char, etc.)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Non-Primitive</a:t>
            </a:r>
            <a:r>
              <a:rPr lang="en-GB" dirty="0"/>
              <a:t>: Complex, user-defined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Linear</a:t>
            </a:r>
            <a:r>
              <a:rPr lang="en-GB" dirty="0"/>
              <a:t> (Array, List, Stack, Queue)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Non-Linear</a:t>
            </a:r>
            <a:r>
              <a:rPr lang="en-GB" dirty="0"/>
              <a:t> (Tree, Graph)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Static</a:t>
            </a:r>
            <a:r>
              <a:rPr lang="en-GB" dirty="0"/>
              <a:t>: Fixed size (Array)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Dynamic</a:t>
            </a:r>
            <a:r>
              <a:rPr lang="en-GB" dirty="0"/>
              <a:t>: Flexible size (Linked List, etc.)</a:t>
            </a:r>
          </a:p>
          <a:p>
            <a:pPr eaLnBrk="1" hangingPunct="1"/>
            <a:endParaRPr lang="en-US" dirty="0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CD8FAB-64FD-4232-9884-15371CFDFA4E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564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 can call it </a:t>
            </a:r>
            <a:r>
              <a:rPr lang="en-GB" b="1" dirty="0"/>
              <a:t>Data Structuring</a:t>
            </a:r>
            <a:r>
              <a:rPr lang="en-GB" dirty="0"/>
              <a:t> – the process of deciding </a:t>
            </a:r>
            <a:r>
              <a:rPr lang="en-GB" i="1" dirty="0"/>
              <a:t>how</a:t>
            </a:r>
            <a:r>
              <a:rPr lang="en-GB" dirty="0"/>
              <a:t> to organize information.</a:t>
            </a:r>
            <a:br>
              <a:rPr lang="en-GB" dirty="0"/>
            </a:br>
            <a:r>
              <a:rPr lang="en-GB" dirty="0"/>
              <a:t>The main goal is: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To make </a:t>
            </a:r>
            <a:r>
              <a:rPr lang="en-GB" b="1" dirty="0"/>
              <a:t>searching faster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To make </a:t>
            </a:r>
            <a:r>
              <a:rPr lang="en-GB" b="1" dirty="0"/>
              <a:t>updating easier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To make </a:t>
            </a:r>
            <a:r>
              <a:rPr lang="en-GB" b="1" dirty="0"/>
              <a:t>adding and deleting efficient</a:t>
            </a:r>
            <a:r>
              <a:rPr lang="en-GB" dirty="0"/>
              <a:t>”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5C1C40-39DB-4BFC-B4BA-B8FAADDB518F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3201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Think of it like shelves in a library: if books are arranged properly, you can quickly find, update, add, or remove them. If they are scattered, it becomes slow and confusing.</a:t>
            </a:r>
            <a:br>
              <a:rPr lang="en-GB" dirty="0"/>
            </a:br>
            <a:r>
              <a:rPr lang="en-GB" dirty="0"/>
              <a:t>So, data structures give us the </a:t>
            </a:r>
            <a:r>
              <a:rPr lang="en-GB" b="1" dirty="0"/>
              <a:t>efficiency</a:t>
            </a:r>
            <a:r>
              <a:rPr lang="en-GB" dirty="0"/>
              <a:t> we need in computing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5C1C40-39DB-4BFC-B4BA-B8FAADDB518F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9304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example, if you want to find a book in a library: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You can search row by row – that’s a </a:t>
            </a:r>
            <a:r>
              <a:rPr lang="en-GB" b="1" dirty="0"/>
              <a:t>linear search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Or you can use the </a:t>
            </a:r>
            <a:r>
              <a:rPr lang="en-GB" dirty="0" err="1"/>
              <a:t>catalog</a:t>
            </a:r>
            <a:r>
              <a:rPr lang="en-GB" dirty="0"/>
              <a:t> system to directly locate it – that’s a </a:t>
            </a:r>
            <a:r>
              <a:rPr lang="en-GB" b="1" dirty="0"/>
              <a:t>binary search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Both solve the same problem, but one is much more efficient.”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5C1C40-39DB-4BFC-B4BA-B8FAADDB518F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2151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 </a:t>
            </a:r>
            <a:r>
              <a:rPr lang="en-GB" b="1" dirty="0"/>
              <a:t>Abstract Data Type (ADT)</a:t>
            </a:r>
            <a:r>
              <a:rPr lang="en-GB" dirty="0"/>
              <a:t> is a </a:t>
            </a:r>
            <a:r>
              <a:rPr lang="en-GB" b="1" dirty="0"/>
              <a:t>theoretical concept</a:t>
            </a:r>
            <a:r>
              <a:rPr lang="en-GB" dirty="0"/>
              <a:t> in computer science that defines </a:t>
            </a:r>
            <a:r>
              <a:rPr lang="en-GB" b="1" dirty="0"/>
              <a:t>what operations</a:t>
            </a:r>
            <a:r>
              <a:rPr lang="en-GB" dirty="0"/>
              <a:t> can be performed on a data structure, </a:t>
            </a:r>
            <a:r>
              <a:rPr lang="en-GB" b="1" dirty="0"/>
              <a:t>without specifying how</a:t>
            </a:r>
            <a:r>
              <a:rPr lang="en-GB" dirty="0"/>
              <a:t> those operations are implemented.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It focuses on the </a:t>
            </a:r>
            <a:r>
              <a:rPr lang="en-GB" b="1" dirty="0" err="1"/>
              <a:t>behavior</a:t>
            </a:r>
            <a:r>
              <a:rPr lang="en-GB" dirty="0"/>
              <a:t> of the data, not the actual implementation.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Think of it as a </a:t>
            </a:r>
            <a:r>
              <a:rPr lang="en-GB" b="1" dirty="0"/>
              <a:t>contract</a:t>
            </a:r>
            <a:r>
              <a:rPr lang="en-GB" dirty="0"/>
              <a:t>: you know what you can do with it, but not how it is done internally.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5C1C40-39DB-4BFC-B4BA-B8FAADDB518F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861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GB" b="1" dirty="0"/>
              <a:t>Stack (ADT)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Operations: push(), pop(), peek()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Implementation can be done using an </a:t>
            </a:r>
            <a:r>
              <a:rPr lang="en-GB" b="1" dirty="0"/>
              <a:t>array</a:t>
            </a:r>
            <a:r>
              <a:rPr lang="en-GB" dirty="0"/>
              <a:t> or a </a:t>
            </a:r>
            <a:r>
              <a:rPr lang="en-GB" b="1" dirty="0"/>
              <a:t>linked list</a:t>
            </a:r>
            <a:r>
              <a:rPr lang="en-GB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 err="1"/>
              <a:t>Behavior</a:t>
            </a:r>
            <a:r>
              <a:rPr lang="en-GB" dirty="0"/>
              <a:t>: </a:t>
            </a:r>
            <a:r>
              <a:rPr lang="en-GB" b="1" dirty="0"/>
              <a:t>LIFO (Last In, First Out)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Queue (ADT)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Operations: enqueue(), dequeue(), front(), rear()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Implementation can be via </a:t>
            </a:r>
            <a:r>
              <a:rPr lang="en-GB" b="1" dirty="0"/>
              <a:t>array</a:t>
            </a:r>
            <a:r>
              <a:rPr lang="en-GB" dirty="0"/>
              <a:t> or </a:t>
            </a:r>
            <a:r>
              <a:rPr lang="en-GB" b="1" dirty="0"/>
              <a:t>linked list</a:t>
            </a:r>
            <a:r>
              <a:rPr lang="en-GB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 err="1"/>
              <a:t>Behavior</a:t>
            </a:r>
            <a:r>
              <a:rPr lang="en-GB" dirty="0"/>
              <a:t>: </a:t>
            </a:r>
            <a:r>
              <a:rPr lang="en-GB" b="1" dirty="0"/>
              <a:t>FIFO (First In, First Out)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List (ADT)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Operations: insert(), delete(), get(</a:t>
            </a:r>
            <a:r>
              <a:rPr lang="en-GB" dirty="0" err="1"/>
              <a:t>i</a:t>
            </a:r>
            <a:r>
              <a:rPr lang="en-GB" dirty="0"/>
              <a:t>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Can be implemented as </a:t>
            </a:r>
            <a:r>
              <a:rPr lang="en-GB" b="1" dirty="0" err="1"/>
              <a:t>ArrayList</a:t>
            </a:r>
            <a:r>
              <a:rPr lang="en-GB" dirty="0"/>
              <a:t> or </a:t>
            </a:r>
            <a:r>
              <a:rPr lang="en-GB" b="1" dirty="0"/>
              <a:t>Linked List</a:t>
            </a:r>
            <a:r>
              <a:rPr lang="en-GB" dirty="0"/>
              <a:t>.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5C1C40-39DB-4BFC-B4BA-B8FAADDB518F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6095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Steps 1–4 mark each time binary search picks the middle, discards half, and zooms in closer until it finds </a:t>
            </a:r>
            <a:r>
              <a:rPr lang="en-GB" b="1" dirty="0"/>
              <a:t>“Goose”</a:t>
            </a:r>
            <a:r>
              <a:rPr lang="en-GB" dirty="0"/>
              <a:t>.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5C1C40-39DB-4BFC-B4BA-B8FAADDB518F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1601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K" dirty="0"/>
              <a:t>Double Linked List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Each node stores: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Pointer to the </a:t>
            </a:r>
            <a:r>
              <a:rPr lang="en-GB" b="1" dirty="0"/>
              <a:t>next</a:t>
            </a:r>
            <a:r>
              <a:rPr lang="en-GB" dirty="0"/>
              <a:t> node (green arrow in your diagram).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Pointer to the </a:t>
            </a:r>
            <a:r>
              <a:rPr lang="en-GB" b="1" dirty="0"/>
              <a:t>previous</a:t>
            </a:r>
            <a:r>
              <a:rPr lang="en-GB" dirty="0"/>
              <a:t> node (red arrow).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Allows traversal </a:t>
            </a:r>
            <a:r>
              <a:rPr lang="en-GB" b="1" dirty="0"/>
              <a:t>both forward and backward</a:t>
            </a:r>
            <a:r>
              <a:rPr lang="en-GB" dirty="0"/>
              <a:t>.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5C1C40-39DB-4BFC-B4BA-B8FAADDB518F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9555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CC9D8F7-003C-4F15-8147-20371E908651}" type="slidenum">
              <a:rPr kumimoji="0" lang="en-US" altLang="en-US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31</a:t>
            </a:fld>
            <a:endParaRPr kumimoji="0" lang="en-US" altLang="en-US" sz="1000">
              <a:latin typeface="Arial" panose="020B0604020202020204" pitchFamily="34" charset="0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kumimoji="0" lang="en-US" alt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3906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05C750F-E1BC-4B63-AB1F-5A442F484F83}" type="slidenum">
              <a:rPr kumimoji="0" lang="en-US" altLang="en-US" smtClean="0"/>
              <a:pPr>
                <a:spcBef>
                  <a:spcPct val="0"/>
                </a:spcBef>
              </a:pPr>
              <a:t>32</a:t>
            </a:fld>
            <a:endParaRPr kumimoji="0" lang="en-US" altLang="en-US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See pr10-01.cpp</a:t>
            </a:r>
          </a:p>
        </p:txBody>
      </p:sp>
    </p:spTree>
    <p:extLst>
      <p:ext uri="{BB962C8B-B14F-4D97-AF65-F5344CB8AC3E}">
        <p14:creationId xmlns:p14="http://schemas.microsoft.com/office/powerpoint/2010/main" val="5794433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A0AC97D-3E35-49B7-B6FE-D67FDFA00AD7}" type="slidenum">
              <a:rPr kumimoji="0" lang="en-US" altLang="en-US" smtClean="0"/>
              <a:pPr>
                <a:spcBef>
                  <a:spcPct val="0"/>
                </a:spcBef>
              </a:pPr>
              <a:t>33</a:t>
            </a:fld>
            <a:endParaRPr kumimoji="0" lang="en-US" altLang="en-US"/>
          </a:p>
        </p:txBody>
      </p:sp>
      <p:sp>
        <p:nvSpPr>
          <p:cNvPr id="17411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2051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4144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3805E03-839D-4FAC-A3B7-03C61415A79D}" type="slidenum">
              <a:rPr kumimoji="0" lang="en-US" altLang="en-US" smtClean="0"/>
              <a:pPr>
                <a:spcBef>
                  <a:spcPct val="0"/>
                </a:spcBef>
              </a:pPr>
              <a:t>34</a:t>
            </a:fld>
            <a:endParaRPr kumimoji="0"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5165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12CA80B-EDBF-4A49-9B03-3769475AABC0}" type="slidenum">
              <a:rPr kumimoji="0" lang="en-US" altLang="en-US" smtClean="0"/>
              <a:pPr>
                <a:spcBef>
                  <a:spcPct val="0"/>
                </a:spcBef>
              </a:pPr>
              <a:t>35</a:t>
            </a:fld>
            <a:endParaRPr kumimoji="0" lang="en-US" altLang="en-US"/>
          </a:p>
        </p:txBody>
      </p:sp>
      <p:sp>
        <p:nvSpPr>
          <p:cNvPr id="2150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See pr10-02.cpp, pr10-03.cpp and pr10-04.cpp</a:t>
            </a:r>
          </a:p>
        </p:txBody>
      </p:sp>
    </p:spTree>
    <p:extLst>
      <p:ext uri="{BB962C8B-B14F-4D97-AF65-F5344CB8AC3E}">
        <p14:creationId xmlns:p14="http://schemas.microsoft.com/office/powerpoint/2010/main" val="34130341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spcBef>
                <a:spcPct val="0"/>
              </a:spcBef>
            </a:pPr>
            <a:fld id="{2F74F367-0C72-4CEB-82BA-5C0638BD1200}" type="slidenum">
              <a:rPr kumimoji="0" lang="en-US" altLang="en-US" sz="1000" i="1" smtClean="0">
                <a:solidFill>
                  <a:srgbClr val="000000"/>
                </a:solidFill>
                <a:latin typeface="Arial" panose="020B0604020202020204" pitchFamily="34" charset="0"/>
              </a:rPr>
              <a:pPr eaLnBrk="0" hangingPunct="0">
                <a:spcBef>
                  <a:spcPct val="0"/>
                </a:spcBef>
              </a:pPr>
              <a:t>36</a:t>
            </a:fld>
            <a:endParaRPr kumimoji="0" lang="en-US" altLang="en-US" sz="10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kumimoji="0" lang="en-US" alt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3652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/>
            <a:fld id="{9691A1C6-300B-42D0-8D5A-901DAC1F81BE}" type="slidenum">
              <a:rPr lang="en-US" altLang="en-US" sz="1200" baseline="0" smtClean="0">
                <a:solidFill>
                  <a:srgbClr val="000000"/>
                </a:solidFill>
              </a:rPr>
              <a:pPr eaLnBrk="0" hangingPunct="0"/>
              <a:t>37</a:t>
            </a:fld>
            <a:endParaRPr lang="en-US" altLang="en-US" sz="1200" baseline="0">
              <a:solidFill>
                <a:srgbClr val="000000"/>
              </a:solidFill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4053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CA2C7B5-4232-45BF-8888-A2A75212C313}" type="slidenum">
              <a:rPr kumimoji="0" lang="en-US" altLang="en-US" smtClean="0"/>
              <a:pPr>
                <a:spcBef>
                  <a:spcPct val="0"/>
                </a:spcBef>
              </a:pPr>
              <a:t>38</a:t>
            </a:fld>
            <a:endParaRPr kumimoji="0" lang="en-US" altLang="en-U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181737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Important Note</a:t>
            </a:r>
          </a:p>
          <a:p>
            <a:r>
              <a:rPr lang="en-PK" dirty="0"/>
              <a:t>❌ </a:t>
            </a:r>
            <a:r>
              <a:rPr lang="en-GB" dirty="0"/>
              <a:t>If you try to do *p when p == NULL, the program may </a:t>
            </a:r>
            <a:r>
              <a:rPr lang="en-GB" b="1" dirty="0"/>
              <a:t>crash</a:t>
            </a:r>
            <a:r>
              <a:rPr lang="en-GB" dirty="0"/>
              <a:t> or behave unpredictably, because NULL doesn’t represent a real memory location.</a:t>
            </a:r>
          </a:p>
          <a:p>
            <a:r>
              <a:rPr lang="en-GB" dirty="0"/>
              <a:t>That’s why we always check:</a:t>
            </a:r>
          </a:p>
          <a:p>
            <a:r>
              <a:rPr lang="en-GB" dirty="0"/>
              <a:t>while (</a:t>
            </a:r>
            <a:r>
              <a:rPr lang="en-GB" dirty="0" err="1"/>
              <a:t>ptr</a:t>
            </a:r>
            <a:r>
              <a:rPr lang="en-GB" dirty="0"/>
              <a:t> != NULL) {</a:t>
            </a:r>
          </a:p>
          <a:p>
            <a:r>
              <a:rPr lang="en-GB" dirty="0"/>
              <a:t>    // safe to use *</a:t>
            </a:r>
            <a:r>
              <a:rPr lang="en-GB" dirty="0" err="1"/>
              <a:t>ptr</a:t>
            </a:r>
            <a:endParaRPr lang="en-GB" dirty="0"/>
          </a:p>
          <a:p>
            <a:r>
              <a:rPr lang="en-GB" dirty="0"/>
              <a:t>}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5C1C40-39DB-4BFC-B4BA-B8FAADDB518F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3581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Heap memory = a </a:t>
            </a:r>
            <a:r>
              <a:rPr lang="en-GB" b="1" dirty="0"/>
              <a:t>flexible storage area in RAM</a:t>
            </a:r>
            <a:r>
              <a:rPr lang="en-GB" dirty="0"/>
              <a:t>, used for </a:t>
            </a:r>
            <a:r>
              <a:rPr lang="en-GB" b="1" dirty="0"/>
              <a:t>dynamic memory allocation</a:t>
            </a:r>
            <a:r>
              <a:rPr lang="en-GB" dirty="0"/>
              <a:t>, where the programmer decides when to reserve and release memory.</a:t>
            </a:r>
          </a:p>
          <a:p>
            <a:endParaRPr lang="en-GB" dirty="0"/>
          </a:p>
          <a:p>
            <a:r>
              <a:rPr lang="en-GB" dirty="0"/>
              <a:t>Static variable (retains value across calls)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An </a:t>
            </a:r>
            <a:r>
              <a:rPr lang="en-GB" b="1" dirty="0"/>
              <a:t>automatic variable</a:t>
            </a:r>
            <a:r>
              <a:rPr lang="en-GB" dirty="0"/>
              <a:t> is a </a:t>
            </a:r>
            <a:r>
              <a:rPr lang="en-GB" b="1" dirty="0"/>
              <a:t>local variable</a:t>
            </a:r>
            <a:r>
              <a:rPr lang="en-GB" dirty="0"/>
              <a:t> that is </a:t>
            </a:r>
            <a:r>
              <a:rPr lang="en-GB" b="1" dirty="0"/>
              <a:t>created automatically when a function is called</a:t>
            </a:r>
            <a:r>
              <a:rPr lang="en-GB" dirty="0"/>
              <a:t> and </a:t>
            </a:r>
            <a:r>
              <a:rPr lang="en-GB" b="1" dirty="0"/>
              <a:t>destroyed automatically when the function exits</a:t>
            </a:r>
            <a:r>
              <a:rPr lang="en-GB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When we say </a:t>
            </a:r>
            <a:r>
              <a:rPr lang="en-GB" b="1" dirty="0"/>
              <a:t>unnamed variables</a:t>
            </a:r>
            <a:r>
              <a:rPr lang="en-GB" dirty="0"/>
              <a:t>, we usually mean </a:t>
            </a:r>
            <a:r>
              <a:rPr lang="en-GB" b="1" dirty="0"/>
              <a:t>variables that don’t have an explicit name in the code but still exist in memory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This mostly happens in the </a:t>
            </a:r>
            <a:r>
              <a:rPr lang="en-GB" b="1" dirty="0"/>
              <a:t>heap</a:t>
            </a:r>
            <a:r>
              <a:rPr lang="en-GB" dirty="0"/>
              <a:t> when you allocate memory dynamically.</a:t>
            </a:r>
          </a:p>
          <a:p>
            <a:endParaRPr lang="en-GB" dirty="0"/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5C1C40-39DB-4BFC-B4BA-B8FAADDB518F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1683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Heap memory = a </a:t>
            </a:r>
            <a:r>
              <a:rPr lang="en-GB" b="1" dirty="0"/>
              <a:t>flexible storage area in RAM</a:t>
            </a:r>
            <a:r>
              <a:rPr lang="en-GB" dirty="0"/>
              <a:t>, used for </a:t>
            </a:r>
            <a:r>
              <a:rPr lang="en-GB" b="1" dirty="0"/>
              <a:t>dynamic memory allocation</a:t>
            </a:r>
            <a:r>
              <a:rPr lang="en-GB" dirty="0"/>
              <a:t>, where the programmer decides when to reserve and release memory.</a:t>
            </a:r>
          </a:p>
          <a:p>
            <a:r>
              <a:rPr lang="en-GB" dirty="0"/>
              <a:t>Think of </a:t>
            </a:r>
            <a:r>
              <a:rPr lang="en-GB" b="1" dirty="0"/>
              <a:t>heap memory like a storage warehouse</a:t>
            </a:r>
            <a:r>
              <a:rPr lang="en-GB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You rent space when you need it (malloc/new).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You keep your items as long as you want.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But when you’re done, you must </a:t>
            </a:r>
            <a:r>
              <a:rPr lang="en-GB" b="1" dirty="0"/>
              <a:t>return the space</a:t>
            </a:r>
            <a:r>
              <a:rPr lang="en-GB" dirty="0"/>
              <a:t> (free/delete) — otherwise the warehouse fills up (memory leak).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5C1C40-39DB-4BFC-B4BA-B8FAADDB518F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9527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diagram shows the </a:t>
            </a:r>
            <a:r>
              <a:rPr lang="en-GB" b="1" dirty="0"/>
              <a:t>memory layout of a process in RAM</a:t>
            </a:r>
            <a:r>
              <a:rPr lang="en-GB" dirty="0"/>
              <a:t> when a program is running. </a:t>
            </a:r>
          </a:p>
          <a:p>
            <a:endParaRPr lang="en-GB" dirty="0"/>
          </a:p>
          <a:p>
            <a:r>
              <a:rPr lang="en-GB" dirty="0"/>
              <a:t>void fun(int a) {</a:t>
            </a:r>
          </a:p>
          <a:p>
            <a:r>
              <a:rPr lang="en-GB" dirty="0"/>
              <a:t>   int b = 5;  // stored in stack</a:t>
            </a:r>
          </a:p>
          <a:p>
            <a:r>
              <a:rPr lang="en-GB" dirty="0"/>
              <a:t>}</a:t>
            </a:r>
          </a:p>
          <a:p>
            <a:endParaRPr lang="en-GB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When fun is called, a and b are created on the stack. </a:t>
            </a:r>
            <a:r>
              <a:rPr lang="en-GB"/>
              <a:t>When it exits, they’re removed.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5C1C40-39DB-4BFC-B4BA-B8FAADDB518F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2317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336F116-98F8-4A8F-A0EB-AAA6AE9F6022}" type="slidenum">
              <a:rPr kumimoji="0" lang="en-US" altLang="en-US" smtClean="0"/>
              <a:pPr>
                <a:spcBef>
                  <a:spcPct val="0"/>
                </a:spcBef>
              </a:pPr>
              <a:t>49</a:t>
            </a:fld>
            <a:endParaRPr kumimoji="0" lang="en-US" alt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95718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B59D8B3-1CC0-429B-BD3C-812C22B14374}" type="slidenum">
              <a:rPr kumimoji="0" lang="en-US" altLang="en-US" smtClean="0"/>
              <a:pPr>
                <a:spcBef>
                  <a:spcPct val="0"/>
                </a:spcBef>
              </a:pPr>
              <a:t>50</a:t>
            </a:fld>
            <a:endParaRPr kumimoji="0" lang="en-US" alt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7827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spcBef>
                <a:spcPct val="0"/>
              </a:spcBef>
            </a:pPr>
            <a:fld id="{2C6CE380-832C-44C5-ACEB-BF7808518AD1}" type="slidenum">
              <a:rPr kumimoji="0" lang="en-US" altLang="en-US" sz="1000" i="1" smtClean="0">
                <a:solidFill>
                  <a:srgbClr val="000000"/>
                </a:solidFill>
                <a:latin typeface="Arial" panose="020B0604020202020204" pitchFamily="34" charset="0"/>
              </a:rPr>
              <a:pPr eaLnBrk="0" hangingPunct="0">
                <a:spcBef>
                  <a:spcPct val="0"/>
                </a:spcBef>
              </a:pPr>
              <a:t>52</a:t>
            </a:fld>
            <a:endParaRPr kumimoji="0" lang="en-US" altLang="en-US" sz="10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kumimoji="0" lang="en-US" alt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1008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spcBef>
                <a:spcPct val="0"/>
              </a:spcBef>
            </a:pPr>
            <a:fld id="{2C6CE380-832C-44C5-ACEB-BF7808518AD1}" type="slidenum">
              <a:rPr kumimoji="0" lang="en-US" altLang="en-US" sz="1000" i="1" smtClean="0">
                <a:solidFill>
                  <a:srgbClr val="000000"/>
                </a:solidFill>
                <a:latin typeface="Arial" panose="020B0604020202020204" pitchFamily="34" charset="0"/>
              </a:rPr>
              <a:pPr eaLnBrk="0" hangingPunct="0">
                <a:spcBef>
                  <a:spcPct val="0"/>
                </a:spcBef>
              </a:pPr>
              <a:t>53</a:t>
            </a:fld>
            <a:endParaRPr kumimoji="0" lang="en-US" altLang="en-US" sz="10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kumimoji="0" lang="en-US" alt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7450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spcBef>
                <a:spcPct val="0"/>
              </a:spcBef>
            </a:pPr>
            <a:fld id="{2C6CE380-832C-44C5-ACEB-BF7808518AD1}" type="slidenum">
              <a:rPr kumimoji="0" lang="en-US" altLang="en-US" sz="1000" i="1" smtClean="0">
                <a:solidFill>
                  <a:srgbClr val="000000"/>
                </a:solidFill>
                <a:latin typeface="Arial" panose="020B0604020202020204" pitchFamily="34" charset="0"/>
              </a:rPr>
              <a:pPr eaLnBrk="0" hangingPunct="0">
                <a:spcBef>
                  <a:spcPct val="0"/>
                </a:spcBef>
              </a:pPr>
              <a:t>54</a:t>
            </a:fld>
            <a:endParaRPr kumimoji="0" lang="en-US" altLang="en-US" sz="10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kumimoji="0" lang="en-US" alt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9228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spcBef>
                <a:spcPct val="0"/>
              </a:spcBef>
            </a:pPr>
            <a:fld id="{2C6CE380-832C-44C5-ACEB-BF7808518AD1}" type="slidenum">
              <a:rPr kumimoji="0" lang="en-US" altLang="en-US" sz="1000" i="1" smtClean="0">
                <a:solidFill>
                  <a:srgbClr val="000000"/>
                </a:solidFill>
                <a:latin typeface="Arial" panose="020B0604020202020204" pitchFamily="34" charset="0"/>
              </a:rPr>
              <a:pPr eaLnBrk="0" hangingPunct="0">
                <a:spcBef>
                  <a:spcPct val="0"/>
                </a:spcBef>
              </a:pPr>
              <a:t>55</a:t>
            </a:fld>
            <a:endParaRPr kumimoji="0" lang="en-US" altLang="en-US" sz="10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kumimoji="0" lang="en-US" alt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3013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spcBef>
                <a:spcPct val="0"/>
              </a:spcBef>
            </a:pPr>
            <a:fld id="{2C6CE380-832C-44C5-ACEB-BF7808518AD1}" type="slidenum">
              <a:rPr kumimoji="0" lang="en-US" altLang="en-US" sz="1000" i="1" smtClean="0">
                <a:solidFill>
                  <a:srgbClr val="000000"/>
                </a:solidFill>
                <a:latin typeface="Arial" panose="020B0604020202020204" pitchFamily="34" charset="0"/>
              </a:rPr>
              <a:pPr eaLnBrk="0" hangingPunct="0">
                <a:spcBef>
                  <a:spcPct val="0"/>
                </a:spcBef>
              </a:pPr>
              <a:t>56</a:t>
            </a:fld>
            <a:endParaRPr kumimoji="0" lang="en-US" altLang="en-US" sz="10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kumimoji="0" lang="en-US" alt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43303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/>
            <a:fld id="{078F443D-86C9-47F7-963A-E3F1D8C0E915}" type="slidenum">
              <a:rPr lang="en-US" altLang="en-US" sz="1200" baseline="0" smtClean="0">
                <a:solidFill>
                  <a:srgbClr val="000000"/>
                </a:solidFill>
              </a:rPr>
              <a:pPr eaLnBrk="0" hangingPunct="0"/>
              <a:t>57</a:t>
            </a:fld>
            <a:endParaRPr lang="en-US" altLang="en-US" sz="1200" baseline="0">
              <a:solidFill>
                <a:srgbClr val="000000"/>
              </a:solidFill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56434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spcBef>
                <a:spcPct val="0"/>
              </a:spcBef>
            </a:pPr>
            <a:fld id="{1CD92597-2CCA-4044-8612-25F01CE8B348}" type="slidenum">
              <a:rPr kumimoji="0" lang="en-US" altLang="en-US" sz="1000" i="1" smtClean="0">
                <a:solidFill>
                  <a:srgbClr val="000000"/>
                </a:solidFill>
                <a:latin typeface="Arial" panose="020B0604020202020204" pitchFamily="34" charset="0"/>
              </a:rPr>
              <a:pPr eaLnBrk="0" hangingPunct="0">
                <a:spcBef>
                  <a:spcPct val="0"/>
                </a:spcBef>
              </a:pPr>
              <a:t>60</a:t>
            </a:fld>
            <a:endParaRPr kumimoji="0" lang="en-US" altLang="en-US" sz="10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kumimoji="0" lang="en-US" alt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947238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spcBef>
                <a:spcPct val="0"/>
              </a:spcBef>
            </a:pPr>
            <a:fld id="{B1587859-4461-44AB-888D-D00573A7829C}" type="slidenum">
              <a:rPr kumimoji="0" lang="en-US" altLang="en-US" sz="1000" i="1" smtClean="0">
                <a:solidFill>
                  <a:srgbClr val="000000"/>
                </a:solidFill>
                <a:latin typeface="Arial" panose="020B0604020202020204" pitchFamily="34" charset="0"/>
              </a:rPr>
              <a:pPr eaLnBrk="0" hangingPunct="0">
                <a:spcBef>
                  <a:spcPct val="0"/>
                </a:spcBef>
              </a:pPr>
              <a:t>61</a:t>
            </a:fld>
            <a:endParaRPr kumimoji="0" lang="en-US" altLang="en-US" sz="10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kumimoji="0" lang="en-US" alt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91411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spcBef>
                <a:spcPct val="0"/>
              </a:spcBef>
            </a:pPr>
            <a:fld id="{F787AE15-B260-4F7F-AE8C-92BA5AD9788A}" type="slidenum">
              <a:rPr kumimoji="0" lang="en-US" altLang="en-US" sz="1000" i="1" smtClean="0">
                <a:solidFill>
                  <a:srgbClr val="000000"/>
                </a:solidFill>
                <a:latin typeface="Arial" panose="020B0604020202020204" pitchFamily="34" charset="0"/>
              </a:rPr>
              <a:pPr eaLnBrk="0" hangingPunct="0">
                <a:spcBef>
                  <a:spcPct val="0"/>
                </a:spcBef>
              </a:pPr>
              <a:t>62</a:t>
            </a:fld>
            <a:endParaRPr kumimoji="0" lang="en-US" altLang="en-US" sz="10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kumimoji="0" lang="en-US" alt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10783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D88E856-DCCB-4E94-B5C8-591A1A58D700}" type="slidenum">
              <a:rPr kumimoji="0" lang="en-US" altLang="en-US" smtClean="0"/>
              <a:pPr>
                <a:spcBef>
                  <a:spcPct val="0"/>
                </a:spcBef>
              </a:pPr>
              <a:t>63</a:t>
            </a:fld>
            <a:endParaRPr kumimoji="0" lang="en-US" alt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See pr10-16.cpp</a:t>
            </a:r>
          </a:p>
        </p:txBody>
      </p:sp>
    </p:spTree>
    <p:extLst>
      <p:ext uri="{BB962C8B-B14F-4D97-AF65-F5344CB8AC3E}">
        <p14:creationId xmlns:p14="http://schemas.microsoft.com/office/powerpoint/2010/main" val="2361623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295802-8A26-4CFA-BFDC-9C932154AAFF}" type="datetime1">
              <a:rPr lang="en-US" smtClean="0"/>
              <a:t>11/5/2025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9D4E-9830-4095-8CC8-183203491CB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228600"/>
            <a:ext cx="9144000" cy="12192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2" descr="THE NUST BRAND | NUST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715250" y="152400"/>
            <a:ext cx="1428750" cy="1428750"/>
          </a:xfrm>
          <a:prstGeom prst="rect">
            <a:avLst/>
          </a:prstGeom>
          <a:noFill/>
        </p:spPr>
      </p:pic>
      <p:sp>
        <p:nvSpPr>
          <p:cNvPr id="9" name="Rectangle 8"/>
          <p:cNvSpPr/>
          <p:nvPr userDrawn="1"/>
        </p:nvSpPr>
        <p:spPr>
          <a:xfrm>
            <a:off x="0" y="6400800"/>
            <a:ext cx="9144000" cy="45719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827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45C4EB-74FF-445A-9E23-21D35540A4C4}" type="datetime1">
              <a:rPr lang="en-US" smtClean="0"/>
              <a:t>11/5/2025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6400800"/>
            <a:ext cx="9144000" cy="45719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818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C189E4-E062-42CD-A846-EADE84E4B6C6}" type="datetime1">
              <a:rPr lang="en-US" smtClean="0"/>
              <a:t>11/5/2025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D9EF8D-1A3F-4770-88DF-5CE0BAFACB1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6044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3A5148-F574-424B-94C5-ADC49E56D758}" type="datetime1">
              <a:rPr lang="en-US" smtClean="0"/>
              <a:t>11/5/2025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574BD9-A853-4283-85D1-C9F1BF83FE2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7656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CAF7AB-04B4-4D56-85FF-AE0CF5C15F8E}" type="datetime1">
              <a:rPr lang="en-US" smtClean="0"/>
              <a:t>11/5/2025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F2B752-C656-46CC-8972-8BB8BB868CC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4695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CBC04D-5312-4AA8-8588-DD39C21640A6}" type="datetime1">
              <a:rPr lang="en-US" smtClean="0"/>
              <a:t>11/5/2025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BD5D2-A63C-4CF3-9B33-EDAB3DA9185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0019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F8679E3-2DF2-4CC7-9CD0-3D8FEA45B6C3}" type="datetime1">
              <a:rPr lang="en-US" smtClean="0"/>
              <a:t>11/5/2025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4240F-2E2F-4F70-AB00-EAE709958E8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4311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DC08DEB-906C-4EE7-859F-AE4EEEAA7335}" type="datetime1">
              <a:rPr lang="en-US" smtClean="0"/>
              <a:t>11/5/2025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6EA107-19E7-413B-9DC1-F1B3865A107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1503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CC50B1A-12B9-4797-AF98-CB3524BBD77F}" type="datetime1">
              <a:rPr lang="en-US" smtClean="0"/>
              <a:t>11/5/2025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A1BE0D-10C3-46E0-9416-79CBE844C17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9459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CCE9CB-C877-457A-8EEB-0B65AA64589A}" type="datetime1">
              <a:rPr lang="en-US" smtClean="0"/>
              <a:t>11/5/2025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2DF1FA-8075-4240-BFC5-19BEB0AFB84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6783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D5A9CE-63EA-4C03-9F95-F27CD0DFEE2A}" type="datetime1">
              <a:rPr lang="en-US" smtClean="0"/>
              <a:t>11/5/2025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6C57D7-E5D1-44B3-8387-E5D3AD2AEC0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4048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745B6D9-E824-47F8-B811-359F7452F06A}" type="datetime1">
              <a:rPr lang="en-US" smtClean="0"/>
              <a:t>11/5/2025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095B6C2-FB1D-4F5B-AD54-894E892FEA0F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78715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  <p:sldLayoutId id="2147483947" r:id="rId5"/>
    <p:sldLayoutId id="2147483948" r:id="rId6"/>
    <p:sldLayoutId id="2147483949" r:id="rId7"/>
    <p:sldLayoutId id="2147483950" r:id="rId8"/>
    <p:sldLayoutId id="2147483951" r:id="rId9"/>
    <p:sldLayoutId id="2147483952" r:id="rId10"/>
    <p:sldLayoutId id="214748395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ayesha.hakim@seecs.edu.pk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/>
              <a:t>CS250: Data Structures and Algorithms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R="0" eaLnBrk="1" hangingPunct="1">
              <a:lnSpc>
                <a:spcPct val="90000"/>
              </a:lnSpc>
            </a:pPr>
            <a:r>
              <a:rPr lang="en-US" sz="2400" i="1" dirty="0"/>
              <a:t>Fall 2025</a:t>
            </a:r>
          </a:p>
          <a:p>
            <a:pPr marR="0" eaLnBrk="1" hangingPunct="1">
              <a:lnSpc>
                <a:spcPct val="90000"/>
              </a:lnSpc>
            </a:pPr>
            <a:r>
              <a:rPr lang="en-US" sz="2400" i="1" dirty="0"/>
              <a:t>BSCS-3ABC</a:t>
            </a:r>
          </a:p>
          <a:p>
            <a:pPr marR="0" eaLnBrk="1" hangingPunct="1">
              <a:lnSpc>
                <a:spcPct val="90000"/>
              </a:lnSpc>
            </a:pPr>
            <a:r>
              <a:rPr lang="en-US" sz="2400" i="1" dirty="0"/>
              <a:t>Credit Hours: 3+1</a:t>
            </a:r>
          </a:p>
          <a:p>
            <a:pPr marR="0" algn="ctr" eaLnBrk="1" hangingPunct="1">
              <a:lnSpc>
                <a:spcPct val="90000"/>
              </a:lnSpc>
            </a:pPr>
            <a:endParaRPr lang="en-US" sz="240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Course Learning Outcome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6402135"/>
              </p:ext>
            </p:extLst>
          </p:nvPr>
        </p:nvGraphicFramePr>
        <p:xfrm>
          <a:off x="228598" y="1524001"/>
          <a:ext cx="8610601" cy="454227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25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1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3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0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33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No.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00">
                          <a:effectLst/>
                        </a:rPr>
                        <a:t>Course Learning Outcomes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00" dirty="0">
                          <a:effectLst/>
                        </a:rPr>
                        <a:t>BT Level</a:t>
                      </a:r>
                      <a:endParaRPr lang="en-US" sz="28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kern="100" dirty="0">
                          <a:effectLst/>
                        </a:rPr>
                        <a:t>Assessment Methods</a:t>
                      </a:r>
                      <a:endParaRPr lang="en-US" sz="28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0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CLO 1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u="sng" kern="100">
                          <a:effectLst/>
                        </a:rPr>
                        <a:t>Describe</a:t>
                      </a:r>
                      <a:r>
                        <a:rPr lang="en-GB" sz="1600" kern="100">
                          <a:effectLst/>
                        </a:rPr>
                        <a:t> the fundamentals of data structures and algorithms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C-2</a:t>
                      </a:r>
                      <a:endParaRPr lang="en-US" sz="2800" kern="1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(Understand)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Quiz, Assignment, MSE, ESE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38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CLO 2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u="sng" kern="100" dirty="0">
                          <a:effectLst/>
                        </a:rPr>
                        <a:t>Solve</a:t>
                      </a:r>
                      <a:r>
                        <a:rPr lang="en-GB" sz="1600" kern="100" dirty="0">
                          <a:effectLst/>
                        </a:rPr>
                        <a:t> a given real time problem by </a:t>
                      </a:r>
                      <a:r>
                        <a:rPr lang="en-GB" sz="1600" u="sng" kern="100" dirty="0">
                          <a:effectLst/>
                        </a:rPr>
                        <a:t>applying</a:t>
                      </a:r>
                      <a:r>
                        <a:rPr lang="en-GB" sz="1600" kern="100" dirty="0">
                          <a:effectLst/>
                        </a:rPr>
                        <a:t> appropriate data structure and algorithm.</a:t>
                      </a:r>
                      <a:endParaRPr lang="en-US" sz="28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C-3</a:t>
                      </a:r>
                      <a:endParaRPr lang="en-US" sz="2800" kern="1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(Apply)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Quiz, Assignment, Lab, MSE, ESE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14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CLO 3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u="sng" kern="100">
                          <a:effectLst/>
                        </a:rPr>
                        <a:t>Practice</a:t>
                      </a:r>
                      <a:r>
                        <a:rPr lang="en-GB" sz="1600" kern="100">
                          <a:effectLst/>
                        </a:rPr>
                        <a:t> programs using the latest IDEs ensuring testing, documentation and packaging of programs as per standards practices applicable to the software industry.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P-3</a:t>
                      </a:r>
                      <a:endParaRPr lang="en-US" sz="2800" kern="1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(Guided Response)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Lab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14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CLO 4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u="sng" kern="100">
                          <a:effectLst/>
                        </a:rPr>
                        <a:t>Demonstrate</a:t>
                      </a:r>
                      <a:r>
                        <a:rPr lang="en-GB" sz="1600" kern="100">
                          <a:effectLst/>
                        </a:rPr>
                        <a:t> commitment to professional ethics by following engineering norms applicable to the software industry.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A-3</a:t>
                      </a:r>
                      <a:endParaRPr lang="en-US" sz="2800" kern="1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(Valuing)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Project, Lab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14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CLO 5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u="sng" kern="100">
                          <a:effectLst/>
                        </a:rPr>
                        <a:t>Contribute</a:t>
                      </a:r>
                      <a:r>
                        <a:rPr lang="en-GB" sz="1600" kern="100">
                          <a:effectLst/>
                        </a:rPr>
                        <a:t> effectively both individually and as a team member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A-2</a:t>
                      </a:r>
                      <a:endParaRPr lang="en-US" sz="2800" kern="1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(Responding)</a:t>
                      </a:r>
                      <a:endParaRPr lang="en-US" sz="28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Project, Lab</a:t>
                      </a:r>
                      <a:endParaRPr lang="en-US" sz="28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1447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117475"/>
            <a:ext cx="8229600" cy="12954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Recommended Text/ Reference Books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accent2">
                  <a:lumMod val="50000"/>
                </a:schemeClr>
              </a:buClr>
            </a:pPr>
            <a:r>
              <a:rPr lang="en-GB" dirty="0"/>
              <a:t>Data Structures &amp; Algorithms Using C++, Fourth or latest Edition, Nell Dale</a:t>
            </a:r>
          </a:p>
          <a:p>
            <a:pPr lvl="0"/>
            <a:r>
              <a:rPr lang="en-MY" dirty="0"/>
              <a:t>Adam Drozdek. Data Structures and Algorithms in C++, sixth Edition (2016)</a:t>
            </a:r>
            <a:endParaRPr lang="en-US" dirty="0"/>
          </a:p>
          <a:p>
            <a:pPr lvl="0"/>
            <a:r>
              <a:rPr lang="en-MY" dirty="0"/>
              <a:t>T. H. </a:t>
            </a:r>
            <a:r>
              <a:rPr lang="en-MY" dirty="0" err="1"/>
              <a:t>Cormen</a:t>
            </a:r>
            <a:r>
              <a:rPr lang="en-MY" dirty="0"/>
              <a:t>, Charles E. </a:t>
            </a:r>
            <a:r>
              <a:rPr lang="en-MY" dirty="0" err="1"/>
              <a:t>Leiserson</a:t>
            </a:r>
            <a:r>
              <a:rPr lang="en-MY" dirty="0"/>
              <a:t>, R. L. </a:t>
            </a:r>
            <a:r>
              <a:rPr lang="en-MY" dirty="0" err="1"/>
              <a:t>Rivest</a:t>
            </a:r>
            <a:r>
              <a:rPr lang="en-MY" dirty="0"/>
              <a:t>, Clifford S. Introduction to Algorithms, Third Edition (2009)</a:t>
            </a:r>
            <a:endParaRPr lang="en-US" dirty="0"/>
          </a:p>
          <a:p>
            <a:pPr lvl="0"/>
            <a:r>
              <a:rPr lang="en-MY" dirty="0"/>
              <a:t>Mark A. Weiss, Data Structures and Algorithm Analysis in C++, Fourth Edition (2013)</a:t>
            </a:r>
            <a:endParaRPr lang="en-US" dirty="0"/>
          </a:p>
          <a:p>
            <a:r>
              <a:rPr lang="en-MY" dirty="0"/>
              <a:t>Data Structures &amp; Algorithms Using C++, Fourth or latest Edition, John </a:t>
            </a:r>
            <a:r>
              <a:rPr lang="en-MY" dirty="0" err="1"/>
              <a:t>Bullinaria</a:t>
            </a:r>
            <a:r>
              <a:rPr lang="en-MY" dirty="0"/>
              <a:t> (2019)</a:t>
            </a:r>
            <a:endParaRPr lang="en-US" i="1" dirty="0">
              <a:latin typeface="Calibri" pitchFamily="34" charset="0"/>
            </a:endParaRPr>
          </a:p>
        </p:txBody>
      </p:sp>
      <p:sp>
        <p:nvSpPr>
          <p:cNvPr id="512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4FE483-361A-4038-88F6-DEB1FC66E180}" type="slidenum">
              <a:rPr lang="en-US" altLang="en-US"/>
              <a:pPr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Resources &amp; Class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LMS:</a:t>
            </a:r>
          </a:p>
          <a:p>
            <a:pPr lvl="1"/>
            <a:r>
              <a:rPr lang="en-US" dirty="0"/>
              <a:t>Course Outline Lecture</a:t>
            </a:r>
          </a:p>
          <a:p>
            <a:pPr lvl="1"/>
            <a:r>
              <a:rPr lang="en-US" dirty="0"/>
              <a:t>Assignment</a:t>
            </a:r>
          </a:p>
          <a:p>
            <a:pPr lvl="1"/>
            <a:r>
              <a:rPr lang="en-US" dirty="0"/>
              <a:t>Labs/Lab Submission</a:t>
            </a:r>
          </a:p>
          <a:p>
            <a:r>
              <a:rPr lang="en-US" dirty="0"/>
              <a:t>CMS: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Attendance (75% is the minimum requirement to appear in ESE)</a:t>
            </a:r>
          </a:p>
          <a:p>
            <a:pPr lvl="1"/>
            <a:r>
              <a:rPr lang="en-US" dirty="0"/>
              <a:t>Grading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Tentative Grading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Lecture (3 Credit Hrs./Week-75%)</a:t>
            </a:r>
          </a:p>
          <a:p>
            <a:pPr lvl="1"/>
            <a:r>
              <a:rPr lang="en-US" dirty="0"/>
              <a:t>Quizzes: 10% </a:t>
            </a:r>
          </a:p>
          <a:p>
            <a:pPr lvl="1"/>
            <a:r>
              <a:rPr lang="en-US" dirty="0"/>
              <a:t>Assignments: 10%  </a:t>
            </a:r>
          </a:p>
          <a:p>
            <a:pPr lvl="1"/>
            <a:r>
              <a:rPr lang="en-US" dirty="0"/>
              <a:t>Final Report: 10%</a:t>
            </a:r>
          </a:p>
          <a:p>
            <a:pPr lvl="1"/>
            <a:r>
              <a:rPr lang="en-US" dirty="0"/>
              <a:t>MSE: 30% </a:t>
            </a:r>
          </a:p>
          <a:p>
            <a:pPr lvl="1"/>
            <a:r>
              <a:rPr lang="en-US" dirty="0"/>
              <a:t>ESE: 40% </a:t>
            </a:r>
          </a:p>
          <a:p>
            <a:r>
              <a:rPr lang="en-US" dirty="0"/>
              <a:t>Lab (3 Hrs./Week-25%)</a:t>
            </a:r>
          </a:p>
          <a:p>
            <a:pPr lvl="1"/>
            <a:r>
              <a:rPr lang="en-US" dirty="0"/>
              <a:t>In-Lab Work: 70% </a:t>
            </a:r>
          </a:p>
          <a:p>
            <a:pPr lvl="1"/>
            <a:r>
              <a:rPr lang="en-US" dirty="0"/>
              <a:t>Final Lab: 10%</a:t>
            </a:r>
          </a:p>
          <a:p>
            <a:pPr lvl="1"/>
            <a:r>
              <a:rPr lang="en-US" dirty="0"/>
              <a:t>Group Project: 20%</a:t>
            </a:r>
          </a:p>
          <a:p>
            <a:pPr lvl="1">
              <a:buNone/>
            </a:pP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Zero tolerance for plagiarism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Course Contents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690689"/>
            <a:ext cx="7886700" cy="4351338"/>
          </a:xfrm>
        </p:spPr>
        <p:txBody>
          <a:bodyPr>
            <a:normAutofit fontScale="70000" lnSpcReduction="20000"/>
          </a:bodyPr>
          <a:lstStyle/>
          <a:p>
            <a:pPr marL="241300" indent="-228600">
              <a:lnSpc>
                <a:spcPct val="100000"/>
              </a:lnSpc>
              <a:spcBef>
                <a:spcPts val="875"/>
              </a:spcBef>
              <a:buFont typeface="Wingdings"/>
              <a:buChar char=""/>
              <a:tabLst>
                <a:tab pos="241300" algn="l"/>
              </a:tabLst>
            </a:pPr>
            <a:r>
              <a:rPr lang="en-US" sz="2400" spc="-30" dirty="0">
                <a:latin typeface="Tahoma"/>
                <a:cs typeface="Tahoma"/>
              </a:rPr>
              <a:t>Introduction</a:t>
            </a:r>
            <a:r>
              <a:rPr lang="en-US" sz="2400" spc="-60" dirty="0">
                <a:latin typeface="Tahoma"/>
                <a:cs typeface="Tahoma"/>
              </a:rPr>
              <a:t> </a:t>
            </a:r>
            <a:r>
              <a:rPr lang="en-US" sz="2400" spc="-45" dirty="0">
                <a:latin typeface="Tahoma"/>
                <a:cs typeface="Tahoma"/>
              </a:rPr>
              <a:t>to</a:t>
            </a:r>
            <a:r>
              <a:rPr lang="en-US" sz="2400" spc="-5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data</a:t>
            </a:r>
            <a:r>
              <a:rPr lang="en-US" sz="2400" spc="-55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structures</a:t>
            </a:r>
            <a:r>
              <a:rPr lang="en-US" sz="2400" spc="-55" dirty="0">
                <a:latin typeface="Tahoma"/>
                <a:cs typeface="Tahoma"/>
              </a:rPr>
              <a:t> </a:t>
            </a:r>
            <a:r>
              <a:rPr lang="en-US" sz="2400" spc="-15" dirty="0">
                <a:latin typeface="Tahoma"/>
                <a:cs typeface="Tahoma"/>
              </a:rPr>
              <a:t>&amp;</a:t>
            </a:r>
            <a:r>
              <a:rPr lang="en-US" sz="2400" spc="-60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algorithms</a:t>
            </a:r>
            <a:endParaRPr lang="en-US" sz="2400" dirty="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Wingdings"/>
              <a:buChar char=""/>
              <a:tabLst>
                <a:tab pos="241300" algn="l"/>
              </a:tabLst>
            </a:pPr>
            <a:r>
              <a:rPr lang="en-US" sz="2400" spc="20" dirty="0">
                <a:solidFill>
                  <a:srgbClr val="2D75B6"/>
                </a:solidFill>
                <a:latin typeface="Tahoma"/>
                <a:cs typeface="Tahoma"/>
              </a:rPr>
              <a:t>Pointers,</a:t>
            </a:r>
            <a:r>
              <a:rPr lang="en-US" sz="2400" spc="-90" dirty="0">
                <a:solidFill>
                  <a:srgbClr val="2D75B6"/>
                </a:solidFill>
                <a:latin typeface="Tahoma"/>
                <a:cs typeface="Tahoma"/>
              </a:rPr>
              <a:t> </a:t>
            </a:r>
            <a:r>
              <a:rPr lang="en-US" sz="2400" dirty="0">
                <a:solidFill>
                  <a:srgbClr val="2D75B6"/>
                </a:solidFill>
                <a:latin typeface="Tahoma"/>
                <a:cs typeface="Tahoma"/>
              </a:rPr>
              <a:t>structures</a:t>
            </a:r>
            <a:r>
              <a:rPr lang="en-US" sz="2400" spc="-85" dirty="0">
                <a:solidFill>
                  <a:srgbClr val="2D75B6"/>
                </a:solidFill>
                <a:latin typeface="Tahoma"/>
                <a:cs typeface="Tahoma"/>
              </a:rPr>
              <a:t> </a:t>
            </a:r>
            <a:r>
              <a:rPr lang="en-US" sz="2400" spc="-15" dirty="0">
                <a:solidFill>
                  <a:srgbClr val="2D75B6"/>
                </a:solidFill>
                <a:latin typeface="Tahoma"/>
                <a:cs typeface="Tahoma"/>
              </a:rPr>
              <a:t>&amp;</a:t>
            </a:r>
            <a:r>
              <a:rPr lang="en-US" sz="2400" spc="-80" dirty="0">
                <a:solidFill>
                  <a:srgbClr val="2D75B6"/>
                </a:solidFill>
                <a:latin typeface="Tahoma"/>
                <a:cs typeface="Tahoma"/>
              </a:rPr>
              <a:t> </a:t>
            </a:r>
            <a:r>
              <a:rPr lang="en-US" sz="2400" spc="15" dirty="0">
                <a:solidFill>
                  <a:srgbClr val="2D75B6"/>
                </a:solidFill>
                <a:latin typeface="Tahoma"/>
                <a:cs typeface="Tahoma"/>
              </a:rPr>
              <a:t>arrays</a:t>
            </a:r>
            <a:endParaRPr lang="en-US" sz="2400" dirty="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790"/>
              </a:spcBef>
              <a:buFont typeface="Wingdings"/>
              <a:buChar char=""/>
              <a:tabLst>
                <a:tab pos="241300" algn="l"/>
              </a:tabLst>
            </a:pPr>
            <a:r>
              <a:rPr lang="en-US" sz="2400" spc="25" dirty="0">
                <a:solidFill>
                  <a:srgbClr val="2D75B6"/>
                </a:solidFill>
                <a:latin typeface="Tahoma"/>
                <a:cs typeface="Tahoma"/>
              </a:rPr>
              <a:t>Linked</a:t>
            </a:r>
            <a:r>
              <a:rPr lang="en-US" sz="2400" spc="-80" dirty="0">
                <a:solidFill>
                  <a:srgbClr val="2D75B6"/>
                </a:solidFill>
                <a:latin typeface="Tahoma"/>
                <a:cs typeface="Tahoma"/>
              </a:rPr>
              <a:t> </a:t>
            </a:r>
            <a:r>
              <a:rPr lang="en-US" sz="2400" spc="35" dirty="0">
                <a:solidFill>
                  <a:srgbClr val="2D75B6"/>
                </a:solidFill>
                <a:latin typeface="Tahoma"/>
                <a:cs typeface="Tahoma"/>
              </a:rPr>
              <a:t>Lists</a:t>
            </a:r>
            <a:r>
              <a:rPr lang="en-US" sz="2400" spc="-70" dirty="0">
                <a:solidFill>
                  <a:srgbClr val="2D75B6"/>
                </a:solidFill>
                <a:latin typeface="Tahoma"/>
                <a:cs typeface="Tahoma"/>
              </a:rPr>
              <a:t> </a:t>
            </a:r>
            <a:r>
              <a:rPr lang="en-US" sz="2400" dirty="0">
                <a:solidFill>
                  <a:srgbClr val="2D75B6"/>
                </a:solidFill>
                <a:latin typeface="Tahoma"/>
                <a:cs typeface="Tahoma"/>
              </a:rPr>
              <a:t>(single,</a:t>
            </a:r>
            <a:r>
              <a:rPr lang="en-US" sz="2400" spc="-80" dirty="0">
                <a:solidFill>
                  <a:srgbClr val="2D75B6"/>
                </a:solidFill>
                <a:latin typeface="Tahoma"/>
                <a:cs typeface="Tahoma"/>
              </a:rPr>
              <a:t> </a:t>
            </a:r>
            <a:r>
              <a:rPr lang="en-US" sz="2400" spc="10" dirty="0">
                <a:solidFill>
                  <a:srgbClr val="2D75B6"/>
                </a:solidFill>
                <a:latin typeface="Tahoma"/>
                <a:cs typeface="Tahoma"/>
              </a:rPr>
              <a:t>double</a:t>
            </a:r>
            <a:r>
              <a:rPr lang="en-US" sz="2400" spc="-85" dirty="0">
                <a:solidFill>
                  <a:srgbClr val="2D75B6"/>
                </a:solidFill>
                <a:latin typeface="Tahoma"/>
                <a:cs typeface="Tahoma"/>
              </a:rPr>
              <a:t> </a:t>
            </a:r>
            <a:r>
              <a:rPr lang="en-US" sz="2400" spc="-15" dirty="0">
                <a:solidFill>
                  <a:srgbClr val="2D75B6"/>
                </a:solidFill>
                <a:latin typeface="Tahoma"/>
                <a:cs typeface="Tahoma"/>
              </a:rPr>
              <a:t>&amp;</a:t>
            </a:r>
            <a:r>
              <a:rPr lang="en-US" sz="2400" spc="-70" dirty="0">
                <a:solidFill>
                  <a:srgbClr val="2D75B6"/>
                </a:solidFill>
                <a:latin typeface="Tahoma"/>
                <a:cs typeface="Tahoma"/>
              </a:rPr>
              <a:t> </a:t>
            </a:r>
            <a:r>
              <a:rPr lang="en-US" sz="2400" spc="-5" dirty="0">
                <a:solidFill>
                  <a:srgbClr val="2D75B6"/>
                </a:solidFill>
                <a:latin typeface="Tahoma"/>
                <a:cs typeface="Tahoma"/>
              </a:rPr>
              <a:t>circular)</a:t>
            </a:r>
            <a:endParaRPr lang="en-US" sz="2400" dirty="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785"/>
              </a:spcBef>
              <a:buFont typeface="Wingdings"/>
              <a:buChar char=""/>
              <a:tabLst>
                <a:tab pos="241300" algn="l"/>
              </a:tabLst>
            </a:pPr>
            <a:r>
              <a:rPr lang="en-US" sz="2400" spc="50" dirty="0">
                <a:solidFill>
                  <a:srgbClr val="2D75B6"/>
                </a:solidFill>
                <a:latin typeface="Tahoma"/>
                <a:cs typeface="Tahoma"/>
              </a:rPr>
              <a:t>Stacks</a:t>
            </a:r>
            <a:r>
              <a:rPr lang="en-US" sz="2400" spc="-75" dirty="0">
                <a:solidFill>
                  <a:srgbClr val="2D75B6"/>
                </a:solidFill>
                <a:latin typeface="Tahoma"/>
                <a:cs typeface="Tahoma"/>
              </a:rPr>
              <a:t> </a:t>
            </a:r>
            <a:r>
              <a:rPr lang="en-US" sz="2400" spc="-10" dirty="0">
                <a:solidFill>
                  <a:srgbClr val="2D75B6"/>
                </a:solidFill>
                <a:latin typeface="Tahoma"/>
                <a:cs typeface="Tahoma"/>
              </a:rPr>
              <a:t>(and</a:t>
            </a:r>
            <a:r>
              <a:rPr lang="en-US" sz="2400" spc="-75" dirty="0">
                <a:solidFill>
                  <a:srgbClr val="2D75B6"/>
                </a:solidFill>
                <a:latin typeface="Tahoma"/>
                <a:cs typeface="Tahoma"/>
              </a:rPr>
              <a:t> </a:t>
            </a:r>
            <a:r>
              <a:rPr lang="en-US" sz="2400" spc="-10" dirty="0">
                <a:solidFill>
                  <a:srgbClr val="2D75B6"/>
                </a:solidFill>
                <a:latin typeface="Tahoma"/>
                <a:cs typeface="Tahoma"/>
              </a:rPr>
              <a:t>its</a:t>
            </a:r>
            <a:r>
              <a:rPr lang="en-US" sz="2400" spc="-75" dirty="0">
                <a:solidFill>
                  <a:srgbClr val="2D75B6"/>
                </a:solidFill>
                <a:latin typeface="Tahoma"/>
                <a:cs typeface="Tahoma"/>
              </a:rPr>
              <a:t> </a:t>
            </a:r>
            <a:r>
              <a:rPr lang="en-US" sz="2400" spc="5" dirty="0">
                <a:solidFill>
                  <a:srgbClr val="2D75B6"/>
                </a:solidFill>
                <a:latin typeface="Tahoma"/>
                <a:cs typeface="Tahoma"/>
              </a:rPr>
              <a:t>applications)</a:t>
            </a:r>
            <a:endParaRPr lang="en-US" sz="2400" dirty="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Wingdings"/>
              <a:buChar char=""/>
              <a:tabLst>
                <a:tab pos="241300" algn="l"/>
              </a:tabLst>
            </a:pPr>
            <a:r>
              <a:rPr lang="en-US" sz="2400" spc="50" dirty="0">
                <a:solidFill>
                  <a:srgbClr val="2D75B6"/>
                </a:solidFill>
                <a:latin typeface="Tahoma"/>
                <a:cs typeface="Tahoma"/>
              </a:rPr>
              <a:t>Queues</a:t>
            </a:r>
            <a:endParaRPr lang="en-US" sz="2400" dirty="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785"/>
              </a:spcBef>
              <a:buFont typeface="Wingdings"/>
              <a:buChar char=""/>
              <a:tabLst>
                <a:tab pos="241300" algn="l"/>
              </a:tabLst>
            </a:pPr>
            <a:r>
              <a:rPr lang="en-US" sz="2400" spc="-5" dirty="0">
                <a:solidFill>
                  <a:srgbClr val="538235"/>
                </a:solidFill>
                <a:latin typeface="Tahoma"/>
                <a:cs typeface="Tahoma"/>
              </a:rPr>
              <a:t>Algorithm</a:t>
            </a:r>
            <a:r>
              <a:rPr lang="en-US" sz="2400" spc="-80" dirty="0">
                <a:solidFill>
                  <a:srgbClr val="538235"/>
                </a:solidFill>
                <a:latin typeface="Tahoma"/>
                <a:cs typeface="Tahoma"/>
              </a:rPr>
              <a:t> </a:t>
            </a:r>
            <a:r>
              <a:rPr lang="en-US" sz="2400" spc="-50" dirty="0">
                <a:solidFill>
                  <a:srgbClr val="538235"/>
                </a:solidFill>
                <a:latin typeface="Tahoma"/>
                <a:cs typeface="Tahoma"/>
              </a:rPr>
              <a:t>(with</a:t>
            </a:r>
            <a:r>
              <a:rPr lang="en-US" sz="2400" spc="-70" dirty="0">
                <a:solidFill>
                  <a:srgbClr val="538235"/>
                </a:solidFill>
                <a:latin typeface="Tahoma"/>
                <a:cs typeface="Tahoma"/>
              </a:rPr>
              <a:t> </a:t>
            </a:r>
            <a:r>
              <a:rPr lang="en-US" sz="2400" dirty="0">
                <a:solidFill>
                  <a:srgbClr val="538235"/>
                </a:solidFill>
                <a:latin typeface="Tahoma"/>
                <a:cs typeface="Tahoma"/>
              </a:rPr>
              <a:t>asymptotic</a:t>
            </a:r>
            <a:r>
              <a:rPr lang="en-US" sz="2400" spc="-80" dirty="0">
                <a:solidFill>
                  <a:srgbClr val="538235"/>
                </a:solidFill>
                <a:latin typeface="Tahoma"/>
                <a:cs typeface="Tahoma"/>
              </a:rPr>
              <a:t> </a:t>
            </a:r>
            <a:r>
              <a:rPr lang="en-US" sz="2400" spc="20" dirty="0">
                <a:solidFill>
                  <a:srgbClr val="538235"/>
                </a:solidFill>
                <a:latin typeface="Tahoma"/>
                <a:cs typeface="Tahoma"/>
              </a:rPr>
              <a:t>analysis)</a:t>
            </a:r>
            <a:endParaRPr lang="en-US" sz="2400" dirty="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785"/>
              </a:spcBef>
              <a:buFont typeface="Wingdings"/>
              <a:buChar char=""/>
              <a:tabLst>
                <a:tab pos="241300" algn="l"/>
              </a:tabLst>
            </a:pPr>
            <a:r>
              <a:rPr lang="en-US" sz="2400" spc="5" dirty="0">
                <a:solidFill>
                  <a:srgbClr val="538235"/>
                </a:solidFill>
                <a:latin typeface="Tahoma"/>
                <a:cs typeface="Tahoma"/>
              </a:rPr>
              <a:t>Sorting</a:t>
            </a:r>
            <a:r>
              <a:rPr lang="en-US" sz="2400" spc="-45" dirty="0">
                <a:solidFill>
                  <a:srgbClr val="538235"/>
                </a:solidFill>
                <a:latin typeface="Tahoma"/>
                <a:cs typeface="Tahoma"/>
              </a:rPr>
              <a:t> </a:t>
            </a:r>
            <a:r>
              <a:rPr lang="en-US" sz="2400" spc="-5" dirty="0">
                <a:solidFill>
                  <a:srgbClr val="538235"/>
                </a:solidFill>
                <a:latin typeface="Tahoma"/>
                <a:cs typeface="Tahoma"/>
              </a:rPr>
              <a:t>algorithms</a:t>
            </a:r>
            <a:r>
              <a:rPr lang="en-US" sz="2400" spc="-45" dirty="0">
                <a:solidFill>
                  <a:srgbClr val="538235"/>
                </a:solidFill>
                <a:latin typeface="Tahoma"/>
                <a:cs typeface="Tahoma"/>
              </a:rPr>
              <a:t> </a:t>
            </a:r>
            <a:r>
              <a:rPr lang="en-US" sz="2400" spc="-20" dirty="0">
                <a:solidFill>
                  <a:srgbClr val="538235"/>
                </a:solidFill>
                <a:latin typeface="Tahoma"/>
                <a:cs typeface="Tahoma"/>
              </a:rPr>
              <a:t>(insertion-,</a:t>
            </a:r>
            <a:r>
              <a:rPr lang="en-US" sz="2400" spc="-50" dirty="0">
                <a:solidFill>
                  <a:srgbClr val="538235"/>
                </a:solidFill>
                <a:latin typeface="Tahoma"/>
                <a:cs typeface="Tahoma"/>
              </a:rPr>
              <a:t> </a:t>
            </a:r>
            <a:r>
              <a:rPr lang="en-US" sz="2400" spc="-10" dirty="0">
                <a:solidFill>
                  <a:srgbClr val="538235"/>
                </a:solidFill>
                <a:latin typeface="Tahoma"/>
                <a:cs typeface="Tahoma"/>
              </a:rPr>
              <a:t>merge-,</a:t>
            </a:r>
            <a:r>
              <a:rPr lang="en-US" sz="2400" spc="-45" dirty="0">
                <a:solidFill>
                  <a:srgbClr val="538235"/>
                </a:solidFill>
                <a:latin typeface="Tahoma"/>
                <a:cs typeface="Tahoma"/>
              </a:rPr>
              <a:t> </a:t>
            </a:r>
            <a:r>
              <a:rPr lang="en-US" sz="2400" spc="-15" dirty="0">
                <a:solidFill>
                  <a:srgbClr val="538235"/>
                </a:solidFill>
                <a:latin typeface="Tahoma"/>
                <a:cs typeface="Tahoma"/>
              </a:rPr>
              <a:t>quick-sort)</a:t>
            </a:r>
            <a:endParaRPr lang="en-US" sz="2400" dirty="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Wingdings"/>
              <a:buChar char=""/>
              <a:tabLst>
                <a:tab pos="241300" algn="l"/>
              </a:tabLst>
            </a:pPr>
            <a:r>
              <a:rPr lang="en-US" sz="2400" spc="30" dirty="0">
                <a:solidFill>
                  <a:srgbClr val="538235"/>
                </a:solidFill>
                <a:latin typeface="Tahoma"/>
                <a:cs typeface="Tahoma"/>
              </a:rPr>
              <a:t>Recursion</a:t>
            </a:r>
            <a:endParaRPr lang="en-US" sz="2400" dirty="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790"/>
              </a:spcBef>
              <a:buFont typeface="Wingdings"/>
              <a:buChar char=""/>
              <a:tabLst>
                <a:tab pos="241300" algn="l"/>
              </a:tabLst>
            </a:pPr>
            <a:r>
              <a:rPr lang="en-US" sz="2400" spc="25" dirty="0">
                <a:solidFill>
                  <a:srgbClr val="538235"/>
                </a:solidFill>
                <a:latin typeface="Tahoma"/>
                <a:cs typeface="Tahoma"/>
              </a:rPr>
              <a:t>Trees</a:t>
            </a:r>
            <a:r>
              <a:rPr lang="en-US" sz="2400" spc="-70" dirty="0">
                <a:solidFill>
                  <a:srgbClr val="538235"/>
                </a:solidFill>
                <a:latin typeface="Tahoma"/>
                <a:cs typeface="Tahoma"/>
              </a:rPr>
              <a:t> </a:t>
            </a:r>
            <a:r>
              <a:rPr lang="en-US" sz="2400" spc="5" dirty="0">
                <a:solidFill>
                  <a:srgbClr val="538235"/>
                </a:solidFill>
                <a:latin typeface="Tahoma"/>
                <a:cs typeface="Tahoma"/>
              </a:rPr>
              <a:t>(Binary</a:t>
            </a:r>
            <a:r>
              <a:rPr lang="en-US" sz="2400" spc="-75" dirty="0">
                <a:solidFill>
                  <a:srgbClr val="538235"/>
                </a:solidFill>
                <a:latin typeface="Tahoma"/>
                <a:cs typeface="Tahoma"/>
              </a:rPr>
              <a:t> </a:t>
            </a:r>
            <a:r>
              <a:rPr lang="en-US" sz="2400" spc="-20" dirty="0">
                <a:solidFill>
                  <a:srgbClr val="538235"/>
                </a:solidFill>
                <a:latin typeface="Tahoma"/>
                <a:cs typeface="Tahoma"/>
              </a:rPr>
              <a:t>tree,</a:t>
            </a:r>
            <a:r>
              <a:rPr lang="en-US" sz="2400" spc="-75" dirty="0">
                <a:solidFill>
                  <a:srgbClr val="538235"/>
                </a:solidFill>
                <a:latin typeface="Tahoma"/>
                <a:cs typeface="Tahoma"/>
              </a:rPr>
              <a:t> </a:t>
            </a:r>
            <a:r>
              <a:rPr lang="en-US" sz="2400" spc="-5" dirty="0">
                <a:solidFill>
                  <a:srgbClr val="538235"/>
                </a:solidFill>
                <a:latin typeface="Tahoma"/>
                <a:cs typeface="Tahoma"/>
              </a:rPr>
              <a:t>B-tree,</a:t>
            </a:r>
            <a:r>
              <a:rPr lang="en-US" sz="2400" spc="-75" dirty="0">
                <a:solidFill>
                  <a:srgbClr val="538235"/>
                </a:solidFill>
                <a:latin typeface="Tahoma"/>
                <a:cs typeface="Tahoma"/>
              </a:rPr>
              <a:t> </a:t>
            </a:r>
            <a:r>
              <a:rPr lang="en-US" sz="2400" spc="-20" dirty="0">
                <a:solidFill>
                  <a:srgbClr val="538235"/>
                </a:solidFill>
                <a:latin typeface="Tahoma"/>
                <a:cs typeface="Tahoma"/>
              </a:rPr>
              <a:t>etc.)</a:t>
            </a:r>
            <a:endParaRPr lang="en-US" sz="2400" dirty="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785"/>
              </a:spcBef>
              <a:buFont typeface="Wingdings"/>
              <a:buChar char=""/>
              <a:tabLst>
                <a:tab pos="241300" algn="l"/>
              </a:tabLst>
            </a:pPr>
            <a:r>
              <a:rPr lang="en-US" sz="2400" spc="20" dirty="0">
                <a:solidFill>
                  <a:srgbClr val="FF0000"/>
                </a:solidFill>
                <a:latin typeface="Tahoma"/>
                <a:cs typeface="Tahoma"/>
              </a:rPr>
              <a:t>Heapsort</a:t>
            </a:r>
            <a:endParaRPr lang="en-US" sz="2400" dirty="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Wingdings"/>
              <a:buChar char=""/>
              <a:tabLst>
                <a:tab pos="241300" algn="l"/>
              </a:tabLst>
            </a:pPr>
            <a:r>
              <a:rPr lang="en-US" sz="2400" spc="55" dirty="0">
                <a:solidFill>
                  <a:srgbClr val="FF0000"/>
                </a:solidFill>
                <a:latin typeface="Tahoma"/>
                <a:cs typeface="Tahoma"/>
              </a:rPr>
              <a:t>Hash</a:t>
            </a:r>
            <a:r>
              <a:rPr lang="en-US" sz="2400" spc="-9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sz="2400" spc="10" dirty="0">
                <a:solidFill>
                  <a:srgbClr val="FF0000"/>
                </a:solidFill>
                <a:latin typeface="Tahoma"/>
                <a:cs typeface="Tahoma"/>
              </a:rPr>
              <a:t>tables</a:t>
            </a:r>
            <a:endParaRPr lang="en-US" sz="2400" dirty="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785"/>
              </a:spcBef>
              <a:buFont typeface="Wingdings"/>
              <a:buChar char=""/>
              <a:tabLst>
                <a:tab pos="241300" algn="l"/>
              </a:tabLst>
            </a:pPr>
            <a:r>
              <a:rPr lang="en-US" sz="2400" spc="50" dirty="0">
                <a:solidFill>
                  <a:srgbClr val="FF0000"/>
                </a:solidFill>
                <a:latin typeface="Tahoma"/>
                <a:cs typeface="Tahoma"/>
              </a:rPr>
              <a:t>Graphs</a:t>
            </a:r>
            <a:endParaRPr lang="en-US" sz="2400" dirty="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790"/>
              </a:spcBef>
              <a:buFont typeface="Wingdings"/>
              <a:buChar char=""/>
              <a:tabLst>
                <a:tab pos="241300" algn="l"/>
              </a:tabLst>
            </a:pPr>
            <a:r>
              <a:rPr lang="en-US" sz="2400" spc="50" dirty="0">
                <a:solidFill>
                  <a:srgbClr val="FF0000"/>
                </a:solidFill>
                <a:latin typeface="Tahoma"/>
                <a:cs typeface="Tahoma"/>
              </a:rPr>
              <a:t>Search</a:t>
            </a:r>
            <a:r>
              <a:rPr lang="en-US" sz="2400" spc="-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sz="2400" spc="-5" dirty="0">
                <a:solidFill>
                  <a:srgbClr val="FF0000"/>
                </a:solidFill>
                <a:latin typeface="Tahoma"/>
                <a:cs typeface="Tahoma"/>
              </a:rPr>
              <a:t>algorithms</a:t>
            </a:r>
            <a:r>
              <a:rPr lang="en-US" sz="2400" spc="-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sz="2400" spc="-10" dirty="0">
                <a:solidFill>
                  <a:srgbClr val="FF0000"/>
                </a:solidFill>
                <a:latin typeface="Tahoma"/>
                <a:cs typeface="Tahoma"/>
              </a:rPr>
              <a:t>(Depth</a:t>
            </a:r>
            <a:r>
              <a:rPr lang="en-US" sz="2400" spc="-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sz="2400" spc="15" dirty="0">
                <a:solidFill>
                  <a:srgbClr val="FF0000"/>
                </a:solidFill>
                <a:latin typeface="Tahoma"/>
                <a:cs typeface="Tahoma"/>
              </a:rPr>
              <a:t>First</a:t>
            </a:r>
            <a:r>
              <a:rPr lang="en-US" sz="2400" spc="-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sz="2400" spc="30" dirty="0">
                <a:solidFill>
                  <a:srgbClr val="FF0000"/>
                </a:solidFill>
                <a:latin typeface="Tahoma"/>
                <a:cs typeface="Tahoma"/>
              </a:rPr>
              <a:t>Search)</a:t>
            </a:r>
            <a:endParaRPr lang="en-US" sz="2400" dirty="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Wingdings"/>
              <a:buChar char=""/>
              <a:tabLst>
                <a:tab pos="241300" algn="l"/>
              </a:tabLst>
            </a:pPr>
            <a:r>
              <a:rPr lang="en-US" sz="2400" spc="10" dirty="0">
                <a:solidFill>
                  <a:srgbClr val="FF0000"/>
                </a:solidFill>
                <a:latin typeface="Tahoma"/>
                <a:cs typeface="Tahoma"/>
              </a:rPr>
              <a:t>Shortest</a:t>
            </a:r>
            <a:r>
              <a:rPr lang="en-US" sz="2400" spc="-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sz="2400" spc="-15" dirty="0">
                <a:solidFill>
                  <a:srgbClr val="FF0000"/>
                </a:solidFill>
                <a:latin typeface="Tahoma"/>
                <a:cs typeface="Tahoma"/>
              </a:rPr>
              <a:t>path</a:t>
            </a:r>
            <a:r>
              <a:rPr lang="en-US" sz="2400" spc="-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sz="2400" spc="-15" dirty="0">
                <a:solidFill>
                  <a:srgbClr val="FF0000"/>
                </a:solidFill>
                <a:latin typeface="Tahoma"/>
                <a:cs typeface="Tahoma"/>
              </a:rPr>
              <a:t>algorithm</a:t>
            </a:r>
            <a:endParaRPr lang="en-US" sz="2400" dirty="0">
              <a:latin typeface="Tahoma"/>
              <a:cs typeface="Tahoma"/>
            </a:endParaRPr>
          </a:p>
        </p:txBody>
      </p:sp>
      <p:sp>
        <p:nvSpPr>
          <p:cNvPr id="1126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FD01CE-4409-4D0D-8EF0-D274F605C4C9}" type="slidenum">
              <a:rPr lang="en-US" altLang="en-US"/>
              <a:pPr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Rules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u="sng" dirty="0"/>
              <a:t>No verbal consultations</a:t>
            </a:r>
            <a:r>
              <a:rPr lang="en-US" dirty="0"/>
              <a:t> during the class</a:t>
            </a:r>
          </a:p>
          <a:p>
            <a:r>
              <a:rPr lang="en-US" u="sng" dirty="0"/>
              <a:t>No personal comments</a:t>
            </a:r>
          </a:p>
          <a:p>
            <a:r>
              <a:rPr lang="en-US" b="1" dirty="0">
                <a:solidFill>
                  <a:schemeClr val="accent2"/>
                </a:solidFill>
              </a:rPr>
              <a:t>Do not disturb the class</a:t>
            </a:r>
          </a:p>
          <a:p>
            <a:pPr lvl="0"/>
            <a:r>
              <a:rPr lang="en-US" dirty="0"/>
              <a:t>If something is not clear, do tell!!</a:t>
            </a:r>
          </a:p>
          <a:p>
            <a:pPr lvl="0"/>
            <a:r>
              <a:rPr lang="en-US" dirty="0"/>
              <a:t>If you have question, do not hesitate.</a:t>
            </a:r>
          </a:p>
          <a:p>
            <a:pPr lvl="0"/>
            <a:r>
              <a:rPr lang="en-US" dirty="0"/>
              <a:t>Read the course outline(Uploaded on LMS)</a:t>
            </a:r>
          </a:p>
          <a:p>
            <a:pPr lvl="0"/>
            <a:r>
              <a:rPr lang="en-US" dirty="0"/>
              <a:t>Course Contents</a:t>
            </a:r>
          </a:p>
          <a:p>
            <a:pPr lvl="1"/>
            <a:r>
              <a:rPr lang="en-US" sz="3200" dirty="0"/>
              <a:t>Available on LMS</a:t>
            </a:r>
          </a:p>
          <a:p>
            <a:pPr lvl="1"/>
            <a:r>
              <a:rPr lang="en-US" sz="3200" dirty="0"/>
              <a:t>Will contain limited information only, so better to consult online and secondary resources as well.</a:t>
            </a:r>
          </a:p>
        </p:txBody>
      </p:sp>
    </p:spTree>
    <p:extLst>
      <p:ext uri="{BB962C8B-B14F-4D97-AF65-F5344CB8AC3E}">
        <p14:creationId xmlns:p14="http://schemas.microsoft.com/office/powerpoint/2010/main" val="1967470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Rules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Plagiarism and Academic Dishonesty are strictly prohibited</a:t>
            </a:r>
          </a:p>
          <a:p>
            <a:r>
              <a:rPr lang="en-US" u="sng" dirty="0"/>
              <a:t>No submission via email</a:t>
            </a:r>
          </a:p>
          <a:p>
            <a:pPr lvl="0"/>
            <a:r>
              <a:rPr lang="en-US" dirty="0"/>
              <a:t>Late Day Policy</a:t>
            </a:r>
          </a:p>
          <a:p>
            <a:pPr lvl="1"/>
            <a:r>
              <a:rPr lang="en-US" dirty="0"/>
              <a:t>Total late days: 5</a:t>
            </a:r>
          </a:p>
          <a:p>
            <a:pPr lvl="1"/>
            <a:r>
              <a:rPr lang="en-US" dirty="0"/>
              <a:t>Can be used for assignments, final report, and project only</a:t>
            </a:r>
          </a:p>
          <a:p>
            <a:pPr lvl="1"/>
            <a:r>
              <a:rPr lang="en-US" dirty="0"/>
              <a:t>No consolidation among group members</a:t>
            </a:r>
          </a:p>
          <a:p>
            <a:pPr lvl="1"/>
            <a:r>
              <a:rPr lang="en-US" dirty="0"/>
              <a:t>No swapping/sharing</a:t>
            </a:r>
          </a:p>
          <a:p>
            <a:pPr lvl="1"/>
            <a:r>
              <a:rPr lang="en-US" dirty="0"/>
              <a:t>Use self tracking during the course</a:t>
            </a:r>
          </a:p>
          <a:p>
            <a:pPr lvl="1"/>
            <a:r>
              <a:rPr lang="en-US" dirty="0"/>
              <a:t>Final count will be done at the end of the course (by me)</a:t>
            </a:r>
          </a:p>
          <a:p>
            <a:pPr lvl="1"/>
            <a:r>
              <a:rPr lang="en-US" dirty="0"/>
              <a:t>No penalty for consuming a late day</a:t>
            </a:r>
          </a:p>
          <a:p>
            <a:pPr lvl="1"/>
            <a:r>
              <a:rPr lang="en-US" dirty="0"/>
              <a:t>Each day consumed beyond the allocated late days -&gt; -2% from overall score in assignments, Final report, and project; until all reach 0.</a:t>
            </a:r>
          </a:p>
          <a:p>
            <a:pPr lvl="0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100955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ayesha.hakim@seecs.edu.pk</a:t>
            </a:r>
            <a:endParaRPr lang="en-US" dirty="0"/>
          </a:p>
          <a:p>
            <a:r>
              <a:rPr lang="en-US" dirty="0"/>
              <a:t>Consulting Hours:</a:t>
            </a:r>
          </a:p>
          <a:p>
            <a:pPr lvl="1"/>
            <a:r>
              <a:rPr lang="en-US" dirty="0"/>
              <a:t>Friday (10am-12pm) or by appointment</a:t>
            </a:r>
          </a:p>
        </p:txBody>
      </p:sp>
    </p:spTree>
    <p:extLst>
      <p:ext uri="{BB962C8B-B14F-4D97-AF65-F5344CB8AC3E}">
        <p14:creationId xmlns:p14="http://schemas.microsoft.com/office/powerpoint/2010/main" val="2636777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Introduction to Data Structures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3864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What</a:t>
            </a:r>
            <a:r>
              <a:rPr lang="en-US" dirty="0"/>
              <a:t> </a:t>
            </a:r>
            <a:r>
              <a:rPr lang="en-US" spc="-5" dirty="0"/>
              <a:t>is</a:t>
            </a:r>
            <a:r>
              <a:rPr lang="en-US" spc="-10" dirty="0"/>
              <a:t> </a:t>
            </a:r>
            <a:r>
              <a:rPr lang="en-US" spc="-5" dirty="0"/>
              <a:t>a</a:t>
            </a:r>
            <a:r>
              <a:rPr lang="en-US" spc="-10" dirty="0"/>
              <a:t> </a:t>
            </a:r>
            <a:r>
              <a:rPr lang="en-US" spc="-5" dirty="0"/>
              <a:t>Data</a:t>
            </a:r>
            <a:r>
              <a:rPr lang="en-US" spc="10" dirty="0"/>
              <a:t> </a:t>
            </a:r>
            <a:r>
              <a:rPr lang="en-US" spc="-5" dirty="0"/>
              <a:t>Structure?</a:t>
            </a:r>
            <a:endParaRPr lang="en-US" dirty="0"/>
          </a:p>
        </p:txBody>
      </p:sp>
      <p:sp>
        <p:nvSpPr>
          <p:cNvPr id="1331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41300" algn="l"/>
              </a:tabLst>
            </a:pPr>
            <a:r>
              <a:rPr lang="en-US" sz="2200" b="1" dirty="0">
                <a:latin typeface="Arial"/>
                <a:cs typeface="Arial"/>
              </a:rPr>
              <a:t>Data</a:t>
            </a:r>
            <a:r>
              <a:rPr lang="en-US" sz="2200" b="1" spc="-15" dirty="0">
                <a:latin typeface="Arial"/>
                <a:cs typeface="Arial"/>
              </a:rPr>
              <a:t> </a:t>
            </a:r>
            <a:r>
              <a:rPr lang="en-US" sz="2200" b="1" dirty="0">
                <a:latin typeface="Arial"/>
                <a:cs typeface="Arial"/>
              </a:rPr>
              <a:t>Structure</a:t>
            </a:r>
            <a:r>
              <a:rPr lang="en-US" sz="2200" b="1" spc="-15" dirty="0">
                <a:latin typeface="Arial"/>
                <a:cs typeface="Arial"/>
              </a:rPr>
              <a:t> </a:t>
            </a:r>
            <a:r>
              <a:rPr lang="en-US" sz="2200" b="1" dirty="0">
                <a:latin typeface="Arial"/>
                <a:cs typeface="Arial"/>
              </a:rPr>
              <a:t>=&gt;</a:t>
            </a:r>
            <a:r>
              <a:rPr lang="en-US" sz="2200" b="1" spc="-10" dirty="0">
                <a:latin typeface="Arial"/>
                <a:cs typeface="Arial"/>
              </a:rPr>
              <a:t> </a:t>
            </a:r>
            <a:r>
              <a:rPr lang="en-US" sz="2200" b="1" dirty="0">
                <a:latin typeface="Arial"/>
                <a:cs typeface="Arial"/>
              </a:rPr>
              <a:t>Data</a:t>
            </a:r>
            <a:r>
              <a:rPr lang="en-US" sz="2200" b="1" spc="-15" dirty="0">
                <a:latin typeface="Arial"/>
                <a:cs typeface="Arial"/>
              </a:rPr>
              <a:t> </a:t>
            </a:r>
            <a:r>
              <a:rPr lang="en-US" sz="2200" b="1" dirty="0" err="1">
                <a:latin typeface="Arial"/>
                <a:cs typeface="Arial"/>
              </a:rPr>
              <a:t>StructurING</a:t>
            </a:r>
            <a:endParaRPr lang="en-US" sz="2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Wingdings"/>
              <a:buChar char=""/>
            </a:pPr>
            <a:endParaRPr lang="en-US" sz="2750" dirty="0">
              <a:latin typeface="Arial"/>
              <a:cs typeface="Arial"/>
            </a:endParaRPr>
          </a:p>
          <a:p>
            <a:pPr marL="698500" marR="199390" lvl="1" indent="-228600">
              <a:lnSpc>
                <a:spcPts val="2160"/>
              </a:lnSpc>
              <a:buSzPct val="60000"/>
              <a:buChar char="►"/>
              <a:tabLst>
                <a:tab pos="698500" algn="l"/>
              </a:tabLst>
            </a:pPr>
            <a:r>
              <a:rPr lang="en-US" sz="2000" spc="25" dirty="0">
                <a:latin typeface="Tahoma"/>
                <a:cs typeface="Tahoma"/>
              </a:rPr>
              <a:t>How</a:t>
            </a:r>
            <a:r>
              <a:rPr lang="en-US" sz="2000" spc="-60" dirty="0">
                <a:latin typeface="Tahoma"/>
                <a:cs typeface="Tahoma"/>
              </a:rPr>
              <a:t> </a:t>
            </a:r>
            <a:r>
              <a:rPr lang="en-US" sz="2000" spc="15" dirty="0">
                <a:latin typeface="Tahoma"/>
                <a:cs typeface="Tahoma"/>
              </a:rPr>
              <a:t>do</a:t>
            </a:r>
            <a:r>
              <a:rPr lang="en-US" sz="2000" spc="-70" dirty="0">
                <a:latin typeface="Tahoma"/>
                <a:cs typeface="Tahoma"/>
              </a:rPr>
              <a:t> </a:t>
            </a:r>
            <a:r>
              <a:rPr lang="en-US" sz="2000" spc="5" dirty="0">
                <a:latin typeface="Tahoma"/>
                <a:cs typeface="Tahoma"/>
              </a:rPr>
              <a:t>we</a:t>
            </a:r>
            <a:r>
              <a:rPr lang="en-US" sz="2000" spc="-60" dirty="0">
                <a:latin typeface="Tahoma"/>
                <a:cs typeface="Tahoma"/>
              </a:rPr>
              <a:t> </a:t>
            </a:r>
            <a:r>
              <a:rPr lang="en-US" sz="2000" spc="20" dirty="0">
                <a:latin typeface="Tahoma"/>
                <a:cs typeface="Tahoma"/>
              </a:rPr>
              <a:t>organize</a:t>
            </a:r>
            <a:r>
              <a:rPr lang="en-US" sz="2000" spc="-65" dirty="0">
                <a:latin typeface="Tahoma"/>
                <a:cs typeface="Tahoma"/>
              </a:rPr>
              <a:t> </a:t>
            </a:r>
            <a:r>
              <a:rPr lang="en-US" sz="2000" spc="-20" dirty="0">
                <a:latin typeface="Tahoma"/>
                <a:cs typeface="Tahoma"/>
              </a:rPr>
              <a:t>information</a:t>
            </a:r>
            <a:r>
              <a:rPr lang="en-US" sz="2000" spc="-70" dirty="0">
                <a:latin typeface="Tahoma"/>
                <a:cs typeface="Tahoma"/>
              </a:rPr>
              <a:t> </a:t>
            </a:r>
            <a:r>
              <a:rPr lang="en-US" sz="2000" spc="65" dirty="0">
                <a:latin typeface="Tahoma"/>
                <a:cs typeface="Tahoma"/>
              </a:rPr>
              <a:t>so</a:t>
            </a:r>
            <a:r>
              <a:rPr lang="en-US" sz="2000" spc="-70" dirty="0">
                <a:latin typeface="Tahoma"/>
                <a:cs typeface="Tahoma"/>
              </a:rPr>
              <a:t> </a:t>
            </a:r>
            <a:r>
              <a:rPr lang="en-US" sz="2000" spc="-45" dirty="0">
                <a:latin typeface="Tahoma"/>
                <a:cs typeface="Tahoma"/>
              </a:rPr>
              <a:t>that</a:t>
            </a:r>
            <a:r>
              <a:rPr lang="en-US" sz="2000" spc="-80" dirty="0">
                <a:latin typeface="Tahoma"/>
                <a:cs typeface="Tahoma"/>
              </a:rPr>
              <a:t> </a:t>
            </a:r>
            <a:r>
              <a:rPr lang="en-US" sz="2000" spc="5" dirty="0">
                <a:latin typeface="Tahoma"/>
                <a:cs typeface="Tahoma"/>
              </a:rPr>
              <a:t>we</a:t>
            </a:r>
            <a:r>
              <a:rPr lang="en-US" sz="2000" spc="-70" dirty="0">
                <a:latin typeface="Tahoma"/>
                <a:cs typeface="Tahoma"/>
              </a:rPr>
              <a:t> </a:t>
            </a:r>
            <a:r>
              <a:rPr lang="en-US" sz="2000" spc="45" dirty="0">
                <a:latin typeface="Tahoma"/>
                <a:cs typeface="Tahoma"/>
              </a:rPr>
              <a:t>can</a:t>
            </a:r>
            <a:r>
              <a:rPr lang="en-US" sz="2000" spc="-70" dirty="0">
                <a:latin typeface="Tahoma"/>
                <a:cs typeface="Tahoma"/>
              </a:rPr>
              <a:t> </a:t>
            </a:r>
            <a:r>
              <a:rPr lang="en-US" sz="2000" spc="-30" dirty="0">
                <a:latin typeface="Tahoma"/>
                <a:cs typeface="Tahoma"/>
              </a:rPr>
              <a:t>find,</a:t>
            </a:r>
            <a:r>
              <a:rPr lang="en-US" sz="2000" spc="-80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update, </a:t>
            </a:r>
            <a:r>
              <a:rPr lang="en-US" sz="2000" spc="-610" dirty="0">
                <a:latin typeface="Tahoma"/>
                <a:cs typeface="Tahoma"/>
              </a:rPr>
              <a:t> </a:t>
            </a:r>
            <a:r>
              <a:rPr lang="en-US" sz="2000" spc="5" dirty="0">
                <a:latin typeface="Tahoma"/>
                <a:cs typeface="Tahoma"/>
              </a:rPr>
              <a:t>add,</a:t>
            </a:r>
            <a:r>
              <a:rPr lang="en-US" sz="2000" spc="-75" dirty="0">
                <a:latin typeface="Tahoma"/>
                <a:cs typeface="Tahoma"/>
              </a:rPr>
              <a:t> </a:t>
            </a:r>
            <a:r>
              <a:rPr lang="en-US" sz="2000" spc="20" dirty="0">
                <a:latin typeface="Tahoma"/>
                <a:cs typeface="Tahoma"/>
              </a:rPr>
              <a:t>and</a:t>
            </a:r>
            <a:r>
              <a:rPr lang="en-US" sz="2000" spc="-65" dirty="0">
                <a:latin typeface="Tahoma"/>
                <a:cs typeface="Tahoma"/>
              </a:rPr>
              <a:t> </a:t>
            </a:r>
            <a:r>
              <a:rPr lang="en-US" sz="2000" spc="5" dirty="0">
                <a:latin typeface="Tahoma"/>
                <a:cs typeface="Tahoma"/>
              </a:rPr>
              <a:t>delete</a:t>
            </a:r>
            <a:r>
              <a:rPr lang="en-US" sz="2000" spc="-70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portions</a:t>
            </a:r>
            <a:r>
              <a:rPr lang="en-US" sz="2000" spc="-65" dirty="0">
                <a:latin typeface="Tahoma"/>
                <a:cs typeface="Tahoma"/>
              </a:rPr>
              <a:t> </a:t>
            </a:r>
            <a:r>
              <a:rPr lang="en-US" sz="2000" spc="-30" dirty="0">
                <a:latin typeface="Tahoma"/>
                <a:cs typeface="Tahoma"/>
              </a:rPr>
              <a:t>of</a:t>
            </a:r>
            <a:r>
              <a:rPr lang="en-US" sz="2000" spc="-90" dirty="0">
                <a:latin typeface="Tahoma"/>
                <a:cs typeface="Tahoma"/>
              </a:rPr>
              <a:t> </a:t>
            </a:r>
            <a:r>
              <a:rPr lang="en-US" sz="2000" spc="-65" dirty="0">
                <a:latin typeface="Tahoma"/>
                <a:cs typeface="Tahoma"/>
              </a:rPr>
              <a:t>it</a:t>
            </a:r>
            <a:r>
              <a:rPr lang="en-US" sz="2000" spc="-7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efficiently?</a:t>
            </a:r>
          </a:p>
          <a:p>
            <a:pPr lvl="1">
              <a:lnSpc>
                <a:spcPct val="100000"/>
              </a:lnSpc>
              <a:spcBef>
                <a:spcPts val="20"/>
              </a:spcBef>
              <a:buFont typeface="Tahoma"/>
              <a:buChar char="►"/>
            </a:pPr>
            <a:endParaRPr lang="en-US" sz="2600" dirty="0">
              <a:latin typeface="Tahoma"/>
              <a:cs typeface="Tahoma"/>
            </a:endParaRPr>
          </a:p>
          <a:p>
            <a:pPr marL="698500" marR="5080" lvl="1" indent="-228600">
              <a:lnSpc>
                <a:spcPts val="2160"/>
              </a:lnSpc>
              <a:buSzPct val="60000"/>
              <a:buChar char="►"/>
              <a:tabLst>
                <a:tab pos="698500" algn="l"/>
              </a:tabLst>
            </a:pPr>
            <a:r>
              <a:rPr lang="en-US" sz="2000" spc="20" dirty="0">
                <a:latin typeface="Tahoma"/>
                <a:cs typeface="Tahoma"/>
              </a:rPr>
              <a:t>Data</a:t>
            </a:r>
            <a:r>
              <a:rPr lang="en-US" sz="2000" spc="-70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Structure</a:t>
            </a:r>
            <a:r>
              <a:rPr lang="en-US" sz="2000" spc="-80" dirty="0">
                <a:latin typeface="Tahoma"/>
                <a:cs typeface="Tahoma"/>
              </a:rPr>
              <a:t> </a:t>
            </a:r>
            <a:r>
              <a:rPr lang="en-US" sz="2000" spc="45" dirty="0">
                <a:latin typeface="Tahoma"/>
                <a:cs typeface="Tahoma"/>
              </a:rPr>
              <a:t>is</a:t>
            </a:r>
            <a:r>
              <a:rPr lang="en-US" sz="2000" spc="-70" dirty="0">
                <a:latin typeface="Tahoma"/>
                <a:cs typeface="Tahoma"/>
              </a:rPr>
              <a:t> </a:t>
            </a:r>
            <a:r>
              <a:rPr lang="en-US" sz="2000" spc="60" dirty="0">
                <a:latin typeface="Tahoma"/>
                <a:cs typeface="Tahoma"/>
              </a:rPr>
              <a:t>a</a:t>
            </a:r>
            <a:r>
              <a:rPr lang="en-US" sz="2000" spc="-70" dirty="0">
                <a:latin typeface="Tahoma"/>
                <a:cs typeface="Tahoma"/>
              </a:rPr>
              <a:t> </a:t>
            </a:r>
            <a:r>
              <a:rPr lang="en-US" sz="2000" spc="15" dirty="0">
                <a:latin typeface="Tahoma"/>
                <a:cs typeface="Tahoma"/>
              </a:rPr>
              <a:t>systematic</a:t>
            </a:r>
            <a:r>
              <a:rPr lang="en-US" sz="2000" spc="-80" dirty="0">
                <a:latin typeface="Tahoma"/>
                <a:cs typeface="Tahoma"/>
              </a:rPr>
              <a:t> </a:t>
            </a:r>
            <a:r>
              <a:rPr lang="en-US" sz="2000" spc="5" dirty="0">
                <a:latin typeface="Tahoma"/>
                <a:cs typeface="Tahoma"/>
              </a:rPr>
              <a:t>way</a:t>
            </a:r>
            <a:r>
              <a:rPr lang="en-US" sz="2000" spc="-65" dirty="0">
                <a:latin typeface="Tahoma"/>
                <a:cs typeface="Tahoma"/>
              </a:rPr>
              <a:t> </a:t>
            </a:r>
            <a:r>
              <a:rPr lang="en-US" sz="2000" spc="-45" dirty="0">
                <a:latin typeface="Tahoma"/>
                <a:cs typeface="Tahoma"/>
              </a:rPr>
              <a:t>to</a:t>
            </a:r>
            <a:r>
              <a:rPr lang="en-US" sz="2000" spc="-70" dirty="0">
                <a:latin typeface="Tahoma"/>
                <a:cs typeface="Tahoma"/>
              </a:rPr>
              <a:t> </a:t>
            </a:r>
            <a:r>
              <a:rPr lang="en-US" sz="2000" spc="20" dirty="0">
                <a:latin typeface="Tahoma"/>
                <a:cs typeface="Tahoma"/>
              </a:rPr>
              <a:t>organize</a:t>
            </a:r>
            <a:r>
              <a:rPr lang="en-US" sz="2000" spc="-60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data</a:t>
            </a:r>
            <a:r>
              <a:rPr lang="en-US" sz="2000" spc="-70" dirty="0">
                <a:latin typeface="Tahoma"/>
                <a:cs typeface="Tahoma"/>
              </a:rPr>
              <a:t> </a:t>
            </a:r>
            <a:r>
              <a:rPr lang="en-US" sz="2000" spc="-10" dirty="0">
                <a:latin typeface="Tahoma"/>
                <a:cs typeface="Tahoma"/>
              </a:rPr>
              <a:t>in</a:t>
            </a:r>
            <a:r>
              <a:rPr lang="en-US" sz="2000" spc="-70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order</a:t>
            </a:r>
            <a:r>
              <a:rPr lang="en-US" sz="2000" spc="-70" dirty="0">
                <a:latin typeface="Tahoma"/>
                <a:cs typeface="Tahoma"/>
              </a:rPr>
              <a:t> </a:t>
            </a:r>
            <a:r>
              <a:rPr lang="en-US" sz="2000" spc="-45" dirty="0">
                <a:latin typeface="Tahoma"/>
                <a:cs typeface="Tahoma"/>
              </a:rPr>
              <a:t>to </a:t>
            </a:r>
            <a:r>
              <a:rPr lang="en-US" sz="2000" spc="-610" dirty="0">
                <a:latin typeface="Tahoma"/>
                <a:cs typeface="Tahoma"/>
              </a:rPr>
              <a:t> </a:t>
            </a:r>
            <a:r>
              <a:rPr lang="en-US" sz="2000" spc="50" dirty="0">
                <a:latin typeface="Tahoma"/>
                <a:cs typeface="Tahoma"/>
              </a:rPr>
              <a:t>use</a:t>
            </a:r>
            <a:r>
              <a:rPr lang="en-US" sz="2000" spc="-75" dirty="0">
                <a:latin typeface="Tahoma"/>
                <a:cs typeface="Tahoma"/>
              </a:rPr>
              <a:t> </a:t>
            </a:r>
            <a:r>
              <a:rPr lang="en-US" sz="2000" spc="-65" dirty="0">
                <a:latin typeface="Tahoma"/>
                <a:cs typeface="Tahoma"/>
              </a:rPr>
              <a:t>it</a:t>
            </a:r>
            <a:r>
              <a:rPr lang="en-US" sz="2000" spc="-75" dirty="0">
                <a:latin typeface="Tahoma"/>
                <a:cs typeface="Tahoma"/>
              </a:rPr>
              <a:t> </a:t>
            </a:r>
            <a:r>
              <a:rPr lang="en-US" sz="2000" spc="-15" dirty="0">
                <a:latin typeface="Tahoma"/>
                <a:cs typeface="Tahoma"/>
              </a:rPr>
              <a:t>efficiently</a:t>
            </a:r>
            <a:endParaRPr lang="en-US" sz="2000" dirty="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Tahoma"/>
              <a:buChar char="►"/>
            </a:pPr>
            <a:endParaRPr lang="en-US" sz="2350" dirty="0">
              <a:latin typeface="Tahoma"/>
              <a:cs typeface="Tahoma"/>
            </a:endParaRPr>
          </a:p>
          <a:p>
            <a:pPr marL="698500" lvl="1" indent="-228600">
              <a:lnSpc>
                <a:spcPct val="100000"/>
              </a:lnSpc>
              <a:buSzPct val="60000"/>
              <a:buChar char="►"/>
              <a:tabLst>
                <a:tab pos="698500" algn="l"/>
              </a:tabLst>
            </a:pPr>
            <a:r>
              <a:rPr lang="en-US" sz="2000" spc="20" dirty="0">
                <a:latin typeface="Tahoma"/>
                <a:cs typeface="Tahoma"/>
              </a:rPr>
              <a:t>Data</a:t>
            </a:r>
            <a:r>
              <a:rPr lang="en-US" sz="2000" spc="-80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Structure</a:t>
            </a:r>
            <a:r>
              <a:rPr lang="en-US" sz="2000" spc="-90" dirty="0">
                <a:latin typeface="Tahoma"/>
                <a:cs typeface="Tahoma"/>
              </a:rPr>
              <a:t> </a:t>
            </a:r>
            <a:r>
              <a:rPr lang="en-US" sz="2000" spc="5" dirty="0">
                <a:latin typeface="Tahoma"/>
                <a:cs typeface="Tahoma"/>
              </a:rPr>
              <a:t>Categorization:</a:t>
            </a:r>
            <a:endParaRPr lang="en-US" sz="2000" dirty="0">
              <a:latin typeface="Tahoma"/>
              <a:cs typeface="Tahoma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Calibri"/>
              <a:buChar char="-"/>
              <a:tabLst>
                <a:tab pos="1155700" algn="l"/>
                <a:tab pos="1156335" algn="l"/>
              </a:tabLst>
            </a:pPr>
            <a:r>
              <a:rPr lang="en-US" sz="1800" spc="-90" dirty="0">
                <a:latin typeface="Tahoma"/>
                <a:cs typeface="Tahoma"/>
              </a:rPr>
              <a:t>In</a:t>
            </a:r>
            <a:r>
              <a:rPr lang="en-US" sz="1800" spc="-65" dirty="0">
                <a:latin typeface="Tahoma"/>
                <a:cs typeface="Tahoma"/>
              </a:rPr>
              <a:t> </a:t>
            </a:r>
            <a:r>
              <a:rPr lang="en-US" sz="1800" spc="-114" dirty="0">
                <a:latin typeface="Tahoma"/>
                <a:cs typeface="Tahoma"/>
              </a:rPr>
              <a:t>t</a:t>
            </a:r>
            <a:r>
              <a:rPr lang="en-US" sz="1800" spc="20" dirty="0">
                <a:latin typeface="Tahoma"/>
                <a:cs typeface="Tahoma"/>
              </a:rPr>
              <a:t>erms</a:t>
            </a:r>
            <a:r>
              <a:rPr lang="en-US" sz="1800" spc="-60" dirty="0">
                <a:latin typeface="Tahoma"/>
                <a:cs typeface="Tahoma"/>
              </a:rPr>
              <a:t> </a:t>
            </a:r>
            <a:r>
              <a:rPr lang="en-US" sz="1800" spc="-25" dirty="0">
                <a:latin typeface="Tahoma"/>
                <a:cs typeface="Tahoma"/>
              </a:rPr>
              <a:t>of</a:t>
            </a:r>
            <a:r>
              <a:rPr lang="en-US" sz="1800" spc="-100" dirty="0">
                <a:latin typeface="Tahoma"/>
                <a:cs typeface="Tahoma"/>
              </a:rPr>
              <a:t> </a:t>
            </a:r>
            <a:r>
              <a:rPr lang="en-US" sz="1800" spc="-60" dirty="0">
                <a:latin typeface="Tahoma"/>
                <a:cs typeface="Tahoma"/>
              </a:rPr>
              <a:t>T</a:t>
            </a:r>
            <a:r>
              <a:rPr lang="en-US" sz="1800" dirty="0">
                <a:latin typeface="Tahoma"/>
                <a:cs typeface="Tahoma"/>
              </a:rPr>
              <a:t>ypes:</a:t>
            </a:r>
            <a:r>
              <a:rPr lang="en-US" sz="1800" spc="-65" dirty="0">
                <a:latin typeface="Tahoma"/>
                <a:cs typeface="Tahoma"/>
              </a:rPr>
              <a:t> </a:t>
            </a:r>
            <a:r>
              <a:rPr lang="en-US" sz="1800" spc="5" dirty="0">
                <a:latin typeface="Tahoma"/>
                <a:cs typeface="Tahoma"/>
              </a:rPr>
              <a:t>Primitive</a:t>
            </a:r>
            <a:r>
              <a:rPr lang="en-US" sz="1800" spc="-65" dirty="0">
                <a:latin typeface="Tahoma"/>
                <a:cs typeface="Tahoma"/>
              </a:rPr>
              <a:t> </a:t>
            </a:r>
            <a:r>
              <a:rPr lang="en-US" sz="1800" spc="50" dirty="0">
                <a:latin typeface="Tahoma"/>
                <a:cs typeface="Tahoma"/>
              </a:rPr>
              <a:t>vs</a:t>
            </a:r>
            <a:r>
              <a:rPr lang="en-US" sz="1800" spc="-65" dirty="0">
                <a:latin typeface="Tahoma"/>
                <a:cs typeface="Tahoma"/>
              </a:rPr>
              <a:t> Non-primitive/</a:t>
            </a:r>
            <a:r>
              <a:rPr lang="en-US" sz="1800" spc="60" dirty="0">
                <a:latin typeface="Tahoma"/>
                <a:cs typeface="Tahoma"/>
              </a:rPr>
              <a:t>Use</a:t>
            </a:r>
            <a:r>
              <a:rPr lang="en-US" sz="1800" spc="40" dirty="0">
                <a:latin typeface="Tahoma"/>
                <a:cs typeface="Tahoma"/>
              </a:rPr>
              <a:t>r</a:t>
            </a:r>
            <a:r>
              <a:rPr lang="en-US" sz="1800" spc="-55" dirty="0">
                <a:latin typeface="Tahoma"/>
                <a:cs typeface="Tahoma"/>
              </a:rPr>
              <a:t>-</a:t>
            </a:r>
            <a:r>
              <a:rPr lang="en-US" sz="1800" spc="15" dirty="0">
                <a:latin typeface="Tahoma"/>
                <a:cs typeface="Tahoma"/>
              </a:rPr>
              <a:t>Define</a:t>
            </a:r>
            <a:r>
              <a:rPr lang="en-US" sz="1800" spc="5" dirty="0">
                <a:latin typeface="Tahoma"/>
                <a:cs typeface="Tahoma"/>
              </a:rPr>
              <a:t>d (Linear vs Non Linear)</a:t>
            </a:r>
            <a:endParaRPr lang="en-US" sz="1800" dirty="0">
              <a:latin typeface="Tahoma"/>
              <a:cs typeface="Tahoma"/>
            </a:endParaRPr>
          </a:p>
          <a:p>
            <a:pPr marL="1155700" lvl="2" indent="-229235">
              <a:lnSpc>
                <a:spcPct val="100000"/>
              </a:lnSpc>
              <a:spcBef>
                <a:spcPts val="285"/>
              </a:spcBef>
              <a:buFont typeface="Calibri"/>
              <a:buChar char="-"/>
              <a:tabLst>
                <a:tab pos="1155700" algn="l"/>
                <a:tab pos="1156335" algn="l"/>
              </a:tabLst>
            </a:pPr>
            <a:r>
              <a:rPr lang="en-US" sz="1800" spc="-10" dirty="0">
                <a:latin typeface="Tahoma"/>
                <a:cs typeface="Tahoma"/>
              </a:rPr>
              <a:t>In</a:t>
            </a:r>
            <a:r>
              <a:rPr lang="en-US" sz="1800" spc="-75" dirty="0">
                <a:latin typeface="Tahoma"/>
                <a:cs typeface="Tahoma"/>
              </a:rPr>
              <a:t> </a:t>
            </a:r>
            <a:r>
              <a:rPr lang="en-US" sz="1800" spc="-5" dirty="0">
                <a:latin typeface="Tahoma"/>
                <a:cs typeface="Tahoma"/>
              </a:rPr>
              <a:t>terms</a:t>
            </a:r>
            <a:r>
              <a:rPr lang="en-US" sz="1800" spc="-70" dirty="0">
                <a:latin typeface="Tahoma"/>
                <a:cs typeface="Tahoma"/>
              </a:rPr>
              <a:t> </a:t>
            </a:r>
            <a:r>
              <a:rPr lang="en-US" sz="1800" spc="-25" dirty="0">
                <a:latin typeface="Tahoma"/>
                <a:cs typeface="Tahoma"/>
              </a:rPr>
              <a:t>of</a:t>
            </a:r>
            <a:r>
              <a:rPr lang="en-US" sz="1800" spc="-70" dirty="0">
                <a:latin typeface="Tahoma"/>
                <a:cs typeface="Tahoma"/>
              </a:rPr>
              <a:t> </a:t>
            </a:r>
            <a:r>
              <a:rPr lang="en-US" sz="1800" dirty="0">
                <a:latin typeface="Tahoma"/>
                <a:cs typeface="Tahoma"/>
              </a:rPr>
              <a:t>memory</a:t>
            </a:r>
            <a:r>
              <a:rPr lang="en-US" sz="1800" spc="-75" dirty="0">
                <a:latin typeface="Tahoma"/>
                <a:cs typeface="Tahoma"/>
              </a:rPr>
              <a:t> </a:t>
            </a:r>
            <a:r>
              <a:rPr lang="en-US" sz="1800" spc="-5" dirty="0">
                <a:latin typeface="Tahoma"/>
                <a:cs typeface="Tahoma"/>
              </a:rPr>
              <a:t>allocation:</a:t>
            </a:r>
            <a:r>
              <a:rPr lang="en-US" sz="1800" spc="-85" dirty="0">
                <a:latin typeface="Tahoma"/>
                <a:cs typeface="Tahoma"/>
              </a:rPr>
              <a:t> </a:t>
            </a:r>
            <a:r>
              <a:rPr lang="en-US" sz="1800" dirty="0">
                <a:latin typeface="Tahoma"/>
                <a:cs typeface="Tahoma"/>
              </a:rPr>
              <a:t>static</a:t>
            </a:r>
            <a:r>
              <a:rPr lang="en-US" sz="1800" spc="-70" dirty="0">
                <a:latin typeface="Tahoma"/>
                <a:cs typeface="Tahoma"/>
              </a:rPr>
              <a:t> </a:t>
            </a:r>
            <a:r>
              <a:rPr lang="en-US" sz="1800" spc="50" dirty="0">
                <a:latin typeface="Tahoma"/>
                <a:cs typeface="Tahoma"/>
              </a:rPr>
              <a:t>vs</a:t>
            </a:r>
            <a:r>
              <a:rPr lang="en-US" sz="1800" spc="-70" dirty="0">
                <a:latin typeface="Tahoma"/>
                <a:cs typeface="Tahoma"/>
              </a:rPr>
              <a:t> </a:t>
            </a:r>
            <a:r>
              <a:rPr lang="en-US" sz="1800" spc="15" dirty="0">
                <a:latin typeface="Tahoma"/>
                <a:cs typeface="Tahoma"/>
              </a:rPr>
              <a:t>dynamic</a:t>
            </a:r>
            <a:endParaRPr lang="en-US" sz="1800" dirty="0">
              <a:latin typeface="Tahoma"/>
              <a:cs typeface="Tahoma"/>
            </a:endParaRPr>
          </a:p>
          <a:p>
            <a:pPr lvl="2">
              <a:lnSpc>
                <a:spcPct val="100000"/>
              </a:lnSpc>
              <a:spcBef>
                <a:spcPts val="40"/>
              </a:spcBef>
              <a:buFont typeface="Calibri"/>
              <a:buChar char="-"/>
            </a:pPr>
            <a:endParaRPr lang="en-US" sz="2200" dirty="0">
              <a:latin typeface="Tahoma"/>
              <a:cs typeface="Tahoma"/>
            </a:endParaRPr>
          </a:p>
          <a:p>
            <a:pPr marL="698500" lvl="1" indent="-228600">
              <a:lnSpc>
                <a:spcPct val="100000"/>
              </a:lnSpc>
              <a:buSzPct val="60000"/>
              <a:buChar char="►"/>
              <a:tabLst>
                <a:tab pos="698500" algn="l"/>
              </a:tabLst>
            </a:pPr>
            <a:r>
              <a:rPr lang="en-US" sz="2000" spc="-10" dirty="0">
                <a:latin typeface="Tahoma"/>
                <a:cs typeface="Tahoma"/>
              </a:rPr>
              <a:t>Non-primitive</a:t>
            </a:r>
            <a:r>
              <a:rPr lang="en-US" sz="2000" spc="-55" dirty="0">
                <a:latin typeface="Tahoma"/>
                <a:cs typeface="Tahoma"/>
              </a:rPr>
              <a:t> </a:t>
            </a:r>
            <a:r>
              <a:rPr lang="en-US" sz="2000" spc="-20" dirty="0">
                <a:latin typeface="Tahoma"/>
                <a:cs typeface="Tahoma"/>
              </a:rPr>
              <a:t>or</a:t>
            </a:r>
            <a:r>
              <a:rPr lang="en-US" sz="2000" spc="-70" dirty="0">
                <a:latin typeface="Tahoma"/>
                <a:cs typeface="Tahoma"/>
              </a:rPr>
              <a:t> </a:t>
            </a:r>
            <a:r>
              <a:rPr lang="en-US" sz="2000" spc="5" dirty="0">
                <a:latin typeface="Tahoma"/>
                <a:cs typeface="Tahoma"/>
              </a:rPr>
              <a:t>User-Defined:</a:t>
            </a:r>
            <a:endParaRPr lang="en-US" sz="2000" dirty="0">
              <a:latin typeface="Tahoma"/>
              <a:cs typeface="Tahoma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Calibri"/>
              <a:buChar char="-"/>
              <a:tabLst>
                <a:tab pos="1155700" algn="l"/>
                <a:tab pos="1156335" algn="l"/>
              </a:tabLst>
            </a:pPr>
            <a:r>
              <a:rPr lang="en-US" sz="1800" spc="25" dirty="0">
                <a:latin typeface="Tahoma"/>
                <a:cs typeface="Tahoma"/>
              </a:rPr>
              <a:t>Linear</a:t>
            </a:r>
            <a:r>
              <a:rPr lang="en-US" sz="1800" spc="-85" dirty="0">
                <a:latin typeface="Tahoma"/>
                <a:cs typeface="Tahoma"/>
              </a:rPr>
              <a:t> </a:t>
            </a:r>
            <a:r>
              <a:rPr lang="en-US" sz="1800" spc="50" dirty="0">
                <a:latin typeface="Tahoma"/>
                <a:cs typeface="Tahoma"/>
              </a:rPr>
              <a:t>vs</a:t>
            </a:r>
            <a:r>
              <a:rPr lang="en-US" sz="1800" spc="-80" dirty="0">
                <a:latin typeface="Tahoma"/>
                <a:cs typeface="Tahoma"/>
              </a:rPr>
              <a:t> </a:t>
            </a:r>
            <a:r>
              <a:rPr lang="en-US" sz="1800" spc="5" dirty="0">
                <a:latin typeface="Tahoma"/>
                <a:cs typeface="Tahoma"/>
              </a:rPr>
              <a:t>Non-linear</a:t>
            </a:r>
            <a:endParaRPr lang="en-US" sz="1800" dirty="0">
              <a:latin typeface="Tahoma"/>
              <a:cs typeface="Tahoma"/>
            </a:endParaRPr>
          </a:p>
        </p:txBody>
      </p:sp>
      <p:sp>
        <p:nvSpPr>
          <p:cNvPr id="1331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7D7695-962B-4844-8E69-96227548D464}" type="slidenum">
              <a:rPr lang="en-US" altLang="en-US"/>
              <a:pPr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What</a:t>
            </a:r>
            <a:r>
              <a:rPr lang="en-US" dirty="0"/>
              <a:t> </a:t>
            </a:r>
            <a:r>
              <a:rPr lang="en-US" spc="-5" dirty="0"/>
              <a:t>is</a:t>
            </a:r>
            <a:r>
              <a:rPr lang="en-US" spc="-10" dirty="0"/>
              <a:t> </a:t>
            </a:r>
            <a:r>
              <a:rPr lang="en-US" spc="-5" dirty="0"/>
              <a:t>a</a:t>
            </a:r>
            <a:r>
              <a:rPr lang="en-US" spc="-10" dirty="0"/>
              <a:t> </a:t>
            </a:r>
            <a:r>
              <a:rPr lang="en-US" spc="-5" dirty="0"/>
              <a:t>Data</a:t>
            </a:r>
            <a:r>
              <a:rPr lang="en-US" spc="10" dirty="0"/>
              <a:t> </a:t>
            </a:r>
            <a:r>
              <a:rPr lang="en-US" spc="-5" dirty="0"/>
              <a:t>Structure?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41300" indent="-228600" fontAlgn="auto">
              <a:spcBef>
                <a:spcPts val="100"/>
              </a:spcBef>
              <a:spcAft>
                <a:spcPts val="0"/>
              </a:spcAft>
              <a:buFont typeface="Wingdings"/>
              <a:buChar char=""/>
              <a:tabLst>
                <a:tab pos="241300" algn="l"/>
              </a:tabLst>
            </a:pPr>
            <a:r>
              <a:rPr lang="en-US" sz="2200" spc="-60" dirty="0">
                <a:solidFill>
                  <a:prstClr val="black"/>
                </a:solidFill>
                <a:latin typeface="Tahoma"/>
                <a:cs typeface="Tahoma"/>
              </a:rPr>
              <a:t>It’s</a:t>
            </a:r>
            <a:r>
              <a:rPr lang="en-US" sz="22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30" dirty="0">
                <a:solidFill>
                  <a:prstClr val="black"/>
                </a:solidFill>
                <a:latin typeface="Tahoma"/>
                <a:cs typeface="Tahoma"/>
              </a:rPr>
              <a:t>an</a:t>
            </a:r>
            <a:r>
              <a:rPr lang="en-US" sz="22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ahoma"/>
                <a:cs typeface="Tahoma"/>
              </a:rPr>
              <a:t>agreement</a:t>
            </a:r>
            <a:r>
              <a:rPr lang="en-US" sz="22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40" dirty="0">
                <a:solidFill>
                  <a:prstClr val="black"/>
                </a:solidFill>
                <a:latin typeface="Tahoma"/>
                <a:cs typeface="Tahoma"/>
              </a:rPr>
              <a:t>about:</a:t>
            </a:r>
            <a:endParaRPr lang="en-US" sz="2200" dirty="0">
              <a:solidFill>
                <a:prstClr val="black"/>
              </a:solidFill>
              <a:latin typeface="Tahoma"/>
              <a:cs typeface="Tahoma"/>
            </a:endParaRPr>
          </a:p>
          <a:p>
            <a:pPr fontAlgn="auto">
              <a:spcBef>
                <a:spcPts val="15"/>
              </a:spcBef>
              <a:spcAft>
                <a:spcPts val="0"/>
              </a:spcAft>
              <a:buFont typeface="Wingdings"/>
              <a:buChar char=""/>
            </a:pPr>
            <a:endParaRPr lang="en-US" sz="3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lvl="1" indent="-228600" fontAlgn="auto">
              <a:spcBef>
                <a:spcPts val="0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25" dirty="0">
                <a:solidFill>
                  <a:prstClr val="black"/>
                </a:solidFill>
                <a:latin typeface="Tahoma"/>
                <a:cs typeface="Tahoma"/>
              </a:rPr>
              <a:t>How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45" dirty="0">
                <a:solidFill>
                  <a:prstClr val="black"/>
                </a:solidFill>
                <a:latin typeface="Tahoma"/>
                <a:cs typeface="Tahoma"/>
              </a:rPr>
              <a:t>to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store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60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0" dirty="0">
                <a:solidFill>
                  <a:srgbClr val="2D75B6"/>
                </a:solidFill>
                <a:latin typeface="Tahoma"/>
                <a:cs typeface="Tahoma"/>
              </a:rPr>
              <a:t>collection</a:t>
            </a:r>
            <a:r>
              <a:rPr lang="en-US" sz="2000" spc="-70" dirty="0">
                <a:solidFill>
                  <a:srgbClr val="2D75B6"/>
                </a:solidFill>
                <a:latin typeface="Tahoma"/>
                <a:cs typeface="Tahoma"/>
              </a:rPr>
              <a:t> </a:t>
            </a:r>
            <a:r>
              <a:rPr lang="en-US" sz="2000" spc="-30" dirty="0">
                <a:solidFill>
                  <a:srgbClr val="2D75B6"/>
                </a:solidFill>
                <a:latin typeface="Tahoma"/>
                <a:cs typeface="Tahoma"/>
              </a:rPr>
              <a:t>of</a:t>
            </a:r>
            <a:r>
              <a:rPr lang="en-US" sz="2000" spc="-85" dirty="0">
                <a:solidFill>
                  <a:srgbClr val="2D75B6"/>
                </a:solidFill>
                <a:latin typeface="Tahoma"/>
                <a:cs typeface="Tahoma"/>
              </a:rPr>
              <a:t> </a:t>
            </a:r>
            <a:r>
              <a:rPr lang="en-US" sz="2000" spc="5" dirty="0">
                <a:solidFill>
                  <a:srgbClr val="2D75B6"/>
                </a:solidFill>
                <a:latin typeface="Tahoma"/>
                <a:cs typeface="Tahoma"/>
              </a:rPr>
              <a:t>objects</a:t>
            </a:r>
            <a:r>
              <a:rPr lang="en-US" sz="2000" spc="-70" dirty="0">
                <a:solidFill>
                  <a:srgbClr val="2D75B6"/>
                </a:solidFill>
                <a:latin typeface="Tahoma"/>
                <a:cs typeface="Tahoma"/>
              </a:rPr>
              <a:t>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in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30" dirty="0">
                <a:solidFill>
                  <a:prstClr val="black"/>
                </a:solidFill>
                <a:latin typeface="Tahoma"/>
                <a:cs typeface="Tahoma"/>
              </a:rPr>
              <a:t>memory,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lvl="1" fontAlgn="auto">
              <a:spcBef>
                <a:spcPts val="20"/>
              </a:spcBef>
              <a:spcAft>
                <a:spcPts val="0"/>
              </a:spcAft>
              <a:buFont typeface="Tahoma"/>
              <a:buChar char="►"/>
            </a:pPr>
            <a:endParaRPr lang="en-US" sz="3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lvl="1" indent="-228600" fontAlgn="auto">
              <a:spcBef>
                <a:spcPts val="0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What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" dirty="0">
                <a:solidFill>
                  <a:srgbClr val="2D75B6"/>
                </a:solidFill>
                <a:latin typeface="Tahoma"/>
                <a:cs typeface="Tahoma"/>
              </a:rPr>
              <a:t>operations</a:t>
            </a:r>
            <a:r>
              <a:rPr lang="en-US" sz="2000" spc="-70" dirty="0">
                <a:solidFill>
                  <a:srgbClr val="2D75B6"/>
                </a:solidFill>
                <a:latin typeface="Tahoma"/>
                <a:cs typeface="Tahoma"/>
              </a:rPr>
              <a:t> 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we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40" dirty="0">
                <a:solidFill>
                  <a:prstClr val="black"/>
                </a:solidFill>
                <a:latin typeface="Tahoma"/>
                <a:cs typeface="Tahoma"/>
              </a:rPr>
              <a:t>can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perform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on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45" dirty="0">
                <a:solidFill>
                  <a:prstClr val="black"/>
                </a:solidFill>
                <a:latin typeface="Tahoma"/>
                <a:cs typeface="Tahoma"/>
              </a:rPr>
              <a:t>that</a:t>
            </a:r>
            <a:r>
              <a:rPr lang="en-US" sz="2000" spc="-9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data,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lvl="1" fontAlgn="auto">
              <a:spcBef>
                <a:spcPts val="15"/>
              </a:spcBef>
              <a:spcAft>
                <a:spcPts val="0"/>
              </a:spcAft>
              <a:buFont typeface="Tahoma"/>
              <a:buChar char="►"/>
            </a:pPr>
            <a:endParaRPr lang="en-US" sz="3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lvl="1" indent="-228600" fontAlgn="auto">
              <a:spcBef>
                <a:spcPts val="0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35" dirty="0">
                <a:solidFill>
                  <a:prstClr val="black"/>
                </a:solidFill>
                <a:latin typeface="Tahoma"/>
                <a:cs typeface="Tahoma"/>
              </a:rPr>
              <a:t>The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" dirty="0">
                <a:solidFill>
                  <a:srgbClr val="2D75B6"/>
                </a:solidFill>
                <a:latin typeface="Tahoma"/>
                <a:cs typeface="Tahoma"/>
              </a:rPr>
              <a:t>algorithms</a:t>
            </a:r>
            <a:r>
              <a:rPr lang="en-US" sz="2000" spc="-70" dirty="0">
                <a:solidFill>
                  <a:srgbClr val="2D75B6"/>
                </a:solidFill>
                <a:latin typeface="Tahoma"/>
                <a:cs typeface="Tahoma"/>
              </a:rPr>
              <a:t> </a:t>
            </a:r>
            <a:r>
              <a:rPr lang="en-US" sz="2000" spc="-40" dirty="0">
                <a:solidFill>
                  <a:prstClr val="black"/>
                </a:solidFill>
                <a:latin typeface="Tahoma"/>
                <a:cs typeface="Tahoma"/>
              </a:rPr>
              <a:t>for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those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operations,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0" dirty="0">
                <a:solidFill>
                  <a:prstClr val="black"/>
                </a:solidFill>
                <a:latin typeface="Tahoma"/>
                <a:cs typeface="Tahoma"/>
              </a:rPr>
              <a:t>and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lvl="1" fontAlgn="auto">
              <a:spcBef>
                <a:spcPts val="15"/>
              </a:spcBef>
              <a:spcAft>
                <a:spcPts val="0"/>
              </a:spcAft>
              <a:buFont typeface="Tahoma"/>
              <a:buChar char="►"/>
            </a:pPr>
            <a:endParaRPr lang="en-US" sz="3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lvl="1" indent="-228600" fontAlgn="auto">
              <a:spcBef>
                <a:spcPts val="0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25" dirty="0">
                <a:solidFill>
                  <a:prstClr val="black"/>
                </a:solidFill>
                <a:latin typeface="Tahoma"/>
                <a:cs typeface="Tahoma"/>
              </a:rPr>
              <a:t>How</a:t>
            </a:r>
            <a:r>
              <a:rPr lang="en-US" sz="2000" spc="-6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5" dirty="0">
                <a:solidFill>
                  <a:srgbClr val="2D75B6"/>
                </a:solidFill>
                <a:latin typeface="Tahoma"/>
                <a:cs typeface="Tahoma"/>
              </a:rPr>
              <a:t>time</a:t>
            </a:r>
            <a:r>
              <a:rPr lang="en-US" sz="2000" spc="-70" dirty="0">
                <a:solidFill>
                  <a:srgbClr val="2D75B6"/>
                </a:solidFill>
                <a:latin typeface="Tahoma"/>
                <a:cs typeface="Tahoma"/>
              </a:rPr>
              <a:t> </a:t>
            </a:r>
            <a:r>
              <a:rPr lang="en-US" sz="2000" spc="20" dirty="0">
                <a:solidFill>
                  <a:srgbClr val="2D75B6"/>
                </a:solidFill>
                <a:latin typeface="Tahoma"/>
                <a:cs typeface="Tahoma"/>
              </a:rPr>
              <a:t>and</a:t>
            </a:r>
            <a:r>
              <a:rPr lang="en-US" sz="2000" spc="-80" dirty="0">
                <a:solidFill>
                  <a:srgbClr val="2D75B6"/>
                </a:solidFill>
                <a:latin typeface="Tahoma"/>
                <a:cs typeface="Tahoma"/>
              </a:rPr>
              <a:t> </a:t>
            </a:r>
            <a:r>
              <a:rPr lang="en-US" sz="2000" spc="60" dirty="0">
                <a:solidFill>
                  <a:srgbClr val="2D75B6"/>
                </a:solidFill>
                <a:latin typeface="Tahoma"/>
                <a:cs typeface="Tahoma"/>
              </a:rPr>
              <a:t>space</a:t>
            </a:r>
            <a:r>
              <a:rPr lang="en-US" sz="2000" spc="-70" dirty="0">
                <a:solidFill>
                  <a:srgbClr val="2D75B6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srgbClr val="2D75B6"/>
                </a:solidFill>
                <a:latin typeface="Tahoma"/>
                <a:cs typeface="Tahoma"/>
              </a:rPr>
              <a:t>efficient</a:t>
            </a:r>
            <a:r>
              <a:rPr lang="en-US" sz="2000" spc="-70" dirty="0">
                <a:solidFill>
                  <a:srgbClr val="2D75B6"/>
                </a:solidFill>
                <a:latin typeface="Tahoma"/>
                <a:cs typeface="Tahoma"/>
              </a:rPr>
              <a:t> </a:t>
            </a: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those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" dirty="0">
                <a:solidFill>
                  <a:prstClr val="black"/>
                </a:solidFill>
                <a:latin typeface="Tahoma"/>
                <a:cs typeface="Tahoma"/>
              </a:rPr>
              <a:t>algorithms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0" dirty="0">
                <a:solidFill>
                  <a:prstClr val="black"/>
                </a:solidFill>
                <a:latin typeface="Tahoma"/>
                <a:cs typeface="Tahoma"/>
              </a:rPr>
              <a:t>are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lvl="1" fontAlgn="auto">
              <a:spcBef>
                <a:spcPts val="0"/>
              </a:spcBef>
              <a:spcAft>
                <a:spcPts val="0"/>
              </a:spcAft>
              <a:buFont typeface="Tahoma"/>
              <a:buChar char="►"/>
            </a:pPr>
            <a:endParaRPr lang="en-US" sz="22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241300" marR="5080" indent="-228600">
              <a:spcBef>
                <a:spcPts val="1714"/>
              </a:spcBef>
              <a:buFont typeface="Wingdings"/>
              <a:buChar char=""/>
              <a:tabLst>
                <a:tab pos="241300" algn="l"/>
              </a:tabLst>
            </a:pPr>
            <a:r>
              <a:rPr lang="en-US" sz="2200" spc="145" dirty="0">
                <a:solidFill>
                  <a:prstClr val="black"/>
                </a:solidFill>
                <a:latin typeface="Tahoma"/>
                <a:cs typeface="Tahoma"/>
              </a:rPr>
              <a:t>A </a:t>
            </a:r>
            <a:r>
              <a:rPr lang="en-US" sz="2200" spc="10" dirty="0">
                <a:solidFill>
                  <a:prstClr val="black"/>
                </a:solidFill>
                <a:latin typeface="Tahoma"/>
                <a:cs typeface="Tahoma"/>
              </a:rPr>
              <a:t>collection </a:t>
            </a:r>
            <a:r>
              <a:rPr lang="en-US" sz="2200" spc="-30" dirty="0">
                <a:solidFill>
                  <a:prstClr val="black"/>
                </a:solidFill>
                <a:latin typeface="Tahoma"/>
                <a:cs typeface="Tahoma"/>
              </a:rPr>
              <a:t>of </a:t>
            </a:r>
            <a:r>
              <a:rPr lang="en-US" sz="2200" spc="5" dirty="0">
                <a:solidFill>
                  <a:prstClr val="black"/>
                </a:solidFill>
                <a:latin typeface="Tahoma"/>
                <a:cs typeface="Tahoma"/>
              </a:rPr>
              <a:t>data </a:t>
            </a:r>
            <a:r>
              <a:rPr lang="en-US" sz="2200" spc="20" dirty="0">
                <a:solidFill>
                  <a:prstClr val="black"/>
                </a:solidFill>
                <a:latin typeface="Tahoma"/>
                <a:cs typeface="Tahoma"/>
              </a:rPr>
              <a:t>elements </a:t>
            </a:r>
            <a:r>
              <a:rPr lang="en-US" sz="2200" spc="30" dirty="0">
                <a:solidFill>
                  <a:prstClr val="black"/>
                </a:solidFill>
                <a:latin typeface="Tahoma"/>
                <a:cs typeface="Tahoma"/>
              </a:rPr>
              <a:t>whose </a:t>
            </a:r>
            <a:r>
              <a:rPr lang="en-US" sz="2200" spc="5" dirty="0">
                <a:solidFill>
                  <a:prstClr val="black"/>
                </a:solidFill>
                <a:latin typeface="Tahoma"/>
                <a:cs typeface="Tahoma"/>
              </a:rPr>
              <a:t>organization </a:t>
            </a:r>
            <a:r>
              <a:rPr lang="en-US" sz="2200" spc="55" dirty="0">
                <a:solidFill>
                  <a:prstClr val="black"/>
                </a:solidFill>
                <a:latin typeface="Tahoma"/>
                <a:cs typeface="Tahoma"/>
              </a:rPr>
              <a:t>is </a:t>
            </a:r>
            <a:r>
              <a:rPr lang="en-US" sz="2200" spc="6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25" dirty="0">
                <a:solidFill>
                  <a:prstClr val="black"/>
                </a:solidFill>
                <a:latin typeface="Tahoma"/>
                <a:cs typeface="Tahoma"/>
              </a:rPr>
              <a:t>managed</a:t>
            </a:r>
            <a:r>
              <a:rPr lang="en-US" sz="22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5" dirty="0">
                <a:solidFill>
                  <a:prstClr val="black"/>
                </a:solidFill>
                <a:latin typeface="Tahoma"/>
                <a:cs typeface="Tahoma"/>
              </a:rPr>
              <a:t>by</a:t>
            </a:r>
            <a:r>
              <a:rPr lang="en-US" sz="22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20" dirty="0">
                <a:solidFill>
                  <a:prstClr val="black"/>
                </a:solidFill>
                <a:latin typeface="Tahoma"/>
                <a:cs typeface="Tahoma"/>
              </a:rPr>
              <a:t>the</a:t>
            </a:r>
            <a:r>
              <a:rPr lang="en-US" sz="22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10" dirty="0">
                <a:solidFill>
                  <a:prstClr val="black"/>
                </a:solidFill>
                <a:latin typeface="Tahoma"/>
                <a:cs typeface="Tahoma"/>
              </a:rPr>
              <a:t>operations</a:t>
            </a:r>
            <a:r>
              <a:rPr lang="en-US" sz="22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45" dirty="0">
                <a:solidFill>
                  <a:prstClr val="black"/>
                </a:solidFill>
                <a:latin typeface="Tahoma"/>
                <a:cs typeface="Tahoma"/>
              </a:rPr>
              <a:t>that</a:t>
            </a:r>
            <a:r>
              <a:rPr lang="en-US" sz="22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25" dirty="0">
                <a:solidFill>
                  <a:prstClr val="black"/>
                </a:solidFill>
                <a:latin typeface="Tahoma"/>
                <a:cs typeface="Tahoma"/>
              </a:rPr>
              <a:t>are</a:t>
            </a:r>
            <a:r>
              <a:rPr lang="en-US" sz="22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45" dirty="0">
                <a:solidFill>
                  <a:prstClr val="black"/>
                </a:solidFill>
                <a:latin typeface="Tahoma"/>
                <a:cs typeface="Tahoma"/>
              </a:rPr>
              <a:t>used</a:t>
            </a:r>
            <a:r>
              <a:rPr lang="en-US" sz="22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50" dirty="0">
                <a:solidFill>
                  <a:prstClr val="black"/>
                </a:solidFill>
                <a:latin typeface="Tahoma"/>
                <a:cs typeface="Tahoma"/>
              </a:rPr>
              <a:t>to</a:t>
            </a:r>
            <a:r>
              <a:rPr lang="en-US" sz="22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5" dirty="0">
                <a:solidFill>
                  <a:prstClr val="black"/>
                </a:solidFill>
                <a:latin typeface="Tahoma"/>
                <a:cs typeface="Tahoma"/>
              </a:rPr>
              <a:t>store</a:t>
            </a:r>
            <a:r>
              <a:rPr lang="en-US" sz="22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25" dirty="0">
                <a:solidFill>
                  <a:prstClr val="black"/>
                </a:solidFill>
                <a:latin typeface="Tahoma"/>
                <a:cs typeface="Tahoma"/>
              </a:rPr>
              <a:t>and </a:t>
            </a:r>
            <a:r>
              <a:rPr lang="en-US" sz="2200" spc="-6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10" dirty="0">
                <a:solidFill>
                  <a:prstClr val="black"/>
                </a:solidFill>
                <a:latin typeface="Tahoma"/>
                <a:cs typeface="Tahoma"/>
              </a:rPr>
              <a:t>retrieve</a:t>
            </a:r>
            <a:r>
              <a:rPr lang="en-US" sz="22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20" dirty="0">
                <a:solidFill>
                  <a:prstClr val="black"/>
                </a:solidFill>
                <a:latin typeface="Tahoma"/>
                <a:cs typeface="Tahoma"/>
              </a:rPr>
              <a:t>the</a:t>
            </a:r>
            <a:r>
              <a:rPr lang="en-US" sz="22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ahoma"/>
                <a:cs typeface="Tahoma"/>
              </a:rPr>
              <a:t>individual</a:t>
            </a:r>
            <a:r>
              <a:rPr lang="en-US" sz="2200" spc="-9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5" dirty="0">
                <a:solidFill>
                  <a:prstClr val="black"/>
                </a:solidFill>
                <a:latin typeface="Tahoma"/>
                <a:cs typeface="Tahoma"/>
              </a:rPr>
              <a:t>data</a:t>
            </a:r>
            <a:r>
              <a:rPr lang="en-US" sz="22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20" dirty="0">
                <a:solidFill>
                  <a:prstClr val="black"/>
                </a:solidFill>
                <a:latin typeface="Tahoma"/>
                <a:cs typeface="Tahoma"/>
              </a:rPr>
              <a:t>elements</a:t>
            </a:r>
            <a:endParaRPr lang="en-US" sz="2200" dirty="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4447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What</a:t>
            </a:r>
            <a:r>
              <a:rPr lang="en-US" dirty="0"/>
              <a:t> </a:t>
            </a:r>
            <a:r>
              <a:rPr lang="en-US" spc="-5" dirty="0"/>
              <a:t>is a Data</a:t>
            </a:r>
            <a:r>
              <a:rPr lang="en-US" spc="15" dirty="0"/>
              <a:t> </a:t>
            </a:r>
            <a:r>
              <a:rPr lang="en-US" spc="-5" dirty="0"/>
              <a:t>Structure</a:t>
            </a:r>
            <a:r>
              <a:rPr lang="en-US" spc="-90" dirty="0"/>
              <a:t> </a:t>
            </a:r>
            <a:r>
              <a:rPr lang="en-US" spc="-5" dirty="0"/>
              <a:t>Anyway?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9400" indent="-228600" fontAlgn="auto">
              <a:spcBef>
                <a:spcPts val="395"/>
              </a:spcBef>
              <a:spcAft>
                <a:spcPts val="0"/>
              </a:spcAft>
              <a:buFont typeface="Wingdings"/>
              <a:buChar char=""/>
              <a:tabLst>
                <a:tab pos="279400" algn="l"/>
              </a:tabLst>
            </a:pPr>
            <a:r>
              <a:rPr lang="en-US" sz="2200" spc="-60" dirty="0">
                <a:solidFill>
                  <a:prstClr val="black"/>
                </a:solidFill>
                <a:latin typeface="Tahoma"/>
                <a:cs typeface="Tahoma"/>
              </a:rPr>
              <a:t>It’s</a:t>
            </a:r>
            <a:r>
              <a:rPr lang="en-US" sz="2200" spc="-9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30" dirty="0">
                <a:solidFill>
                  <a:prstClr val="black"/>
                </a:solidFill>
                <a:latin typeface="Tahoma"/>
                <a:cs typeface="Tahoma"/>
              </a:rPr>
              <a:t>an</a:t>
            </a:r>
            <a:r>
              <a:rPr lang="en-US" sz="2200" spc="-10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5" dirty="0">
                <a:solidFill>
                  <a:prstClr val="black"/>
                </a:solidFill>
                <a:latin typeface="Tahoma"/>
                <a:cs typeface="Tahoma"/>
              </a:rPr>
              <a:t>agreement</a:t>
            </a:r>
            <a:r>
              <a:rPr lang="en-US" sz="2200" spc="-9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35" dirty="0">
                <a:solidFill>
                  <a:prstClr val="black"/>
                </a:solidFill>
                <a:latin typeface="Tahoma"/>
                <a:cs typeface="Tahoma"/>
              </a:rPr>
              <a:t>about:</a:t>
            </a:r>
            <a:endParaRPr lang="en-US" sz="22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736600" lvl="1" indent="-228600" fontAlgn="auto">
              <a:spcBef>
                <a:spcPts val="260"/>
              </a:spcBef>
              <a:spcAft>
                <a:spcPts val="0"/>
              </a:spcAft>
              <a:buSzPct val="60000"/>
              <a:buFontTx/>
              <a:buChar char="►"/>
              <a:tabLst>
                <a:tab pos="736600" algn="l"/>
              </a:tabLst>
            </a:pP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how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45" dirty="0">
                <a:solidFill>
                  <a:prstClr val="black"/>
                </a:solidFill>
                <a:latin typeface="Tahoma"/>
                <a:cs typeface="Tahoma"/>
              </a:rPr>
              <a:t>to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store</a:t>
            </a:r>
            <a:r>
              <a:rPr lang="en-US" sz="2000" spc="-9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60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collection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30" dirty="0">
                <a:solidFill>
                  <a:prstClr val="black"/>
                </a:solidFill>
                <a:latin typeface="Tahoma"/>
                <a:cs typeface="Tahoma"/>
              </a:rPr>
              <a:t>of</a:t>
            </a:r>
            <a:r>
              <a:rPr lang="en-US" sz="2000" spc="-9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objects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in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30" dirty="0">
                <a:solidFill>
                  <a:prstClr val="black"/>
                </a:solidFill>
                <a:latin typeface="Tahoma"/>
                <a:cs typeface="Tahoma"/>
              </a:rPr>
              <a:t>memory,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736600" lvl="1" indent="-228600" fontAlgn="auto">
              <a:spcBef>
                <a:spcPts val="265"/>
              </a:spcBef>
              <a:spcAft>
                <a:spcPts val="0"/>
              </a:spcAft>
              <a:buSzPct val="60000"/>
              <a:buFontTx/>
              <a:buChar char="►"/>
              <a:tabLst>
                <a:tab pos="736600" algn="l"/>
              </a:tabLst>
            </a:pPr>
            <a:r>
              <a:rPr lang="en-US" sz="2000" spc="-25" dirty="0">
                <a:solidFill>
                  <a:prstClr val="black"/>
                </a:solidFill>
                <a:latin typeface="Tahoma"/>
                <a:cs typeface="Tahoma"/>
              </a:rPr>
              <a:t>what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operations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we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40" dirty="0">
                <a:solidFill>
                  <a:prstClr val="black"/>
                </a:solidFill>
                <a:latin typeface="Tahoma"/>
                <a:cs typeface="Tahoma"/>
              </a:rPr>
              <a:t>can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perform</a:t>
            </a:r>
            <a:r>
              <a:rPr lang="en-US" sz="2000" spc="-9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on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45" dirty="0">
                <a:solidFill>
                  <a:prstClr val="black"/>
                </a:solidFill>
                <a:latin typeface="Tahoma"/>
                <a:cs typeface="Tahoma"/>
              </a:rPr>
              <a:t>that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data,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736600" lvl="1" indent="-228600" fontAlgn="auto">
              <a:spcBef>
                <a:spcPts val="254"/>
              </a:spcBef>
              <a:spcAft>
                <a:spcPts val="0"/>
              </a:spcAft>
              <a:buSzPct val="60000"/>
              <a:buFontTx/>
              <a:buChar char="►"/>
              <a:tabLst>
                <a:tab pos="736600" algn="l"/>
              </a:tabLst>
            </a:pP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the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" dirty="0">
                <a:solidFill>
                  <a:prstClr val="black"/>
                </a:solidFill>
                <a:latin typeface="Tahoma"/>
                <a:cs typeface="Tahoma"/>
              </a:rPr>
              <a:t>algorithms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40" dirty="0">
                <a:solidFill>
                  <a:prstClr val="black"/>
                </a:solidFill>
                <a:latin typeface="Tahoma"/>
                <a:cs typeface="Tahoma"/>
              </a:rPr>
              <a:t>for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those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operations,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5" dirty="0">
                <a:solidFill>
                  <a:prstClr val="black"/>
                </a:solidFill>
                <a:latin typeface="Tahoma"/>
                <a:cs typeface="Tahoma"/>
              </a:rPr>
              <a:t>and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736600" lvl="1" indent="-228600" fontAlgn="auto">
              <a:spcBef>
                <a:spcPts val="260"/>
              </a:spcBef>
              <a:spcAft>
                <a:spcPts val="0"/>
              </a:spcAft>
              <a:buSzPct val="60000"/>
              <a:buFontTx/>
              <a:buChar char="►"/>
              <a:tabLst>
                <a:tab pos="736600" algn="l"/>
              </a:tabLst>
            </a:pP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how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5" dirty="0">
                <a:solidFill>
                  <a:prstClr val="black"/>
                </a:solidFill>
                <a:latin typeface="Tahoma"/>
                <a:cs typeface="Tahoma"/>
              </a:rPr>
              <a:t>time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0" dirty="0">
                <a:solidFill>
                  <a:prstClr val="black"/>
                </a:solidFill>
                <a:latin typeface="Tahoma"/>
                <a:cs typeface="Tahoma"/>
              </a:rPr>
              <a:t>and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60" dirty="0">
                <a:solidFill>
                  <a:prstClr val="black"/>
                </a:solidFill>
                <a:latin typeface="Tahoma"/>
                <a:cs typeface="Tahoma"/>
              </a:rPr>
              <a:t>space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efficient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those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" dirty="0">
                <a:solidFill>
                  <a:prstClr val="black"/>
                </a:solidFill>
                <a:latin typeface="Tahoma"/>
                <a:cs typeface="Tahoma"/>
              </a:rPr>
              <a:t>algorithms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are.</a:t>
            </a:r>
          </a:p>
          <a:p>
            <a:pPr lvl="1" fontAlgn="auto">
              <a:spcBef>
                <a:spcPts val="15"/>
              </a:spcBef>
              <a:spcAft>
                <a:spcPts val="0"/>
              </a:spcAft>
              <a:buFont typeface="Tahoma"/>
              <a:buChar char="►"/>
            </a:pPr>
            <a:endParaRPr lang="en-US" sz="28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279400" indent="-228600" fontAlgn="auto">
              <a:spcBef>
                <a:spcPts val="0"/>
              </a:spcBef>
              <a:spcAft>
                <a:spcPts val="0"/>
              </a:spcAft>
              <a:buFont typeface="Wingdings"/>
              <a:buChar char=""/>
              <a:tabLst>
                <a:tab pos="279400" algn="l"/>
              </a:tabLst>
            </a:pPr>
            <a:r>
              <a:rPr lang="en-US" sz="2200" spc="60" dirty="0">
                <a:solidFill>
                  <a:prstClr val="black"/>
                </a:solidFill>
                <a:latin typeface="Tahoma"/>
                <a:cs typeface="Tahoma"/>
              </a:rPr>
              <a:t>Ex.</a:t>
            </a:r>
            <a:r>
              <a:rPr lang="en-US" sz="2200" spc="-10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b="1" dirty="0">
                <a:solidFill>
                  <a:srgbClr val="5B9BD4"/>
                </a:solidFill>
                <a:latin typeface="Arial"/>
                <a:cs typeface="Arial"/>
              </a:rPr>
              <a:t>List</a:t>
            </a:r>
            <a:r>
              <a:rPr lang="en-US" sz="2200" b="1" spc="5" dirty="0">
                <a:solidFill>
                  <a:srgbClr val="5B9BD4"/>
                </a:solidFill>
                <a:latin typeface="Arial"/>
                <a:cs typeface="Arial"/>
              </a:rPr>
              <a:t> </a:t>
            </a:r>
            <a:r>
              <a:rPr lang="en-US" sz="2200" spc="5" dirty="0">
                <a:solidFill>
                  <a:prstClr val="black"/>
                </a:solidFill>
                <a:latin typeface="Tahoma"/>
                <a:cs typeface="Tahoma"/>
              </a:rPr>
              <a:t>data</a:t>
            </a:r>
            <a:r>
              <a:rPr lang="en-US" sz="2200" spc="-9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15" dirty="0">
                <a:solidFill>
                  <a:prstClr val="black"/>
                </a:solidFill>
                <a:latin typeface="Tahoma"/>
                <a:cs typeface="Tahoma"/>
              </a:rPr>
              <a:t>structure</a:t>
            </a:r>
            <a:endParaRPr lang="en-US" sz="22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736600" marR="43180" lvl="1" indent="-228600" fontAlgn="auto">
              <a:lnSpc>
                <a:spcPts val="2160"/>
              </a:lnSpc>
              <a:spcBef>
                <a:spcPts val="535"/>
              </a:spcBef>
              <a:spcAft>
                <a:spcPts val="0"/>
              </a:spcAft>
              <a:buSzPct val="60000"/>
              <a:buFontTx/>
              <a:buChar char="►"/>
              <a:tabLst>
                <a:tab pos="736600" algn="l"/>
              </a:tabLst>
            </a:pPr>
            <a:r>
              <a:rPr lang="en-US" sz="2000" spc="130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lang="en-US" sz="2000" spc="-1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collection</a:t>
            </a:r>
            <a:r>
              <a:rPr lang="en-US" sz="2000" spc="-5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30" dirty="0">
                <a:solidFill>
                  <a:prstClr val="black"/>
                </a:solidFill>
                <a:latin typeface="Tahoma"/>
                <a:cs typeface="Tahoma"/>
              </a:rPr>
              <a:t>of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5" dirty="0">
                <a:solidFill>
                  <a:prstClr val="black"/>
                </a:solidFill>
                <a:latin typeface="Tahoma"/>
                <a:cs typeface="Tahoma"/>
              </a:rPr>
              <a:t>homog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lang="en-US" sz="2000" spc="30" dirty="0">
                <a:solidFill>
                  <a:prstClr val="black"/>
                </a:solidFill>
                <a:latin typeface="Tahoma"/>
                <a:cs typeface="Tahoma"/>
              </a:rPr>
              <a:t>nous</a:t>
            </a:r>
            <a:r>
              <a:rPr lang="en-US" sz="2000" spc="-6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5" dirty="0">
                <a:solidFill>
                  <a:prstClr val="black"/>
                </a:solidFill>
                <a:latin typeface="Tahoma"/>
                <a:cs typeface="Tahoma"/>
              </a:rPr>
              <a:t>elements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45" dirty="0">
                <a:solidFill>
                  <a:prstClr val="black"/>
                </a:solidFill>
                <a:latin typeface="Tahoma"/>
                <a:cs typeface="Tahoma"/>
              </a:rPr>
              <a:t>with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linear</a:t>
            </a:r>
            <a:r>
              <a:rPr lang="en-US" sz="2000" spc="-5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relationship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b/w 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them</a:t>
            </a:r>
            <a:r>
              <a:rPr lang="en-US" sz="2000" spc="-9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e.g.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list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30" dirty="0">
                <a:solidFill>
                  <a:prstClr val="black"/>
                </a:solidFill>
                <a:latin typeface="Tahoma"/>
                <a:cs typeface="Tahoma"/>
              </a:rPr>
              <a:t>of</a:t>
            </a:r>
            <a:r>
              <a:rPr lang="en-US" sz="2000" spc="-9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students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registered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in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this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65" dirty="0">
                <a:solidFill>
                  <a:prstClr val="black"/>
                </a:solidFill>
                <a:latin typeface="Tahoma"/>
                <a:cs typeface="Tahoma"/>
              </a:rPr>
              <a:t>class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736600" lvl="1" indent="-228600" fontAlgn="auto">
              <a:spcBef>
                <a:spcPts val="229"/>
              </a:spcBef>
              <a:spcAft>
                <a:spcPts val="0"/>
              </a:spcAft>
              <a:buSzPct val="60000"/>
              <a:buFont typeface="Tahoma"/>
              <a:buChar char="►"/>
              <a:tabLst>
                <a:tab pos="736600" algn="l"/>
              </a:tabLst>
            </a:pPr>
            <a:r>
              <a:rPr lang="en-US" sz="2000" b="1" spc="-20" dirty="0">
                <a:solidFill>
                  <a:prstClr val="black"/>
                </a:solidFill>
                <a:latin typeface="Arial"/>
                <a:cs typeface="Arial"/>
              </a:rPr>
              <a:t>Operations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: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95" dirty="0">
                <a:solidFill>
                  <a:prstClr val="black"/>
                </a:solidFill>
                <a:latin typeface="Tahoma"/>
                <a:cs typeface="Tahoma"/>
              </a:rPr>
              <a:t>Can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60" dirty="0">
                <a:solidFill>
                  <a:prstClr val="black"/>
                </a:solidFill>
                <a:latin typeface="Tahoma"/>
                <a:cs typeface="Tahoma"/>
              </a:rPr>
              <a:t>access,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5" dirty="0">
                <a:solidFill>
                  <a:prstClr val="black"/>
                </a:solidFill>
                <a:latin typeface="Tahoma"/>
                <a:cs typeface="Tahoma"/>
              </a:rPr>
              <a:t>change,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" dirty="0">
                <a:solidFill>
                  <a:prstClr val="black"/>
                </a:solidFill>
                <a:latin typeface="Tahoma"/>
                <a:cs typeface="Tahoma"/>
              </a:rPr>
              <a:t>insert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5" dirty="0">
                <a:solidFill>
                  <a:prstClr val="black"/>
                </a:solidFill>
                <a:latin typeface="Tahoma"/>
                <a:cs typeface="Tahoma"/>
              </a:rPr>
              <a:t>or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delete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5" dirty="0">
                <a:solidFill>
                  <a:prstClr val="black"/>
                </a:solidFill>
                <a:latin typeface="Tahoma"/>
                <a:cs typeface="Tahoma"/>
              </a:rPr>
              <a:t>elements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736600" lvl="1" indent="-228600" fontAlgn="auto">
              <a:spcBef>
                <a:spcPts val="259"/>
              </a:spcBef>
              <a:spcAft>
                <a:spcPts val="0"/>
              </a:spcAft>
              <a:buSzPct val="60000"/>
              <a:buFont typeface="Tahoma"/>
              <a:buChar char="►"/>
              <a:tabLst>
                <a:tab pos="736600" algn="l"/>
              </a:tabLst>
            </a:pPr>
            <a:r>
              <a:rPr lang="en-US" sz="2000" b="1" spc="-15" dirty="0">
                <a:solidFill>
                  <a:prstClr val="black"/>
                </a:solidFill>
                <a:latin typeface="Arial"/>
                <a:cs typeface="Arial"/>
              </a:rPr>
              <a:t>Algorithms</a:t>
            </a:r>
            <a:r>
              <a:rPr lang="en-US" sz="2000" spc="-15" dirty="0">
                <a:solidFill>
                  <a:prstClr val="black"/>
                </a:solidFill>
                <a:latin typeface="Tahoma"/>
                <a:cs typeface="Tahoma"/>
              </a:rPr>
              <a:t>: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35" dirty="0">
                <a:solidFill>
                  <a:prstClr val="black"/>
                </a:solidFill>
                <a:latin typeface="Tahoma"/>
                <a:cs typeface="Tahoma"/>
              </a:rPr>
              <a:t>Searching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" dirty="0">
                <a:solidFill>
                  <a:prstClr val="black"/>
                </a:solidFill>
                <a:latin typeface="Wingdings"/>
                <a:cs typeface="Wingdings"/>
              </a:rPr>
              <a:t></a:t>
            </a:r>
            <a:r>
              <a:rPr lang="en-US" sz="2000" spc="5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linear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0" dirty="0">
                <a:solidFill>
                  <a:prstClr val="black"/>
                </a:solidFill>
                <a:latin typeface="Tahoma"/>
                <a:cs typeface="Tahoma"/>
              </a:rPr>
              <a:t>vs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" dirty="0">
                <a:solidFill>
                  <a:prstClr val="black"/>
                </a:solidFill>
                <a:latin typeface="Tahoma"/>
                <a:cs typeface="Tahoma"/>
              </a:rPr>
              <a:t>binary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40" dirty="0">
                <a:solidFill>
                  <a:prstClr val="black"/>
                </a:solidFill>
                <a:latin typeface="Tahoma"/>
                <a:cs typeface="Tahoma"/>
              </a:rPr>
              <a:t>search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736600" marR="124460" lvl="1" indent="-228600" fontAlgn="auto">
              <a:lnSpc>
                <a:spcPts val="2160"/>
              </a:lnSpc>
              <a:spcBef>
                <a:spcPts val="535"/>
              </a:spcBef>
              <a:spcAft>
                <a:spcPts val="0"/>
              </a:spcAft>
              <a:buSzPct val="60000"/>
              <a:buFont typeface="Tahoma"/>
              <a:buChar char="►"/>
              <a:tabLst>
                <a:tab pos="736600" algn="l"/>
              </a:tabLst>
            </a:pPr>
            <a:r>
              <a:rPr lang="en-US" sz="2000" b="1" spc="-15" dirty="0">
                <a:solidFill>
                  <a:prstClr val="black"/>
                </a:solidFill>
                <a:latin typeface="Arial"/>
                <a:cs typeface="Arial"/>
              </a:rPr>
              <a:t>Time</a:t>
            </a:r>
            <a:r>
              <a:rPr lang="en-US" sz="20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z="2000" b="1" spc="-20" dirty="0">
                <a:solidFill>
                  <a:prstClr val="black"/>
                </a:solidFill>
                <a:latin typeface="Arial"/>
                <a:cs typeface="Arial"/>
              </a:rPr>
              <a:t>Complexity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: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linear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40" dirty="0">
                <a:solidFill>
                  <a:prstClr val="black"/>
                </a:solidFill>
                <a:latin typeface="Tahoma"/>
                <a:cs typeface="Tahoma"/>
              </a:rPr>
              <a:t>search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5" dirty="0">
                <a:solidFill>
                  <a:prstClr val="black"/>
                </a:solidFill>
                <a:latin typeface="Tahoma"/>
                <a:cs typeface="Tahoma"/>
              </a:rPr>
              <a:t>O(n),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" dirty="0">
                <a:solidFill>
                  <a:prstClr val="black"/>
                </a:solidFill>
                <a:latin typeface="Tahoma"/>
                <a:cs typeface="Tahoma"/>
              </a:rPr>
              <a:t>binary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40" dirty="0">
                <a:solidFill>
                  <a:prstClr val="black"/>
                </a:solidFill>
                <a:latin typeface="Tahoma"/>
                <a:cs typeface="Tahoma"/>
              </a:rPr>
              <a:t>search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in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array-list </a:t>
            </a:r>
            <a:r>
              <a:rPr lang="en-US" sz="2000" spc="-6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O(log</a:t>
            </a:r>
            <a:r>
              <a:rPr lang="en-US" sz="1950" spc="-15" baseline="-21367" dirty="0">
                <a:solidFill>
                  <a:prstClr val="black"/>
                </a:solidFill>
                <a:latin typeface="Tahoma"/>
                <a:cs typeface="Tahoma"/>
              </a:rPr>
              <a:t>2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n),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35" dirty="0">
                <a:solidFill>
                  <a:prstClr val="black"/>
                </a:solidFill>
                <a:latin typeface="Tahoma"/>
                <a:cs typeface="Tahoma"/>
              </a:rPr>
              <a:t>More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operations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40" dirty="0">
                <a:solidFill>
                  <a:prstClr val="black"/>
                </a:solidFill>
                <a:latin typeface="Tahoma"/>
                <a:cs typeface="Tahoma"/>
              </a:rPr>
              <a:t>later.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4825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is Data StructurING necessay?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6200" fontAlgn="auto">
              <a:spcBef>
                <a:spcPts val="100"/>
              </a:spcBef>
              <a:spcAft>
                <a:spcPts val="0"/>
              </a:spcAft>
            </a:pPr>
            <a:r>
              <a:rPr lang="en-US" sz="2200" spc="25" dirty="0">
                <a:solidFill>
                  <a:prstClr val="black"/>
                </a:solidFill>
                <a:latin typeface="Tahoma"/>
                <a:cs typeface="Tahoma"/>
              </a:rPr>
              <a:t>Three</a:t>
            </a:r>
            <a:r>
              <a:rPr lang="en-US" sz="22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15" dirty="0">
                <a:solidFill>
                  <a:prstClr val="black"/>
                </a:solidFill>
                <a:latin typeface="Tahoma"/>
                <a:cs typeface="Tahoma"/>
              </a:rPr>
              <a:t>common</a:t>
            </a:r>
            <a:r>
              <a:rPr lang="en-US" sz="2200" spc="-9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5" dirty="0">
                <a:solidFill>
                  <a:prstClr val="black"/>
                </a:solidFill>
                <a:latin typeface="Tahoma"/>
                <a:cs typeface="Tahoma"/>
              </a:rPr>
              <a:t>problems:</a:t>
            </a:r>
            <a:endParaRPr lang="en-US" sz="2200" dirty="0">
              <a:solidFill>
                <a:prstClr val="black"/>
              </a:solidFill>
              <a:latin typeface="Tahoma"/>
              <a:cs typeface="Tahoma"/>
            </a:endParaRPr>
          </a:p>
          <a:p>
            <a:pPr fontAlgn="auto">
              <a:spcBef>
                <a:spcPts val="5"/>
              </a:spcBef>
              <a:spcAft>
                <a:spcPts val="0"/>
              </a:spcAft>
            </a:pPr>
            <a:endParaRPr lang="en-US" sz="34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304800" indent="-228600" fontAlgn="auto">
              <a:spcBef>
                <a:spcPts val="0"/>
              </a:spcBef>
              <a:spcAft>
                <a:spcPts val="0"/>
              </a:spcAft>
              <a:buFont typeface="Wingdings"/>
              <a:buChar char=""/>
              <a:tabLst>
                <a:tab pos="304800" algn="l"/>
              </a:tabLst>
            </a:pPr>
            <a:r>
              <a:rPr lang="en-US" sz="2200" b="1" dirty="0">
                <a:solidFill>
                  <a:srgbClr val="5B9BD4"/>
                </a:solidFill>
                <a:latin typeface="Arial"/>
                <a:cs typeface="Arial"/>
              </a:rPr>
              <a:t>Data</a:t>
            </a:r>
            <a:r>
              <a:rPr lang="en-US" sz="2200" b="1" spc="-45" dirty="0">
                <a:solidFill>
                  <a:srgbClr val="5B9BD4"/>
                </a:solidFill>
                <a:latin typeface="Arial"/>
                <a:cs typeface="Arial"/>
              </a:rPr>
              <a:t> </a:t>
            </a:r>
            <a:r>
              <a:rPr lang="en-US" sz="2200" b="1" dirty="0">
                <a:solidFill>
                  <a:srgbClr val="5B9BD4"/>
                </a:solidFill>
                <a:latin typeface="Arial"/>
                <a:cs typeface="Arial"/>
              </a:rPr>
              <a:t>Search</a:t>
            </a:r>
            <a:endParaRPr lang="en-US" sz="22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762000" lvl="1" indent="-228600" fontAlgn="auto">
              <a:spcBef>
                <a:spcPts val="270"/>
              </a:spcBef>
              <a:spcAft>
                <a:spcPts val="0"/>
              </a:spcAft>
              <a:buSzPct val="60000"/>
              <a:buFontTx/>
              <a:buChar char="►"/>
              <a:tabLst>
                <a:tab pos="762000" algn="l"/>
              </a:tabLst>
            </a:pP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E.g.,</a:t>
            </a:r>
            <a:r>
              <a:rPr lang="en-US" sz="2000" spc="-9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5" dirty="0">
                <a:solidFill>
                  <a:prstClr val="black"/>
                </a:solidFill>
                <a:latin typeface="Tahoma"/>
                <a:cs typeface="Tahoma"/>
              </a:rPr>
              <a:t>an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5" dirty="0">
                <a:solidFill>
                  <a:prstClr val="black"/>
                </a:solidFill>
                <a:latin typeface="Tahoma"/>
                <a:cs typeface="Tahoma"/>
              </a:rPr>
              <a:t>inventory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30" dirty="0">
                <a:solidFill>
                  <a:prstClr val="black"/>
                </a:solidFill>
                <a:latin typeface="Tahoma"/>
                <a:cs typeface="Tahoma"/>
              </a:rPr>
              <a:t>of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5" dirty="0">
                <a:solidFill>
                  <a:prstClr val="black"/>
                </a:solidFill>
                <a:latin typeface="Tahoma"/>
                <a:cs typeface="Tahoma"/>
              </a:rPr>
              <a:t>1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million(10</a:t>
            </a:r>
            <a:r>
              <a:rPr lang="en-US" sz="1950" spc="-30" baseline="25641" dirty="0">
                <a:solidFill>
                  <a:prstClr val="black"/>
                </a:solidFill>
                <a:latin typeface="Tahoma"/>
                <a:cs typeface="Tahoma"/>
              </a:rPr>
              <a:t>6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)</a:t>
            </a:r>
            <a:r>
              <a:rPr lang="en-US" sz="2000" spc="-4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items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30" dirty="0">
                <a:solidFill>
                  <a:prstClr val="black"/>
                </a:solidFill>
                <a:latin typeface="Tahoma"/>
                <a:cs typeface="Tahoma"/>
              </a:rPr>
              <a:t>of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60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store</a:t>
            </a:r>
          </a:p>
          <a:p>
            <a:pPr lvl="1" fontAlgn="auto">
              <a:spcBef>
                <a:spcPts val="0"/>
              </a:spcBef>
              <a:spcAft>
                <a:spcPts val="0"/>
              </a:spcAft>
              <a:buFont typeface="Tahoma"/>
              <a:buChar char="►"/>
            </a:pPr>
            <a:endParaRPr lang="en-US" sz="22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304800" indent="-228600" fontAlgn="auto">
              <a:spcBef>
                <a:spcPts val="1450"/>
              </a:spcBef>
              <a:spcAft>
                <a:spcPts val="0"/>
              </a:spcAft>
              <a:buFont typeface="Wingdings"/>
              <a:buChar char=""/>
              <a:tabLst>
                <a:tab pos="304800" algn="l"/>
              </a:tabLst>
            </a:pPr>
            <a:r>
              <a:rPr lang="en-US" sz="2200" b="1" dirty="0">
                <a:solidFill>
                  <a:srgbClr val="5B9BD4"/>
                </a:solidFill>
                <a:latin typeface="Arial"/>
                <a:cs typeface="Arial"/>
              </a:rPr>
              <a:t>Processor</a:t>
            </a:r>
            <a:r>
              <a:rPr lang="en-US" sz="2200" b="1" spc="-35" dirty="0">
                <a:solidFill>
                  <a:srgbClr val="5B9BD4"/>
                </a:solidFill>
                <a:latin typeface="Arial"/>
                <a:cs typeface="Arial"/>
              </a:rPr>
              <a:t> </a:t>
            </a:r>
            <a:r>
              <a:rPr lang="en-US" sz="2200" b="1" spc="-5" dirty="0">
                <a:solidFill>
                  <a:srgbClr val="5B9BD4"/>
                </a:solidFill>
                <a:latin typeface="Arial"/>
                <a:cs typeface="Arial"/>
              </a:rPr>
              <a:t>Speed</a:t>
            </a:r>
            <a:endParaRPr lang="en-US" sz="22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762000" marR="182880" lvl="1" indent="-228600" fontAlgn="auto">
              <a:lnSpc>
                <a:spcPts val="2160"/>
              </a:lnSpc>
              <a:spcBef>
                <a:spcPts val="535"/>
              </a:spcBef>
              <a:spcAft>
                <a:spcPts val="0"/>
              </a:spcAft>
              <a:buSzPct val="60000"/>
              <a:buFontTx/>
              <a:buChar char="►"/>
              <a:tabLst>
                <a:tab pos="762000" algn="l"/>
              </a:tabLst>
            </a:pPr>
            <a:r>
              <a:rPr lang="en-US" sz="2000" spc="55" dirty="0">
                <a:solidFill>
                  <a:prstClr val="black"/>
                </a:solidFill>
                <a:latin typeface="Tahoma"/>
                <a:cs typeface="Tahoma"/>
              </a:rPr>
              <a:t>Processor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45" dirty="0">
                <a:solidFill>
                  <a:prstClr val="black"/>
                </a:solidFill>
                <a:latin typeface="Tahoma"/>
                <a:cs typeface="Tahoma"/>
              </a:rPr>
              <a:t>speed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although</a:t>
            </a:r>
            <a:r>
              <a:rPr lang="en-US" sz="2000" spc="-5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being</a:t>
            </a:r>
            <a:r>
              <a:rPr lang="en-US" sz="2000" spc="-6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very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5" dirty="0">
                <a:solidFill>
                  <a:prstClr val="black"/>
                </a:solidFill>
                <a:latin typeface="Tahoma"/>
                <a:cs typeface="Tahoma"/>
              </a:rPr>
              <a:t>high,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falls</a:t>
            </a:r>
            <a:r>
              <a:rPr lang="en-US" sz="2000" spc="-6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limited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0" dirty="0">
                <a:solidFill>
                  <a:prstClr val="black"/>
                </a:solidFill>
                <a:latin typeface="Tahoma"/>
                <a:cs typeface="Tahoma"/>
              </a:rPr>
              <a:t>if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the </a:t>
            </a:r>
            <a:r>
              <a:rPr lang="en-US" sz="2000" spc="-6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data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grows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45" dirty="0">
                <a:solidFill>
                  <a:prstClr val="black"/>
                </a:solidFill>
                <a:latin typeface="Tahoma"/>
                <a:cs typeface="Tahoma"/>
              </a:rPr>
              <a:t>to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" dirty="0">
                <a:solidFill>
                  <a:prstClr val="black"/>
                </a:solidFill>
                <a:latin typeface="Tahoma"/>
                <a:cs typeface="Tahoma"/>
              </a:rPr>
              <a:t>billion</a:t>
            </a:r>
            <a:r>
              <a:rPr lang="en-US" sz="2000" spc="-4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0" dirty="0">
                <a:solidFill>
                  <a:prstClr val="black"/>
                </a:solidFill>
                <a:latin typeface="Tahoma"/>
                <a:cs typeface="Tahoma"/>
              </a:rPr>
              <a:t>records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lvl="1" fontAlgn="auto">
              <a:spcBef>
                <a:spcPts val="0"/>
              </a:spcBef>
              <a:spcAft>
                <a:spcPts val="0"/>
              </a:spcAft>
              <a:buFont typeface="Tahoma"/>
              <a:buChar char="►"/>
            </a:pPr>
            <a:endParaRPr lang="en-US" sz="22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304800" indent="-228600" fontAlgn="auto">
              <a:spcBef>
                <a:spcPts val="1420"/>
              </a:spcBef>
              <a:spcAft>
                <a:spcPts val="0"/>
              </a:spcAft>
              <a:buFont typeface="Wingdings"/>
              <a:buChar char=""/>
              <a:tabLst>
                <a:tab pos="304800" algn="l"/>
              </a:tabLst>
            </a:pPr>
            <a:r>
              <a:rPr lang="en-US" sz="2200" b="1" dirty="0">
                <a:solidFill>
                  <a:srgbClr val="5B9BD4"/>
                </a:solidFill>
                <a:latin typeface="Arial"/>
                <a:cs typeface="Arial"/>
              </a:rPr>
              <a:t>Multiple</a:t>
            </a:r>
            <a:r>
              <a:rPr lang="en-US" sz="2200" b="1" spc="-25" dirty="0">
                <a:solidFill>
                  <a:srgbClr val="5B9BD4"/>
                </a:solidFill>
                <a:latin typeface="Arial"/>
                <a:cs typeface="Arial"/>
              </a:rPr>
              <a:t> </a:t>
            </a:r>
            <a:r>
              <a:rPr lang="en-US" sz="2200" b="1" dirty="0">
                <a:solidFill>
                  <a:srgbClr val="5B9BD4"/>
                </a:solidFill>
                <a:latin typeface="Arial"/>
                <a:cs typeface="Arial"/>
              </a:rPr>
              <a:t>Requests</a:t>
            </a:r>
            <a:endParaRPr lang="en-US" sz="22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762000" marR="17780" lvl="1" indent="-228600" fontAlgn="auto">
              <a:lnSpc>
                <a:spcPts val="2160"/>
              </a:lnSpc>
              <a:spcBef>
                <a:spcPts val="540"/>
              </a:spcBef>
              <a:spcAft>
                <a:spcPts val="0"/>
              </a:spcAft>
              <a:buSzPct val="60000"/>
              <a:buFontTx/>
              <a:buChar char="►"/>
              <a:tabLst>
                <a:tab pos="762000" algn="l"/>
              </a:tabLst>
            </a:pPr>
            <a:r>
              <a:rPr lang="en-US" sz="2000" spc="114" dirty="0">
                <a:solidFill>
                  <a:prstClr val="black"/>
                </a:solidFill>
                <a:latin typeface="Tahoma"/>
                <a:cs typeface="Tahoma"/>
              </a:rPr>
              <a:t>As </a:t>
            </a:r>
            <a:r>
              <a:rPr lang="en-US" sz="2000" spc="20" dirty="0">
                <a:solidFill>
                  <a:prstClr val="black"/>
                </a:solidFill>
                <a:latin typeface="Tahoma"/>
                <a:cs typeface="Tahoma"/>
              </a:rPr>
              <a:t>thousands </a:t>
            </a:r>
            <a:r>
              <a:rPr lang="en-US" sz="2000" spc="-30" dirty="0">
                <a:solidFill>
                  <a:prstClr val="black"/>
                </a:solidFill>
                <a:latin typeface="Tahoma"/>
                <a:cs typeface="Tahoma"/>
              </a:rPr>
              <a:t>of </a:t>
            </a:r>
            <a:r>
              <a:rPr lang="en-US" sz="2000" spc="40" dirty="0">
                <a:solidFill>
                  <a:prstClr val="black"/>
                </a:solidFill>
                <a:latin typeface="Tahoma"/>
                <a:cs typeface="Tahoma"/>
              </a:rPr>
              <a:t>users can search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data </a:t>
            </a: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simultaneously on </a:t>
            </a:r>
            <a:r>
              <a:rPr lang="en-US" sz="2000" spc="60" dirty="0">
                <a:solidFill>
                  <a:prstClr val="black"/>
                </a:solidFill>
                <a:latin typeface="Tahoma"/>
                <a:cs typeface="Tahoma"/>
              </a:rPr>
              <a:t>a </a:t>
            </a:r>
            <a:r>
              <a:rPr lang="en-US" sz="2000" spc="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web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server,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5" dirty="0">
                <a:solidFill>
                  <a:prstClr val="black"/>
                </a:solidFill>
                <a:latin typeface="Tahoma"/>
                <a:cs typeface="Tahoma"/>
              </a:rPr>
              <a:t>even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the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fast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5" dirty="0">
                <a:solidFill>
                  <a:prstClr val="black"/>
                </a:solidFill>
                <a:latin typeface="Tahoma"/>
                <a:cs typeface="Tahoma"/>
              </a:rPr>
              <a:t>server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fails</a:t>
            </a:r>
            <a:r>
              <a:rPr lang="en-US" sz="2000" spc="-6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" dirty="0">
                <a:solidFill>
                  <a:prstClr val="black"/>
                </a:solidFill>
                <a:latin typeface="Tahoma"/>
                <a:cs typeface="Tahoma"/>
              </a:rPr>
              <a:t>while</a:t>
            </a:r>
            <a:r>
              <a:rPr lang="en-US" sz="2000" spc="-5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5" dirty="0">
                <a:solidFill>
                  <a:prstClr val="black"/>
                </a:solidFill>
                <a:latin typeface="Tahoma"/>
                <a:cs typeface="Tahoma"/>
              </a:rPr>
              <a:t>searching</a:t>
            </a:r>
            <a:r>
              <a:rPr lang="en-US" sz="2000" spc="-6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the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data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60167-4931-47E6-BA6A-407CBD079E47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057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Foundation</a:t>
            </a:r>
            <a:r>
              <a:rPr lang="en-US" spc="-60" dirty="0"/>
              <a:t> </a:t>
            </a:r>
            <a:r>
              <a:rPr lang="en-US" spc="-5" dirty="0"/>
              <a:t>terms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2700" fontAlgn="auto">
              <a:spcBef>
                <a:spcPts val="100"/>
              </a:spcBef>
              <a:spcAft>
                <a:spcPts val="0"/>
              </a:spcAft>
            </a:pPr>
            <a:r>
              <a:rPr lang="en-US" sz="2200" spc="95" dirty="0">
                <a:solidFill>
                  <a:prstClr val="black"/>
                </a:solidFill>
                <a:latin typeface="Tahoma"/>
                <a:cs typeface="Tahoma"/>
              </a:rPr>
              <a:t>Each</a:t>
            </a:r>
            <a:r>
              <a:rPr lang="en-US" sz="2200" spc="-9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5" dirty="0">
                <a:solidFill>
                  <a:prstClr val="black"/>
                </a:solidFill>
                <a:latin typeface="Tahoma"/>
                <a:cs typeface="Tahoma"/>
              </a:rPr>
              <a:t>data</a:t>
            </a:r>
            <a:r>
              <a:rPr lang="en-US" sz="2200" spc="-9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15" dirty="0">
                <a:solidFill>
                  <a:prstClr val="black"/>
                </a:solidFill>
                <a:latin typeface="Tahoma"/>
                <a:cs typeface="Tahoma"/>
              </a:rPr>
              <a:t>structure</a:t>
            </a:r>
            <a:r>
              <a:rPr lang="en-US" sz="22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60" dirty="0">
                <a:solidFill>
                  <a:prstClr val="black"/>
                </a:solidFill>
                <a:latin typeface="Tahoma"/>
                <a:cs typeface="Tahoma"/>
              </a:rPr>
              <a:t>has</a:t>
            </a:r>
            <a:r>
              <a:rPr lang="en-US" sz="22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30" dirty="0">
                <a:solidFill>
                  <a:prstClr val="black"/>
                </a:solidFill>
                <a:latin typeface="Tahoma"/>
                <a:cs typeface="Tahoma"/>
              </a:rPr>
              <a:t>an</a:t>
            </a:r>
            <a:endParaRPr lang="en-US" sz="2200" dirty="0">
              <a:solidFill>
                <a:prstClr val="black"/>
              </a:solidFill>
              <a:latin typeface="Tahoma"/>
              <a:cs typeface="Tahoma"/>
            </a:endParaRPr>
          </a:p>
          <a:p>
            <a:pPr fontAlgn="auto">
              <a:spcBef>
                <a:spcPts val="5"/>
              </a:spcBef>
              <a:spcAft>
                <a:spcPts val="0"/>
              </a:spcAft>
            </a:pPr>
            <a:endParaRPr lang="en-US" sz="34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241300" indent="-228600" fontAlgn="auto">
              <a:spcBef>
                <a:spcPts val="0"/>
              </a:spcBef>
              <a:spcAft>
                <a:spcPts val="0"/>
              </a:spcAft>
              <a:buFont typeface="Wingdings"/>
              <a:buChar char=""/>
              <a:tabLst>
                <a:tab pos="241300" algn="l"/>
              </a:tabLst>
            </a:pPr>
            <a:r>
              <a:rPr lang="en-US" sz="2200" b="1" dirty="0">
                <a:solidFill>
                  <a:srgbClr val="5B9BD4"/>
                </a:solidFill>
                <a:latin typeface="Arial"/>
                <a:cs typeface="Arial"/>
              </a:rPr>
              <a:t>Interface</a:t>
            </a:r>
            <a:endParaRPr lang="en-US" sz="22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698500" marR="755015" lvl="1" indent="-228600" fontAlgn="auto">
              <a:lnSpc>
                <a:spcPts val="2160"/>
              </a:lnSpc>
              <a:spcBef>
                <a:spcPts val="540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40" dirty="0">
                <a:solidFill>
                  <a:prstClr val="black"/>
                </a:solidFill>
                <a:latin typeface="Tahoma"/>
                <a:cs typeface="Tahoma"/>
              </a:rPr>
              <a:t>Represents</a:t>
            </a:r>
            <a:r>
              <a:rPr lang="en-US" sz="2000" spc="-6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the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5" dirty="0">
                <a:solidFill>
                  <a:prstClr val="black"/>
                </a:solidFill>
                <a:latin typeface="Tahoma"/>
                <a:cs typeface="Tahoma"/>
              </a:rPr>
              <a:t>set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30" dirty="0">
                <a:solidFill>
                  <a:prstClr val="black"/>
                </a:solidFill>
                <a:latin typeface="Tahoma"/>
                <a:cs typeface="Tahoma"/>
              </a:rPr>
              <a:t>of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operations</a:t>
            </a:r>
            <a:r>
              <a:rPr lang="en-US" sz="2000" spc="-6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45" dirty="0">
                <a:solidFill>
                  <a:prstClr val="black"/>
                </a:solidFill>
                <a:latin typeface="Tahoma"/>
                <a:cs typeface="Tahoma"/>
              </a:rPr>
              <a:t>that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60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data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5" dirty="0">
                <a:solidFill>
                  <a:prstClr val="black"/>
                </a:solidFill>
                <a:latin typeface="Tahoma"/>
                <a:cs typeface="Tahoma"/>
              </a:rPr>
              <a:t>structure </a:t>
            </a:r>
            <a:r>
              <a:rPr lang="en-US" sz="2000" spc="-6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supports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5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marR="447040" lvl="1" indent="-228600" fontAlgn="auto">
              <a:lnSpc>
                <a:spcPts val="2160"/>
              </a:lnSpc>
              <a:spcBef>
                <a:spcPts val="500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30" dirty="0">
                <a:solidFill>
                  <a:prstClr val="black"/>
                </a:solidFill>
                <a:latin typeface="Tahoma"/>
                <a:cs typeface="Tahoma"/>
              </a:rPr>
              <a:t>Only </a:t>
            </a:r>
            <a:r>
              <a:rPr lang="en-US" sz="2000" spc="15" dirty="0">
                <a:solidFill>
                  <a:prstClr val="black"/>
                </a:solidFill>
                <a:latin typeface="Tahoma"/>
                <a:cs typeface="Tahoma"/>
              </a:rPr>
              <a:t>provides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the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list </a:t>
            </a:r>
            <a:r>
              <a:rPr lang="en-US" sz="2000" spc="-30" dirty="0">
                <a:solidFill>
                  <a:prstClr val="black"/>
                </a:solidFill>
                <a:latin typeface="Tahoma"/>
                <a:cs typeface="Tahoma"/>
              </a:rPr>
              <a:t>of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supported operations, </a:t>
            </a:r>
            <a:r>
              <a:rPr lang="en-US" sz="2000" spc="-15" dirty="0">
                <a:solidFill>
                  <a:prstClr val="black"/>
                </a:solidFill>
                <a:latin typeface="Tahoma"/>
                <a:cs typeface="Tahoma"/>
              </a:rPr>
              <a:t>type </a:t>
            </a:r>
            <a:r>
              <a:rPr lang="en-US" sz="2000" spc="-30" dirty="0">
                <a:solidFill>
                  <a:prstClr val="black"/>
                </a:solidFill>
                <a:latin typeface="Tahoma"/>
                <a:cs typeface="Tahoma"/>
              </a:rPr>
              <a:t>of </a:t>
            </a:r>
            <a:r>
              <a:rPr lang="en-US" sz="2000" spc="-2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parameters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5" dirty="0">
                <a:solidFill>
                  <a:prstClr val="black"/>
                </a:solidFill>
                <a:latin typeface="Tahoma"/>
                <a:cs typeface="Tahoma"/>
              </a:rPr>
              <a:t>they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40" dirty="0">
                <a:solidFill>
                  <a:prstClr val="black"/>
                </a:solidFill>
                <a:latin typeface="Tahoma"/>
                <a:cs typeface="Tahoma"/>
              </a:rPr>
              <a:t>can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5" dirty="0">
                <a:solidFill>
                  <a:prstClr val="black"/>
                </a:solidFill>
                <a:latin typeface="Tahoma"/>
                <a:cs typeface="Tahoma"/>
              </a:rPr>
              <a:t>accept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0" dirty="0">
                <a:solidFill>
                  <a:prstClr val="black"/>
                </a:solidFill>
                <a:latin typeface="Tahoma"/>
                <a:cs typeface="Tahoma"/>
              </a:rPr>
              <a:t>and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the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30" dirty="0">
                <a:solidFill>
                  <a:prstClr val="black"/>
                </a:solidFill>
                <a:latin typeface="Tahoma"/>
                <a:cs typeface="Tahoma"/>
              </a:rPr>
              <a:t>return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5" dirty="0">
                <a:solidFill>
                  <a:prstClr val="black"/>
                </a:solidFill>
                <a:latin typeface="Tahoma"/>
                <a:cs typeface="Tahoma"/>
              </a:rPr>
              <a:t>type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30" dirty="0">
                <a:solidFill>
                  <a:prstClr val="black"/>
                </a:solidFill>
                <a:latin typeface="Tahoma"/>
                <a:cs typeface="Tahoma"/>
              </a:rPr>
              <a:t>of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0" dirty="0">
                <a:solidFill>
                  <a:prstClr val="black"/>
                </a:solidFill>
                <a:latin typeface="Tahoma"/>
                <a:cs typeface="Tahoma"/>
              </a:rPr>
              <a:t>these </a:t>
            </a:r>
            <a:r>
              <a:rPr lang="en-US" sz="2000" spc="-6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operations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lvl="1" fontAlgn="auto">
              <a:spcBef>
                <a:spcPts val="0"/>
              </a:spcBef>
              <a:spcAft>
                <a:spcPts val="0"/>
              </a:spcAft>
              <a:buFont typeface="Tahoma"/>
              <a:buChar char="►"/>
            </a:pPr>
            <a:endParaRPr lang="en-US" sz="22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241300" indent="-228600" fontAlgn="auto">
              <a:spcBef>
                <a:spcPts val="1420"/>
              </a:spcBef>
              <a:spcAft>
                <a:spcPts val="0"/>
              </a:spcAft>
              <a:buFont typeface="Wingdings"/>
              <a:buChar char=""/>
              <a:tabLst>
                <a:tab pos="241300" algn="l"/>
              </a:tabLst>
            </a:pPr>
            <a:r>
              <a:rPr lang="en-US" sz="2200" b="1" dirty="0">
                <a:solidFill>
                  <a:srgbClr val="5B9BD4"/>
                </a:solidFill>
                <a:latin typeface="Arial"/>
                <a:cs typeface="Arial"/>
              </a:rPr>
              <a:t>Implementation</a:t>
            </a:r>
            <a:endParaRPr lang="en-US" sz="22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698500" lvl="1" indent="-228600" fontAlgn="auto">
              <a:spcBef>
                <a:spcPts val="265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45" dirty="0">
                <a:solidFill>
                  <a:prstClr val="black"/>
                </a:solidFill>
                <a:latin typeface="Tahoma"/>
                <a:cs typeface="Tahoma"/>
              </a:rPr>
              <a:t>Provides</a:t>
            </a:r>
            <a:r>
              <a:rPr lang="en-US" sz="2000" spc="-6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the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5" dirty="0">
                <a:solidFill>
                  <a:prstClr val="black"/>
                </a:solidFill>
                <a:latin typeface="Tahoma"/>
                <a:cs typeface="Tahoma"/>
              </a:rPr>
              <a:t>internal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representation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30" dirty="0">
                <a:solidFill>
                  <a:prstClr val="black"/>
                </a:solidFill>
                <a:latin typeface="Tahoma"/>
                <a:cs typeface="Tahoma"/>
              </a:rPr>
              <a:t>of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60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lang="en-US" sz="2000" spc="-10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data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5" dirty="0">
                <a:solidFill>
                  <a:prstClr val="black"/>
                </a:solidFill>
                <a:latin typeface="Tahoma"/>
                <a:cs typeface="Tahoma"/>
              </a:rPr>
              <a:t>structure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marR="5080" lvl="1" indent="-228600" fontAlgn="auto">
              <a:lnSpc>
                <a:spcPts val="2160"/>
              </a:lnSpc>
              <a:spcBef>
                <a:spcPts val="530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35" dirty="0">
                <a:solidFill>
                  <a:prstClr val="black"/>
                </a:solidFill>
                <a:latin typeface="Tahoma"/>
                <a:cs typeface="Tahoma"/>
              </a:rPr>
              <a:t>The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definition</a:t>
            </a:r>
            <a:r>
              <a:rPr lang="en-US" sz="2000" spc="-5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30" dirty="0">
                <a:solidFill>
                  <a:prstClr val="black"/>
                </a:solidFill>
                <a:latin typeface="Tahoma"/>
                <a:cs typeface="Tahoma"/>
              </a:rPr>
              <a:t>of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the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" dirty="0">
                <a:solidFill>
                  <a:prstClr val="black"/>
                </a:solidFill>
                <a:latin typeface="Tahoma"/>
                <a:cs typeface="Tahoma"/>
              </a:rPr>
              <a:t>algorithms</a:t>
            </a:r>
            <a:r>
              <a:rPr lang="en-US" sz="2000" spc="-6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40" dirty="0">
                <a:solidFill>
                  <a:prstClr val="black"/>
                </a:solidFill>
                <a:latin typeface="Tahoma"/>
                <a:cs typeface="Tahoma"/>
              </a:rPr>
              <a:t>used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in</a:t>
            </a:r>
            <a:r>
              <a:rPr lang="en-US" sz="2000" spc="-6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the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operations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30" dirty="0">
                <a:solidFill>
                  <a:prstClr val="black"/>
                </a:solidFill>
                <a:latin typeface="Tahoma"/>
                <a:cs typeface="Tahoma"/>
              </a:rPr>
              <a:t>of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the </a:t>
            </a:r>
            <a:r>
              <a:rPr lang="en-US" sz="2000" spc="-6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data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5" dirty="0">
                <a:solidFill>
                  <a:prstClr val="black"/>
                </a:solidFill>
                <a:latin typeface="Tahoma"/>
                <a:cs typeface="Tahoma"/>
              </a:rPr>
              <a:t>structure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363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41300" indent="-228600" fontAlgn="auto">
              <a:spcBef>
                <a:spcPts val="390"/>
              </a:spcBef>
              <a:spcAft>
                <a:spcPts val="0"/>
              </a:spcAft>
              <a:buFont typeface="Wingdings"/>
              <a:buChar char=""/>
              <a:tabLst>
                <a:tab pos="241300" algn="l"/>
              </a:tabLst>
            </a:pPr>
            <a:r>
              <a:rPr lang="en-US" sz="2400" spc="25" dirty="0">
                <a:solidFill>
                  <a:prstClr val="black"/>
                </a:solidFill>
                <a:latin typeface="Tahoma"/>
                <a:cs typeface="Tahoma"/>
              </a:rPr>
              <a:t>Data</a:t>
            </a:r>
            <a:r>
              <a:rPr lang="en-US" sz="24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400" spc="-15" dirty="0">
                <a:solidFill>
                  <a:prstClr val="black"/>
                </a:solidFill>
                <a:latin typeface="Tahoma"/>
                <a:cs typeface="Tahoma"/>
              </a:rPr>
              <a:t>structure</a:t>
            </a:r>
            <a:r>
              <a:rPr lang="en-US" sz="24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400" spc="-40" dirty="0">
                <a:solidFill>
                  <a:prstClr val="black"/>
                </a:solidFill>
                <a:latin typeface="Tahoma"/>
                <a:cs typeface="Tahoma"/>
              </a:rPr>
              <a:t>for</a:t>
            </a:r>
            <a:r>
              <a:rPr lang="en-US" sz="24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400" spc="-10" dirty="0">
                <a:solidFill>
                  <a:prstClr val="black"/>
                </a:solidFill>
                <a:latin typeface="Tahoma"/>
                <a:cs typeface="Tahoma"/>
              </a:rPr>
              <a:t>storing</a:t>
            </a:r>
            <a:r>
              <a:rPr lang="en-US" sz="24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400" spc="5" dirty="0">
                <a:solidFill>
                  <a:prstClr val="black"/>
                </a:solidFill>
                <a:latin typeface="Tahoma"/>
                <a:cs typeface="Tahoma"/>
              </a:rPr>
              <a:t>data</a:t>
            </a:r>
            <a:r>
              <a:rPr lang="en-US" sz="24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400" spc="-30" dirty="0">
                <a:solidFill>
                  <a:prstClr val="black"/>
                </a:solidFill>
                <a:latin typeface="Tahoma"/>
                <a:cs typeface="Tahoma"/>
              </a:rPr>
              <a:t>of</a:t>
            </a:r>
            <a:r>
              <a:rPr lang="en-US" sz="24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400" spc="-20" dirty="0">
                <a:solidFill>
                  <a:prstClr val="black"/>
                </a:solidFill>
                <a:latin typeface="Tahoma"/>
                <a:cs typeface="Tahoma"/>
              </a:rPr>
              <a:t>students:-</a:t>
            </a:r>
            <a:endParaRPr lang="en-US" sz="24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lvl="1" indent="-228600" fontAlgn="auto">
              <a:spcBef>
                <a:spcPts val="260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400" spc="30" dirty="0">
                <a:solidFill>
                  <a:prstClr val="black"/>
                </a:solidFill>
                <a:latin typeface="Tahoma"/>
                <a:cs typeface="Tahoma"/>
              </a:rPr>
              <a:t>Arrays</a:t>
            </a:r>
            <a:endParaRPr lang="en-US" sz="24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lvl="1" indent="-228600" fontAlgn="auto">
              <a:spcBef>
                <a:spcPts val="265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400" spc="25" dirty="0">
                <a:solidFill>
                  <a:prstClr val="black"/>
                </a:solidFill>
                <a:latin typeface="Tahoma"/>
                <a:cs typeface="Tahoma"/>
              </a:rPr>
              <a:t>Linked</a:t>
            </a:r>
            <a:r>
              <a:rPr lang="en-US" sz="2400" spc="-10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400" spc="40" dirty="0">
                <a:solidFill>
                  <a:prstClr val="black"/>
                </a:solidFill>
                <a:latin typeface="Tahoma"/>
                <a:cs typeface="Tahoma"/>
              </a:rPr>
              <a:t>Lists</a:t>
            </a:r>
            <a:endParaRPr lang="en-US" sz="24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342900" lvl="1" indent="0" fontAlgn="auto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241300" indent="-228600" fontAlgn="auto">
              <a:spcBef>
                <a:spcPts val="1450"/>
              </a:spcBef>
              <a:spcAft>
                <a:spcPts val="0"/>
              </a:spcAft>
              <a:buFont typeface="Wingdings"/>
              <a:buChar char=""/>
              <a:tabLst>
                <a:tab pos="241300" algn="l"/>
              </a:tabLst>
            </a:pPr>
            <a:r>
              <a:rPr lang="en-US" sz="2400" spc="35" dirty="0">
                <a:solidFill>
                  <a:prstClr val="black"/>
                </a:solidFill>
                <a:latin typeface="Tahoma"/>
                <a:cs typeface="Tahoma"/>
              </a:rPr>
              <a:t>Issues</a:t>
            </a:r>
            <a:endParaRPr lang="en-US" sz="24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lvl="1" indent="-228600" fontAlgn="auto">
              <a:spcBef>
                <a:spcPts val="260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400" spc="80" dirty="0">
                <a:solidFill>
                  <a:prstClr val="black"/>
                </a:solidFill>
                <a:latin typeface="Tahoma"/>
                <a:cs typeface="Tahoma"/>
              </a:rPr>
              <a:t>Space</a:t>
            </a:r>
            <a:r>
              <a:rPr lang="en-US" sz="2400" spc="-10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400" spc="30" dirty="0">
                <a:solidFill>
                  <a:prstClr val="black"/>
                </a:solidFill>
                <a:latin typeface="Tahoma"/>
                <a:cs typeface="Tahoma"/>
              </a:rPr>
              <a:t>needed</a:t>
            </a:r>
            <a:endParaRPr lang="en-US" sz="24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lvl="1" indent="-228600" fontAlgn="auto">
              <a:spcBef>
                <a:spcPts val="265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400" spc="20" dirty="0">
                <a:solidFill>
                  <a:prstClr val="black"/>
                </a:solidFill>
                <a:latin typeface="Tahoma"/>
                <a:cs typeface="Tahoma"/>
              </a:rPr>
              <a:t>Operations</a:t>
            </a:r>
            <a:r>
              <a:rPr lang="en-US" sz="2400" spc="-6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ahoma"/>
                <a:cs typeface="Tahoma"/>
              </a:rPr>
              <a:t>efficiency</a:t>
            </a:r>
            <a:r>
              <a:rPr lang="en-US" sz="2400" spc="-6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400" spc="-20" dirty="0">
                <a:solidFill>
                  <a:prstClr val="black"/>
                </a:solidFill>
                <a:latin typeface="Tahoma"/>
                <a:cs typeface="Tahoma"/>
              </a:rPr>
              <a:t>(Time</a:t>
            </a:r>
            <a:r>
              <a:rPr lang="en-US" sz="2400" spc="-5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400" spc="-5" dirty="0">
                <a:solidFill>
                  <a:prstClr val="black"/>
                </a:solidFill>
                <a:latin typeface="Tahoma"/>
                <a:cs typeface="Tahoma"/>
              </a:rPr>
              <a:t>required</a:t>
            </a:r>
            <a:r>
              <a:rPr lang="en-US" sz="24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400" spc="-45" dirty="0">
                <a:solidFill>
                  <a:prstClr val="black"/>
                </a:solidFill>
                <a:latin typeface="Tahoma"/>
                <a:cs typeface="Tahoma"/>
              </a:rPr>
              <a:t>to</a:t>
            </a:r>
            <a:r>
              <a:rPr lang="en-US" sz="24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400" spc="10" dirty="0">
                <a:solidFill>
                  <a:prstClr val="black"/>
                </a:solidFill>
                <a:latin typeface="Tahoma"/>
                <a:cs typeface="Tahoma"/>
              </a:rPr>
              <a:t>complete</a:t>
            </a:r>
            <a:r>
              <a:rPr lang="en-US" sz="2400" spc="-6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400" spc="-5" dirty="0">
                <a:solidFill>
                  <a:prstClr val="black"/>
                </a:solidFill>
                <a:latin typeface="Tahoma"/>
                <a:cs typeface="Tahoma"/>
              </a:rPr>
              <a:t>operations)</a:t>
            </a:r>
            <a:endParaRPr lang="en-US" sz="24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1155700" lvl="2" indent="-229235" fontAlgn="auto">
              <a:spcBef>
                <a:spcPts val="290"/>
              </a:spcBef>
              <a:spcAft>
                <a:spcPts val="0"/>
              </a:spcAft>
              <a:buFont typeface="Calibri"/>
              <a:buChar char="-"/>
              <a:tabLst>
                <a:tab pos="1155700" algn="l"/>
                <a:tab pos="1156335" algn="l"/>
              </a:tabLst>
            </a:pPr>
            <a:r>
              <a:rPr lang="en-US" sz="2400" spc="15" dirty="0">
                <a:solidFill>
                  <a:prstClr val="black"/>
                </a:solidFill>
                <a:latin typeface="Tahoma"/>
                <a:cs typeface="Tahoma"/>
              </a:rPr>
              <a:t>Retrieval</a:t>
            </a:r>
            <a:endParaRPr lang="en-US" sz="24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1155700" lvl="2" indent="-229235" fontAlgn="auto">
              <a:spcBef>
                <a:spcPts val="284"/>
              </a:spcBef>
              <a:spcAft>
                <a:spcPts val="0"/>
              </a:spcAft>
              <a:buFont typeface="Calibri"/>
              <a:buChar char="-"/>
              <a:tabLst>
                <a:tab pos="1155700" algn="l"/>
                <a:tab pos="1156335" algn="l"/>
              </a:tabLst>
            </a:pPr>
            <a:r>
              <a:rPr lang="en-US" sz="2400" spc="-20" dirty="0">
                <a:solidFill>
                  <a:prstClr val="black"/>
                </a:solidFill>
                <a:latin typeface="Tahoma"/>
                <a:cs typeface="Tahoma"/>
              </a:rPr>
              <a:t>Insertion</a:t>
            </a:r>
            <a:endParaRPr lang="en-US" sz="24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1155700" lvl="2" indent="-229235" fontAlgn="auto">
              <a:spcBef>
                <a:spcPts val="280"/>
              </a:spcBef>
              <a:spcAft>
                <a:spcPts val="0"/>
              </a:spcAft>
              <a:buFont typeface="Calibri"/>
              <a:buChar char="-"/>
              <a:tabLst>
                <a:tab pos="1155700" algn="l"/>
                <a:tab pos="1156335" algn="l"/>
              </a:tabLst>
            </a:pPr>
            <a:r>
              <a:rPr lang="en-US" sz="2400" spc="10" dirty="0">
                <a:solidFill>
                  <a:prstClr val="black"/>
                </a:solidFill>
                <a:latin typeface="Tahoma"/>
                <a:cs typeface="Tahoma"/>
              </a:rPr>
              <a:t>Deletion</a:t>
            </a:r>
            <a:endParaRPr lang="en-US" sz="2400" dirty="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5191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Which</a:t>
            </a:r>
            <a:r>
              <a:rPr lang="en-US" spc="-25" dirty="0"/>
              <a:t> </a:t>
            </a:r>
            <a:r>
              <a:rPr lang="en-US" spc="-5" dirty="0"/>
              <a:t>data structure</a:t>
            </a:r>
            <a:r>
              <a:rPr lang="en-US" spc="10" dirty="0"/>
              <a:t> </a:t>
            </a:r>
            <a:r>
              <a:rPr lang="en-US" dirty="0"/>
              <a:t>to</a:t>
            </a:r>
            <a:r>
              <a:rPr lang="en-US" spc="-20" dirty="0"/>
              <a:t> </a:t>
            </a:r>
            <a:r>
              <a:rPr lang="en-US" spc="-5" dirty="0"/>
              <a:t>use?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graphicFrame>
        <p:nvGraphicFramePr>
          <p:cNvPr id="51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093020"/>
              </p:ext>
            </p:extLst>
          </p:nvPr>
        </p:nvGraphicFramePr>
        <p:xfrm>
          <a:off x="978915" y="2435605"/>
          <a:ext cx="6705600" cy="533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2" name="object 4"/>
          <p:cNvGrpSpPr/>
          <p:nvPr/>
        </p:nvGrpSpPr>
        <p:grpSpPr>
          <a:xfrm>
            <a:off x="978915" y="3308857"/>
            <a:ext cx="6563359" cy="543560"/>
            <a:chOff x="1000505" y="3107435"/>
            <a:chExt cx="6563359" cy="543560"/>
          </a:xfrm>
        </p:grpSpPr>
        <p:sp>
          <p:nvSpPr>
            <p:cNvPr id="53" name="object 5"/>
            <p:cNvSpPr/>
            <p:nvPr/>
          </p:nvSpPr>
          <p:spPr>
            <a:xfrm>
              <a:off x="1005458" y="3112388"/>
              <a:ext cx="609600" cy="533400"/>
            </a:xfrm>
            <a:custGeom>
              <a:avLst/>
              <a:gdLst/>
              <a:ahLst/>
              <a:cxnLst/>
              <a:rect l="l" t="t" r="r" b="b"/>
              <a:pathLst>
                <a:path w="609600" h="533400">
                  <a:moveTo>
                    <a:pt x="6096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609600" y="5334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" name="object 6"/>
            <p:cNvSpPr/>
            <p:nvPr/>
          </p:nvSpPr>
          <p:spPr>
            <a:xfrm>
              <a:off x="1005458" y="3112388"/>
              <a:ext cx="609600" cy="533400"/>
            </a:xfrm>
            <a:custGeom>
              <a:avLst/>
              <a:gdLst/>
              <a:ahLst/>
              <a:cxnLst/>
              <a:rect l="l" t="t" r="r" b="b"/>
              <a:pathLst>
                <a:path w="609600" h="533400">
                  <a:moveTo>
                    <a:pt x="0" y="533400"/>
                  </a:moveTo>
                  <a:lnTo>
                    <a:pt x="609600" y="533400"/>
                  </a:lnTo>
                  <a:lnTo>
                    <a:pt x="6096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" name="object 7"/>
            <p:cNvSpPr/>
            <p:nvPr/>
          </p:nvSpPr>
          <p:spPr>
            <a:xfrm>
              <a:off x="1615058" y="3379088"/>
              <a:ext cx="381000" cy="76200"/>
            </a:xfrm>
            <a:custGeom>
              <a:avLst/>
              <a:gdLst/>
              <a:ahLst/>
              <a:cxnLst/>
              <a:rect l="l" t="t" r="r" b="b"/>
              <a:pathLst>
                <a:path w="381000" h="76200">
                  <a:moveTo>
                    <a:pt x="304799" y="0"/>
                  </a:moveTo>
                  <a:lnTo>
                    <a:pt x="304799" y="76200"/>
                  </a:lnTo>
                  <a:lnTo>
                    <a:pt x="368299" y="44450"/>
                  </a:lnTo>
                  <a:lnTo>
                    <a:pt x="317499" y="44450"/>
                  </a:lnTo>
                  <a:lnTo>
                    <a:pt x="317499" y="31750"/>
                  </a:lnTo>
                  <a:lnTo>
                    <a:pt x="368299" y="31750"/>
                  </a:lnTo>
                  <a:lnTo>
                    <a:pt x="304799" y="0"/>
                  </a:lnTo>
                  <a:close/>
                </a:path>
                <a:path w="381000" h="76200">
                  <a:moveTo>
                    <a:pt x="304799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304799" y="44450"/>
                  </a:lnTo>
                  <a:lnTo>
                    <a:pt x="304799" y="31750"/>
                  </a:lnTo>
                  <a:close/>
                </a:path>
                <a:path w="381000" h="76200">
                  <a:moveTo>
                    <a:pt x="368299" y="31750"/>
                  </a:moveTo>
                  <a:lnTo>
                    <a:pt x="317499" y="31750"/>
                  </a:lnTo>
                  <a:lnTo>
                    <a:pt x="317499" y="44450"/>
                  </a:lnTo>
                  <a:lnTo>
                    <a:pt x="368299" y="44450"/>
                  </a:lnTo>
                  <a:lnTo>
                    <a:pt x="380999" y="38100"/>
                  </a:lnTo>
                  <a:lnTo>
                    <a:pt x="368299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" name="object 8"/>
            <p:cNvSpPr/>
            <p:nvPr/>
          </p:nvSpPr>
          <p:spPr>
            <a:xfrm>
              <a:off x="1996058" y="3112388"/>
              <a:ext cx="609600" cy="533400"/>
            </a:xfrm>
            <a:custGeom>
              <a:avLst/>
              <a:gdLst/>
              <a:ahLst/>
              <a:cxnLst/>
              <a:rect l="l" t="t" r="r" b="b"/>
              <a:pathLst>
                <a:path w="609600" h="533400">
                  <a:moveTo>
                    <a:pt x="6096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609600" y="5334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" name="object 9"/>
            <p:cNvSpPr/>
            <p:nvPr/>
          </p:nvSpPr>
          <p:spPr>
            <a:xfrm>
              <a:off x="1996058" y="3112388"/>
              <a:ext cx="609600" cy="533400"/>
            </a:xfrm>
            <a:custGeom>
              <a:avLst/>
              <a:gdLst/>
              <a:ahLst/>
              <a:cxnLst/>
              <a:rect l="l" t="t" r="r" b="b"/>
              <a:pathLst>
                <a:path w="609600" h="533400">
                  <a:moveTo>
                    <a:pt x="0" y="533400"/>
                  </a:moveTo>
                  <a:lnTo>
                    <a:pt x="609600" y="533400"/>
                  </a:lnTo>
                  <a:lnTo>
                    <a:pt x="6096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" name="object 10"/>
            <p:cNvSpPr/>
            <p:nvPr/>
          </p:nvSpPr>
          <p:spPr>
            <a:xfrm>
              <a:off x="2605658" y="3379088"/>
              <a:ext cx="381000" cy="76200"/>
            </a:xfrm>
            <a:custGeom>
              <a:avLst/>
              <a:gdLst/>
              <a:ahLst/>
              <a:cxnLst/>
              <a:rect l="l" t="t" r="r" b="b"/>
              <a:pathLst>
                <a:path w="381000" h="76200">
                  <a:moveTo>
                    <a:pt x="304800" y="0"/>
                  </a:moveTo>
                  <a:lnTo>
                    <a:pt x="304800" y="76200"/>
                  </a:lnTo>
                  <a:lnTo>
                    <a:pt x="368300" y="44450"/>
                  </a:lnTo>
                  <a:lnTo>
                    <a:pt x="317500" y="44450"/>
                  </a:lnTo>
                  <a:lnTo>
                    <a:pt x="317500" y="31750"/>
                  </a:lnTo>
                  <a:lnTo>
                    <a:pt x="368300" y="31750"/>
                  </a:lnTo>
                  <a:lnTo>
                    <a:pt x="304800" y="0"/>
                  </a:lnTo>
                  <a:close/>
                </a:path>
                <a:path w="381000" h="76200">
                  <a:moveTo>
                    <a:pt x="3048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304800" y="44450"/>
                  </a:lnTo>
                  <a:lnTo>
                    <a:pt x="304800" y="31750"/>
                  </a:lnTo>
                  <a:close/>
                </a:path>
                <a:path w="381000" h="76200">
                  <a:moveTo>
                    <a:pt x="368300" y="31750"/>
                  </a:moveTo>
                  <a:lnTo>
                    <a:pt x="317500" y="31750"/>
                  </a:lnTo>
                  <a:lnTo>
                    <a:pt x="317500" y="44450"/>
                  </a:lnTo>
                  <a:lnTo>
                    <a:pt x="368300" y="44450"/>
                  </a:lnTo>
                  <a:lnTo>
                    <a:pt x="381000" y="38100"/>
                  </a:lnTo>
                  <a:lnTo>
                    <a:pt x="36830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" name="object 11"/>
            <p:cNvSpPr/>
            <p:nvPr/>
          </p:nvSpPr>
          <p:spPr>
            <a:xfrm>
              <a:off x="2986658" y="3112388"/>
              <a:ext cx="609600" cy="533400"/>
            </a:xfrm>
            <a:custGeom>
              <a:avLst/>
              <a:gdLst/>
              <a:ahLst/>
              <a:cxnLst/>
              <a:rect l="l" t="t" r="r" b="b"/>
              <a:pathLst>
                <a:path w="609600" h="533400">
                  <a:moveTo>
                    <a:pt x="609599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609599" y="533400"/>
                  </a:lnTo>
                  <a:lnTo>
                    <a:pt x="609599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" name="object 12"/>
            <p:cNvSpPr/>
            <p:nvPr/>
          </p:nvSpPr>
          <p:spPr>
            <a:xfrm>
              <a:off x="2986658" y="3112388"/>
              <a:ext cx="609600" cy="533400"/>
            </a:xfrm>
            <a:custGeom>
              <a:avLst/>
              <a:gdLst/>
              <a:ahLst/>
              <a:cxnLst/>
              <a:rect l="l" t="t" r="r" b="b"/>
              <a:pathLst>
                <a:path w="609600" h="533400">
                  <a:moveTo>
                    <a:pt x="0" y="533400"/>
                  </a:moveTo>
                  <a:lnTo>
                    <a:pt x="609599" y="533400"/>
                  </a:lnTo>
                  <a:lnTo>
                    <a:pt x="609599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" name="object 13"/>
            <p:cNvSpPr/>
            <p:nvPr/>
          </p:nvSpPr>
          <p:spPr>
            <a:xfrm>
              <a:off x="3596258" y="3379088"/>
              <a:ext cx="381000" cy="76200"/>
            </a:xfrm>
            <a:custGeom>
              <a:avLst/>
              <a:gdLst/>
              <a:ahLst/>
              <a:cxnLst/>
              <a:rect l="l" t="t" r="r" b="b"/>
              <a:pathLst>
                <a:path w="381000" h="76200">
                  <a:moveTo>
                    <a:pt x="304800" y="0"/>
                  </a:moveTo>
                  <a:lnTo>
                    <a:pt x="304800" y="76200"/>
                  </a:lnTo>
                  <a:lnTo>
                    <a:pt x="368300" y="44450"/>
                  </a:lnTo>
                  <a:lnTo>
                    <a:pt x="317500" y="44450"/>
                  </a:lnTo>
                  <a:lnTo>
                    <a:pt x="317500" y="31750"/>
                  </a:lnTo>
                  <a:lnTo>
                    <a:pt x="368300" y="31750"/>
                  </a:lnTo>
                  <a:lnTo>
                    <a:pt x="304800" y="0"/>
                  </a:lnTo>
                  <a:close/>
                </a:path>
                <a:path w="381000" h="76200">
                  <a:moveTo>
                    <a:pt x="3048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304800" y="44450"/>
                  </a:lnTo>
                  <a:lnTo>
                    <a:pt x="304800" y="31750"/>
                  </a:lnTo>
                  <a:close/>
                </a:path>
                <a:path w="381000" h="76200">
                  <a:moveTo>
                    <a:pt x="368300" y="31750"/>
                  </a:moveTo>
                  <a:lnTo>
                    <a:pt x="317500" y="31750"/>
                  </a:lnTo>
                  <a:lnTo>
                    <a:pt x="317500" y="44450"/>
                  </a:lnTo>
                  <a:lnTo>
                    <a:pt x="368300" y="44450"/>
                  </a:lnTo>
                  <a:lnTo>
                    <a:pt x="381000" y="38100"/>
                  </a:lnTo>
                  <a:lnTo>
                    <a:pt x="36830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" name="object 14"/>
            <p:cNvSpPr/>
            <p:nvPr/>
          </p:nvSpPr>
          <p:spPr>
            <a:xfrm>
              <a:off x="3977258" y="3112388"/>
              <a:ext cx="609600" cy="533400"/>
            </a:xfrm>
            <a:custGeom>
              <a:avLst/>
              <a:gdLst/>
              <a:ahLst/>
              <a:cxnLst/>
              <a:rect l="l" t="t" r="r" b="b"/>
              <a:pathLst>
                <a:path w="609600" h="533400">
                  <a:moveTo>
                    <a:pt x="6096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609600" y="5334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" name="object 15"/>
            <p:cNvSpPr/>
            <p:nvPr/>
          </p:nvSpPr>
          <p:spPr>
            <a:xfrm>
              <a:off x="3977258" y="3112388"/>
              <a:ext cx="609600" cy="533400"/>
            </a:xfrm>
            <a:custGeom>
              <a:avLst/>
              <a:gdLst/>
              <a:ahLst/>
              <a:cxnLst/>
              <a:rect l="l" t="t" r="r" b="b"/>
              <a:pathLst>
                <a:path w="609600" h="533400">
                  <a:moveTo>
                    <a:pt x="0" y="533400"/>
                  </a:moveTo>
                  <a:lnTo>
                    <a:pt x="609600" y="533400"/>
                  </a:lnTo>
                  <a:lnTo>
                    <a:pt x="6096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" name="object 16"/>
            <p:cNvSpPr/>
            <p:nvPr/>
          </p:nvSpPr>
          <p:spPr>
            <a:xfrm>
              <a:off x="4586859" y="3379088"/>
              <a:ext cx="381000" cy="76200"/>
            </a:xfrm>
            <a:custGeom>
              <a:avLst/>
              <a:gdLst/>
              <a:ahLst/>
              <a:cxnLst/>
              <a:rect l="l" t="t" r="r" b="b"/>
              <a:pathLst>
                <a:path w="381000" h="76200">
                  <a:moveTo>
                    <a:pt x="304800" y="0"/>
                  </a:moveTo>
                  <a:lnTo>
                    <a:pt x="304800" y="76200"/>
                  </a:lnTo>
                  <a:lnTo>
                    <a:pt x="368300" y="44450"/>
                  </a:lnTo>
                  <a:lnTo>
                    <a:pt x="317500" y="44450"/>
                  </a:lnTo>
                  <a:lnTo>
                    <a:pt x="317500" y="31750"/>
                  </a:lnTo>
                  <a:lnTo>
                    <a:pt x="368300" y="31750"/>
                  </a:lnTo>
                  <a:lnTo>
                    <a:pt x="304800" y="0"/>
                  </a:lnTo>
                  <a:close/>
                </a:path>
                <a:path w="381000" h="76200">
                  <a:moveTo>
                    <a:pt x="3048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304800" y="44450"/>
                  </a:lnTo>
                  <a:lnTo>
                    <a:pt x="304800" y="31750"/>
                  </a:lnTo>
                  <a:close/>
                </a:path>
                <a:path w="381000" h="76200">
                  <a:moveTo>
                    <a:pt x="368300" y="31750"/>
                  </a:moveTo>
                  <a:lnTo>
                    <a:pt x="317500" y="31750"/>
                  </a:lnTo>
                  <a:lnTo>
                    <a:pt x="317500" y="44450"/>
                  </a:lnTo>
                  <a:lnTo>
                    <a:pt x="368300" y="44450"/>
                  </a:lnTo>
                  <a:lnTo>
                    <a:pt x="381000" y="38100"/>
                  </a:lnTo>
                  <a:lnTo>
                    <a:pt x="36830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" name="object 17"/>
            <p:cNvSpPr/>
            <p:nvPr/>
          </p:nvSpPr>
          <p:spPr>
            <a:xfrm>
              <a:off x="4967859" y="3112388"/>
              <a:ext cx="609600" cy="533400"/>
            </a:xfrm>
            <a:custGeom>
              <a:avLst/>
              <a:gdLst/>
              <a:ahLst/>
              <a:cxnLst/>
              <a:rect l="l" t="t" r="r" b="b"/>
              <a:pathLst>
                <a:path w="609600" h="533400">
                  <a:moveTo>
                    <a:pt x="6096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609600" y="5334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" name="object 18"/>
            <p:cNvSpPr/>
            <p:nvPr/>
          </p:nvSpPr>
          <p:spPr>
            <a:xfrm>
              <a:off x="4967859" y="3112388"/>
              <a:ext cx="609600" cy="533400"/>
            </a:xfrm>
            <a:custGeom>
              <a:avLst/>
              <a:gdLst/>
              <a:ahLst/>
              <a:cxnLst/>
              <a:rect l="l" t="t" r="r" b="b"/>
              <a:pathLst>
                <a:path w="609600" h="533400">
                  <a:moveTo>
                    <a:pt x="0" y="533400"/>
                  </a:moveTo>
                  <a:lnTo>
                    <a:pt x="609600" y="533400"/>
                  </a:lnTo>
                  <a:lnTo>
                    <a:pt x="6096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" name="object 19"/>
            <p:cNvSpPr/>
            <p:nvPr/>
          </p:nvSpPr>
          <p:spPr>
            <a:xfrm>
              <a:off x="5577459" y="3379088"/>
              <a:ext cx="381000" cy="76200"/>
            </a:xfrm>
            <a:custGeom>
              <a:avLst/>
              <a:gdLst/>
              <a:ahLst/>
              <a:cxnLst/>
              <a:rect l="l" t="t" r="r" b="b"/>
              <a:pathLst>
                <a:path w="381000" h="76200">
                  <a:moveTo>
                    <a:pt x="304800" y="0"/>
                  </a:moveTo>
                  <a:lnTo>
                    <a:pt x="304800" y="76200"/>
                  </a:lnTo>
                  <a:lnTo>
                    <a:pt x="368300" y="44450"/>
                  </a:lnTo>
                  <a:lnTo>
                    <a:pt x="317500" y="44450"/>
                  </a:lnTo>
                  <a:lnTo>
                    <a:pt x="317500" y="31750"/>
                  </a:lnTo>
                  <a:lnTo>
                    <a:pt x="368300" y="31750"/>
                  </a:lnTo>
                  <a:lnTo>
                    <a:pt x="304800" y="0"/>
                  </a:lnTo>
                  <a:close/>
                </a:path>
                <a:path w="381000" h="76200">
                  <a:moveTo>
                    <a:pt x="3048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304800" y="44450"/>
                  </a:lnTo>
                  <a:lnTo>
                    <a:pt x="304800" y="31750"/>
                  </a:lnTo>
                  <a:close/>
                </a:path>
                <a:path w="381000" h="76200">
                  <a:moveTo>
                    <a:pt x="368300" y="31750"/>
                  </a:moveTo>
                  <a:lnTo>
                    <a:pt x="317500" y="31750"/>
                  </a:lnTo>
                  <a:lnTo>
                    <a:pt x="317500" y="44450"/>
                  </a:lnTo>
                  <a:lnTo>
                    <a:pt x="368300" y="44450"/>
                  </a:lnTo>
                  <a:lnTo>
                    <a:pt x="381000" y="38100"/>
                  </a:lnTo>
                  <a:lnTo>
                    <a:pt x="36830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" name="object 20"/>
            <p:cNvSpPr/>
            <p:nvPr/>
          </p:nvSpPr>
          <p:spPr>
            <a:xfrm>
              <a:off x="5958459" y="3112388"/>
              <a:ext cx="609600" cy="533400"/>
            </a:xfrm>
            <a:custGeom>
              <a:avLst/>
              <a:gdLst/>
              <a:ahLst/>
              <a:cxnLst/>
              <a:rect l="l" t="t" r="r" b="b"/>
              <a:pathLst>
                <a:path w="609600" h="533400">
                  <a:moveTo>
                    <a:pt x="6096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609600" y="5334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" name="object 21"/>
            <p:cNvSpPr/>
            <p:nvPr/>
          </p:nvSpPr>
          <p:spPr>
            <a:xfrm>
              <a:off x="5958459" y="3112388"/>
              <a:ext cx="609600" cy="533400"/>
            </a:xfrm>
            <a:custGeom>
              <a:avLst/>
              <a:gdLst/>
              <a:ahLst/>
              <a:cxnLst/>
              <a:rect l="l" t="t" r="r" b="b"/>
              <a:pathLst>
                <a:path w="609600" h="533400">
                  <a:moveTo>
                    <a:pt x="0" y="533400"/>
                  </a:moveTo>
                  <a:lnTo>
                    <a:pt x="609600" y="533400"/>
                  </a:lnTo>
                  <a:lnTo>
                    <a:pt x="6096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" name="object 22"/>
            <p:cNvSpPr/>
            <p:nvPr/>
          </p:nvSpPr>
          <p:spPr>
            <a:xfrm>
              <a:off x="6568059" y="3379088"/>
              <a:ext cx="381000" cy="76200"/>
            </a:xfrm>
            <a:custGeom>
              <a:avLst/>
              <a:gdLst/>
              <a:ahLst/>
              <a:cxnLst/>
              <a:rect l="l" t="t" r="r" b="b"/>
              <a:pathLst>
                <a:path w="381000" h="76200">
                  <a:moveTo>
                    <a:pt x="304800" y="0"/>
                  </a:moveTo>
                  <a:lnTo>
                    <a:pt x="304800" y="76200"/>
                  </a:lnTo>
                  <a:lnTo>
                    <a:pt x="368300" y="44450"/>
                  </a:lnTo>
                  <a:lnTo>
                    <a:pt x="317500" y="44450"/>
                  </a:lnTo>
                  <a:lnTo>
                    <a:pt x="317500" y="31750"/>
                  </a:lnTo>
                  <a:lnTo>
                    <a:pt x="368300" y="31750"/>
                  </a:lnTo>
                  <a:lnTo>
                    <a:pt x="304800" y="0"/>
                  </a:lnTo>
                  <a:close/>
                </a:path>
                <a:path w="381000" h="76200">
                  <a:moveTo>
                    <a:pt x="3048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304800" y="44450"/>
                  </a:lnTo>
                  <a:lnTo>
                    <a:pt x="304800" y="31750"/>
                  </a:lnTo>
                  <a:close/>
                </a:path>
                <a:path w="381000" h="76200">
                  <a:moveTo>
                    <a:pt x="368300" y="31750"/>
                  </a:moveTo>
                  <a:lnTo>
                    <a:pt x="317500" y="31750"/>
                  </a:lnTo>
                  <a:lnTo>
                    <a:pt x="317500" y="44450"/>
                  </a:lnTo>
                  <a:lnTo>
                    <a:pt x="368300" y="44450"/>
                  </a:lnTo>
                  <a:lnTo>
                    <a:pt x="381000" y="38100"/>
                  </a:lnTo>
                  <a:lnTo>
                    <a:pt x="36830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" name="object 23"/>
            <p:cNvSpPr/>
            <p:nvPr/>
          </p:nvSpPr>
          <p:spPr>
            <a:xfrm>
              <a:off x="6949059" y="3112388"/>
              <a:ext cx="609600" cy="533400"/>
            </a:xfrm>
            <a:custGeom>
              <a:avLst/>
              <a:gdLst/>
              <a:ahLst/>
              <a:cxnLst/>
              <a:rect l="l" t="t" r="r" b="b"/>
              <a:pathLst>
                <a:path w="609600" h="533400">
                  <a:moveTo>
                    <a:pt x="6096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609600" y="5334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" name="object 24"/>
            <p:cNvSpPr/>
            <p:nvPr/>
          </p:nvSpPr>
          <p:spPr>
            <a:xfrm>
              <a:off x="6949059" y="3112388"/>
              <a:ext cx="609600" cy="533400"/>
            </a:xfrm>
            <a:custGeom>
              <a:avLst/>
              <a:gdLst/>
              <a:ahLst/>
              <a:cxnLst/>
              <a:rect l="l" t="t" r="r" b="b"/>
              <a:pathLst>
                <a:path w="609600" h="533400">
                  <a:moveTo>
                    <a:pt x="0" y="533400"/>
                  </a:moveTo>
                  <a:lnTo>
                    <a:pt x="609600" y="533400"/>
                  </a:lnTo>
                  <a:lnTo>
                    <a:pt x="6096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73" name="object 25"/>
          <p:cNvSpPr txBox="1"/>
          <p:nvPr/>
        </p:nvSpPr>
        <p:spPr>
          <a:xfrm>
            <a:off x="685800" y="1371600"/>
            <a:ext cx="8221980" cy="226377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41300" marR="662305" indent="-228600" fontAlgn="auto">
              <a:lnSpc>
                <a:spcPts val="2380"/>
              </a:lnSpc>
              <a:spcBef>
                <a:spcPts val="395"/>
              </a:spcBef>
              <a:spcAft>
                <a:spcPts val="0"/>
              </a:spcAft>
              <a:buFont typeface="Wingdings"/>
              <a:buChar char=""/>
              <a:tabLst>
                <a:tab pos="241300" algn="l"/>
              </a:tabLst>
            </a:pPr>
            <a:r>
              <a:rPr sz="2200" spc="25" dirty="0">
                <a:solidFill>
                  <a:prstClr val="black"/>
                </a:solidFill>
                <a:latin typeface="Tahoma"/>
                <a:cs typeface="Tahoma"/>
              </a:rPr>
              <a:t>Data</a:t>
            </a:r>
            <a:r>
              <a:rPr sz="22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prstClr val="black"/>
                </a:solidFill>
                <a:latin typeface="Tahoma"/>
                <a:cs typeface="Tahoma"/>
              </a:rPr>
              <a:t>structures</a:t>
            </a:r>
            <a:r>
              <a:rPr sz="22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2200" spc="-25" dirty="0">
                <a:solidFill>
                  <a:prstClr val="black"/>
                </a:solidFill>
                <a:latin typeface="Tahoma"/>
                <a:cs typeface="Tahoma"/>
              </a:rPr>
              <a:t>let</a:t>
            </a:r>
            <a:r>
              <a:rPr sz="22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2200" spc="-20" dirty="0">
                <a:solidFill>
                  <a:prstClr val="black"/>
                </a:solidFill>
                <a:latin typeface="Tahoma"/>
                <a:cs typeface="Tahoma"/>
              </a:rPr>
              <a:t>the</a:t>
            </a:r>
            <a:r>
              <a:rPr sz="22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2200" spc="-30" dirty="0">
                <a:solidFill>
                  <a:prstClr val="black"/>
                </a:solidFill>
                <a:latin typeface="Tahoma"/>
                <a:cs typeface="Tahoma"/>
              </a:rPr>
              <a:t>input</a:t>
            </a:r>
            <a:r>
              <a:rPr sz="22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2200" spc="25" dirty="0">
                <a:solidFill>
                  <a:prstClr val="black"/>
                </a:solidFill>
                <a:latin typeface="Tahoma"/>
                <a:cs typeface="Tahoma"/>
              </a:rPr>
              <a:t>and</a:t>
            </a:r>
            <a:r>
              <a:rPr sz="22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2200" spc="-40" dirty="0">
                <a:solidFill>
                  <a:prstClr val="black"/>
                </a:solidFill>
                <a:latin typeface="Tahoma"/>
                <a:cs typeface="Tahoma"/>
              </a:rPr>
              <a:t>output</a:t>
            </a:r>
            <a:r>
              <a:rPr sz="22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2200" spc="35" dirty="0">
                <a:solidFill>
                  <a:prstClr val="black"/>
                </a:solidFill>
                <a:latin typeface="Tahoma"/>
                <a:cs typeface="Tahoma"/>
              </a:rPr>
              <a:t>be</a:t>
            </a:r>
            <a:r>
              <a:rPr sz="22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2200" spc="10" dirty="0">
                <a:solidFill>
                  <a:prstClr val="black"/>
                </a:solidFill>
                <a:latin typeface="Tahoma"/>
                <a:cs typeface="Tahoma"/>
              </a:rPr>
              <a:t>represented</a:t>
            </a:r>
            <a:r>
              <a:rPr sz="2200" spc="-6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prstClr val="black"/>
                </a:solidFill>
                <a:latin typeface="Tahoma"/>
                <a:cs typeface="Tahoma"/>
              </a:rPr>
              <a:t>in</a:t>
            </a:r>
            <a:r>
              <a:rPr sz="22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2200" spc="65" dirty="0">
                <a:solidFill>
                  <a:prstClr val="black"/>
                </a:solidFill>
                <a:latin typeface="Tahoma"/>
                <a:cs typeface="Tahoma"/>
              </a:rPr>
              <a:t>a </a:t>
            </a:r>
            <a:r>
              <a:rPr sz="2200" spc="-6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2200" spc="10" dirty="0">
                <a:solidFill>
                  <a:prstClr val="black"/>
                </a:solidFill>
                <a:latin typeface="Tahoma"/>
                <a:cs typeface="Tahoma"/>
              </a:rPr>
              <a:t>way</a:t>
            </a:r>
            <a:r>
              <a:rPr sz="22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2200" spc="-50" dirty="0">
                <a:solidFill>
                  <a:prstClr val="black"/>
                </a:solidFill>
                <a:latin typeface="Tahoma"/>
                <a:cs typeface="Tahoma"/>
              </a:rPr>
              <a:t>that</a:t>
            </a:r>
            <a:r>
              <a:rPr sz="22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2200" spc="50" dirty="0">
                <a:solidFill>
                  <a:prstClr val="black"/>
                </a:solidFill>
                <a:latin typeface="Tahoma"/>
                <a:cs typeface="Tahoma"/>
              </a:rPr>
              <a:t>can</a:t>
            </a:r>
            <a:r>
              <a:rPr sz="22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2200" spc="35" dirty="0">
                <a:solidFill>
                  <a:prstClr val="black"/>
                </a:solidFill>
                <a:latin typeface="Tahoma"/>
                <a:cs typeface="Tahoma"/>
              </a:rPr>
              <a:t>be</a:t>
            </a:r>
            <a:r>
              <a:rPr sz="22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2200" spc="15" dirty="0">
                <a:solidFill>
                  <a:prstClr val="black"/>
                </a:solidFill>
                <a:latin typeface="Tahoma"/>
                <a:cs typeface="Tahoma"/>
              </a:rPr>
              <a:t>handled</a:t>
            </a:r>
            <a:r>
              <a:rPr sz="22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Tahoma"/>
                <a:cs typeface="Tahoma"/>
              </a:rPr>
              <a:t>efficiently</a:t>
            </a:r>
            <a:r>
              <a:rPr sz="22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2200" spc="25" dirty="0">
                <a:solidFill>
                  <a:prstClr val="black"/>
                </a:solidFill>
                <a:latin typeface="Tahoma"/>
                <a:cs typeface="Tahoma"/>
              </a:rPr>
              <a:t>and</a:t>
            </a:r>
            <a:r>
              <a:rPr sz="22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prstClr val="black"/>
                </a:solidFill>
                <a:latin typeface="Tahoma"/>
                <a:cs typeface="Tahoma"/>
              </a:rPr>
              <a:t>effectively</a:t>
            </a:r>
            <a:endParaRPr sz="22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7079615" marR="5080" indent="152400" fontAlgn="auto">
              <a:lnSpc>
                <a:spcPct val="261500"/>
              </a:lnSpc>
              <a:spcBef>
                <a:spcPts val="15"/>
              </a:spcBef>
              <a:spcAft>
                <a:spcPts val="0"/>
              </a:spcAft>
            </a:pPr>
            <a:r>
              <a:rPr sz="2000" dirty="0">
                <a:solidFill>
                  <a:prstClr val="black"/>
                </a:solidFill>
                <a:latin typeface="Tahoma"/>
                <a:cs typeface="Tahoma"/>
              </a:rPr>
              <a:t>array </a:t>
            </a:r>
            <a:r>
              <a:rPr sz="2000" spc="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2000" spc="25" dirty="0">
                <a:solidFill>
                  <a:prstClr val="black"/>
                </a:solidFill>
                <a:latin typeface="Tahoma"/>
                <a:cs typeface="Tahoma"/>
              </a:rPr>
              <a:t>Linked</a:t>
            </a:r>
            <a:r>
              <a:rPr sz="2000" spc="-14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prstClr val="black"/>
                </a:solidFill>
                <a:latin typeface="Tahoma"/>
                <a:cs typeface="Tahoma"/>
              </a:rPr>
              <a:t>list</a:t>
            </a:r>
            <a:endParaRPr sz="2000" dirty="0">
              <a:solidFill>
                <a:prstClr val="black"/>
              </a:solidFill>
              <a:latin typeface="Tahoma"/>
              <a:cs typeface="Tahoma"/>
            </a:endParaRPr>
          </a:p>
        </p:txBody>
      </p:sp>
      <p:grpSp>
        <p:nvGrpSpPr>
          <p:cNvPr id="74" name="object 26"/>
          <p:cNvGrpSpPr/>
          <p:nvPr/>
        </p:nvGrpSpPr>
        <p:grpSpPr>
          <a:xfrm>
            <a:off x="366268" y="4416806"/>
            <a:ext cx="2143760" cy="1457960"/>
            <a:chOff x="387858" y="4215384"/>
            <a:chExt cx="2143760" cy="1457960"/>
          </a:xfrm>
        </p:grpSpPr>
        <p:sp>
          <p:nvSpPr>
            <p:cNvPr id="75" name="object 27"/>
            <p:cNvSpPr/>
            <p:nvPr/>
          </p:nvSpPr>
          <p:spPr>
            <a:xfrm>
              <a:off x="1307211" y="422033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7766" y="200582"/>
                  </a:lnTo>
                  <a:lnTo>
                    <a:pt x="29394" y="242419"/>
                  </a:lnTo>
                  <a:lnTo>
                    <a:pt x="62380" y="275405"/>
                  </a:lnTo>
                  <a:lnTo>
                    <a:pt x="104217" y="297033"/>
                  </a:lnTo>
                  <a:lnTo>
                    <a:pt x="152400" y="304800"/>
                  </a:lnTo>
                  <a:lnTo>
                    <a:pt x="200582" y="297033"/>
                  </a:lnTo>
                  <a:lnTo>
                    <a:pt x="242419" y="275405"/>
                  </a:lnTo>
                  <a:lnTo>
                    <a:pt x="275405" y="242419"/>
                  </a:lnTo>
                  <a:lnTo>
                    <a:pt x="297033" y="200582"/>
                  </a:lnTo>
                  <a:lnTo>
                    <a:pt x="304800" y="152400"/>
                  </a:lnTo>
                  <a:lnTo>
                    <a:pt x="297033" y="104217"/>
                  </a:lnTo>
                  <a:lnTo>
                    <a:pt x="275405" y="62380"/>
                  </a:lnTo>
                  <a:lnTo>
                    <a:pt x="242419" y="29394"/>
                  </a:lnTo>
                  <a:lnTo>
                    <a:pt x="200582" y="776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" name="object 28"/>
            <p:cNvSpPr/>
            <p:nvPr/>
          </p:nvSpPr>
          <p:spPr>
            <a:xfrm>
              <a:off x="1307211" y="422033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200582" y="7766"/>
                  </a:lnTo>
                  <a:lnTo>
                    <a:pt x="242419" y="29394"/>
                  </a:lnTo>
                  <a:lnTo>
                    <a:pt x="275405" y="62380"/>
                  </a:lnTo>
                  <a:lnTo>
                    <a:pt x="297033" y="104217"/>
                  </a:ln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104217" y="297033"/>
                  </a:lnTo>
                  <a:lnTo>
                    <a:pt x="62380" y="275405"/>
                  </a:lnTo>
                  <a:lnTo>
                    <a:pt x="29394" y="242419"/>
                  </a:lnTo>
                  <a:lnTo>
                    <a:pt x="7766" y="200582"/>
                  </a:lnTo>
                  <a:lnTo>
                    <a:pt x="0" y="1524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" name="object 29"/>
            <p:cNvSpPr/>
            <p:nvPr/>
          </p:nvSpPr>
          <p:spPr>
            <a:xfrm>
              <a:off x="850011" y="475373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31" y="7766"/>
                  </a:lnTo>
                  <a:lnTo>
                    <a:pt x="62396" y="29394"/>
                  </a:lnTo>
                  <a:lnTo>
                    <a:pt x="29405" y="62380"/>
                  </a:lnTo>
                  <a:lnTo>
                    <a:pt x="7769" y="104217"/>
                  </a:lnTo>
                  <a:lnTo>
                    <a:pt x="0" y="152400"/>
                  </a:lnTo>
                  <a:lnTo>
                    <a:pt x="7769" y="200582"/>
                  </a:lnTo>
                  <a:lnTo>
                    <a:pt x="29405" y="242419"/>
                  </a:lnTo>
                  <a:lnTo>
                    <a:pt x="62396" y="275405"/>
                  </a:lnTo>
                  <a:lnTo>
                    <a:pt x="104231" y="297033"/>
                  </a:lnTo>
                  <a:lnTo>
                    <a:pt x="152400" y="304800"/>
                  </a:lnTo>
                  <a:lnTo>
                    <a:pt x="200568" y="297033"/>
                  </a:lnTo>
                  <a:lnTo>
                    <a:pt x="242403" y="275405"/>
                  </a:lnTo>
                  <a:lnTo>
                    <a:pt x="275394" y="242419"/>
                  </a:lnTo>
                  <a:lnTo>
                    <a:pt x="297030" y="200582"/>
                  </a:lnTo>
                  <a:lnTo>
                    <a:pt x="304800" y="152400"/>
                  </a:lnTo>
                  <a:lnTo>
                    <a:pt x="297030" y="104217"/>
                  </a:lnTo>
                  <a:lnTo>
                    <a:pt x="275394" y="62380"/>
                  </a:lnTo>
                  <a:lnTo>
                    <a:pt x="242403" y="29394"/>
                  </a:lnTo>
                  <a:lnTo>
                    <a:pt x="200568" y="776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" name="object 30"/>
            <p:cNvSpPr/>
            <p:nvPr/>
          </p:nvSpPr>
          <p:spPr>
            <a:xfrm>
              <a:off x="850011" y="4448937"/>
              <a:ext cx="533400" cy="609600"/>
            </a:xfrm>
            <a:custGeom>
              <a:avLst/>
              <a:gdLst/>
              <a:ahLst/>
              <a:cxnLst/>
              <a:rect l="l" t="t" r="r" b="b"/>
              <a:pathLst>
                <a:path w="533400" h="609600">
                  <a:moveTo>
                    <a:pt x="0" y="457200"/>
                  </a:moveTo>
                  <a:lnTo>
                    <a:pt x="7769" y="409017"/>
                  </a:lnTo>
                  <a:lnTo>
                    <a:pt x="29405" y="367180"/>
                  </a:lnTo>
                  <a:lnTo>
                    <a:pt x="62396" y="334194"/>
                  </a:lnTo>
                  <a:lnTo>
                    <a:pt x="104231" y="312566"/>
                  </a:lnTo>
                  <a:lnTo>
                    <a:pt x="152400" y="304800"/>
                  </a:lnTo>
                  <a:lnTo>
                    <a:pt x="200568" y="312566"/>
                  </a:lnTo>
                  <a:lnTo>
                    <a:pt x="242403" y="334194"/>
                  </a:lnTo>
                  <a:lnTo>
                    <a:pt x="275394" y="367180"/>
                  </a:lnTo>
                  <a:lnTo>
                    <a:pt x="297030" y="409017"/>
                  </a:lnTo>
                  <a:lnTo>
                    <a:pt x="304800" y="457200"/>
                  </a:lnTo>
                  <a:lnTo>
                    <a:pt x="297030" y="505382"/>
                  </a:lnTo>
                  <a:lnTo>
                    <a:pt x="275394" y="547219"/>
                  </a:lnTo>
                  <a:lnTo>
                    <a:pt x="242403" y="580205"/>
                  </a:lnTo>
                  <a:lnTo>
                    <a:pt x="200568" y="601833"/>
                  </a:lnTo>
                  <a:lnTo>
                    <a:pt x="152400" y="609600"/>
                  </a:lnTo>
                  <a:lnTo>
                    <a:pt x="104231" y="601833"/>
                  </a:lnTo>
                  <a:lnTo>
                    <a:pt x="62396" y="580205"/>
                  </a:lnTo>
                  <a:lnTo>
                    <a:pt x="29405" y="547219"/>
                  </a:lnTo>
                  <a:lnTo>
                    <a:pt x="7769" y="505382"/>
                  </a:lnTo>
                  <a:lnTo>
                    <a:pt x="0" y="457200"/>
                  </a:lnTo>
                  <a:close/>
                </a:path>
                <a:path w="533400" h="609600">
                  <a:moveTo>
                    <a:pt x="533400" y="0"/>
                  </a:moveTo>
                  <a:lnTo>
                    <a:pt x="228600" y="38100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" name="object 31"/>
            <p:cNvSpPr/>
            <p:nvPr/>
          </p:nvSpPr>
          <p:spPr>
            <a:xfrm>
              <a:off x="392811" y="528713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31" y="7766"/>
                  </a:lnTo>
                  <a:lnTo>
                    <a:pt x="62396" y="29394"/>
                  </a:lnTo>
                  <a:lnTo>
                    <a:pt x="29405" y="62380"/>
                  </a:lnTo>
                  <a:lnTo>
                    <a:pt x="7769" y="104217"/>
                  </a:lnTo>
                  <a:lnTo>
                    <a:pt x="0" y="152400"/>
                  </a:lnTo>
                  <a:lnTo>
                    <a:pt x="7769" y="200582"/>
                  </a:lnTo>
                  <a:lnTo>
                    <a:pt x="29405" y="242419"/>
                  </a:lnTo>
                  <a:lnTo>
                    <a:pt x="62396" y="275405"/>
                  </a:lnTo>
                  <a:lnTo>
                    <a:pt x="104231" y="297033"/>
                  </a:lnTo>
                  <a:lnTo>
                    <a:pt x="152400" y="304800"/>
                  </a:lnTo>
                  <a:lnTo>
                    <a:pt x="200568" y="297033"/>
                  </a:lnTo>
                  <a:lnTo>
                    <a:pt x="242403" y="275405"/>
                  </a:lnTo>
                  <a:lnTo>
                    <a:pt x="275394" y="242419"/>
                  </a:lnTo>
                  <a:lnTo>
                    <a:pt x="297030" y="200582"/>
                  </a:lnTo>
                  <a:lnTo>
                    <a:pt x="304800" y="152400"/>
                  </a:lnTo>
                  <a:lnTo>
                    <a:pt x="297030" y="104217"/>
                  </a:lnTo>
                  <a:lnTo>
                    <a:pt x="275394" y="62380"/>
                  </a:lnTo>
                  <a:lnTo>
                    <a:pt x="242403" y="29394"/>
                  </a:lnTo>
                  <a:lnTo>
                    <a:pt x="200568" y="776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" name="object 32"/>
            <p:cNvSpPr/>
            <p:nvPr/>
          </p:nvSpPr>
          <p:spPr>
            <a:xfrm>
              <a:off x="392811" y="5058537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381000"/>
                  </a:moveTo>
                  <a:lnTo>
                    <a:pt x="7769" y="332817"/>
                  </a:lnTo>
                  <a:lnTo>
                    <a:pt x="29405" y="290980"/>
                  </a:lnTo>
                  <a:lnTo>
                    <a:pt x="62396" y="257994"/>
                  </a:lnTo>
                  <a:lnTo>
                    <a:pt x="104231" y="236366"/>
                  </a:lnTo>
                  <a:lnTo>
                    <a:pt x="152400" y="228600"/>
                  </a:lnTo>
                  <a:lnTo>
                    <a:pt x="200568" y="236366"/>
                  </a:lnTo>
                  <a:lnTo>
                    <a:pt x="242403" y="257994"/>
                  </a:lnTo>
                  <a:lnTo>
                    <a:pt x="275394" y="290980"/>
                  </a:lnTo>
                  <a:lnTo>
                    <a:pt x="297030" y="332817"/>
                  </a:lnTo>
                  <a:lnTo>
                    <a:pt x="304800" y="381000"/>
                  </a:lnTo>
                  <a:lnTo>
                    <a:pt x="297030" y="429182"/>
                  </a:lnTo>
                  <a:lnTo>
                    <a:pt x="275394" y="471019"/>
                  </a:lnTo>
                  <a:lnTo>
                    <a:pt x="242403" y="504005"/>
                  </a:lnTo>
                  <a:lnTo>
                    <a:pt x="200568" y="525633"/>
                  </a:lnTo>
                  <a:lnTo>
                    <a:pt x="152400" y="533400"/>
                  </a:lnTo>
                  <a:lnTo>
                    <a:pt x="104231" y="525633"/>
                  </a:lnTo>
                  <a:lnTo>
                    <a:pt x="62396" y="504005"/>
                  </a:lnTo>
                  <a:lnTo>
                    <a:pt x="29405" y="471019"/>
                  </a:lnTo>
                  <a:lnTo>
                    <a:pt x="7769" y="429182"/>
                  </a:lnTo>
                  <a:lnTo>
                    <a:pt x="0" y="381000"/>
                  </a:lnTo>
                  <a:close/>
                </a:path>
                <a:path w="533400" h="533400">
                  <a:moveTo>
                    <a:pt x="533400" y="0"/>
                  </a:moveTo>
                  <a:lnTo>
                    <a:pt x="228600" y="30480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" name="object 33"/>
            <p:cNvSpPr/>
            <p:nvPr/>
          </p:nvSpPr>
          <p:spPr>
            <a:xfrm>
              <a:off x="1764411" y="475373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7766" y="200582"/>
                  </a:lnTo>
                  <a:lnTo>
                    <a:pt x="29394" y="242419"/>
                  </a:lnTo>
                  <a:lnTo>
                    <a:pt x="62380" y="275405"/>
                  </a:lnTo>
                  <a:lnTo>
                    <a:pt x="104217" y="297033"/>
                  </a:lnTo>
                  <a:lnTo>
                    <a:pt x="152400" y="304800"/>
                  </a:lnTo>
                  <a:lnTo>
                    <a:pt x="200582" y="297033"/>
                  </a:lnTo>
                  <a:lnTo>
                    <a:pt x="242419" y="275405"/>
                  </a:lnTo>
                  <a:lnTo>
                    <a:pt x="275405" y="242419"/>
                  </a:lnTo>
                  <a:lnTo>
                    <a:pt x="297033" y="200582"/>
                  </a:lnTo>
                  <a:lnTo>
                    <a:pt x="304800" y="152400"/>
                  </a:lnTo>
                  <a:lnTo>
                    <a:pt x="297033" y="104217"/>
                  </a:lnTo>
                  <a:lnTo>
                    <a:pt x="275405" y="62380"/>
                  </a:lnTo>
                  <a:lnTo>
                    <a:pt x="242419" y="29394"/>
                  </a:lnTo>
                  <a:lnTo>
                    <a:pt x="200582" y="776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" name="object 34"/>
            <p:cNvSpPr/>
            <p:nvPr/>
          </p:nvSpPr>
          <p:spPr>
            <a:xfrm>
              <a:off x="1612011" y="4525137"/>
              <a:ext cx="457200" cy="533400"/>
            </a:xfrm>
            <a:custGeom>
              <a:avLst/>
              <a:gdLst/>
              <a:ahLst/>
              <a:cxnLst/>
              <a:rect l="l" t="t" r="r" b="b"/>
              <a:pathLst>
                <a:path w="457200" h="533400">
                  <a:moveTo>
                    <a:pt x="152400" y="381000"/>
                  </a:moveTo>
                  <a:lnTo>
                    <a:pt x="160166" y="332817"/>
                  </a:lnTo>
                  <a:lnTo>
                    <a:pt x="181794" y="290980"/>
                  </a:lnTo>
                  <a:lnTo>
                    <a:pt x="214780" y="257994"/>
                  </a:lnTo>
                  <a:lnTo>
                    <a:pt x="256617" y="236366"/>
                  </a:lnTo>
                  <a:lnTo>
                    <a:pt x="304800" y="228600"/>
                  </a:lnTo>
                  <a:lnTo>
                    <a:pt x="352982" y="236366"/>
                  </a:lnTo>
                  <a:lnTo>
                    <a:pt x="394819" y="257994"/>
                  </a:lnTo>
                  <a:lnTo>
                    <a:pt x="427805" y="290980"/>
                  </a:lnTo>
                  <a:lnTo>
                    <a:pt x="449433" y="332817"/>
                  </a:lnTo>
                  <a:lnTo>
                    <a:pt x="457200" y="381000"/>
                  </a:lnTo>
                  <a:lnTo>
                    <a:pt x="449433" y="429182"/>
                  </a:lnTo>
                  <a:lnTo>
                    <a:pt x="427805" y="471019"/>
                  </a:lnTo>
                  <a:lnTo>
                    <a:pt x="394819" y="504005"/>
                  </a:lnTo>
                  <a:lnTo>
                    <a:pt x="352982" y="525633"/>
                  </a:lnTo>
                  <a:lnTo>
                    <a:pt x="304800" y="533400"/>
                  </a:lnTo>
                  <a:lnTo>
                    <a:pt x="256617" y="525633"/>
                  </a:lnTo>
                  <a:lnTo>
                    <a:pt x="214780" y="504005"/>
                  </a:lnTo>
                  <a:lnTo>
                    <a:pt x="181794" y="471019"/>
                  </a:lnTo>
                  <a:lnTo>
                    <a:pt x="160166" y="429182"/>
                  </a:lnTo>
                  <a:lnTo>
                    <a:pt x="152400" y="381000"/>
                  </a:lnTo>
                  <a:close/>
                </a:path>
                <a:path w="457200" h="533400">
                  <a:moveTo>
                    <a:pt x="0" y="0"/>
                  </a:moveTo>
                  <a:lnTo>
                    <a:pt x="228600" y="22860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" name="object 35"/>
            <p:cNvSpPr/>
            <p:nvPr/>
          </p:nvSpPr>
          <p:spPr>
            <a:xfrm>
              <a:off x="2221611" y="528713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7766" y="200582"/>
                  </a:lnTo>
                  <a:lnTo>
                    <a:pt x="29394" y="242419"/>
                  </a:lnTo>
                  <a:lnTo>
                    <a:pt x="62380" y="275405"/>
                  </a:lnTo>
                  <a:lnTo>
                    <a:pt x="104217" y="297033"/>
                  </a:lnTo>
                  <a:lnTo>
                    <a:pt x="152400" y="304800"/>
                  </a:lnTo>
                  <a:lnTo>
                    <a:pt x="200582" y="297033"/>
                  </a:lnTo>
                  <a:lnTo>
                    <a:pt x="242419" y="275405"/>
                  </a:lnTo>
                  <a:lnTo>
                    <a:pt x="275405" y="242419"/>
                  </a:lnTo>
                  <a:lnTo>
                    <a:pt x="297033" y="200582"/>
                  </a:lnTo>
                  <a:lnTo>
                    <a:pt x="304800" y="152400"/>
                  </a:lnTo>
                  <a:lnTo>
                    <a:pt x="297033" y="104217"/>
                  </a:lnTo>
                  <a:lnTo>
                    <a:pt x="275405" y="62380"/>
                  </a:lnTo>
                  <a:lnTo>
                    <a:pt x="242419" y="29394"/>
                  </a:lnTo>
                  <a:lnTo>
                    <a:pt x="200582" y="776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" name="object 36"/>
            <p:cNvSpPr/>
            <p:nvPr/>
          </p:nvSpPr>
          <p:spPr>
            <a:xfrm>
              <a:off x="2069211" y="4982337"/>
              <a:ext cx="457200" cy="609600"/>
            </a:xfrm>
            <a:custGeom>
              <a:avLst/>
              <a:gdLst/>
              <a:ahLst/>
              <a:cxnLst/>
              <a:rect l="l" t="t" r="r" b="b"/>
              <a:pathLst>
                <a:path w="457200" h="609600">
                  <a:moveTo>
                    <a:pt x="152400" y="457200"/>
                  </a:moveTo>
                  <a:lnTo>
                    <a:pt x="160166" y="409017"/>
                  </a:lnTo>
                  <a:lnTo>
                    <a:pt x="181794" y="367180"/>
                  </a:lnTo>
                  <a:lnTo>
                    <a:pt x="214780" y="334194"/>
                  </a:lnTo>
                  <a:lnTo>
                    <a:pt x="256617" y="312566"/>
                  </a:lnTo>
                  <a:lnTo>
                    <a:pt x="304800" y="304800"/>
                  </a:lnTo>
                  <a:lnTo>
                    <a:pt x="352982" y="312566"/>
                  </a:lnTo>
                  <a:lnTo>
                    <a:pt x="394819" y="334194"/>
                  </a:lnTo>
                  <a:lnTo>
                    <a:pt x="427805" y="367180"/>
                  </a:lnTo>
                  <a:lnTo>
                    <a:pt x="449433" y="409017"/>
                  </a:lnTo>
                  <a:lnTo>
                    <a:pt x="457200" y="457200"/>
                  </a:lnTo>
                  <a:lnTo>
                    <a:pt x="449433" y="505382"/>
                  </a:lnTo>
                  <a:lnTo>
                    <a:pt x="427805" y="547219"/>
                  </a:lnTo>
                  <a:lnTo>
                    <a:pt x="394819" y="580205"/>
                  </a:lnTo>
                  <a:lnTo>
                    <a:pt x="352982" y="601833"/>
                  </a:lnTo>
                  <a:lnTo>
                    <a:pt x="304800" y="609600"/>
                  </a:lnTo>
                  <a:lnTo>
                    <a:pt x="256617" y="601833"/>
                  </a:lnTo>
                  <a:lnTo>
                    <a:pt x="214780" y="580205"/>
                  </a:lnTo>
                  <a:lnTo>
                    <a:pt x="181794" y="547219"/>
                  </a:lnTo>
                  <a:lnTo>
                    <a:pt x="160166" y="505382"/>
                  </a:lnTo>
                  <a:lnTo>
                    <a:pt x="152400" y="457200"/>
                  </a:lnTo>
                  <a:close/>
                </a:path>
                <a:path w="457200" h="609600">
                  <a:moveTo>
                    <a:pt x="0" y="0"/>
                  </a:moveTo>
                  <a:lnTo>
                    <a:pt x="228600" y="38100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" name="object 37"/>
            <p:cNvSpPr/>
            <p:nvPr/>
          </p:nvSpPr>
          <p:spPr>
            <a:xfrm>
              <a:off x="1078611" y="536333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31" y="7766"/>
                  </a:lnTo>
                  <a:lnTo>
                    <a:pt x="62396" y="29394"/>
                  </a:lnTo>
                  <a:lnTo>
                    <a:pt x="29405" y="62380"/>
                  </a:lnTo>
                  <a:lnTo>
                    <a:pt x="7769" y="104217"/>
                  </a:lnTo>
                  <a:lnTo>
                    <a:pt x="0" y="152400"/>
                  </a:lnTo>
                  <a:lnTo>
                    <a:pt x="7769" y="200568"/>
                  </a:lnTo>
                  <a:lnTo>
                    <a:pt x="29405" y="242403"/>
                  </a:lnTo>
                  <a:lnTo>
                    <a:pt x="62396" y="275394"/>
                  </a:lnTo>
                  <a:lnTo>
                    <a:pt x="104231" y="297030"/>
                  </a:lnTo>
                  <a:lnTo>
                    <a:pt x="152400" y="304800"/>
                  </a:lnTo>
                  <a:lnTo>
                    <a:pt x="200582" y="297030"/>
                  </a:lnTo>
                  <a:lnTo>
                    <a:pt x="242419" y="275394"/>
                  </a:lnTo>
                  <a:lnTo>
                    <a:pt x="275405" y="242403"/>
                  </a:lnTo>
                  <a:lnTo>
                    <a:pt x="297033" y="200568"/>
                  </a:lnTo>
                  <a:lnTo>
                    <a:pt x="304800" y="152400"/>
                  </a:lnTo>
                  <a:lnTo>
                    <a:pt x="297033" y="104217"/>
                  </a:lnTo>
                  <a:lnTo>
                    <a:pt x="275405" y="62380"/>
                  </a:lnTo>
                  <a:lnTo>
                    <a:pt x="242419" y="29394"/>
                  </a:lnTo>
                  <a:lnTo>
                    <a:pt x="200582" y="776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" name="object 38"/>
            <p:cNvSpPr/>
            <p:nvPr/>
          </p:nvSpPr>
          <p:spPr>
            <a:xfrm>
              <a:off x="1078611" y="5058537"/>
              <a:ext cx="304800" cy="609600"/>
            </a:xfrm>
            <a:custGeom>
              <a:avLst/>
              <a:gdLst/>
              <a:ahLst/>
              <a:cxnLst/>
              <a:rect l="l" t="t" r="r" b="b"/>
              <a:pathLst>
                <a:path w="304800" h="609600">
                  <a:moveTo>
                    <a:pt x="0" y="457200"/>
                  </a:moveTo>
                  <a:lnTo>
                    <a:pt x="7769" y="409017"/>
                  </a:lnTo>
                  <a:lnTo>
                    <a:pt x="29405" y="367180"/>
                  </a:lnTo>
                  <a:lnTo>
                    <a:pt x="62396" y="334194"/>
                  </a:lnTo>
                  <a:lnTo>
                    <a:pt x="104231" y="312566"/>
                  </a:lnTo>
                  <a:lnTo>
                    <a:pt x="152400" y="304800"/>
                  </a:lnTo>
                  <a:lnTo>
                    <a:pt x="200582" y="312566"/>
                  </a:lnTo>
                  <a:lnTo>
                    <a:pt x="242419" y="334194"/>
                  </a:lnTo>
                  <a:lnTo>
                    <a:pt x="275405" y="367180"/>
                  </a:lnTo>
                  <a:lnTo>
                    <a:pt x="297033" y="409017"/>
                  </a:lnTo>
                  <a:lnTo>
                    <a:pt x="304800" y="457200"/>
                  </a:lnTo>
                  <a:lnTo>
                    <a:pt x="297033" y="505368"/>
                  </a:lnTo>
                  <a:lnTo>
                    <a:pt x="275405" y="547203"/>
                  </a:lnTo>
                  <a:lnTo>
                    <a:pt x="242419" y="580194"/>
                  </a:lnTo>
                  <a:lnTo>
                    <a:pt x="200582" y="601830"/>
                  </a:lnTo>
                  <a:lnTo>
                    <a:pt x="152400" y="609600"/>
                  </a:lnTo>
                  <a:lnTo>
                    <a:pt x="104231" y="601830"/>
                  </a:lnTo>
                  <a:lnTo>
                    <a:pt x="62396" y="580194"/>
                  </a:lnTo>
                  <a:lnTo>
                    <a:pt x="29405" y="547203"/>
                  </a:lnTo>
                  <a:lnTo>
                    <a:pt x="7769" y="505368"/>
                  </a:lnTo>
                  <a:lnTo>
                    <a:pt x="0" y="457200"/>
                  </a:lnTo>
                  <a:close/>
                </a:path>
                <a:path w="304800" h="609600">
                  <a:moveTo>
                    <a:pt x="0" y="0"/>
                  </a:moveTo>
                  <a:lnTo>
                    <a:pt x="152400" y="30480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87" name="object 39"/>
          <p:cNvGrpSpPr/>
          <p:nvPr/>
        </p:nvGrpSpPr>
        <p:grpSpPr>
          <a:xfrm>
            <a:off x="2888868" y="4680457"/>
            <a:ext cx="3429000" cy="848360"/>
            <a:chOff x="2910458" y="4479035"/>
            <a:chExt cx="3429000" cy="848360"/>
          </a:xfrm>
        </p:grpSpPr>
        <p:sp>
          <p:nvSpPr>
            <p:cNvPr id="88" name="object 40"/>
            <p:cNvSpPr/>
            <p:nvPr/>
          </p:nvSpPr>
          <p:spPr>
            <a:xfrm>
              <a:off x="3443858" y="4483988"/>
              <a:ext cx="2362200" cy="838200"/>
            </a:xfrm>
            <a:custGeom>
              <a:avLst/>
              <a:gdLst/>
              <a:ahLst/>
              <a:cxnLst/>
              <a:rect l="l" t="t" r="r" b="b"/>
              <a:pathLst>
                <a:path w="2362200" h="838200">
                  <a:moveTo>
                    <a:pt x="1968500" y="0"/>
                  </a:moveTo>
                  <a:lnTo>
                    <a:pt x="393700" y="0"/>
                  </a:lnTo>
                  <a:lnTo>
                    <a:pt x="347788" y="2818"/>
                  </a:lnTo>
                  <a:lnTo>
                    <a:pt x="303431" y="11065"/>
                  </a:lnTo>
                  <a:lnTo>
                    <a:pt x="260925" y="24426"/>
                  </a:lnTo>
                  <a:lnTo>
                    <a:pt x="220565" y="42587"/>
                  </a:lnTo>
                  <a:lnTo>
                    <a:pt x="182646" y="65234"/>
                  </a:lnTo>
                  <a:lnTo>
                    <a:pt x="147465" y="92053"/>
                  </a:lnTo>
                  <a:lnTo>
                    <a:pt x="115315" y="122729"/>
                  </a:lnTo>
                  <a:lnTo>
                    <a:pt x="86494" y="156949"/>
                  </a:lnTo>
                  <a:lnTo>
                    <a:pt x="61296" y="194399"/>
                  </a:lnTo>
                  <a:lnTo>
                    <a:pt x="40017" y="234764"/>
                  </a:lnTo>
                  <a:lnTo>
                    <a:pt x="22953" y="277731"/>
                  </a:lnTo>
                  <a:lnTo>
                    <a:pt x="10398" y="322985"/>
                  </a:lnTo>
                  <a:lnTo>
                    <a:pt x="2648" y="370213"/>
                  </a:lnTo>
                  <a:lnTo>
                    <a:pt x="0" y="419100"/>
                  </a:lnTo>
                  <a:lnTo>
                    <a:pt x="2648" y="467986"/>
                  </a:lnTo>
                  <a:lnTo>
                    <a:pt x="10398" y="515214"/>
                  </a:lnTo>
                  <a:lnTo>
                    <a:pt x="22953" y="560468"/>
                  </a:lnTo>
                  <a:lnTo>
                    <a:pt x="40017" y="603435"/>
                  </a:lnTo>
                  <a:lnTo>
                    <a:pt x="61296" y="643800"/>
                  </a:lnTo>
                  <a:lnTo>
                    <a:pt x="86494" y="681250"/>
                  </a:lnTo>
                  <a:lnTo>
                    <a:pt x="115316" y="715470"/>
                  </a:lnTo>
                  <a:lnTo>
                    <a:pt x="147465" y="746146"/>
                  </a:lnTo>
                  <a:lnTo>
                    <a:pt x="182646" y="772965"/>
                  </a:lnTo>
                  <a:lnTo>
                    <a:pt x="220565" y="795612"/>
                  </a:lnTo>
                  <a:lnTo>
                    <a:pt x="260925" y="813773"/>
                  </a:lnTo>
                  <a:lnTo>
                    <a:pt x="303431" y="827134"/>
                  </a:lnTo>
                  <a:lnTo>
                    <a:pt x="347788" y="835381"/>
                  </a:lnTo>
                  <a:lnTo>
                    <a:pt x="393700" y="838200"/>
                  </a:lnTo>
                  <a:lnTo>
                    <a:pt x="1968500" y="838200"/>
                  </a:lnTo>
                  <a:lnTo>
                    <a:pt x="2014411" y="835381"/>
                  </a:lnTo>
                  <a:lnTo>
                    <a:pt x="2058768" y="827134"/>
                  </a:lnTo>
                  <a:lnTo>
                    <a:pt x="2101274" y="813773"/>
                  </a:lnTo>
                  <a:lnTo>
                    <a:pt x="2141634" y="795612"/>
                  </a:lnTo>
                  <a:lnTo>
                    <a:pt x="2179553" y="772965"/>
                  </a:lnTo>
                  <a:lnTo>
                    <a:pt x="2214734" y="746146"/>
                  </a:lnTo>
                  <a:lnTo>
                    <a:pt x="2246884" y="715470"/>
                  </a:lnTo>
                  <a:lnTo>
                    <a:pt x="2275705" y="681250"/>
                  </a:lnTo>
                  <a:lnTo>
                    <a:pt x="2300903" y="643800"/>
                  </a:lnTo>
                  <a:lnTo>
                    <a:pt x="2322182" y="603435"/>
                  </a:lnTo>
                  <a:lnTo>
                    <a:pt x="2339246" y="560468"/>
                  </a:lnTo>
                  <a:lnTo>
                    <a:pt x="2351801" y="515214"/>
                  </a:lnTo>
                  <a:lnTo>
                    <a:pt x="2359551" y="467986"/>
                  </a:lnTo>
                  <a:lnTo>
                    <a:pt x="2362200" y="419100"/>
                  </a:lnTo>
                  <a:lnTo>
                    <a:pt x="2359551" y="370213"/>
                  </a:lnTo>
                  <a:lnTo>
                    <a:pt x="2351801" y="322985"/>
                  </a:lnTo>
                  <a:lnTo>
                    <a:pt x="2339246" y="277731"/>
                  </a:lnTo>
                  <a:lnTo>
                    <a:pt x="2322182" y="234764"/>
                  </a:lnTo>
                  <a:lnTo>
                    <a:pt x="2300903" y="194399"/>
                  </a:lnTo>
                  <a:lnTo>
                    <a:pt x="2275705" y="156949"/>
                  </a:lnTo>
                  <a:lnTo>
                    <a:pt x="2246883" y="122729"/>
                  </a:lnTo>
                  <a:lnTo>
                    <a:pt x="2214734" y="92053"/>
                  </a:lnTo>
                  <a:lnTo>
                    <a:pt x="2179553" y="65234"/>
                  </a:lnTo>
                  <a:lnTo>
                    <a:pt x="2141634" y="42587"/>
                  </a:lnTo>
                  <a:lnTo>
                    <a:pt x="2101274" y="24426"/>
                  </a:lnTo>
                  <a:lnTo>
                    <a:pt x="2058768" y="11065"/>
                  </a:lnTo>
                  <a:lnTo>
                    <a:pt x="2014411" y="2818"/>
                  </a:lnTo>
                  <a:lnTo>
                    <a:pt x="19685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" name="object 41"/>
            <p:cNvSpPr/>
            <p:nvPr/>
          </p:nvSpPr>
          <p:spPr>
            <a:xfrm>
              <a:off x="3443858" y="4483988"/>
              <a:ext cx="2362200" cy="838200"/>
            </a:xfrm>
            <a:custGeom>
              <a:avLst/>
              <a:gdLst/>
              <a:ahLst/>
              <a:cxnLst/>
              <a:rect l="l" t="t" r="r" b="b"/>
              <a:pathLst>
                <a:path w="2362200" h="838200">
                  <a:moveTo>
                    <a:pt x="1968500" y="838200"/>
                  </a:moveTo>
                  <a:lnTo>
                    <a:pt x="1922588" y="835381"/>
                  </a:lnTo>
                  <a:lnTo>
                    <a:pt x="1878231" y="827134"/>
                  </a:lnTo>
                  <a:lnTo>
                    <a:pt x="1835725" y="813773"/>
                  </a:lnTo>
                  <a:lnTo>
                    <a:pt x="1795365" y="795612"/>
                  </a:lnTo>
                  <a:lnTo>
                    <a:pt x="1757446" y="772965"/>
                  </a:lnTo>
                  <a:lnTo>
                    <a:pt x="1722265" y="746146"/>
                  </a:lnTo>
                  <a:lnTo>
                    <a:pt x="1690116" y="715470"/>
                  </a:lnTo>
                  <a:lnTo>
                    <a:pt x="1661294" y="681250"/>
                  </a:lnTo>
                  <a:lnTo>
                    <a:pt x="1636096" y="643800"/>
                  </a:lnTo>
                  <a:lnTo>
                    <a:pt x="1614817" y="603435"/>
                  </a:lnTo>
                  <a:lnTo>
                    <a:pt x="1597753" y="560468"/>
                  </a:lnTo>
                  <a:lnTo>
                    <a:pt x="1585198" y="515214"/>
                  </a:lnTo>
                  <a:lnTo>
                    <a:pt x="1577448" y="467986"/>
                  </a:lnTo>
                  <a:lnTo>
                    <a:pt x="1574800" y="419100"/>
                  </a:lnTo>
                  <a:lnTo>
                    <a:pt x="1577448" y="370213"/>
                  </a:lnTo>
                  <a:lnTo>
                    <a:pt x="1585198" y="322985"/>
                  </a:lnTo>
                  <a:lnTo>
                    <a:pt x="1597753" y="277731"/>
                  </a:lnTo>
                  <a:lnTo>
                    <a:pt x="1614817" y="234764"/>
                  </a:lnTo>
                  <a:lnTo>
                    <a:pt x="1636096" y="194399"/>
                  </a:lnTo>
                  <a:lnTo>
                    <a:pt x="1661294" y="156949"/>
                  </a:lnTo>
                  <a:lnTo>
                    <a:pt x="1690115" y="122729"/>
                  </a:lnTo>
                  <a:lnTo>
                    <a:pt x="1722265" y="92053"/>
                  </a:lnTo>
                  <a:lnTo>
                    <a:pt x="1757446" y="65234"/>
                  </a:lnTo>
                  <a:lnTo>
                    <a:pt x="1795365" y="42587"/>
                  </a:lnTo>
                  <a:lnTo>
                    <a:pt x="1835725" y="24426"/>
                  </a:lnTo>
                  <a:lnTo>
                    <a:pt x="1878231" y="11065"/>
                  </a:lnTo>
                  <a:lnTo>
                    <a:pt x="1922588" y="2818"/>
                  </a:lnTo>
                  <a:lnTo>
                    <a:pt x="1968500" y="0"/>
                  </a:lnTo>
                </a:path>
                <a:path w="2362200" h="838200">
                  <a:moveTo>
                    <a:pt x="393700" y="0"/>
                  </a:moveTo>
                  <a:lnTo>
                    <a:pt x="1968500" y="0"/>
                  </a:lnTo>
                  <a:lnTo>
                    <a:pt x="2014411" y="2818"/>
                  </a:lnTo>
                  <a:lnTo>
                    <a:pt x="2058768" y="11065"/>
                  </a:lnTo>
                  <a:lnTo>
                    <a:pt x="2101274" y="24426"/>
                  </a:lnTo>
                  <a:lnTo>
                    <a:pt x="2141634" y="42587"/>
                  </a:lnTo>
                  <a:lnTo>
                    <a:pt x="2179553" y="65234"/>
                  </a:lnTo>
                  <a:lnTo>
                    <a:pt x="2214734" y="92053"/>
                  </a:lnTo>
                  <a:lnTo>
                    <a:pt x="2246883" y="122729"/>
                  </a:lnTo>
                  <a:lnTo>
                    <a:pt x="2275705" y="156949"/>
                  </a:lnTo>
                  <a:lnTo>
                    <a:pt x="2300903" y="194399"/>
                  </a:lnTo>
                  <a:lnTo>
                    <a:pt x="2322182" y="234764"/>
                  </a:lnTo>
                  <a:lnTo>
                    <a:pt x="2339246" y="277731"/>
                  </a:lnTo>
                  <a:lnTo>
                    <a:pt x="2351801" y="322985"/>
                  </a:lnTo>
                  <a:lnTo>
                    <a:pt x="2359551" y="370213"/>
                  </a:lnTo>
                  <a:lnTo>
                    <a:pt x="2362200" y="419100"/>
                  </a:lnTo>
                  <a:lnTo>
                    <a:pt x="2359551" y="467986"/>
                  </a:lnTo>
                  <a:lnTo>
                    <a:pt x="2351801" y="515214"/>
                  </a:lnTo>
                  <a:lnTo>
                    <a:pt x="2339246" y="560468"/>
                  </a:lnTo>
                  <a:lnTo>
                    <a:pt x="2322182" y="603435"/>
                  </a:lnTo>
                  <a:lnTo>
                    <a:pt x="2300903" y="643800"/>
                  </a:lnTo>
                  <a:lnTo>
                    <a:pt x="2275705" y="681250"/>
                  </a:lnTo>
                  <a:lnTo>
                    <a:pt x="2246884" y="715470"/>
                  </a:lnTo>
                  <a:lnTo>
                    <a:pt x="2214734" y="746146"/>
                  </a:lnTo>
                  <a:lnTo>
                    <a:pt x="2179553" y="772965"/>
                  </a:lnTo>
                  <a:lnTo>
                    <a:pt x="2141634" y="795612"/>
                  </a:lnTo>
                  <a:lnTo>
                    <a:pt x="2101274" y="813773"/>
                  </a:lnTo>
                  <a:lnTo>
                    <a:pt x="2058768" y="827134"/>
                  </a:lnTo>
                  <a:lnTo>
                    <a:pt x="2014411" y="835381"/>
                  </a:lnTo>
                  <a:lnTo>
                    <a:pt x="1968500" y="838200"/>
                  </a:lnTo>
                  <a:lnTo>
                    <a:pt x="393700" y="838200"/>
                  </a:lnTo>
                  <a:lnTo>
                    <a:pt x="347788" y="835381"/>
                  </a:lnTo>
                  <a:lnTo>
                    <a:pt x="303431" y="827134"/>
                  </a:lnTo>
                  <a:lnTo>
                    <a:pt x="260925" y="813773"/>
                  </a:lnTo>
                  <a:lnTo>
                    <a:pt x="220565" y="795612"/>
                  </a:lnTo>
                  <a:lnTo>
                    <a:pt x="182646" y="772965"/>
                  </a:lnTo>
                  <a:lnTo>
                    <a:pt x="147465" y="746146"/>
                  </a:lnTo>
                  <a:lnTo>
                    <a:pt x="115316" y="715470"/>
                  </a:lnTo>
                  <a:lnTo>
                    <a:pt x="86494" y="681250"/>
                  </a:lnTo>
                  <a:lnTo>
                    <a:pt x="61296" y="643800"/>
                  </a:lnTo>
                  <a:lnTo>
                    <a:pt x="40017" y="603435"/>
                  </a:lnTo>
                  <a:lnTo>
                    <a:pt x="22953" y="560468"/>
                  </a:lnTo>
                  <a:lnTo>
                    <a:pt x="10398" y="515214"/>
                  </a:lnTo>
                  <a:lnTo>
                    <a:pt x="2648" y="467986"/>
                  </a:lnTo>
                  <a:lnTo>
                    <a:pt x="0" y="419100"/>
                  </a:lnTo>
                  <a:lnTo>
                    <a:pt x="2648" y="370213"/>
                  </a:lnTo>
                  <a:lnTo>
                    <a:pt x="10398" y="322985"/>
                  </a:lnTo>
                  <a:lnTo>
                    <a:pt x="22953" y="277731"/>
                  </a:lnTo>
                  <a:lnTo>
                    <a:pt x="40017" y="234764"/>
                  </a:lnTo>
                  <a:lnTo>
                    <a:pt x="61296" y="194399"/>
                  </a:lnTo>
                  <a:lnTo>
                    <a:pt x="86494" y="156949"/>
                  </a:lnTo>
                  <a:lnTo>
                    <a:pt x="115315" y="122729"/>
                  </a:lnTo>
                  <a:lnTo>
                    <a:pt x="147465" y="92053"/>
                  </a:lnTo>
                  <a:lnTo>
                    <a:pt x="182646" y="65234"/>
                  </a:lnTo>
                  <a:lnTo>
                    <a:pt x="220565" y="42587"/>
                  </a:lnTo>
                  <a:lnTo>
                    <a:pt x="260925" y="24426"/>
                  </a:lnTo>
                  <a:lnTo>
                    <a:pt x="303431" y="11065"/>
                  </a:lnTo>
                  <a:lnTo>
                    <a:pt x="347788" y="2818"/>
                  </a:lnTo>
                  <a:lnTo>
                    <a:pt x="393700" y="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" name="object 42"/>
            <p:cNvSpPr/>
            <p:nvPr/>
          </p:nvSpPr>
          <p:spPr>
            <a:xfrm>
              <a:off x="2910459" y="4903088"/>
              <a:ext cx="3429000" cy="76200"/>
            </a:xfrm>
            <a:custGeom>
              <a:avLst/>
              <a:gdLst/>
              <a:ahLst/>
              <a:cxnLst/>
              <a:rect l="l" t="t" r="r" b="b"/>
              <a:pathLst>
                <a:path w="3429000" h="76200">
                  <a:moveTo>
                    <a:pt x="838200" y="38100"/>
                  </a:moveTo>
                  <a:lnTo>
                    <a:pt x="825500" y="31750"/>
                  </a:lnTo>
                  <a:lnTo>
                    <a:pt x="762000" y="0"/>
                  </a:lnTo>
                  <a:lnTo>
                    <a:pt x="762000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762000" y="44450"/>
                  </a:lnTo>
                  <a:lnTo>
                    <a:pt x="762000" y="76200"/>
                  </a:lnTo>
                  <a:lnTo>
                    <a:pt x="825500" y="44450"/>
                  </a:lnTo>
                  <a:lnTo>
                    <a:pt x="838200" y="38100"/>
                  </a:lnTo>
                  <a:close/>
                </a:path>
                <a:path w="3429000" h="76200">
                  <a:moveTo>
                    <a:pt x="3429000" y="38100"/>
                  </a:moveTo>
                  <a:lnTo>
                    <a:pt x="3416300" y="31750"/>
                  </a:lnTo>
                  <a:lnTo>
                    <a:pt x="3352800" y="0"/>
                  </a:lnTo>
                  <a:lnTo>
                    <a:pt x="3352800" y="31750"/>
                  </a:lnTo>
                  <a:lnTo>
                    <a:pt x="2514600" y="31750"/>
                  </a:lnTo>
                  <a:lnTo>
                    <a:pt x="2514600" y="44450"/>
                  </a:lnTo>
                  <a:lnTo>
                    <a:pt x="3352800" y="44450"/>
                  </a:lnTo>
                  <a:lnTo>
                    <a:pt x="3352800" y="76200"/>
                  </a:lnTo>
                  <a:lnTo>
                    <a:pt x="3416300" y="44450"/>
                  </a:lnTo>
                  <a:lnTo>
                    <a:pt x="342900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91" name="object 43"/>
          <p:cNvGrpSpPr/>
          <p:nvPr/>
        </p:nvGrpSpPr>
        <p:grpSpPr>
          <a:xfrm>
            <a:off x="6851015" y="4289932"/>
            <a:ext cx="1677035" cy="1772285"/>
            <a:chOff x="6872605" y="4088510"/>
            <a:chExt cx="1677035" cy="1772285"/>
          </a:xfrm>
        </p:grpSpPr>
        <p:sp>
          <p:nvSpPr>
            <p:cNvPr id="92" name="object 44"/>
            <p:cNvSpPr/>
            <p:nvPr/>
          </p:nvSpPr>
          <p:spPr>
            <a:xfrm>
              <a:off x="7177659" y="4483988"/>
              <a:ext cx="1219200" cy="1371600"/>
            </a:xfrm>
            <a:custGeom>
              <a:avLst/>
              <a:gdLst/>
              <a:ahLst/>
              <a:cxnLst/>
              <a:rect l="l" t="t" r="r" b="b"/>
              <a:pathLst>
                <a:path w="1219200" h="1371600">
                  <a:moveTo>
                    <a:pt x="609600" y="0"/>
                  </a:moveTo>
                  <a:lnTo>
                    <a:pt x="543176" y="1341"/>
                  </a:lnTo>
                  <a:lnTo>
                    <a:pt x="478825" y="5273"/>
                  </a:lnTo>
                  <a:lnTo>
                    <a:pt x="416917" y="11655"/>
                  </a:lnTo>
                  <a:lnTo>
                    <a:pt x="357825" y="20348"/>
                  </a:lnTo>
                  <a:lnTo>
                    <a:pt x="301921" y="31213"/>
                  </a:lnTo>
                  <a:lnTo>
                    <a:pt x="249576" y="44110"/>
                  </a:lnTo>
                  <a:lnTo>
                    <a:pt x="201162" y="58900"/>
                  </a:lnTo>
                  <a:lnTo>
                    <a:pt x="157051" y="75442"/>
                  </a:lnTo>
                  <a:lnTo>
                    <a:pt x="117616" y="93597"/>
                  </a:lnTo>
                  <a:lnTo>
                    <a:pt x="83227" y="113227"/>
                  </a:lnTo>
                  <a:lnTo>
                    <a:pt x="31077" y="156350"/>
                  </a:lnTo>
                  <a:lnTo>
                    <a:pt x="3576" y="203694"/>
                  </a:lnTo>
                  <a:lnTo>
                    <a:pt x="0" y="228600"/>
                  </a:lnTo>
                  <a:lnTo>
                    <a:pt x="0" y="1143000"/>
                  </a:lnTo>
                  <a:lnTo>
                    <a:pt x="14060" y="1192039"/>
                  </a:lnTo>
                  <a:lnTo>
                    <a:pt x="54257" y="1237413"/>
                  </a:lnTo>
                  <a:lnTo>
                    <a:pt x="117616" y="1278007"/>
                  </a:lnTo>
                  <a:lnTo>
                    <a:pt x="157051" y="1296162"/>
                  </a:lnTo>
                  <a:lnTo>
                    <a:pt x="201162" y="1312704"/>
                  </a:lnTo>
                  <a:lnTo>
                    <a:pt x="249576" y="1327493"/>
                  </a:lnTo>
                  <a:lnTo>
                    <a:pt x="301921" y="1340389"/>
                  </a:lnTo>
                  <a:lnTo>
                    <a:pt x="357825" y="1351253"/>
                  </a:lnTo>
                  <a:lnTo>
                    <a:pt x="416917" y="1359945"/>
                  </a:lnTo>
                  <a:lnTo>
                    <a:pt x="478825" y="1366327"/>
                  </a:lnTo>
                  <a:lnTo>
                    <a:pt x="543176" y="1370258"/>
                  </a:lnTo>
                  <a:lnTo>
                    <a:pt x="609600" y="1371600"/>
                  </a:lnTo>
                  <a:lnTo>
                    <a:pt x="676023" y="1370258"/>
                  </a:lnTo>
                  <a:lnTo>
                    <a:pt x="740374" y="1366327"/>
                  </a:lnTo>
                  <a:lnTo>
                    <a:pt x="802282" y="1359945"/>
                  </a:lnTo>
                  <a:lnTo>
                    <a:pt x="861374" y="1351253"/>
                  </a:lnTo>
                  <a:lnTo>
                    <a:pt x="917278" y="1340389"/>
                  </a:lnTo>
                  <a:lnTo>
                    <a:pt x="969623" y="1327493"/>
                  </a:lnTo>
                  <a:lnTo>
                    <a:pt x="1018037" y="1312704"/>
                  </a:lnTo>
                  <a:lnTo>
                    <a:pt x="1062148" y="1296162"/>
                  </a:lnTo>
                  <a:lnTo>
                    <a:pt x="1101583" y="1278007"/>
                  </a:lnTo>
                  <a:lnTo>
                    <a:pt x="1135972" y="1258378"/>
                  </a:lnTo>
                  <a:lnTo>
                    <a:pt x="1188122" y="1215254"/>
                  </a:lnTo>
                  <a:lnTo>
                    <a:pt x="1215623" y="1167908"/>
                  </a:lnTo>
                  <a:lnTo>
                    <a:pt x="1219200" y="1143000"/>
                  </a:lnTo>
                  <a:lnTo>
                    <a:pt x="1219200" y="228600"/>
                  </a:lnTo>
                  <a:lnTo>
                    <a:pt x="1205139" y="179564"/>
                  </a:lnTo>
                  <a:lnTo>
                    <a:pt x="1164942" y="134191"/>
                  </a:lnTo>
                  <a:lnTo>
                    <a:pt x="1101583" y="93597"/>
                  </a:lnTo>
                  <a:lnTo>
                    <a:pt x="1062148" y="75442"/>
                  </a:lnTo>
                  <a:lnTo>
                    <a:pt x="1018037" y="58900"/>
                  </a:lnTo>
                  <a:lnTo>
                    <a:pt x="969623" y="44110"/>
                  </a:lnTo>
                  <a:lnTo>
                    <a:pt x="917278" y="31213"/>
                  </a:lnTo>
                  <a:lnTo>
                    <a:pt x="861374" y="20348"/>
                  </a:lnTo>
                  <a:lnTo>
                    <a:pt x="802282" y="11655"/>
                  </a:lnTo>
                  <a:lnTo>
                    <a:pt x="740374" y="5273"/>
                  </a:lnTo>
                  <a:lnTo>
                    <a:pt x="676023" y="1341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" name="object 45"/>
            <p:cNvSpPr/>
            <p:nvPr/>
          </p:nvSpPr>
          <p:spPr>
            <a:xfrm>
              <a:off x="7177659" y="4483988"/>
              <a:ext cx="1219200" cy="1371600"/>
            </a:xfrm>
            <a:custGeom>
              <a:avLst/>
              <a:gdLst/>
              <a:ahLst/>
              <a:cxnLst/>
              <a:rect l="l" t="t" r="r" b="b"/>
              <a:pathLst>
                <a:path w="1219200" h="1371600">
                  <a:moveTo>
                    <a:pt x="1219200" y="228600"/>
                  </a:moveTo>
                  <a:lnTo>
                    <a:pt x="1205139" y="277635"/>
                  </a:lnTo>
                  <a:lnTo>
                    <a:pt x="1164942" y="323008"/>
                  </a:lnTo>
                  <a:lnTo>
                    <a:pt x="1101583" y="363602"/>
                  </a:lnTo>
                  <a:lnTo>
                    <a:pt x="1062148" y="381757"/>
                  </a:lnTo>
                  <a:lnTo>
                    <a:pt x="1018037" y="398299"/>
                  </a:lnTo>
                  <a:lnTo>
                    <a:pt x="969623" y="413089"/>
                  </a:lnTo>
                  <a:lnTo>
                    <a:pt x="917278" y="425986"/>
                  </a:lnTo>
                  <a:lnTo>
                    <a:pt x="861374" y="436851"/>
                  </a:lnTo>
                  <a:lnTo>
                    <a:pt x="802282" y="445544"/>
                  </a:lnTo>
                  <a:lnTo>
                    <a:pt x="740374" y="451926"/>
                  </a:lnTo>
                  <a:lnTo>
                    <a:pt x="676023" y="455858"/>
                  </a:lnTo>
                  <a:lnTo>
                    <a:pt x="609600" y="457200"/>
                  </a:lnTo>
                  <a:lnTo>
                    <a:pt x="543176" y="455858"/>
                  </a:lnTo>
                  <a:lnTo>
                    <a:pt x="478825" y="451926"/>
                  </a:lnTo>
                  <a:lnTo>
                    <a:pt x="416917" y="445544"/>
                  </a:lnTo>
                  <a:lnTo>
                    <a:pt x="357825" y="436851"/>
                  </a:lnTo>
                  <a:lnTo>
                    <a:pt x="301921" y="425986"/>
                  </a:lnTo>
                  <a:lnTo>
                    <a:pt x="249576" y="413089"/>
                  </a:lnTo>
                  <a:lnTo>
                    <a:pt x="201162" y="398299"/>
                  </a:lnTo>
                  <a:lnTo>
                    <a:pt x="157051" y="381757"/>
                  </a:lnTo>
                  <a:lnTo>
                    <a:pt x="117616" y="363602"/>
                  </a:lnTo>
                  <a:lnTo>
                    <a:pt x="83227" y="343972"/>
                  </a:lnTo>
                  <a:lnTo>
                    <a:pt x="31077" y="300849"/>
                  </a:lnTo>
                  <a:lnTo>
                    <a:pt x="3576" y="253505"/>
                  </a:lnTo>
                  <a:lnTo>
                    <a:pt x="0" y="228600"/>
                  </a:lnTo>
                </a:path>
                <a:path w="1219200" h="1371600">
                  <a:moveTo>
                    <a:pt x="0" y="228600"/>
                  </a:moveTo>
                  <a:lnTo>
                    <a:pt x="14060" y="179564"/>
                  </a:lnTo>
                  <a:lnTo>
                    <a:pt x="54257" y="134191"/>
                  </a:lnTo>
                  <a:lnTo>
                    <a:pt x="117616" y="93597"/>
                  </a:lnTo>
                  <a:lnTo>
                    <a:pt x="157051" y="75442"/>
                  </a:lnTo>
                  <a:lnTo>
                    <a:pt x="201162" y="58900"/>
                  </a:lnTo>
                  <a:lnTo>
                    <a:pt x="249576" y="44110"/>
                  </a:lnTo>
                  <a:lnTo>
                    <a:pt x="301921" y="31213"/>
                  </a:lnTo>
                  <a:lnTo>
                    <a:pt x="357825" y="20348"/>
                  </a:lnTo>
                  <a:lnTo>
                    <a:pt x="416917" y="11655"/>
                  </a:lnTo>
                  <a:lnTo>
                    <a:pt x="478825" y="5273"/>
                  </a:lnTo>
                  <a:lnTo>
                    <a:pt x="543176" y="1341"/>
                  </a:lnTo>
                  <a:lnTo>
                    <a:pt x="609600" y="0"/>
                  </a:lnTo>
                  <a:lnTo>
                    <a:pt x="676023" y="1341"/>
                  </a:lnTo>
                  <a:lnTo>
                    <a:pt x="740374" y="5273"/>
                  </a:lnTo>
                  <a:lnTo>
                    <a:pt x="802282" y="11655"/>
                  </a:lnTo>
                  <a:lnTo>
                    <a:pt x="861374" y="20348"/>
                  </a:lnTo>
                  <a:lnTo>
                    <a:pt x="917278" y="31213"/>
                  </a:lnTo>
                  <a:lnTo>
                    <a:pt x="969623" y="44110"/>
                  </a:lnTo>
                  <a:lnTo>
                    <a:pt x="1018037" y="58900"/>
                  </a:lnTo>
                  <a:lnTo>
                    <a:pt x="1062148" y="75442"/>
                  </a:lnTo>
                  <a:lnTo>
                    <a:pt x="1101583" y="93597"/>
                  </a:lnTo>
                  <a:lnTo>
                    <a:pt x="1135972" y="113227"/>
                  </a:lnTo>
                  <a:lnTo>
                    <a:pt x="1188122" y="156350"/>
                  </a:lnTo>
                  <a:lnTo>
                    <a:pt x="1215623" y="203694"/>
                  </a:lnTo>
                  <a:lnTo>
                    <a:pt x="1219200" y="228600"/>
                  </a:lnTo>
                  <a:lnTo>
                    <a:pt x="1219200" y="1143000"/>
                  </a:lnTo>
                  <a:lnTo>
                    <a:pt x="1205139" y="1192039"/>
                  </a:lnTo>
                  <a:lnTo>
                    <a:pt x="1164942" y="1237413"/>
                  </a:lnTo>
                  <a:lnTo>
                    <a:pt x="1101583" y="1278007"/>
                  </a:lnTo>
                  <a:lnTo>
                    <a:pt x="1062148" y="1296162"/>
                  </a:lnTo>
                  <a:lnTo>
                    <a:pt x="1018037" y="1312704"/>
                  </a:lnTo>
                  <a:lnTo>
                    <a:pt x="969623" y="1327493"/>
                  </a:lnTo>
                  <a:lnTo>
                    <a:pt x="917278" y="1340389"/>
                  </a:lnTo>
                  <a:lnTo>
                    <a:pt x="861374" y="1351253"/>
                  </a:lnTo>
                  <a:lnTo>
                    <a:pt x="802282" y="1359945"/>
                  </a:lnTo>
                  <a:lnTo>
                    <a:pt x="740374" y="1366327"/>
                  </a:lnTo>
                  <a:lnTo>
                    <a:pt x="676023" y="1370258"/>
                  </a:lnTo>
                  <a:lnTo>
                    <a:pt x="609600" y="1371600"/>
                  </a:lnTo>
                  <a:lnTo>
                    <a:pt x="543176" y="1370258"/>
                  </a:lnTo>
                  <a:lnTo>
                    <a:pt x="478825" y="1366327"/>
                  </a:lnTo>
                  <a:lnTo>
                    <a:pt x="416917" y="1359945"/>
                  </a:lnTo>
                  <a:lnTo>
                    <a:pt x="357825" y="1351253"/>
                  </a:lnTo>
                  <a:lnTo>
                    <a:pt x="301921" y="1340389"/>
                  </a:lnTo>
                  <a:lnTo>
                    <a:pt x="249576" y="1327493"/>
                  </a:lnTo>
                  <a:lnTo>
                    <a:pt x="201162" y="1312704"/>
                  </a:lnTo>
                  <a:lnTo>
                    <a:pt x="157051" y="1296162"/>
                  </a:lnTo>
                  <a:lnTo>
                    <a:pt x="117616" y="1278007"/>
                  </a:lnTo>
                  <a:lnTo>
                    <a:pt x="83227" y="1258378"/>
                  </a:lnTo>
                  <a:lnTo>
                    <a:pt x="31077" y="1215254"/>
                  </a:lnTo>
                  <a:lnTo>
                    <a:pt x="3576" y="1167908"/>
                  </a:lnTo>
                  <a:lnTo>
                    <a:pt x="0" y="1143000"/>
                  </a:lnTo>
                  <a:lnTo>
                    <a:pt x="0" y="2286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" name="object 46"/>
            <p:cNvSpPr/>
            <p:nvPr/>
          </p:nvSpPr>
          <p:spPr>
            <a:xfrm>
              <a:off x="6872605" y="4088510"/>
              <a:ext cx="1677035" cy="971550"/>
            </a:xfrm>
            <a:custGeom>
              <a:avLst/>
              <a:gdLst/>
              <a:ahLst/>
              <a:cxnLst/>
              <a:rect l="l" t="t" r="r" b="b"/>
              <a:pathLst>
                <a:path w="1677034" h="971550">
                  <a:moveTo>
                    <a:pt x="722249" y="546989"/>
                  </a:moveTo>
                  <a:lnTo>
                    <a:pt x="690753" y="547776"/>
                  </a:lnTo>
                  <a:lnTo>
                    <a:pt x="690753" y="534289"/>
                  </a:lnTo>
                  <a:lnTo>
                    <a:pt x="691261" y="517398"/>
                  </a:lnTo>
                  <a:lnTo>
                    <a:pt x="691642" y="499745"/>
                  </a:lnTo>
                  <a:lnTo>
                    <a:pt x="692150" y="481330"/>
                  </a:lnTo>
                  <a:lnTo>
                    <a:pt x="692912" y="443103"/>
                  </a:lnTo>
                  <a:lnTo>
                    <a:pt x="693039" y="402971"/>
                  </a:lnTo>
                  <a:lnTo>
                    <a:pt x="692404" y="361950"/>
                  </a:lnTo>
                  <a:lnTo>
                    <a:pt x="690626" y="320802"/>
                  </a:lnTo>
                  <a:lnTo>
                    <a:pt x="687070" y="279908"/>
                  </a:lnTo>
                  <a:lnTo>
                    <a:pt x="681863" y="240665"/>
                  </a:lnTo>
                  <a:lnTo>
                    <a:pt x="674370" y="202946"/>
                  </a:lnTo>
                  <a:lnTo>
                    <a:pt x="657987" y="151638"/>
                  </a:lnTo>
                  <a:lnTo>
                    <a:pt x="634365" y="108712"/>
                  </a:lnTo>
                  <a:lnTo>
                    <a:pt x="602361" y="76581"/>
                  </a:lnTo>
                  <a:lnTo>
                    <a:pt x="563753" y="52324"/>
                  </a:lnTo>
                  <a:lnTo>
                    <a:pt x="519049" y="33528"/>
                  </a:lnTo>
                  <a:lnTo>
                    <a:pt x="468884" y="19431"/>
                  </a:lnTo>
                  <a:lnTo>
                    <a:pt x="433603" y="12700"/>
                  </a:lnTo>
                  <a:lnTo>
                    <a:pt x="432943" y="12573"/>
                  </a:lnTo>
                  <a:lnTo>
                    <a:pt x="394970" y="7366"/>
                  </a:lnTo>
                  <a:lnTo>
                    <a:pt x="355473" y="3683"/>
                  </a:lnTo>
                  <a:lnTo>
                    <a:pt x="314325" y="1397"/>
                  </a:lnTo>
                  <a:lnTo>
                    <a:pt x="271780" y="127"/>
                  </a:lnTo>
                  <a:lnTo>
                    <a:pt x="228219" y="0"/>
                  </a:lnTo>
                  <a:lnTo>
                    <a:pt x="183769" y="762"/>
                  </a:lnTo>
                  <a:lnTo>
                    <a:pt x="138430" y="2032"/>
                  </a:lnTo>
                  <a:lnTo>
                    <a:pt x="92583" y="3810"/>
                  </a:lnTo>
                  <a:lnTo>
                    <a:pt x="0" y="8382"/>
                  </a:lnTo>
                  <a:lnTo>
                    <a:pt x="508" y="21082"/>
                  </a:lnTo>
                  <a:lnTo>
                    <a:pt x="93091" y="16510"/>
                  </a:lnTo>
                  <a:lnTo>
                    <a:pt x="184023" y="13335"/>
                  </a:lnTo>
                  <a:lnTo>
                    <a:pt x="228473" y="12700"/>
                  </a:lnTo>
                  <a:lnTo>
                    <a:pt x="271780" y="12827"/>
                  </a:lnTo>
                  <a:lnTo>
                    <a:pt x="313944" y="14097"/>
                  </a:lnTo>
                  <a:lnTo>
                    <a:pt x="354711" y="16383"/>
                  </a:lnTo>
                  <a:lnTo>
                    <a:pt x="393827" y="20066"/>
                  </a:lnTo>
                  <a:lnTo>
                    <a:pt x="466598" y="32004"/>
                  </a:lnTo>
                  <a:lnTo>
                    <a:pt x="515112" y="45593"/>
                  </a:lnTo>
                  <a:lnTo>
                    <a:pt x="558165" y="63754"/>
                  </a:lnTo>
                  <a:lnTo>
                    <a:pt x="594995" y="86868"/>
                  </a:lnTo>
                  <a:lnTo>
                    <a:pt x="624459" y="116713"/>
                  </a:lnTo>
                  <a:lnTo>
                    <a:pt x="646430" y="156972"/>
                  </a:lnTo>
                  <a:lnTo>
                    <a:pt x="662051" y="206248"/>
                  </a:lnTo>
                  <a:lnTo>
                    <a:pt x="674497" y="281686"/>
                  </a:lnTo>
                  <a:lnTo>
                    <a:pt x="677926" y="321818"/>
                  </a:lnTo>
                  <a:lnTo>
                    <a:pt x="679704" y="362458"/>
                  </a:lnTo>
                  <a:lnTo>
                    <a:pt x="680326" y="402971"/>
                  </a:lnTo>
                  <a:lnTo>
                    <a:pt x="680212" y="443103"/>
                  </a:lnTo>
                  <a:lnTo>
                    <a:pt x="679437" y="481584"/>
                  </a:lnTo>
                  <a:lnTo>
                    <a:pt x="678929" y="499999"/>
                  </a:lnTo>
                  <a:lnTo>
                    <a:pt x="678548" y="517779"/>
                  </a:lnTo>
                  <a:lnTo>
                    <a:pt x="678053" y="534289"/>
                  </a:lnTo>
                  <a:lnTo>
                    <a:pt x="678053" y="548106"/>
                  </a:lnTo>
                  <a:lnTo>
                    <a:pt x="646049" y="548894"/>
                  </a:lnTo>
                  <a:lnTo>
                    <a:pt x="686054" y="624078"/>
                  </a:lnTo>
                  <a:lnTo>
                    <a:pt x="715860" y="560578"/>
                  </a:lnTo>
                  <a:lnTo>
                    <a:pt x="722249" y="546989"/>
                  </a:lnTo>
                  <a:close/>
                </a:path>
                <a:path w="1677034" h="971550">
                  <a:moveTo>
                    <a:pt x="1676654" y="284226"/>
                  </a:moveTo>
                  <a:lnTo>
                    <a:pt x="1666824" y="279654"/>
                  </a:lnTo>
                  <a:lnTo>
                    <a:pt x="1599438" y="248285"/>
                  </a:lnTo>
                  <a:lnTo>
                    <a:pt x="1600276" y="279806"/>
                  </a:lnTo>
                  <a:lnTo>
                    <a:pt x="1591564" y="279908"/>
                  </a:lnTo>
                  <a:lnTo>
                    <a:pt x="1466088" y="277495"/>
                  </a:lnTo>
                  <a:lnTo>
                    <a:pt x="1419352" y="277241"/>
                  </a:lnTo>
                  <a:lnTo>
                    <a:pt x="1371727" y="277876"/>
                  </a:lnTo>
                  <a:lnTo>
                    <a:pt x="1324102" y="279781"/>
                  </a:lnTo>
                  <a:lnTo>
                    <a:pt x="1277239" y="283210"/>
                  </a:lnTo>
                  <a:lnTo>
                    <a:pt x="1232154" y="288417"/>
                  </a:lnTo>
                  <a:lnTo>
                    <a:pt x="1189609" y="295910"/>
                  </a:lnTo>
                  <a:lnTo>
                    <a:pt x="1150493" y="306070"/>
                  </a:lnTo>
                  <a:lnTo>
                    <a:pt x="1100074" y="327025"/>
                  </a:lnTo>
                  <a:lnTo>
                    <a:pt x="1062355" y="356362"/>
                  </a:lnTo>
                  <a:lnTo>
                    <a:pt x="1036955" y="393192"/>
                  </a:lnTo>
                  <a:lnTo>
                    <a:pt x="1019175" y="436118"/>
                  </a:lnTo>
                  <a:lnTo>
                    <a:pt x="1008126" y="484759"/>
                  </a:lnTo>
                  <a:lnTo>
                    <a:pt x="1003033" y="538353"/>
                  </a:lnTo>
                  <a:lnTo>
                    <a:pt x="1002411" y="576072"/>
                  </a:lnTo>
                  <a:lnTo>
                    <a:pt x="1003808" y="615696"/>
                  </a:lnTo>
                  <a:lnTo>
                    <a:pt x="1007110" y="656844"/>
                  </a:lnTo>
                  <a:lnTo>
                    <a:pt x="1011936" y="699389"/>
                  </a:lnTo>
                  <a:lnTo>
                    <a:pt x="1018159" y="742950"/>
                  </a:lnTo>
                  <a:lnTo>
                    <a:pt x="1025398" y="787527"/>
                  </a:lnTo>
                  <a:lnTo>
                    <a:pt x="1033526" y="832866"/>
                  </a:lnTo>
                  <a:lnTo>
                    <a:pt x="1042289" y="878713"/>
                  </a:lnTo>
                  <a:lnTo>
                    <a:pt x="1061085" y="971296"/>
                  </a:lnTo>
                  <a:lnTo>
                    <a:pt x="1073531" y="968756"/>
                  </a:lnTo>
                  <a:lnTo>
                    <a:pt x="1054735" y="876173"/>
                  </a:lnTo>
                  <a:lnTo>
                    <a:pt x="1046099" y="830453"/>
                  </a:lnTo>
                  <a:lnTo>
                    <a:pt x="1037844" y="785241"/>
                  </a:lnTo>
                  <a:lnTo>
                    <a:pt x="1030605" y="740918"/>
                  </a:lnTo>
                  <a:lnTo>
                    <a:pt x="1024509" y="697611"/>
                  </a:lnTo>
                  <a:lnTo>
                    <a:pt x="1019683" y="655447"/>
                  </a:lnTo>
                  <a:lnTo>
                    <a:pt x="1016508" y="614680"/>
                  </a:lnTo>
                  <a:lnTo>
                    <a:pt x="1015111" y="575691"/>
                  </a:lnTo>
                  <a:lnTo>
                    <a:pt x="1015619" y="538353"/>
                  </a:lnTo>
                  <a:lnTo>
                    <a:pt x="1020699" y="486410"/>
                  </a:lnTo>
                  <a:lnTo>
                    <a:pt x="1031367" y="439547"/>
                  </a:lnTo>
                  <a:lnTo>
                    <a:pt x="1048385" y="398780"/>
                  </a:lnTo>
                  <a:lnTo>
                    <a:pt x="1072261" y="364490"/>
                  </a:lnTo>
                  <a:lnTo>
                    <a:pt x="1106805" y="337820"/>
                  </a:lnTo>
                  <a:lnTo>
                    <a:pt x="1154684" y="318008"/>
                  </a:lnTo>
                  <a:lnTo>
                    <a:pt x="1192530" y="308356"/>
                  </a:lnTo>
                  <a:lnTo>
                    <a:pt x="1234186" y="300990"/>
                  </a:lnTo>
                  <a:lnTo>
                    <a:pt x="1278636" y="295783"/>
                  </a:lnTo>
                  <a:lnTo>
                    <a:pt x="1324991" y="292481"/>
                  </a:lnTo>
                  <a:lnTo>
                    <a:pt x="1372235" y="290576"/>
                  </a:lnTo>
                  <a:lnTo>
                    <a:pt x="1419606" y="289941"/>
                  </a:lnTo>
                  <a:lnTo>
                    <a:pt x="1465961" y="290195"/>
                  </a:lnTo>
                  <a:lnTo>
                    <a:pt x="1591310" y="292608"/>
                  </a:lnTo>
                  <a:lnTo>
                    <a:pt x="1600606" y="292506"/>
                  </a:lnTo>
                  <a:lnTo>
                    <a:pt x="1601470" y="324358"/>
                  </a:lnTo>
                  <a:lnTo>
                    <a:pt x="1676654" y="2842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95" name="object 47"/>
          <p:cNvSpPr txBox="1"/>
          <p:nvPr/>
        </p:nvSpPr>
        <p:spPr>
          <a:xfrm>
            <a:off x="1251712" y="6042913"/>
            <a:ext cx="4629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fontAlgn="auto">
              <a:spcBef>
                <a:spcPts val="95"/>
              </a:spcBef>
              <a:spcAft>
                <a:spcPts val="0"/>
              </a:spcAft>
            </a:pPr>
            <a:r>
              <a:rPr sz="2000" spc="-15" dirty="0">
                <a:solidFill>
                  <a:prstClr val="black"/>
                </a:solidFill>
                <a:latin typeface="Tahoma"/>
                <a:cs typeface="Tahoma"/>
              </a:rPr>
              <a:t>tree</a:t>
            </a:r>
            <a:endParaRPr sz="20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96" name="object 48"/>
          <p:cNvSpPr txBox="1"/>
          <p:nvPr/>
        </p:nvSpPr>
        <p:spPr>
          <a:xfrm>
            <a:off x="4197350" y="5667501"/>
            <a:ext cx="7302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fontAlgn="auto">
              <a:spcBef>
                <a:spcPts val="95"/>
              </a:spcBef>
              <a:spcAft>
                <a:spcPts val="0"/>
              </a:spcAft>
            </a:pPr>
            <a:r>
              <a:rPr sz="2000" spc="15" dirty="0">
                <a:solidFill>
                  <a:prstClr val="black"/>
                </a:solidFill>
                <a:latin typeface="Tahoma"/>
                <a:cs typeface="Tahoma"/>
              </a:rPr>
              <a:t>queue</a:t>
            </a:r>
            <a:endParaRPr sz="20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97" name="object 49"/>
          <p:cNvSpPr txBox="1"/>
          <p:nvPr/>
        </p:nvSpPr>
        <p:spPr>
          <a:xfrm>
            <a:off x="7509510" y="6139433"/>
            <a:ext cx="6184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fontAlgn="auto">
              <a:spcBef>
                <a:spcPts val="95"/>
              </a:spcBef>
              <a:spcAft>
                <a:spcPts val="0"/>
              </a:spcAft>
            </a:pPr>
            <a:r>
              <a:rPr sz="2000" spc="30" dirty="0">
                <a:solidFill>
                  <a:prstClr val="black"/>
                </a:solidFill>
                <a:latin typeface="Tahoma"/>
                <a:cs typeface="Tahoma"/>
              </a:rPr>
              <a:t>sta</a:t>
            </a:r>
            <a:r>
              <a:rPr sz="2000" spc="35" dirty="0">
                <a:solidFill>
                  <a:prstClr val="black"/>
                </a:solidFill>
                <a:latin typeface="Tahoma"/>
                <a:cs typeface="Tahoma"/>
              </a:rPr>
              <a:t>c</a:t>
            </a:r>
            <a:r>
              <a:rPr sz="2000" dirty="0">
                <a:solidFill>
                  <a:prstClr val="black"/>
                </a:solidFill>
                <a:latin typeface="Tahoma"/>
                <a:cs typeface="Tahoma"/>
              </a:rPr>
              <a:t>k</a:t>
            </a:r>
            <a:endParaRPr sz="2000">
              <a:solidFill>
                <a:prstClr val="black"/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562368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Introduction</a:t>
            </a:r>
            <a:r>
              <a:rPr lang="en-US" spc="-25" dirty="0"/>
              <a:t> </a:t>
            </a:r>
            <a:r>
              <a:rPr lang="en-US" spc="-5" dirty="0"/>
              <a:t>to</a:t>
            </a:r>
            <a:r>
              <a:rPr lang="en-US" spc="-20" dirty="0"/>
              <a:t> </a:t>
            </a:r>
            <a:r>
              <a:rPr lang="en-US" spc="-5" dirty="0"/>
              <a:t>algorithms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41300" indent="-228600" fontAlgn="auto">
              <a:spcBef>
                <a:spcPts val="100"/>
              </a:spcBef>
              <a:spcAft>
                <a:spcPts val="0"/>
              </a:spcAft>
              <a:buFont typeface="Wingdings"/>
              <a:buChar char=""/>
              <a:tabLst>
                <a:tab pos="241300" algn="l"/>
              </a:tabLst>
            </a:pPr>
            <a:r>
              <a:rPr lang="en-US" sz="2200" spc="-5" dirty="0">
                <a:solidFill>
                  <a:prstClr val="black"/>
                </a:solidFill>
                <a:latin typeface="Tahoma"/>
                <a:cs typeface="Tahoma"/>
              </a:rPr>
              <a:t>Algorithm</a:t>
            </a:r>
            <a:endParaRPr lang="en-US" sz="2200" dirty="0">
              <a:solidFill>
                <a:prstClr val="black"/>
              </a:solidFill>
              <a:latin typeface="Tahoma"/>
              <a:cs typeface="Tahoma"/>
            </a:endParaRPr>
          </a:p>
          <a:p>
            <a:pPr fontAlgn="auto">
              <a:spcBef>
                <a:spcPts val="25"/>
              </a:spcBef>
              <a:spcAft>
                <a:spcPts val="0"/>
              </a:spcAft>
              <a:buFont typeface="Wingdings"/>
              <a:buChar char=""/>
            </a:pPr>
            <a:endParaRPr lang="en-US" sz="24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lvl="1" indent="-228600" fontAlgn="auto">
              <a:spcBef>
                <a:spcPts val="5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40" dirty="0">
                <a:solidFill>
                  <a:prstClr val="black"/>
                </a:solidFill>
                <a:latin typeface="Tahoma"/>
                <a:cs typeface="Tahoma"/>
              </a:rPr>
              <a:t>Named</a:t>
            </a:r>
            <a:r>
              <a:rPr lang="en-US" sz="2000" spc="-5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30" dirty="0">
                <a:solidFill>
                  <a:prstClr val="black"/>
                </a:solidFill>
                <a:latin typeface="Tahoma"/>
                <a:cs typeface="Tahoma"/>
              </a:rPr>
              <a:t>after</a:t>
            </a:r>
            <a:r>
              <a:rPr lang="en-US" sz="2000" spc="-9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60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30" dirty="0">
                <a:solidFill>
                  <a:prstClr val="black"/>
                </a:solidFill>
                <a:latin typeface="Tahoma"/>
                <a:cs typeface="Tahoma"/>
              </a:rPr>
              <a:t>Muslim</a:t>
            </a:r>
            <a:r>
              <a:rPr lang="en-US" sz="2000" spc="-6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" dirty="0">
                <a:solidFill>
                  <a:prstClr val="black"/>
                </a:solidFill>
                <a:latin typeface="Tahoma"/>
                <a:cs typeface="Tahoma"/>
              </a:rPr>
              <a:t>mathematician,</a:t>
            </a:r>
            <a:r>
              <a:rPr lang="en-US" sz="2000" spc="-204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5" dirty="0">
                <a:solidFill>
                  <a:srgbClr val="2D75B6"/>
                </a:solidFill>
                <a:latin typeface="Tahoma"/>
                <a:cs typeface="Tahoma"/>
              </a:rPr>
              <a:t>Al-</a:t>
            </a:r>
            <a:r>
              <a:rPr lang="en-US" sz="2000" spc="25" dirty="0" err="1">
                <a:solidFill>
                  <a:srgbClr val="2D75B6"/>
                </a:solidFill>
                <a:latin typeface="Tahoma"/>
                <a:cs typeface="Tahoma"/>
              </a:rPr>
              <a:t>Khawarzmi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lvl="1" fontAlgn="auto">
              <a:spcBef>
                <a:spcPts val="15"/>
              </a:spcBef>
              <a:spcAft>
                <a:spcPts val="0"/>
              </a:spcAft>
              <a:buFont typeface="Tahoma"/>
              <a:buChar char="►"/>
            </a:pPr>
            <a:endParaRPr lang="en-US" sz="24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lvl="1" indent="-228600" fontAlgn="auto">
              <a:spcBef>
                <a:spcPts val="0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Definition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lvl="1" fontAlgn="auto">
              <a:spcBef>
                <a:spcPts val="30"/>
              </a:spcBef>
              <a:spcAft>
                <a:spcPts val="0"/>
              </a:spcAft>
              <a:buFont typeface="Tahoma"/>
              <a:buChar char="►"/>
            </a:pPr>
            <a:endParaRPr lang="en-US" sz="245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1155700" marR="360680" lvl="2" indent="-228600" fontAlgn="auto">
              <a:lnSpc>
                <a:spcPts val="1939"/>
              </a:lnSpc>
              <a:spcBef>
                <a:spcPts val="5"/>
              </a:spcBef>
              <a:spcAft>
                <a:spcPts val="0"/>
              </a:spcAft>
              <a:buFont typeface="Calibri"/>
              <a:buChar char="-"/>
              <a:tabLst>
                <a:tab pos="1155700" algn="l"/>
                <a:tab pos="1156335" algn="l"/>
              </a:tabLst>
            </a:pPr>
            <a:r>
              <a:rPr lang="en-US" spc="55" dirty="0">
                <a:solidFill>
                  <a:prstClr val="black"/>
                </a:solidFill>
                <a:latin typeface="Tahoma"/>
                <a:cs typeface="Tahoma"/>
              </a:rPr>
              <a:t>An</a:t>
            </a:r>
            <a:r>
              <a:rPr lang="en-US" spc="-6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pc="-15" dirty="0">
                <a:solidFill>
                  <a:prstClr val="black"/>
                </a:solidFill>
                <a:latin typeface="Tahoma"/>
                <a:cs typeface="Tahoma"/>
              </a:rPr>
              <a:t>algorithm</a:t>
            </a:r>
            <a:r>
              <a:rPr lang="en-US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pc="40" dirty="0">
                <a:solidFill>
                  <a:prstClr val="black"/>
                </a:solidFill>
                <a:latin typeface="Tahoma"/>
                <a:cs typeface="Tahoma"/>
              </a:rPr>
              <a:t>is</a:t>
            </a:r>
            <a:r>
              <a:rPr lang="en-US" spc="-6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pc="55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lang="en-US" spc="-5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pc="-15" dirty="0">
                <a:solidFill>
                  <a:prstClr val="black"/>
                </a:solidFill>
                <a:latin typeface="Tahoma"/>
                <a:cs typeface="Tahoma"/>
              </a:rPr>
              <a:t>definite</a:t>
            </a:r>
            <a:r>
              <a:rPr lang="en-US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pc="10" dirty="0">
                <a:solidFill>
                  <a:srgbClr val="2D75B6"/>
                </a:solidFill>
                <a:latin typeface="Tahoma"/>
                <a:cs typeface="Tahoma"/>
              </a:rPr>
              <a:t>procedure</a:t>
            </a:r>
            <a:r>
              <a:rPr lang="en-US" spc="-65" dirty="0">
                <a:solidFill>
                  <a:srgbClr val="2D75B6"/>
                </a:solidFill>
                <a:latin typeface="Tahoma"/>
                <a:cs typeface="Tahoma"/>
              </a:rPr>
              <a:t> </a:t>
            </a:r>
            <a:r>
              <a:rPr lang="en-US" spc="-35" dirty="0">
                <a:solidFill>
                  <a:prstClr val="black"/>
                </a:solidFill>
                <a:latin typeface="Tahoma"/>
                <a:cs typeface="Tahoma"/>
              </a:rPr>
              <a:t>for</a:t>
            </a:r>
            <a:r>
              <a:rPr lang="en-US" spc="-6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pc="10" dirty="0">
                <a:solidFill>
                  <a:prstClr val="black"/>
                </a:solidFill>
                <a:latin typeface="Tahoma"/>
                <a:cs typeface="Tahoma"/>
              </a:rPr>
              <a:t>solving</a:t>
            </a:r>
            <a:r>
              <a:rPr lang="en-US" spc="-6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pc="55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lang="en-US" spc="-6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dirty="0">
                <a:solidFill>
                  <a:prstClr val="black"/>
                </a:solidFill>
                <a:latin typeface="Tahoma"/>
                <a:cs typeface="Tahoma"/>
              </a:rPr>
              <a:t>problem</a:t>
            </a:r>
            <a:r>
              <a:rPr lang="en-US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pc="-10" dirty="0">
                <a:solidFill>
                  <a:prstClr val="black"/>
                </a:solidFill>
                <a:latin typeface="Tahoma"/>
                <a:cs typeface="Tahoma"/>
              </a:rPr>
              <a:t>in </a:t>
            </a:r>
            <a:r>
              <a:rPr lang="en-US" spc="-54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pc="-25" dirty="0">
                <a:solidFill>
                  <a:prstClr val="black"/>
                </a:solidFill>
                <a:latin typeface="Tahoma"/>
                <a:cs typeface="Tahoma"/>
              </a:rPr>
              <a:t>finite</a:t>
            </a:r>
            <a:r>
              <a:rPr lang="en-US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pc="-5" dirty="0">
                <a:solidFill>
                  <a:prstClr val="black"/>
                </a:solidFill>
                <a:latin typeface="Tahoma"/>
                <a:cs typeface="Tahoma"/>
              </a:rPr>
              <a:t>number</a:t>
            </a:r>
            <a:r>
              <a:rPr lang="en-US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pc="-25" dirty="0">
                <a:solidFill>
                  <a:prstClr val="black"/>
                </a:solidFill>
                <a:latin typeface="Tahoma"/>
                <a:cs typeface="Tahoma"/>
              </a:rPr>
              <a:t>of</a:t>
            </a:r>
            <a:r>
              <a:rPr lang="en-US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pc="25" dirty="0">
                <a:solidFill>
                  <a:prstClr val="black"/>
                </a:solidFill>
                <a:latin typeface="Tahoma"/>
                <a:cs typeface="Tahoma"/>
              </a:rPr>
              <a:t>steps</a:t>
            </a:r>
            <a:endParaRPr lang="en-US" dirty="0">
              <a:solidFill>
                <a:prstClr val="black"/>
              </a:solidFill>
              <a:latin typeface="Tahoma"/>
              <a:cs typeface="Tahoma"/>
            </a:endParaRPr>
          </a:p>
          <a:p>
            <a:pPr lvl="2" fontAlgn="auto">
              <a:spcBef>
                <a:spcPts val="50"/>
              </a:spcBef>
              <a:spcAft>
                <a:spcPts val="0"/>
              </a:spcAft>
              <a:buFont typeface="Calibri"/>
              <a:buChar char="-"/>
            </a:pPr>
            <a:endParaRPr lang="en-US" sz="24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1155700" marR="5080" lvl="2" indent="-228600" fontAlgn="auto">
              <a:lnSpc>
                <a:spcPts val="1939"/>
              </a:lnSpc>
              <a:spcBef>
                <a:spcPts val="0"/>
              </a:spcBef>
              <a:spcAft>
                <a:spcPts val="0"/>
              </a:spcAft>
              <a:buFont typeface="Calibri"/>
              <a:buChar char="-"/>
              <a:tabLst>
                <a:tab pos="1155700" algn="l"/>
                <a:tab pos="1156335" algn="l"/>
              </a:tabLst>
            </a:pPr>
            <a:r>
              <a:rPr lang="en-US" spc="-5" dirty="0">
                <a:solidFill>
                  <a:prstClr val="black"/>
                </a:solidFill>
                <a:latin typeface="Tahoma"/>
                <a:cs typeface="Tahoma"/>
              </a:rPr>
              <a:t>Algorithm </a:t>
            </a:r>
            <a:r>
              <a:rPr lang="en-US" spc="40" dirty="0">
                <a:solidFill>
                  <a:prstClr val="black"/>
                </a:solidFill>
                <a:latin typeface="Tahoma"/>
                <a:cs typeface="Tahoma"/>
              </a:rPr>
              <a:t>is </a:t>
            </a:r>
            <a:r>
              <a:rPr lang="en-US" spc="55" dirty="0">
                <a:solidFill>
                  <a:prstClr val="black"/>
                </a:solidFill>
                <a:latin typeface="Tahoma"/>
                <a:cs typeface="Tahoma"/>
              </a:rPr>
              <a:t>a </a:t>
            </a:r>
            <a:r>
              <a:rPr lang="en-US" spc="-5" dirty="0">
                <a:solidFill>
                  <a:prstClr val="black"/>
                </a:solidFill>
                <a:latin typeface="Tahoma"/>
                <a:cs typeface="Tahoma"/>
              </a:rPr>
              <a:t>well-defined computational </a:t>
            </a:r>
            <a:r>
              <a:rPr lang="en-US" spc="10" dirty="0">
                <a:solidFill>
                  <a:prstClr val="black"/>
                </a:solidFill>
                <a:latin typeface="Tahoma"/>
                <a:cs typeface="Tahoma"/>
              </a:rPr>
              <a:t>procedure </a:t>
            </a:r>
            <a:r>
              <a:rPr lang="en-US" spc="-45" dirty="0">
                <a:solidFill>
                  <a:prstClr val="black"/>
                </a:solidFill>
                <a:latin typeface="Tahoma"/>
                <a:cs typeface="Tahoma"/>
              </a:rPr>
              <a:t>that </a:t>
            </a:r>
            <a:r>
              <a:rPr lang="en-US" spc="20" dirty="0">
                <a:solidFill>
                  <a:prstClr val="black"/>
                </a:solidFill>
                <a:latin typeface="Tahoma"/>
                <a:cs typeface="Tahoma"/>
              </a:rPr>
              <a:t>takes </a:t>
            </a:r>
            <a:r>
              <a:rPr lang="en-US" spc="-55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pc="40" dirty="0">
                <a:solidFill>
                  <a:prstClr val="black"/>
                </a:solidFill>
                <a:latin typeface="Tahoma"/>
                <a:cs typeface="Tahoma"/>
              </a:rPr>
              <a:t>some</a:t>
            </a:r>
            <a:r>
              <a:rPr lang="en-US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dirty="0">
                <a:solidFill>
                  <a:prstClr val="black"/>
                </a:solidFill>
                <a:latin typeface="Tahoma"/>
                <a:cs typeface="Tahoma"/>
              </a:rPr>
              <a:t>value(s)</a:t>
            </a:r>
            <a:r>
              <a:rPr lang="en-US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pc="75" dirty="0">
                <a:solidFill>
                  <a:prstClr val="black"/>
                </a:solidFill>
                <a:latin typeface="Tahoma"/>
                <a:cs typeface="Tahoma"/>
              </a:rPr>
              <a:t>as</a:t>
            </a:r>
            <a:r>
              <a:rPr lang="en-US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pc="-30" dirty="0">
                <a:solidFill>
                  <a:srgbClr val="2D75B6"/>
                </a:solidFill>
                <a:latin typeface="Tahoma"/>
                <a:cs typeface="Tahoma"/>
              </a:rPr>
              <a:t>input</a:t>
            </a:r>
            <a:r>
              <a:rPr lang="en-US" spc="-30" dirty="0">
                <a:solidFill>
                  <a:prstClr val="black"/>
                </a:solidFill>
                <a:latin typeface="Tahoma"/>
                <a:cs typeface="Tahoma"/>
              </a:rPr>
              <a:t>,</a:t>
            </a:r>
            <a:r>
              <a:rPr lang="en-US" spc="42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pc="15" dirty="0">
                <a:solidFill>
                  <a:prstClr val="black"/>
                </a:solidFill>
                <a:latin typeface="Tahoma"/>
                <a:cs typeface="Tahoma"/>
              </a:rPr>
              <a:t>and</a:t>
            </a:r>
            <a:r>
              <a:rPr lang="en-US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pc="25" dirty="0">
                <a:solidFill>
                  <a:prstClr val="black"/>
                </a:solidFill>
                <a:latin typeface="Tahoma"/>
                <a:cs typeface="Tahoma"/>
              </a:rPr>
              <a:t>produces</a:t>
            </a:r>
            <a:r>
              <a:rPr lang="en-US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pc="40" dirty="0">
                <a:solidFill>
                  <a:prstClr val="black"/>
                </a:solidFill>
                <a:latin typeface="Tahoma"/>
                <a:cs typeface="Tahoma"/>
              </a:rPr>
              <a:t>some</a:t>
            </a:r>
            <a:r>
              <a:rPr lang="en-US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dirty="0">
                <a:solidFill>
                  <a:prstClr val="black"/>
                </a:solidFill>
                <a:latin typeface="Tahoma"/>
                <a:cs typeface="Tahoma"/>
              </a:rPr>
              <a:t>value(s)</a:t>
            </a:r>
            <a:r>
              <a:rPr lang="en-US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pc="75" dirty="0">
                <a:solidFill>
                  <a:prstClr val="black"/>
                </a:solidFill>
                <a:latin typeface="Tahoma"/>
                <a:cs typeface="Tahoma"/>
              </a:rPr>
              <a:t>as</a:t>
            </a:r>
            <a:r>
              <a:rPr lang="en-US" spc="-5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pc="-30" dirty="0">
                <a:solidFill>
                  <a:srgbClr val="2D75B6"/>
                </a:solidFill>
                <a:latin typeface="Tahoma"/>
                <a:cs typeface="Tahoma"/>
              </a:rPr>
              <a:t>output</a:t>
            </a:r>
            <a:endParaRPr lang="en-US" dirty="0">
              <a:solidFill>
                <a:prstClr val="black"/>
              </a:solidFill>
              <a:latin typeface="Tahoma"/>
              <a:cs typeface="Tahoma"/>
            </a:endParaRPr>
          </a:p>
          <a:p>
            <a:pPr lvl="2" fontAlgn="auto">
              <a:spcBef>
                <a:spcPts val="55"/>
              </a:spcBef>
              <a:spcAft>
                <a:spcPts val="0"/>
              </a:spcAft>
              <a:buFont typeface="Calibri"/>
              <a:buChar char="-"/>
            </a:pPr>
            <a:endParaRPr lang="en-US" sz="24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1155700" marR="437515" lvl="2" indent="-228600" fontAlgn="auto">
              <a:lnSpc>
                <a:spcPts val="1939"/>
              </a:lnSpc>
              <a:spcBef>
                <a:spcPts val="0"/>
              </a:spcBef>
              <a:spcAft>
                <a:spcPts val="0"/>
              </a:spcAft>
              <a:buFont typeface="Calibri"/>
              <a:buChar char="-"/>
              <a:tabLst>
                <a:tab pos="1155700" algn="l"/>
                <a:tab pos="1156335" algn="l"/>
              </a:tabLst>
            </a:pPr>
            <a:r>
              <a:rPr lang="en-US" spc="-5" dirty="0">
                <a:solidFill>
                  <a:prstClr val="black"/>
                </a:solidFill>
                <a:latin typeface="Tahoma"/>
                <a:cs typeface="Tahoma"/>
              </a:rPr>
              <a:t>Algorithm</a:t>
            </a:r>
            <a:r>
              <a:rPr lang="en-US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pc="40" dirty="0">
                <a:solidFill>
                  <a:prstClr val="black"/>
                </a:solidFill>
                <a:latin typeface="Tahoma"/>
                <a:cs typeface="Tahoma"/>
              </a:rPr>
              <a:t>is</a:t>
            </a:r>
            <a:r>
              <a:rPr lang="en-US" spc="-6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pc="-25" dirty="0">
                <a:solidFill>
                  <a:prstClr val="black"/>
                </a:solidFill>
                <a:latin typeface="Tahoma"/>
                <a:cs typeface="Tahoma"/>
              </a:rPr>
              <a:t>finite</a:t>
            </a:r>
            <a:r>
              <a:rPr lang="en-US" spc="-5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pc="-5" dirty="0">
                <a:solidFill>
                  <a:prstClr val="black"/>
                </a:solidFill>
                <a:latin typeface="Tahoma"/>
                <a:cs typeface="Tahoma"/>
              </a:rPr>
              <a:t>number</a:t>
            </a:r>
            <a:r>
              <a:rPr lang="en-US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pc="-25" dirty="0">
                <a:solidFill>
                  <a:prstClr val="black"/>
                </a:solidFill>
                <a:latin typeface="Tahoma"/>
                <a:cs typeface="Tahoma"/>
              </a:rPr>
              <a:t>of</a:t>
            </a:r>
            <a:r>
              <a:rPr lang="en-US" spc="-5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pc="-5" dirty="0">
                <a:solidFill>
                  <a:prstClr val="black"/>
                </a:solidFill>
                <a:latin typeface="Tahoma"/>
                <a:cs typeface="Tahoma"/>
              </a:rPr>
              <a:t>computational</a:t>
            </a:r>
            <a:r>
              <a:rPr lang="en-US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dirty="0">
                <a:solidFill>
                  <a:prstClr val="black"/>
                </a:solidFill>
                <a:latin typeface="Tahoma"/>
                <a:cs typeface="Tahoma"/>
              </a:rPr>
              <a:t>statements</a:t>
            </a:r>
            <a:r>
              <a:rPr lang="en-US" spc="-5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pc="-45" dirty="0">
                <a:solidFill>
                  <a:prstClr val="black"/>
                </a:solidFill>
                <a:latin typeface="Tahoma"/>
                <a:cs typeface="Tahoma"/>
              </a:rPr>
              <a:t>that </a:t>
            </a:r>
            <a:r>
              <a:rPr lang="en-US" spc="-55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pc="-15" dirty="0">
                <a:solidFill>
                  <a:prstClr val="black"/>
                </a:solidFill>
                <a:latin typeface="Tahoma"/>
                <a:cs typeface="Tahoma"/>
              </a:rPr>
              <a:t>transform</a:t>
            </a:r>
            <a:r>
              <a:rPr lang="en-US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pc="-25" dirty="0">
                <a:solidFill>
                  <a:prstClr val="black"/>
                </a:solidFill>
                <a:latin typeface="Tahoma"/>
                <a:cs typeface="Tahoma"/>
              </a:rPr>
              <a:t>input</a:t>
            </a:r>
            <a:r>
              <a:rPr lang="en-US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pc="-25" dirty="0">
                <a:solidFill>
                  <a:prstClr val="black"/>
                </a:solidFill>
                <a:latin typeface="Tahoma"/>
                <a:cs typeface="Tahoma"/>
              </a:rPr>
              <a:t>into</a:t>
            </a:r>
            <a:r>
              <a:rPr lang="en-US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pc="-20" dirty="0">
                <a:solidFill>
                  <a:prstClr val="black"/>
                </a:solidFill>
                <a:latin typeface="Tahoma"/>
                <a:cs typeface="Tahoma"/>
              </a:rPr>
              <a:t>the</a:t>
            </a:r>
            <a:r>
              <a:rPr lang="en-US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pc="-30" dirty="0">
                <a:solidFill>
                  <a:prstClr val="black"/>
                </a:solidFill>
                <a:latin typeface="Tahoma"/>
                <a:cs typeface="Tahoma"/>
              </a:rPr>
              <a:t>output</a:t>
            </a:r>
            <a:endParaRPr lang="en-US" dirty="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BD5D2-A63C-4CF3-9B33-EDAB3DA9185D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150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What</a:t>
            </a:r>
            <a:r>
              <a:rPr lang="en-US" spc="-10" dirty="0"/>
              <a:t> </a:t>
            </a:r>
            <a:r>
              <a:rPr lang="en-US" spc="-5" dirty="0"/>
              <a:t>is</a:t>
            </a:r>
            <a:r>
              <a:rPr lang="en-US" spc="-15" dirty="0"/>
              <a:t> </a:t>
            </a:r>
            <a:r>
              <a:rPr lang="en-US" spc="-10" dirty="0"/>
              <a:t>an </a:t>
            </a:r>
            <a:r>
              <a:rPr lang="en-US" spc="-5" dirty="0"/>
              <a:t>algorithm?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41300" marR="646430" indent="-228600" fontAlgn="auto">
              <a:lnSpc>
                <a:spcPts val="2380"/>
              </a:lnSpc>
              <a:spcBef>
                <a:spcPts val="395"/>
              </a:spcBef>
              <a:spcAft>
                <a:spcPts val="0"/>
              </a:spcAft>
              <a:buFont typeface="Wingdings"/>
              <a:buChar char=""/>
              <a:tabLst>
                <a:tab pos="241300" algn="l"/>
              </a:tabLst>
            </a:pPr>
            <a:r>
              <a:rPr lang="en-US" sz="2200" b="1" dirty="0">
                <a:solidFill>
                  <a:prstClr val="black"/>
                </a:solidFill>
                <a:latin typeface="Arial"/>
                <a:cs typeface="Arial"/>
              </a:rPr>
              <a:t>An algorithm is an effective method for solving a </a:t>
            </a:r>
            <a:r>
              <a:rPr lang="en-US" sz="2200" b="1" spc="-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z="2200" b="1" dirty="0">
                <a:solidFill>
                  <a:prstClr val="black"/>
                </a:solidFill>
                <a:latin typeface="Arial"/>
                <a:cs typeface="Arial"/>
              </a:rPr>
              <a:t>problem</a:t>
            </a:r>
            <a:r>
              <a:rPr lang="en-US" sz="2200" b="1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z="2200" b="1" dirty="0">
                <a:solidFill>
                  <a:prstClr val="black"/>
                </a:solidFill>
                <a:latin typeface="Arial"/>
                <a:cs typeface="Arial"/>
              </a:rPr>
              <a:t>using a</a:t>
            </a:r>
            <a:r>
              <a:rPr lang="en-US" sz="2200" b="1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z="2200" b="1" dirty="0">
                <a:solidFill>
                  <a:prstClr val="black"/>
                </a:solidFill>
                <a:latin typeface="Arial"/>
                <a:cs typeface="Arial"/>
              </a:rPr>
              <a:t>finite</a:t>
            </a:r>
            <a:r>
              <a:rPr lang="en-US" sz="22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z="2200" b="1" dirty="0">
                <a:solidFill>
                  <a:prstClr val="black"/>
                </a:solidFill>
                <a:latin typeface="Arial"/>
                <a:cs typeface="Arial"/>
              </a:rPr>
              <a:t>sequence</a:t>
            </a:r>
            <a:r>
              <a:rPr lang="en-US" sz="22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z="2200" b="1" dirty="0">
                <a:solidFill>
                  <a:prstClr val="black"/>
                </a:solidFill>
                <a:latin typeface="Arial"/>
                <a:cs typeface="Arial"/>
              </a:rPr>
              <a:t>of</a:t>
            </a:r>
            <a:r>
              <a:rPr lang="en-US" sz="2200" b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z="2200" b="1" dirty="0">
                <a:solidFill>
                  <a:prstClr val="black"/>
                </a:solidFill>
                <a:latin typeface="Arial"/>
                <a:cs typeface="Arial"/>
              </a:rPr>
              <a:t>instructions</a:t>
            </a:r>
            <a:endParaRPr lang="en-US" sz="2200" dirty="0">
              <a:solidFill>
                <a:prstClr val="black"/>
              </a:solidFill>
              <a:latin typeface="Arial"/>
              <a:cs typeface="Arial"/>
            </a:endParaRPr>
          </a:p>
          <a:p>
            <a:pPr fontAlgn="auto">
              <a:spcBef>
                <a:spcPts val="45"/>
              </a:spcBef>
              <a:spcAft>
                <a:spcPts val="0"/>
              </a:spcAft>
              <a:buFont typeface="Wingdings"/>
              <a:buChar char=""/>
            </a:pPr>
            <a:endParaRPr lang="en-US" sz="35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241300" indent="-228600" fontAlgn="auto">
              <a:spcBef>
                <a:spcPts val="0"/>
              </a:spcBef>
              <a:spcAft>
                <a:spcPts val="0"/>
              </a:spcAft>
              <a:buFont typeface="Wingdings"/>
              <a:buChar char=""/>
              <a:tabLst>
                <a:tab pos="241300" algn="l"/>
              </a:tabLst>
            </a:pPr>
            <a:r>
              <a:rPr lang="en-US" sz="2200" spc="60" dirty="0">
                <a:solidFill>
                  <a:prstClr val="black"/>
                </a:solidFill>
                <a:latin typeface="Tahoma"/>
                <a:cs typeface="Tahoma"/>
              </a:rPr>
              <a:t>Examples</a:t>
            </a:r>
            <a:endParaRPr lang="en-US" sz="22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lvl="1" indent="-228600" fontAlgn="auto">
              <a:spcBef>
                <a:spcPts val="270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sort</a:t>
            </a:r>
            <a:r>
              <a:rPr lang="en-US" sz="2000" spc="-10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60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list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30" dirty="0">
                <a:solidFill>
                  <a:prstClr val="black"/>
                </a:solidFill>
                <a:latin typeface="Tahoma"/>
                <a:cs typeface="Tahoma"/>
              </a:rPr>
              <a:t>of</a:t>
            </a:r>
            <a:r>
              <a:rPr lang="en-US" sz="2000" spc="-9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numbers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marR="5080" lvl="1" indent="-228600" fontAlgn="auto">
              <a:lnSpc>
                <a:spcPts val="2160"/>
              </a:lnSpc>
              <a:spcBef>
                <a:spcPts val="530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-25" dirty="0">
                <a:solidFill>
                  <a:prstClr val="black"/>
                </a:solidFill>
                <a:latin typeface="Tahoma"/>
                <a:cs typeface="Tahoma"/>
              </a:rPr>
              <a:t>find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60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route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35" dirty="0">
                <a:solidFill>
                  <a:prstClr val="black"/>
                </a:solidFill>
                <a:latin typeface="Tahoma"/>
                <a:cs typeface="Tahoma"/>
              </a:rPr>
              <a:t>from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5" dirty="0">
                <a:solidFill>
                  <a:prstClr val="black"/>
                </a:solidFill>
                <a:latin typeface="Tahoma"/>
                <a:cs typeface="Tahoma"/>
              </a:rPr>
              <a:t>one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35" dirty="0">
                <a:solidFill>
                  <a:prstClr val="black"/>
                </a:solidFill>
                <a:latin typeface="Tahoma"/>
                <a:cs typeface="Tahoma"/>
              </a:rPr>
              <a:t>place</a:t>
            </a:r>
            <a:r>
              <a:rPr lang="en-US" sz="2000" spc="-6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45" dirty="0">
                <a:solidFill>
                  <a:prstClr val="black"/>
                </a:solidFill>
                <a:latin typeface="Tahoma"/>
                <a:cs typeface="Tahoma"/>
              </a:rPr>
              <a:t>to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" dirty="0">
                <a:solidFill>
                  <a:prstClr val="black"/>
                </a:solidFill>
                <a:latin typeface="Tahoma"/>
                <a:cs typeface="Tahoma"/>
              </a:rPr>
              <a:t>another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(cars,</a:t>
            </a:r>
            <a:r>
              <a:rPr lang="en-US" sz="2000" spc="-9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5" dirty="0">
                <a:solidFill>
                  <a:prstClr val="black"/>
                </a:solidFill>
                <a:latin typeface="Tahoma"/>
                <a:cs typeface="Tahoma"/>
              </a:rPr>
              <a:t>packet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30" dirty="0">
                <a:solidFill>
                  <a:prstClr val="black"/>
                </a:solidFill>
                <a:latin typeface="Tahoma"/>
                <a:cs typeface="Tahoma"/>
              </a:rPr>
              <a:t>routing, </a:t>
            </a:r>
            <a:r>
              <a:rPr lang="en-US" sz="2000" spc="-6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5" dirty="0">
                <a:solidFill>
                  <a:prstClr val="black"/>
                </a:solidFill>
                <a:latin typeface="Tahoma"/>
                <a:cs typeface="Tahoma"/>
              </a:rPr>
              <a:t>phone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30" dirty="0">
                <a:solidFill>
                  <a:prstClr val="black"/>
                </a:solidFill>
                <a:latin typeface="Tahoma"/>
                <a:cs typeface="Tahoma"/>
              </a:rPr>
              <a:t>routing,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...)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lvl="1" indent="-228600" fontAlgn="auto">
              <a:spcBef>
                <a:spcPts val="225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-25" dirty="0">
                <a:solidFill>
                  <a:prstClr val="black"/>
                </a:solidFill>
                <a:latin typeface="Tahoma"/>
                <a:cs typeface="Tahoma"/>
              </a:rPr>
              <a:t>find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the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longest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5" dirty="0">
                <a:solidFill>
                  <a:prstClr val="black"/>
                </a:solidFill>
                <a:latin typeface="Tahoma"/>
                <a:cs typeface="Tahoma"/>
              </a:rPr>
              <a:t>common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substring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between</a:t>
            </a:r>
            <a:r>
              <a:rPr lang="en-US" sz="2000" spc="-6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45" dirty="0">
                <a:solidFill>
                  <a:prstClr val="black"/>
                </a:solidFill>
                <a:latin typeface="Tahoma"/>
                <a:cs typeface="Tahoma"/>
              </a:rPr>
              <a:t>two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strings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lvl="1" indent="-228600" fontAlgn="auto">
              <a:spcBef>
                <a:spcPts val="265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microchip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5" dirty="0">
                <a:solidFill>
                  <a:prstClr val="black"/>
                </a:solidFill>
                <a:latin typeface="Tahoma"/>
                <a:cs typeface="Tahoma"/>
              </a:rPr>
              <a:t>wiring/design</a:t>
            </a:r>
            <a:r>
              <a:rPr lang="en-US" sz="2000" spc="-5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(VLSI)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lvl="1" indent="-228600" fontAlgn="auto">
              <a:spcBef>
                <a:spcPts val="259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15" dirty="0">
                <a:solidFill>
                  <a:prstClr val="black"/>
                </a:solidFill>
                <a:latin typeface="Tahoma"/>
                <a:cs typeface="Tahoma"/>
              </a:rPr>
              <a:t>solving</a:t>
            </a:r>
            <a:r>
              <a:rPr lang="en-US" sz="2000" spc="-10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0" dirty="0" err="1">
                <a:solidFill>
                  <a:prstClr val="black"/>
                </a:solidFill>
                <a:latin typeface="Tahoma"/>
                <a:cs typeface="Tahoma"/>
              </a:rPr>
              <a:t>sudoku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lvl="1" indent="-228600" fontAlgn="auto">
              <a:spcBef>
                <a:spcPts val="254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-5" dirty="0">
                <a:solidFill>
                  <a:prstClr val="black"/>
                </a:solidFill>
                <a:latin typeface="Tahoma"/>
                <a:cs typeface="Tahoma"/>
              </a:rPr>
              <a:t>cryptography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lvl="1" indent="-228600" fontAlgn="auto">
              <a:spcBef>
                <a:spcPts val="265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25" dirty="0">
                <a:solidFill>
                  <a:prstClr val="black"/>
                </a:solidFill>
                <a:latin typeface="Tahoma"/>
                <a:cs typeface="Tahoma"/>
              </a:rPr>
              <a:t>compression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35" dirty="0">
                <a:solidFill>
                  <a:prstClr val="black"/>
                </a:solidFill>
                <a:latin typeface="Tahoma"/>
                <a:cs typeface="Tahoma"/>
              </a:rPr>
              <a:t>(file,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audio,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" dirty="0">
                <a:solidFill>
                  <a:prstClr val="black"/>
                </a:solidFill>
                <a:latin typeface="Tahoma"/>
                <a:cs typeface="Tahoma"/>
              </a:rPr>
              <a:t>video)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lvl="1" indent="-228600" fontAlgn="auto">
              <a:spcBef>
                <a:spcPts val="259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15" dirty="0" err="1">
                <a:solidFill>
                  <a:prstClr val="black"/>
                </a:solidFill>
                <a:latin typeface="Tahoma"/>
                <a:cs typeface="Tahoma"/>
              </a:rPr>
              <a:t>pagerank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lvl="1" indent="-228600" fontAlgn="auto">
              <a:spcBef>
                <a:spcPts val="259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30" dirty="0">
                <a:solidFill>
                  <a:prstClr val="black"/>
                </a:solidFill>
                <a:latin typeface="Tahoma"/>
                <a:cs typeface="Tahoma"/>
              </a:rPr>
              <a:t>classify</a:t>
            </a:r>
            <a:r>
              <a:rPr lang="en-US" sz="2000" spc="-9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60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web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30" dirty="0">
                <a:solidFill>
                  <a:prstClr val="black"/>
                </a:solidFill>
                <a:latin typeface="Tahoma"/>
                <a:cs typeface="Tahoma"/>
              </a:rPr>
              <a:t>page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5733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Properties</a:t>
            </a:r>
            <a:r>
              <a:rPr lang="en-US" spc="-15" dirty="0"/>
              <a:t> </a:t>
            </a:r>
            <a:r>
              <a:rPr lang="en-US" dirty="0"/>
              <a:t>of</a:t>
            </a:r>
            <a:r>
              <a:rPr lang="en-US" spc="-25" dirty="0"/>
              <a:t> </a:t>
            </a:r>
            <a:r>
              <a:rPr lang="en-US" spc="-5" dirty="0"/>
              <a:t>interest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41300" indent="-228600" fontAlgn="auto">
              <a:spcBef>
                <a:spcPts val="100"/>
              </a:spcBef>
              <a:spcAft>
                <a:spcPts val="0"/>
              </a:spcAft>
              <a:buFont typeface="Wingdings"/>
              <a:buChar char=""/>
              <a:tabLst>
                <a:tab pos="241300" algn="l"/>
              </a:tabLst>
            </a:pPr>
            <a:r>
              <a:rPr lang="en-US" sz="2200" spc="5" dirty="0">
                <a:solidFill>
                  <a:prstClr val="black"/>
                </a:solidFill>
                <a:latin typeface="Tahoma"/>
                <a:cs typeface="Tahoma"/>
              </a:rPr>
              <a:t>What</a:t>
            </a:r>
            <a:r>
              <a:rPr lang="en-US" sz="22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ahoma"/>
                <a:cs typeface="Tahoma"/>
              </a:rPr>
              <a:t>properties</a:t>
            </a:r>
            <a:r>
              <a:rPr lang="en-US" sz="22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30" dirty="0">
                <a:solidFill>
                  <a:prstClr val="black"/>
                </a:solidFill>
                <a:latin typeface="Tahoma"/>
                <a:cs typeface="Tahoma"/>
              </a:rPr>
              <a:t>of</a:t>
            </a:r>
            <a:r>
              <a:rPr lang="en-US" sz="22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ahoma"/>
                <a:cs typeface="Tahoma"/>
              </a:rPr>
              <a:t>algorithms</a:t>
            </a:r>
            <a:r>
              <a:rPr lang="en-US" sz="22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25" dirty="0">
                <a:solidFill>
                  <a:prstClr val="black"/>
                </a:solidFill>
                <a:latin typeface="Tahoma"/>
                <a:cs typeface="Tahoma"/>
              </a:rPr>
              <a:t>are</a:t>
            </a:r>
            <a:r>
              <a:rPr lang="en-US" sz="22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10" dirty="0">
                <a:solidFill>
                  <a:prstClr val="black"/>
                </a:solidFill>
                <a:latin typeface="Tahoma"/>
                <a:cs typeface="Tahoma"/>
              </a:rPr>
              <a:t>we</a:t>
            </a:r>
            <a:r>
              <a:rPr lang="en-US" sz="22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ahoma"/>
                <a:cs typeface="Tahoma"/>
              </a:rPr>
              <a:t>interested</a:t>
            </a:r>
            <a:r>
              <a:rPr lang="en-US" sz="22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55" dirty="0">
                <a:solidFill>
                  <a:prstClr val="black"/>
                </a:solidFill>
                <a:latin typeface="Tahoma"/>
                <a:cs typeface="Tahoma"/>
              </a:rPr>
              <a:t>in?</a:t>
            </a:r>
            <a:endParaRPr lang="en-US" sz="2200" dirty="0">
              <a:solidFill>
                <a:prstClr val="black"/>
              </a:solidFill>
              <a:latin typeface="Tahoma"/>
              <a:cs typeface="Tahoma"/>
            </a:endParaRPr>
          </a:p>
          <a:p>
            <a:pPr fontAlgn="auto">
              <a:spcBef>
                <a:spcPts val="25"/>
              </a:spcBef>
              <a:spcAft>
                <a:spcPts val="0"/>
              </a:spcAft>
              <a:buFont typeface="Wingdings"/>
              <a:buChar char=""/>
            </a:pPr>
            <a:endParaRPr lang="en-US" sz="24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lvl="1" indent="-228600" fontAlgn="auto">
              <a:spcBef>
                <a:spcPts val="5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65" dirty="0">
                <a:solidFill>
                  <a:prstClr val="black"/>
                </a:solidFill>
                <a:latin typeface="Tahoma"/>
                <a:cs typeface="Tahoma"/>
              </a:rPr>
              <a:t>Does</a:t>
            </a:r>
            <a:r>
              <a:rPr lang="en-US" sz="2000" spc="-6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it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5" dirty="0">
                <a:solidFill>
                  <a:prstClr val="black"/>
                </a:solidFill>
                <a:latin typeface="Tahoma"/>
                <a:cs typeface="Tahoma"/>
              </a:rPr>
              <a:t>termina</a:t>
            </a:r>
            <a:r>
              <a:rPr lang="en-US" sz="2000" spc="35" dirty="0">
                <a:solidFill>
                  <a:prstClr val="black"/>
                </a:solidFill>
                <a:latin typeface="Tahoma"/>
                <a:cs typeface="Tahoma"/>
              </a:rPr>
              <a:t>te?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lvl="1" fontAlgn="auto">
              <a:spcBef>
                <a:spcPts val="15"/>
              </a:spcBef>
              <a:spcAft>
                <a:spcPts val="0"/>
              </a:spcAft>
              <a:buFont typeface="Tahoma"/>
              <a:buChar char="►"/>
            </a:pPr>
            <a:endParaRPr lang="en-US" sz="24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lvl="1" indent="-228600" fontAlgn="auto">
              <a:spcBef>
                <a:spcPts val="0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-45" dirty="0">
                <a:solidFill>
                  <a:prstClr val="black"/>
                </a:solidFill>
                <a:latin typeface="Tahoma"/>
                <a:cs typeface="Tahoma"/>
              </a:rPr>
              <a:t>Is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it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" dirty="0">
                <a:solidFill>
                  <a:prstClr val="black"/>
                </a:solidFill>
                <a:latin typeface="Tahoma"/>
                <a:cs typeface="Tahoma"/>
              </a:rPr>
              <a:t>correct,</a:t>
            </a:r>
            <a:r>
              <a:rPr lang="en-US" sz="2000" spc="-9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i.e.,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45" dirty="0">
                <a:solidFill>
                  <a:prstClr val="black"/>
                </a:solidFill>
                <a:latin typeface="Tahoma"/>
                <a:cs typeface="Tahoma"/>
              </a:rPr>
              <a:t>does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it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do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30" dirty="0">
                <a:solidFill>
                  <a:prstClr val="black"/>
                </a:solidFill>
                <a:latin typeface="Tahoma"/>
                <a:cs typeface="Tahoma"/>
              </a:rPr>
              <a:t>what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we</a:t>
            </a:r>
            <a:r>
              <a:rPr lang="en-US" sz="2000" spc="-6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30" dirty="0">
                <a:solidFill>
                  <a:prstClr val="black"/>
                </a:solidFill>
                <a:latin typeface="Tahoma"/>
                <a:cs typeface="Tahoma"/>
              </a:rPr>
              <a:t>think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5" dirty="0">
                <a:solidFill>
                  <a:prstClr val="black"/>
                </a:solidFill>
                <a:latin typeface="Tahoma"/>
                <a:cs typeface="Tahoma"/>
              </a:rPr>
              <a:t>it’s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35" dirty="0">
                <a:solidFill>
                  <a:prstClr val="black"/>
                </a:solidFill>
                <a:latin typeface="Tahoma"/>
                <a:cs typeface="Tahoma"/>
              </a:rPr>
              <a:t>supposed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45" dirty="0">
                <a:solidFill>
                  <a:prstClr val="black"/>
                </a:solidFill>
                <a:latin typeface="Tahoma"/>
                <a:cs typeface="Tahoma"/>
              </a:rPr>
              <a:t>to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60" dirty="0">
                <a:solidFill>
                  <a:prstClr val="black"/>
                </a:solidFill>
                <a:latin typeface="Tahoma"/>
                <a:cs typeface="Tahoma"/>
              </a:rPr>
              <a:t>do?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lvl="1" fontAlgn="auto">
              <a:spcBef>
                <a:spcPts val="30"/>
              </a:spcBef>
              <a:spcAft>
                <a:spcPts val="0"/>
              </a:spcAft>
              <a:buFont typeface="Tahoma"/>
              <a:buChar char="►"/>
            </a:pPr>
            <a:endParaRPr lang="en-US" sz="24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lvl="1" indent="-228600" fontAlgn="auto">
              <a:spcBef>
                <a:spcPts val="0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What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0" dirty="0">
                <a:solidFill>
                  <a:prstClr val="black"/>
                </a:solidFill>
                <a:latin typeface="Tahoma"/>
                <a:cs typeface="Tahoma"/>
              </a:rPr>
              <a:t>are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the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" dirty="0">
                <a:solidFill>
                  <a:prstClr val="black"/>
                </a:solidFill>
                <a:latin typeface="Tahoma"/>
                <a:cs typeface="Tahoma"/>
              </a:rPr>
              <a:t>computational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60" dirty="0">
                <a:solidFill>
                  <a:prstClr val="black"/>
                </a:solidFill>
                <a:latin typeface="Tahoma"/>
                <a:cs typeface="Tahoma"/>
              </a:rPr>
              <a:t>costs?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lvl="1" fontAlgn="auto">
              <a:spcBef>
                <a:spcPts val="25"/>
              </a:spcBef>
              <a:spcAft>
                <a:spcPts val="0"/>
              </a:spcAft>
              <a:buFont typeface="Tahoma"/>
              <a:buChar char="►"/>
            </a:pPr>
            <a:endParaRPr lang="en-US" sz="24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lvl="1" indent="-228600" fontAlgn="auto">
              <a:spcBef>
                <a:spcPts val="0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What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0" dirty="0">
                <a:solidFill>
                  <a:prstClr val="black"/>
                </a:solidFill>
                <a:latin typeface="Tahoma"/>
                <a:cs typeface="Tahoma"/>
              </a:rPr>
              <a:t>are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the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memory/space</a:t>
            </a:r>
            <a:r>
              <a:rPr lang="en-US" sz="2000" spc="-9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60" dirty="0">
                <a:solidFill>
                  <a:prstClr val="black"/>
                </a:solidFill>
                <a:latin typeface="Tahoma"/>
                <a:cs typeface="Tahoma"/>
              </a:rPr>
              <a:t>costs?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lvl="1" fontAlgn="auto">
              <a:spcBef>
                <a:spcPts val="15"/>
              </a:spcBef>
              <a:spcAft>
                <a:spcPts val="0"/>
              </a:spcAft>
              <a:buFont typeface="Tahoma"/>
              <a:buChar char="►"/>
            </a:pPr>
            <a:endParaRPr lang="en-US" sz="24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lvl="1" indent="-228600" fontAlgn="auto">
              <a:spcBef>
                <a:spcPts val="5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What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30" dirty="0">
                <a:solidFill>
                  <a:prstClr val="black"/>
                </a:solidFill>
                <a:latin typeface="Tahoma"/>
                <a:cs typeface="Tahoma"/>
              </a:rPr>
              <a:t>happens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45" dirty="0">
                <a:solidFill>
                  <a:prstClr val="black"/>
                </a:solidFill>
                <a:latin typeface="Tahoma"/>
                <a:cs typeface="Tahoma"/>
              </a:rPr>
              <a:t>to</a:t>
            </a:r>
            <a:r>
              <a:rPr lang="en-US" sz="2000" spc="-9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the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30" dirty="0">
                <a:solidFill>
                  <a:prstClr val="black"/>
                </a:solidFill>
                <a:latin typeface="Tahoma"/>
                <a:cs typeface="Tahoma"/>
              </a:rPr>
              <a:t>above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45" dirty="0">
                <a:solidFill>
                  <a:prstClr val="black"/>
                </a:solidFill>
                <a:latin typeface="Tahoma"/>
                <a:cs typeface="Tahoma"/>
              </a:rPr>
              <a:t>with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30" dirty="0">
                <a:solidFill>
                  <a:prstClr val="black"/>
                </a:solidFill>
                <a:latin typeface="Tahoma"/>
                <a:cs typeface="Tahoma"/>
              </a:rPr>
              <a:t>different</a:t>
            </a:r>
            <a:r>
              <a:rPr lang="en-US" sz="2000" spc="-9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0" dirty="0">
                <a:solidFill>
                  <a:prstClr val="black"/>
                </a:solidFill>
                <a:latin typeface="Tahoma"/>
                <a:cs typeface="Tahoma"/>
              </a:rPr>
              <a:t>inputs?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lvl="1" fontAlgn="auto">
              <a:spcBef>
                <a:spcPts val="20"/>
              </a:spcBef>
              <a:spcAft>
                <a:spcPts val="0"/>
              </a:spcAft>
              <a:buFont typeface="Tahoma"/>
              <a:buChar char="►"/>
            </a:pPr>
            <a:endParaRPr lang="en-US" sz="24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lvl="1" indent="-228600" fontAlgn="auto">
              <a:spcBef>
                <a:spcPts val="5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25" dirty="0">
                <a:solidFill>
                  <a:prstClr val="black"/>
                </a:solidFill>
                <a:latin typeface="Tahoma"/>
                <a:cs typeface="Tahoma"/>
              </a:rPr>
              <a:t>How</a:t>
            </a:r>
            <a:r>
              <a:rPr lang="en-US" sz="2000" spc="-6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30" dirty="0">
                <a:solidFill>
                  <a:prstClr val="black"/>
                </a:solidFill>
                <a:latin typeface="Tahoma"/>
                <a:cs typeface="Tahoma"/>
              </a:rPr>
              <a:t>difficult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45" dirty="0">
                <a:solidFill>
                  <a:prstClr val="black"/>
                </a:solidFill>
                <a:latin typeface="Tahoma"/>
                <a:cs typeface="Tahoma"/>
              </a:rPr>
              <a:t>is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it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45" dirty="0">
                <a:solidFill>
                  <a:prstClr val="black"/>
                </a:solidFill>
                <a:latin typeface="Tahoma"/>
                <a:cs typeface="Tahoma"/>
              </a:rPr>
              <a:t>to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implement</a:t>
            </a:r>
            <a:r>
              <a:rPr lang="en-US" sz="2000" spc="-6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0" dirty="0">
                <a:solidFill>
                  <a:prstClr val="black"/>
                </a:solidFill>
                <a:latin typeface="Tahoma"/>
                <a:cs typeface="Tahoma"/>
              </a:rPr>
              <a:t>and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implementing</a:t>
            </a:r>
            <a:r>
              <a:rPr lang="en-US" sz="2000" spc="-5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it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5" dirty="0">
                <a:solidFill>
                  <a:prstClr val="black"/>
                </a:solidFill>
                <a:latin typeface="Tahoma"/>
                <a:cs typeface="Tahoma"/>
              </a:rPr>
              <a:t>correctly?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03173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Data</a:t>
            </a:r>
            <a:r>
              <a:rPr lang="en-US" dirty="0"/>
              <a:t> </a:t>
            </a:r>
            <a:r>
              <a:rPr lang="en-US" spc="-5" dirty="0"/>
              <a:t>structures</a:t>
            </a:r>
            <a:r>
              <a:rPr lang="en-US" spc="15" dirty="0"/>
              <a:t> </a:t>
            </a:r>
            <a:r>
              <a:rPr lang="en-US" spc="-5" dirty="0"/>
              <a:t>&amp;</a:t>
            </a:r>
            <a:r>
              <a:rPr lang="en-US" dirty="0"/>
              <a:t> </a:t>
            </a:r>
            <a:r>
              <a:rPr lang="en-US" spc="-5" dirty="0"/>
              <a:t>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41300" indent="-228600" fontAlgn="auto">
              <a:spcBef>
                <a:spcPts val="100"/>
              </a:spcBef>
              <a:spcAft>
                <a:spcPts val="0"/>
              </a:spcAft>
              <a:buFont typeface="Wingdings"/>
              <a:buChar char=""/>
              <a:tabLst>
                <a:tab pos="241300" algn="l"/>
              </a:tabLst>
            </a:pPr>
            <a:r>
              <a:rPr lang="en-US" sz="2000" spc="25" dirty="0">
                <a:solidFill>
                  <a:prstClr val="black"/>
                </a:solidFill>
                <a:latin typeface="Tahoma"/>
                <a:cs typeface="Tahoma"/>
              </a:rPr>
              <a:t>Operations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5" dirty="0">
                <a:solidFill>
                  <a:prstClr val="black"/>
                </a:solidFill>
                <a:latin typeface="Tahoma"/>
                <a:cs typeface="Tahoma"/>
              </a:rPr>
              <a:t>are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40" dirty="0">
                <a:solidFill>
                  <a:prstClr val="black"/>
                </a:solidFill>
                <a:latin typeface="Tahoma"/>
                <a:cs typeface="Tahoma"/>
              </a:rPr>
              <a:t>associated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0" dirty="0">
                <a:solidFill>
                  <a:prstClr val="black"/>
                </a:solidFill>
                <a:latin typeface="Tahoma"/>
                <a:cs typeface="Tahoma"/>
              </a:rPr>
              <a:t>with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data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5" dirty="0">
                <a:solidFill>
                  <a:prstClr val="black"/>
                </a:solidFill>
                <a:latin typeface="Tahoma"/>
                <a:cs typeface="Tahoma"/>
              </a:rPr>
              <a:t>structure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241300" marR="5080" indent="-241300" fontAlgn="auto">
              <a:lnSpc>
                <a:spcPts val="6750"/>
              </a:lnSpc>
              <a:spcBef>
                <a:spcPts val="710"/>
              </a:spcBef>
              <a:spcAft>
                <a:spcPts val="0"/>
              </a:spcAft>
              <a:buFont typeface="Wingdings"/>
              <a:buChar char=""/>
              <a:tabLst>
                <a:tab pos="241300" algn="l"/>
              </a:tabLst>
            </a:pP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To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perform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5" dirty="0">
                <a:solidFill>
                  <a:prstClr val="black"/>
                </a:solidFill>
                <a:latin typeface="Tahoma"/>
                <a:cs typeface="Tahoma"/>
              </a:rPr>
              <a:t>these</a:t>
            </a:r>
            <a:r>
              <a:rPr lang="en-US" sz="2000" spc="-9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operations,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algorithms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5" dirty="0">
                <a:solidFill>
                  <a:prstClr val="black"/>
                </a:solidFill>
                <a:latin typeface="Tahoma"/>
                <a:cs typeface="Tahoma"/>
              </a:rPr>
              <a:t>are</a:t>
            </a:r>
            <a:r>
              <a:rPr lang="en-US" sz="2000" spc="-9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35" dirty="0">
                <a:solidFill>
                  <a:prstClr val="black"/>
                </a:solidFill>
                <a:latin typeface="Tahoma"/>
                <a:cs typeface="Tahoma"/>
              </a:rPr>
              <a:t>needed </a:t>
            </a:r>
            <a:r>
              <a:rPr lang="en-US" sz="2000" spc="-6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</a:p>
          <a:p>
            <a:pPr marL="0" marR="5080" indent="0" algn="ctr" fontAlgn="auto">
              <a:lnSpc>
                <a:spcPts val="6750"/>
              </a:lnSpc>
              <a:spcBef>
                <a:spcPts val="710"/>
              </a:spcBef>
              <a:spcAft>
                <a:spcPts val="0"/>
              </a:spcAft>
              <a:buNone/>
              <a:tabLst>
                <a:tab pos="241300" algn="l"/>
              </a:tabLst>
            </a:pPr>
            <a:r>
              <a:rPr lang="en-US" sz="2000" spc="25" dirty="0">
                <a:solidFill>
                  <a:prstClr val="black"/>
                </a:solidFill>
                <a:latin typeface="Tahoma"/>
                <a:cs typeface="Tahoma"/>
              </a:rPr>
              <a:t>Data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structures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315" dirty="0">
                <a:solidFill>
                  <a:prstClr val="black"/>
                </a:solidFill>
                <a:latin typeface="Tahoma"/>
                <a:cs typeface="Tahoma"/>
              </a:rPr>
              <a:t>+</a:t>
            </a:r>
            <a:r>
              <a:rPr lang="en-US" sz="2000" spc="-200" dirty="0">
                <a:solidFill>
                  <a:prstClr val="black"/>
                </a:solidFill>
                <a:latin typeface="Tahoma"/>
                <a:cs typeface="Tahoma"/>
              </a:rPr>
              <a:t>  </a:t>
            </a:r>
            <a:r>
              <a:rPr lang="en-US" sz="2000" spc="-5" dirty="0">
                <a:solidFill>
                  <a:prstClr val="black"/>
                </a:solidFill>
                <a:latin typeface="Tahoma"/>
                <a:cs typeface="Tahoma"/>
              </a:rPr>
              <a:t>Algorithm</a:t>
            </a:r>
            <a:r>
              <a:rPr lang="en-US" sz="2000" spc="114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315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35" dirty="0">
                <a:solidFill>
                  <a:prstClr val="black"/>
                </a:solidFill>
                <a:latin typeface="Tahoma"/>
                <a:cs typeface="Tahoma"/>
              </a:rPr>
              <a:t>Prog</a:t>
            </a:r>
            <a:r>
              <a:rPr lang="en-US" sz="2000" spc="15" dirty="0">
                <a:solidFill>
                  <a:prstClr val="black"/>
                </a:solidFill>
                <a:latin typeface="Tahoma"/>
                <a:cs typeface="Tahoma"/>
              </a:rPr>
              <a:t>r</a:t>
            </a:r>
            <a:r>
              <a:rPr lang="en-US" sz="2000" spc="55" dirty="0">
                <a:solidFill>
                  <a:prstClr val="black"/>
                </a:solidFill>
                <a:latin typeface="Tahoma"/>
                <a:cs typeface="Tahoma"/>
              </a:rPr>
              <a:t>ams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03892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Data</a:t>
            </a:r>
            <a:r>
              <a:rPr lang="en-US" spc="-55" dirty="0"/>
              <a:t> </a:t>
            </a:r>
            <a:r>
              <a:rPr lang="en-US" spc="-5" dirty="0"/>
              <a:t>Type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41300" marR="5080" indent="-228600" fontAlgn="auto">
              <a:lnSpc>
                <a:spcPts val="2380"/>
              </a:lnSpc>
              <a:spcBef>
                <a:spcPts val="395"/>
              </a:spcBef>
              <a:spcAft>
                <a:spcPts val="0"/>
              </a:spcAft>
              <a:buFont typeface="Wingdings"/>
              <a:buChar char=""/>
              <a:tabLst>
                <a:tab pos="241300" algn="l"/>
              </a:tabLst>
            </a:pPr>
            <a:r>
              <a:rPr lang="en-US" sz="2200" spc="145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lang="en-US" sz="2200" spc="-19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ahoma"/>
                <a:cs typeface="Tahoma"/>
              </a:rPr>
              <a:t>data</a:t>
            </a:r>
            <a:r>
              <a:rPr lang="en-US" sz="22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15" dirty="0">
                <a:solidFill>
                  <a:prstClr val="black"/>
                </a:solidFill>
                <a:latin typeface="Tahoma"/>
                <a:cs typeface="Tahoma"/>
              </a:rPr>
              <a:t>type</a:t>
            </a:r>
            <a:r>
              <a:rPr lang="en-US" sz="22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50" dirty="0">
                <a:solidFill>
                  <a:prstClr val="black"/>
                </a:solidFill>
                <a:latin typeface="Tahoma"/>
                <a:cs typeface="Tahoma"/>
              </a:rPr>
              <a:t>is</a:t>
            </a:r>
            <a:r>
              <a:rPr lang="en-US" sz="22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65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lang="en-US" sz="22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15" dirty="0">
                <a:solidFill>
                  <a:prstClr val="black"/>
                </a:solidFill>
                <a:latin typeface="Tahoma"/>
                <a:cs typeface="Tahoma"/>
              </a:rPr>
              <a:t>type</a:t>
            </a:r>
            <a:r>
              <a:rPr lang="en-US" sz="22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20" dirty="0">
                <a:solidFill>
                  <a:prstClr val="black"/>
                </a:solidFill>
                <a:latin typeface="Tahoma"/>
                <a:cs typeface="Tahoma"/>
              </a:rPr>
              <a:t>together</a:t>
            </a:r>
            <a:r>
              <a:rPr lang="en-US" sz="22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50" dirty="0">
                <a:solidFill>
                  <a:prstClr val="black"/>
                </a:solidFill>
                <a:latin typeface="Tahoma"/>
                <a:cs typeface="Tahoma"/>
              </a:rPr>
              <a:t>with</a:t>
            </a:r>
            <a:r>
              <a:rPr lang="en-US" sz="22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65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lang="en-US" sz="22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10" dirty="0">
                <a:solidFill>
                  <a:prstClr val="black"/>
                </a:solidFill>
                <a:latin typeface="Tahoma"/>
                <a:cs typeface="Tahoma"/>
              </a:rPr>
              <a:t>collection</a:t>
            </a:r>
            <a:r>
              <a:rPr lang="en-US" sz="22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30" dirty="0">
                <a:solidFill>
                  <a:prstClr val="black"/>
                </a:solidFill>
                <a:latin typeface="Tahoma"/>
                <a:cs typeface="Tahoma"/>
              </a:rPr>
              <a:t>of</a:t>
            </a:r>
            <a:r>
              <a:rPr lang="en-US" sz="22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10" dirty="0">
                <a:solidFill>
                  <a:prstClr val="black"/>
                </a:solidFill>
                <a:latin typeface="Tahoma"/>
                <a:cs typeface="Tahoma"/>
              </a:rPr>
              <a:t>operations </a:t>
            </a:r>
            <a:r>
              <a:rPr lang="en-US" sz="2200" spc="-6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50" dirty="0">
                <a:solidFill>
                  <a:prstClr val="black"/>
                </a:solidFill>
                <a:latin typeface="Tahoma"/>
                <a:cs typeface="Tahoma"/>
              </a:rPr>
              <a:t>to</a:t>
            </a:r>
            <a:r>
              <a:rPr lang="en-US" sz="22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ahoma"/>
                <a:cs typeface="Tahoma"/>
              </a:rPr>
              <a:t>manipulate</a:t>
            </a:r>
            <a:r>
              <a:rPr lang="en-US" sz="22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20" dirty="0">
                <a:solidFill>
                  <a:prstClr val="black"/>
                </a:solidFill>
                <a:latin typeface="Tahoma"/>
                <a:cs typeface="Tahoma"/>
              </a:rPr>
              <a:t>the</a:t>
            </a:r>
            <a:r>
              <a:rPr lang="en-US" sz="22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15" dirty="0">
                <a:solidFill>
                  <a:prstClr val="black"/>
                </a:solidFill>
                <a:latin typeface="Tahoma"/>
                <a:cs typeface="Tahoma"/>
              </a:rPr>
              <a:t>type</a:t>
            </a:r>
            <a:endParaRPr lang="en-US" sz="2200" dirty="0">
              <a:solidFill>
                <a:prstClr val="black"/>
              </a:solidFill>
              <a:latin typeface="Tahoma"/>
              <a:cs typeface="Tahoma"/>
            </a:endParaRPr>
          </a:p>
          <a:p>
            <a:pPr fontAlgn="auto">
              <a:spcBef>
                <a:spcPts val="35"/>
              </a:spcBef>
              <a:spcAft>
                <a:spcPts val="0"/>
              </a:spcAft>
              <a:buFont typeface="Wingdings"/>
              <a:buChar char=""/>
            </a:pPr>
            <a:endParaRPr lang="en-US" sz="315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marR="102235" lvl="1" indent="-228600">
              <a:spcBef>
                <a:spcPts val="0"/>
              </a:spcBef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E.g.,</a:t>
            </a:r>
            <a:r>
              <a:rPr lang="en-US" sz="2000" spc="-9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5" dirty="0">
                <a:solidFill>
                  <a:prstClr val="black"/>
                </a:solidFill>
                <a:latin typeface="Tahoma"/>
                <a:cs typeface="Tahoma"/>
              </a:rPr>
              <a:t>an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integer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variable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45" dirty="0">
                <a:solidFill>
                  <a:prstClr val="black"/>
                </a:solidFill>
                <a:latin typeface="Tahoma"/>
                <a:cs typeface="Tahoma"/>
              </a:rPr>
              <a:t>is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60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member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30" dirty="0">
                <a:solidFill>
                  <a:prstClr val="black"/>
                </a:solidFill>
                <a:latin typeface="Tahoma"/>
                <a:cs typeface="Tahoma"/>
              </a:rPr>
              <a:t>of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the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integer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data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5" dirty="0">
                <a:solidFill>
                  <a:prstClr val="black"/>
                </a:solidFill>
                <a:latin typeface="Tahoma"/>
                <a:cs typeface="Tahoma"/>
              </a:rPr>
              <a:t>type </a:t>
            </a:r>
            <a:r>
              <a:rPr lang="en-US" sz="2000" spc="-6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" dirty="0">
                <a:solidFill>
                  <a:prstClr val="black"/>
                </a:solidFill>
                <a:latin typeface="Tahoma"/>
                <a:cs typeface="Tahoma"/>
              </a:rPr>
              <a:t>while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addition </a:t>
            </a:r>
            <a:r>
              <a:rPr lang="en-US" sz="2000" spc="45" dirty="0">
                <a:solidFill>
                  <a:prstClr val="black"/>
                </a:solidFill>
                <a:latin typeface="Tahoma"/>
                <a:cs typeface="Tahoma"/>
              </a:rPr>
              <a:t>is </a:t>
            </a:r>
            <a:r>
              <a:rPr lang="en-US" sz="2000" spc="25" dirty="0">
                <a:solidFill>
                  <a:prstClr val="black"/>
                </a:solidFill>
                <a:latin typeface="Tahoma"/>
                <a:cs typeface="Tahoma"/>
              </a:rPr>
              <a:t>an </a:t>
            </a:r>
            <a:r>
              <a:rPr lang="en-US" sz="2000" spc="20" dirty="0">
                <a:solidFill>
                  <a:prstClr val="black"/>
                </a:solidFill>
                <a:latin typeface="Tahoma"/>
                <a:cs typeface="Tahoma"/>
              </a:rPr>
              <a:t>example </a:t>
            </a:r>
            <a:r>
              <a:rPr lang="en-US" sz="2000" spc="-30" dirty="0">
                <a:solidFill>
                  <a:prstClr val="black"/>
                </a:solidFill>
                <a:latin typeface="Tahoma"/>
                <a:cs typeface="Tahoma"/>
              </a:rPr>
              <a:t>of </a:t>
            </a:r>
            <a:r>
              <a:rPr lang="en-US" sz="2000" spc="25" dirty="0">
                <a:solidFill>
                  <a:prstClr val="black"/>
                </a:solidFill>
                <a:latin typeface="Tahoma"/>
                <a:cs typeface="Tahoma"/>
              </a:rPr>
              <a:t>an </a:t>
            </a:r>
            <a:r>
              <a:rPr lang="en-US" sz="2000" spc="-5" dirty="0">
                <a:solidFill>
                  <a:prstClr val="black"/>
                </a:solidFill>
                <a:latin typeface="Tahoma"/>
                <a:cs typeface="Tahoma"/>
              </a:rPr>
              <a:t>operation </a:t>
            </a: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on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the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integer </a:t>
            </a:r>
            <a:r>
              <a:rPr lang="en-US" sz="2000" spc="-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data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5" dirty="0">
                <a:solidFill>
                  <a:prstClr val="black"/>
                </a:solidFill>
                <a:latin typeface="Tahoma"/>
                <a:cs typeface="Tahoma"/>
              </a:rPr>
              <a:t>type</a:t>
            </a:r>
          </a:p>
          <a:p>
            <a:pPr marL="355600" marR="102235" indent="-228600">
              <a:spcBef>
                <a:spcPts val="0"/>
              </a:spcBef>
              <a:buSzPct val="60000"/>
              <a:buFontTx/>
              <a:buChar char="►"/>
              <a:tabLst>
                <a:tab pos="698500" algn="l"/>
              </a:tabLst>
            </a:pPr>
            <a:endParaRPr lang="en-US" sz="2300" dirty="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99670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41300" indent="-228600" fontAlgn="auto">
              <a:spcBef>
                <a:spcPts val="390"/>
              </a:spcBef>
              <a:spcAft>
                <a:spcPts val="0"/>
              </a:spcAft>
              <a:buFont typeface="Wingdings"/>
              <a:buChar char=""/>
              <a:tabLst>
                <a:tab pos="241300" algn="l"/>
              </a:tabLst>
            </a:pPr>
            <a:r>
              <a:rPr lang="en-US" sz="2200" spc="10" dirty="0">
                <a:solidFill>
                  <a:prstClr val="black"/>
                </a:solidFill>
                <a:latin typeface="Tahoma"/>
                <a:cs typeface="Tahoma"/>
              </a:rPr>
              <a:t>Primitive</a:t>
            </a:r>
            <a:r>
              <a:rPr lang="en-US" sz="2200" spc="-114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25" dirty="0">
                <a:solidFill>
                  <a:prstClr val="black"/>
                </a:solidFill>
                <a:latin typeface="Tahoma"/>
                <a:cs typeface="Tahoma"/>
              </a:rPr>
              <a:t>Data</a:t>
            </a:r>
            <a:r>
              <a:rPr lang="en-US" sz="2200" spc="-13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25" dirty="0">
                <a:solidFill>
                  <a:prstClr val="black"/>
                </a:solidFill>
                <a:latin typeface="Tahoma"/>
                <a:cs typeface="Tahoma"/>
              </a:rPr>
              <a:t>Types</a:t>
            </a:r>
            <a:endParaRPr lang="en-US" sz="22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lvl="1" indent="-228600" fontAlgn="auto">
              <a:spcBef>
                <a:spcPts val="260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25" dirty="0">
                <a:solidFill>
                  <a:prstClr val="black"/>
                </a:solidFill>
                <a:latin typeface="Tahoma"/>
                <a:cs typeface="Tahoma"/>
              </a:rPr>
              <a:t>Bool,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00" dirty="0" err="1">
                <a:solidFill>
                  <a:prstClr val="black"/>
                </a:solidFill>
                <a:latin typeface="Tahoma"/>
                <a:cs typeface="Tahoma"/>
              </a:rPr>
              <a:t>In</a:t>
            </a:r>
            <a:r>
              <a:rPr lang="en-US" sz="2000" spc="-85" dirty="0" err="1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,</a:t>
            </a:r>
            <a:r>
              <a:rPr lang="en-US" sz="2000" spc="-9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5" dirty="0">
                <a:solidFill>
                  <a:prstClr val="black"/>
                </a:solidFill>
                <a:latin typeface="Tahoma"/>
                <a:cs typeface="Tahoma"/>
              </a:rPr>
              <a:t>float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et</a:t>
            </a: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c</a:t>
            </a:r>
            <a:r>
              <a:rPr lang="en-US" sz="2000" spc="-50" dirty="0">
                <a:solidFill>
                  <a:prstClr val="black"/>
                </a:solidFill>
                <a:latin typeface="Tahoma"/>
                <a:cs typeface="Tahoma"/>
              </a:rPr>
              <a:t>.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lvl="1" fontAlgn="auto">
              <a:spcBef>
                <a:spcPts val="0"/>
              </a:spcBef>
              <a:spcAft>
                <a:spcPts val="0"/>
              </a:spcAft>
              <a:buFont typeface="Tahoma"/>
              <a:buChar char="►"/>
            </a:pPr>
            <a:endParaRPr lang="en-US" sz="22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241300" indent="-228600" fontAlgn="auto">
              <a:spcBef>
                <a:spcPts val="1450"/>
              </a:spcBef>
              <a:spcAft>
                <a:spcPts val="0"/>
              </a:spcAft>
              <a:buFont typeface="Wingdings"/>
              <a:buChar char=""/>
              <a:tabLst>
                <a:tab pos="241300" algn="l"/>
              </a:tabLst>
            </a:pPr>
            <a:r>
              <a:rPr lang="en-US" sz="2200" spc="25" dirty="0">
                <a:solidFill>
                  <a:prstClr val="black"/>
                </a:solidFill>
                <a:latin typeface="Tahoma"/>
                <a:cs typeface="Tahoma"/>
              </a:rPr>
              <a:t>User-Defined</a:t>
            </a:r>
            <a:r>
              <a:rPr lang="en-US" sz="22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25" dirty="0">
                <a:solidFill>
                  <a:prstClr val="black"/>
                </a:solidFill>
                <a:latin typeface="Tahoma"/>
                <a:cs typeface="Tahoma"/>
              </a:rPr>
              <a:t>Data</a:t>
            </a:r>
            <a:r>
              <a:rPr lang="en-US" sz="2200" spc="-12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25" dirty="0">
                <a:solidFill>
                  <a:prstClr val="black"/>
                </a:solidFill>
                <a:latin typeface="Tahoma"/>
                <a:cs typeface="Tahoma"/>
              </a:rPr>
              <a:t>Types</a:t>
            </a:r>
            <a:r>
              <a:rPr lang="en-US" sz="22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10" dirty="0">
                <a:solidFill>
                  <a:prstClr val="black"/>
                </a:solidFill>
                <a:latin typeface="Tahoma"/>
                <a:cs typeface="Tahoma"/>
              </a:rPr>
              <a:t>(UDTs)</a:t>
            </a:r>
            <a:endParaRPr lang="en-US" sz="22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lvl="1" indent="-228600" fontAlgn="auto">
              <a:spcBef>
                <a:spcPts val="270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15" dirty="0">
                <a:solidFill>
                  <a:prstClr val="black"/>
                </a:solidFill>
                <a:latin typeface="Tahoma"/>
                <a:cs typeface="Tahoma"/>
              </a:rPr>
              <a:t>Aggregate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data</a:t>
            </a:r>
            <a:r>
              <a:rPr lang="en-US" sz="2000" spc="-6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types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e.g.,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" dirty="0">
                <a:solidFill>
                  <a:prstClr val="black"/>
                </a:solidFill>
                <a:latin typeface="Tahoma"/>
                <a:cs typeface="Tahoma"/>
              </a:rPr>
              <a:t>structures,</a:t>
            </a:r>
            <a:r>
              <a:rPr lang="en-US" sz="2000" spc="-9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5" dirty="0">
                <a:solidFill>
                  <a:prstClr val="black"/>
                </a:solidFill>
                <a:latin typeface="Tahoma"/>
                <a:cs typeface="Tahoma"/>
              </a:rPr>
              <a:t>array-of-integers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etc.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lvl="1" fontAlgn="auto">
              <a:spcBef>
                <a:spcPts val="0"/>
              </a:spcBef>
              <a:spcAft>
                <a:spcPts val="0"/>
              </a:spcAft>
              <a:buFont typeface="Tahoma"/>
              <a:buChar char="►"/>
            </a:pPr>
            <a:endParaRPr lang="en-US" sz="22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241300" indent="-228600" fontAlgn="auto">
              <a:spcBef>
                <a:spcPts val="1450"/>
              </a:spcBef>
              <a:spcAft>
                <a:spcPts val="0"/>
              </a:spcAft>
              <a:buFont typeface="Wingdings"/>
              <a:buChar char=""/>
              <a:tabLst>
                <a:tab pos="241300" algn="l"/>
              </a:tabLst>
            </a:pPr>
            <a:r>
              <a:rPr lang="en-US" sz="2200" spc="15" dirty="0">
                <a:solidFill>
                  <a:prstClr val="black"/>
                </a:solidFill>
                <a:latin typeface="Tahoma"/>
                <a:cs typeface="Tahoma"/>
              </a:rPr>
              <a:t>Abstract</a:t>
            </a:r>
            <a:r>
              <a:rPr lang="en-US" sz="2200" spc="-9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25" dirty="0">
                <a:solidFill>
                  <a:prstClr val="black"/>
                </a:solidFill>
                <a:latin typeface="Tahoma"/>
                <a:cs typeface="Tahoma"/>
              </a:rPr>
              <a:t>Data</a:t>
            </a:r>
            <a:r>
              <a:rPr lang="en-US" sz="2200" spc="-13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25" dirty="0">
                <a:solidFill>
                  <a:prstClr val="black"/>
                </a:solidFill>
                <a:latin typeface="Tahoma"/>
                <a:cs typeface="Tahoma"/>
              </a:rPr>
              <a:t>Types</a:t>
            </a:r>
            <a:r>
              <a:rPr lang="en-US" sz="2200" spc="-9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10" dirty="0">
                <a:solidFill>
                  <a:prstClr val="black"/>
                </a:solidFill>
                <a:latin typeface="Tahoma"/>
                <a:cs typeface="Tahoma"/>
              </a:rPr>
              <a:t>(ADTs)</a:t>
            </a:r>
            <a:endParaRPr lang="en-US" sz="2200" dirty="0">
              <a:solidFill>
                <a:prstClr val="black"/>
              </a:solidFill>
              <a:latin typeface="Tahoma"/>
              <a:cs typeface="Tahoma"/>
            </a:endParaRPr>
          </a:p>
          <a:p>
            <a:pPr fontAlgn="auto">
              <a:spcBef>
                <a:spcPts val="30"/>
              </a:spcBef>
              <a:spcAft>
                <a:spcPts val="0"/>
              </a:spcAft>
              <a:buFont typeface="Wingdings"/>
              <a:buChar char=""/>
            </a:pPr>
            <a:endParaRPr lang="en-US" sz="24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lvl="1" indent="-228600" fontAlgn="auto">
              <a:spcBef>
                <a:spcPts val="0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65" dirty="0">
                <a:solidFill>
                  <a:prstClr val="black"/>
                </a:solidFill>
                <a:latin typeface="Tahoma"/>
                <a:cs typeface="Tahoma"/>
              </a:rPr>
              <a:t>Does</a:t>
            </a:r>
            <a:r>
              <a:rPr lang="en-US" sz="2000" spc="-6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35" dirty="0">
                <a:solidFill>
                  <a:prstClr val="black"/>
                </a:solidFill>
                <a:latin typeface="Tahoma"/>
                <a:cs typeface="Tahoma"/>
              </a:rPr>
              <a:t>not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0" dirty="0">
                <a:solidFill>
                  <a:prstClr val="black"/>
                </a:solidFill>
                <a:latin typeface="Tahoma"/>
                <a:cs typeface="Tahoma"/>
              </a:rPr>
              <a:t>specify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how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the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data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5" dirty="0">
                <a:solidFill>
                  <a:prstClr val="black"/>
                </a:solidFill>
                <a:latin typeface="Tahoma"/>
                <a:cs typeface="Tahoma"/>
              </a:rPr>
              <a:t>type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45" dirty="0">
                <a:solidFill>
                  <a:prstClr val="black"/>
                </a:solidFill>
                <a:latin typeface="Tahoma"/>
                <a:cs typeface="Tahoma"/>
              </a:rPr>
              <a:t>is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implemented</a:t>
            </a:r>
          </a:p>
          <a:p>
            <a:pPr lvl="1" fontAlgn="auto">
              <a:spcBef>
                <a:spcPts val="55"/>
              </a:spcBef>
              <a:spcAft>
                <a:spcPts val="0"/>
              </a:spcAft>
              <a:buFont typeface="Tahoma"/>
              <a:buChar char="►"/>
            </a:pPr>
            <a:endParaRPr lang="en-US" sz="26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marR="5080" lvl="1" indent="-228600" fontAlgn="auto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50" dirty="0">
                <a:solidFill>
                  <a:prstClr val="black"/>
                </a:solidFill>
                <a:latin typeface="Tahoma"/>
                <a:cs typeface="Tahoma"/>
              </a:rPr>
              <a:t>These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implementation </a:t>
            </a: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details </a:t>
            </a:r>
            <a:r>
              <a:rPr lang="en-US" sz="2000" spc="20" dirty="0">
                <a:solidFill>
                  <a:prstClr val="black"/>
                </a:solidFill>
                <a:latin typeface="Tahoma"/>
                <a:cs typeface="Tahoma"/>
              </a:rPr>
              <a:t>are 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hidden </a:t>
            </a:r>
            <a:r>
              <a:rPr lang="en-US" sz="2000" spc="-35" dirty="0">
                <a:solidFill>
                  <a:prstClr val="black"/>
                </a:solidFill>
                <a:latin typeface="Tahoma"/>
                <a:cs typeface="Tahoma"/>
              </a:rPr>
              <a:t>from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the </a:t>
            </a:r>
            <a:r>
              <a:rPr lang="en-US" sz="2000" spc="25" dirty="0">
                <a:solidFill>
                  <a:prstClr val="black"/>
                </a:solidFill>
                <a:latin typeface="Tahoma"/>
                <a:cs typeface="Tahoma"/>
              </a:rPr>
              <a:t>user </a:t>
            </a:r>
            <a:r>
              <a:rPr lang="en-US" sz="2000" spc="-30" dirty="0">
                <a:solidFill>
                  <a:prstClr val="black"/>
                </a:solidFill>
                <a:latin typeface="Tahoma"/>
                <a:cs typeface="Tahoma"/>
              </a:rPr>
              <a:t>of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the </a:t>
            </a:r>
            <a:r>
              <a:rPr lang="en-US" sz="2000" spc="-6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90" dirty="0">
                <a:solidFill>
                  <a:prstClr val="black"/>
                </a:solidFill>
                <a:latin typeface="Tahoma"/>
                <a:cs typeface="Tahoma"/>
              </a:rPr>
              <a:t>ADT</a:t>
            </a:r>
            <a:r>
              <a:rPr lang="en-US" sz="2000" spc="-9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0" dirty="0">
                <a:solidFill>
                  <a:prstClr val="black"/>
                </a:solidFill>
                <a:latin typeface="Tahoma"/>
                <a:cs typeface="Tahoma"/>
              </a:rPr>
              <a:t>and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" dirty="0">
                <a:solidFill>
                  <a:prstClr val="black"/>
                </a:solidFill>
                <a:latin typeface="Tahoma"/>
                <a:cs typeface="Tahoma"/>
              </a:rPr>
              <a:t>protected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35" dirty="0">
                <a:solidFill>
                  <a:prstClr val="black"/>
                </a:solidFill>
                <a:latin typeface="Tahoma"/>
                <a:cs typeface="Tahoma"/>
              </a:rPr>
              <a:t>from</a:t>
            </a:r>
            <a:r>
              <a:rPr lang="en-US" sz="2000" spc="-9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outside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60" dirty="0">
                <a:solidFill>
                  <a:prstClr val="black"/>
                </a:solidFill>
                <a:latin typeface="Tahoma"/>
                <a:cs typeface="Tahoma"/>
              </a:rPr>
              <a:t>access,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60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5" dirty="0">
                <a:solidFill>
                  <a:prstClr val="black"/>
                </a:solidFill>
                <a:latin typeface="Tahoma"/>
                <a:cs typeface="Tahoma"/>
              </a:rPr>
              <a:t>concept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referred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45" dirty="0">
                <a:solidFill>
                  <a:prstClr val="black"/>
                </a:solidFill>
                <a:latin typeface="Tahoma"/>
                <a:cs typeface="Tahoma"/>
              </a:rPr>
              <a:t>to </a:t>
            </a:r>
            <a:r>
              <a:rPr lang="en-US" sz="2000" spc="-6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80" dirty="0">
                <a:solidFill>
                  <a:prstClr val="black"/>
                </a:solidFill>
                <a:latin typeface="Tahoma"/>
                <a:cs typeface="Tahoma"/>
              </a:rPr>
              <a:t>as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b="1" spc="-5" dirty="0">
                <a:solidFill>
                  <a:srgbClr val="2D75B6"/>
                </a:solidFill>
                <a:latin typeface="Arial"/>
                <a:cs typeface="Arial"/>
              </a:rPr>
              <a:t>encapsulation</a:t>
            </a:r>
            <a:endParaRPr lang="en-US" sz="20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49777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Abstract</a:t>
            </a:r>
            <a:r>
              <a:rPr lang="en-US" spc="15" dirty="0"/>
              <a:t> </a:t>
            </a:r>
            <a:r>
              <a:rPr lang="en-US" spc="-5" dirty="0"/>
              <a:t>data</a:t>
            </a:r>
            <a:r>
              <a:rPr lang="en-US" spc="5" dirty="0"/>
              <a:t> </a:t>
            </a:r>
            <a:r>
              <a:rPr lang="en-US" spc="-5" dirty="0"/>
              <a:t>types</a:t>
            </a:r>
            <a:r>
              <a:rPr lang="en-US" spc="10" dirty="0"/>
              <a:t> </a:t>
            </a:r>
            <a:r>
              <a:rPr lang="en-US" spc="-5" dirty="0"/>
              <a:t>(ADT)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41300" indent="-228600" fontAlgn="auto">
              <a:spcBef>
                <a:spcPts val="100"/>
              </a:spcBef>
              <a:spcAft>
                <a:spcPts val="0"/>
              </a:spcAft>
              <a:buFont typeface="Wingdings"/>
              <a:buChar char=""/>
              <a:tabLst>
                <a:tab pos="241300" algn="l"/>
              </a:tabLst>
            </a:pPr>
            <a:r>
              <a:rPr lang="en-US" sz="2000" spc="-5" dirty="0">
                <a:solidFill>
                  <a:prstClr val="black"/>
                </a:solidFill>
                <a:latin typeface="Tahoma"/>
                <a:cs typeface="Tahoma"/>
              </a:rPr>
              <a:t>Di</a:t>
            </a:r>
            <a:r>
              <a:rPr lang="en-US" sz="2000" spc="-50" dirty="0">
                <a:solidFill>
                  <a:prstClr val="black"/>
                </a:solidFill>
                <a:latin typeface="Tahoma"/>
                <a:cs typeface="Tahoma"/>
              </a:rPr>
              <a:t>f</a:t>
            </a:r>
            <a:r>
              <a:rPr lang="en-US" sz="2000" spc="-5" dirty="0">
                <a:solidFill>
                  <a:prstClr val="black"/>
                </a:solidFill>
                <a:latin typeface="Tahoma"/>
                <a:cs typeface="Tahoma"/>
              </a:rPr>
              <a:t>fer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nt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implem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ntations</a:t>
            </a:r>
            <a:r>
              <a:rPr lang="en-US" sz="2000" spc="-5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40" dirty="0">
                <a:solidFill>
                  <a:prstClr val="black"/>
                </a:solidFill>
                <a:latin typeface="Tahoma"/>
                <a:cs typeface="Tahoma"/>
              </a:rPr>
              <a:t>possible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45" dirty="0">
                <a:solidFill>
                  <a:prstClr val="black"/>
                </a:solidFill>
                <a:latin typeface="Tahoma"/>
                <a:cs typeface="Tahoma"/>
              </a:rPr>
              <a:t>for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9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r>
              <a:rPr lang="en-US" sz="2000" spc="100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lang="en-US" sz="2000" spc="25" dirty="0">
                <a:solidFill>
                  <a:prstClr val="black"/>
                </a:solidFill>
                <a:latin typeface="Tahoma"/>
                <a:cs typeface="Tahoma"/>
              </a:rPr>
              <a:t>me</a:t>
            </a:r>
            <a:r>
              <a:rPr lang="en-US" sz="2000" spc="-2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10" dirty="0">
                <a:solidFill>
                  <a:prstClr val="black"/>
                </a:solidFill>
                <a:latin typeface="Tahoma"/>
                <a:cs typeface="Tahoma"/>
              </a:rPr>
              <a:t>ADT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fontAlgn="auto">
              <a:spcBef>
                <a:spcPts val="40"/>
              </a:spcBef>
              <a:spcAft>
                <a:spcPts val="0"/>
              </a:spcAft>
              <a:buFont typeface="Wingdings"/>
              <a:buChar char=""/>
            </a:pPr>
            <a:endParaRPr lang="en-US" sz="36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241300" marR="351155" indent="-228600" fontAlgn="auto">
              <a:lnSpc>
                <a:spcPts val="259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"/>
              <a:tabLst>
                <a:tab pos="241300" algn="l"/>
              </a:tabLst>
            </a:pPr>
            <a:r>
              <a:rPr lang="en-US" sz="2000" spc="-120" dirty="0">
                <a:solidFill>
                  <a:prstClr val="black"/>
                </a:solidFill>
                <a:latin typeface="Tahoma"/>
                <a:cs typeface="Tahoma"/>
              </a:rPr>
              <a:t>In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60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lang="en-US" sz="2000" spc="-5" dirty="0">
                <a:solidFill>
                  <a:prstClr val="black"/>
                </a:solidFill>
                <a:latin typeface="Tahoma"/>
                <a:cs typeface="Tahoma"/>
              </a:rPr>
              <a:t>n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5" dirty="0">
                <a:solidFill>
                  <a:prstClr val="black"/>
                </a:solidFill>
                <a:latin typeface="Tahoma"/>
                <a:cs typeface="Tahoma"/>
              </a:rPr>
              <a:t>object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-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orie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nted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5" dirty="0">
                <a:solidFill>
                  <a:prstClr val="black"/>
                </a:solidFill>
                <a:latin typeface="Tahoma"/>
                <a:cs typeface="Tahoma"/>
              </a:rPr>
              <a:t>language</a:t>
            </a:r>
            <a:r>
              <a:rPr lang="en-US" sz="2000" spc="-5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0" dirty="0">
                <a:solidFill>
                  <a:prstClr val="black"/>
                </a:solidFill>
                <a:latin typeface="Tahoma"/>
                <a:cs typeface="Tahoma"/>
              </a:rPr>
              <a:t>such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00" dirty="0">
                <a:solidFill>
                  <a:prstClr val="black"/>
                </a:solidFill>
                <a:latin typeface="Tahoma"/>
                <a:cs typeface="Tahoma"/>
              </a:rPr>
              <a:t>as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14" dirty="0">
                <a:solidFill>
                  <a:prstClr val="black"/>
                </a:solidFill>
                <a:latin typeface="Tahoma"/>
                <a:cs typeface="Tahoma"/>
              </a:rPr>
              <a:t>C++,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60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lang="en-US" sz="2000" spc="-5" dirty="0">
                <a:solidFill>
                  <a:prstClr val="black"/>
                </a:solidFill>
                <a:latin typeface="Tahoma"/>
                <a:cs typeface="Tahoma"/>
              </a:rPr>
              <a:t>n</a:t>
            </a:r>
            <a:r>
              <a:rPr lang="en-US" sz="2000" spc="-21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85" dirty="0">
                <a:solidFill>
                  <a:prstClr val="black"/>
                </a:solidFill>
                <a:latin typeface="Tahoma"/>
                <a:cs typeface="Tahoma"/>
              </a:rPr>
              <a:t>ADT  </a:t>
            </a:r>
            <a:r>
              <a:rPr lang="en-US" sz="2000" spc="25" dirty="0">
                <a:solidFill>
                  <a:prstClr val="black"/>
                </a:solidFill>
                <a:latin typeface="Tahoma"/>
                <a:cs typeface="Tahoma"/>
              </a:rPr>
              <a:t>and</a:t>
            </a:r>
            <a:r>
              <a:rPr lang="en-US" sz="2000" spc="-9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its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implementation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5" dirty="0">
                <a:solidFill>
                  <a:prstClr val="black"/>
                </a:solidFill>
                <a:latin typeface="Tahoma"/>
                <a:cs typeface="Tahoma"/>
              </a:rPr>
              <a:t>together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30" dirty="0">
                <a:solidFill>
                  <a:prstClr val="black"/>
                </a:solidFill>
                <a:latin typeface="Tahoma"/>
                <a:cs typeface="Tahoma"/>
              </a:rPr>
              <a:t>make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up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75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80" dirty="0">
                <a:solidFill>
                  <a:prstClr val="black"/>
                </a:solidFill>
                <a:latin typeface="Tahoma"/>
                <a:cs typeface="Tahoma"/>
              </a:rPr>
              <a:t>class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fontAlgn="auto">
              <a:spcBef>
                <a:spcPts val="45"/>
              </a:spcBef>
              <a:spcAft>
                <a:spcPts val="0"/>
              </a:spcAft>
            </a:pPr>
            <a:endParaRPr lang="en-US" sz="36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12700" marR="5080" fontAlgn="auto">
              <a:lnSpc>
                <a:spcPts val="2590"/>
              </a:lnSpc>
              <a:spcBef>
                <a:spcPts val="5"/>
              </a:spcBef>
              <a:spcAft>
                <a:spcPts val="0"/>
              </a:spcAft>
            </a:pPr>
            <a:r>
              <a:rPr lang="en-US" sz="2000" b="1" spc="-5" dirty="0">
                <a:solidFill>
                  <a:prstClr val="black"/>
                </a:solidFill>
                <a:cs typeface="Calibri"/>
              </a:rPr>
              <a:t>Much </a:t>
            </a:r>
            <a:r>
              <a:rPr lang="en-US" sz="2000" b="1" dirty="0">
                <a:solidFill>
                  <a:prstClr val="black"/>
                </a:solidFill>
                <a:cs typeface="Calibri"/>
              </a:rPr>
              <a:t>of our </a:t>
            </a:r>
            <a:r>
              <a:rPr lang="en-US" sz="2000" b="1" spc="-5" dirty="0">
                <a:solidFill>
                  <a:prstClr val="black"/>
                </a:solidFill>
                <a:cs typeface="Calibri"/>
              </a:rPr>
              <a:t>concern </a:t>
            </a:r>
            <a:r>
              <a:rPr lang="en-US" sz="2000" b="1" dirty="0">
                <a:solidFill>
                  <a:prstClr val="black"/>
                </a:solidFill>
                <a:cs typeface="Calibri"/>
              </a:rPr>
              <a:t>in this </a:t>
            </a:r>
            <a:r>
              <a:rPr lang="en-US" sz="2000" b="1" spc="-10" dirty="0">
                <a:solidFill>
                  <a:prstClr val="black"/>
                </a:solidFill>
                <a:cs typeface="Calibri"/>
              </a:rPr>
              <a:t>course </a:t>
            </a:r>
            <a:r>
              <a:rPr lang="en-US" sz="2000" b="1" dirty="0">
                <a:solidFill>
                  <a:prstClr val="black"/>
                </a:solidFill>
                <a:cs typeface="Calibri"/>
              </a:rPr>
              <a:t>is how </a:t>
            </a:r>
            <a:r>
              <a:rPr lang="en-US" sz="2000" b="1" spc="-15" dirty="0">
                <a:solidFill>
                  <a:prstClr val="black"/>
                </a:solidFill>
                <a:cs typeface="Calibri"/>
              </a:rPr>
              <a:t>to </a:t>
            </a:r>
            <a:r>
              <a:rPr lang="en-US" sz="2000" b="1" spc="-5" dirty="0">
                <a:solidFill>
                  <a:prstClr val="black"/>
                </a:solidFill>
                <a:cs typeface="Calibri"/>
              </a:rPr>
              <a:t>implement </a:t>
            </a:r>
            <a:r>
              <a:rPr lang="en-US" sz="2000" b="1" spc="-15" dirty="0">
                <a:solidFill>
                  <a:prstClr val="black"/>
                </a:solidFill>
                <a:cs typeface="Calibri"/>
              </a:rPr>
              <a:t>data </a:t>
            </a:r>
            <a:r>
              <a:rPr lang="en-US" sz="2000" b="1" spc="-530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sz="2000" b="1" spc="-10" dirty="0">
                <a:solidFill>
                  <a:prstClr val="black"/>
                </a:solidFill>
                <a:cs typeface="Calibri"/>
              </a:rPr>
              <a:t>structures</a:t>
            </a:r>
            <a:r>
              <a:rPr lang="en-US" sz="2000" b="1" dirty="0">
                <a:solidFill>
                  <a:prstClr val="black"/>
                </a:solidFill>
                <a:cs typeface="Calibri"/>
              </a:rPr>
              <a:t> as </a:t>
            </a:r>
            <a:r>
              <a:rPr lang="en-US" sz="2000" b="1" spc="-55" dirty="0">
                <a:solidFill>
                  <a:prstClr val="black"/>
                </a:solidFill>
                <a:cs typeface="Calibri"/>
              </a:rPr>
              <a:t>ADTs</a:t>
            </a:r>
            <a:endParaRPr lang="en-US" sz="20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17956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Abstract</a:t>
            </a:r>
            <a:r>
              <a:rPr lang="en-US" dirty="0"/>
              <a:t> </a:t>
            </a:r>
            <a:r>
              <a:rPr lang="en-US" spc="-5" dirty="0"/>
              <a:t>Data</a:t>
            </a:r>
            <a:r>
              <a:rPr lang="en-US" spc="5" dirty="0"/>
              <a:t> </a:t>
            </a:r>
            <a:r>
              <a:rPr lang="en-US" spc="-40" dirty="0"/>
              <a:t>Types</a:t>
            </a:r>
            <a:r>
              <a:rPr lang="en-US" dirty="0"/>
              <a:t> </a:t>
            </a:r>
            <a:r>
              <a:rPr lang="en-US" spc="-35" dirty="0"/>
              <a:t>(ADTs)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1620" indent="-228600">
              <a:lnSpc>
                <a:spcPct val="100000"/>
              </a:lnSpc>
              <a:spcBef>
                <a:spcPts val="830"/>
              </a:spcBef>
              <a:buFont typeface="Wingdings"/>
              <a:buChar char=""/>
              <a:tabLst>
                <a:tab pos="261620" algn="l"/>
              </a:tabLst>
            </a:pPr>
            <a:r>
              <a:rPr lang="en-US" spc="25" dirty="0"/>
              <a:t>Data</a:t>
            </a:r>
            <a:r>
              <a:rPr lang="en-US" spc="-80" dirty="0"/>
              <a:t> </a:t>
            </a:r>
            <a:r>
              <a:rPr lang="en-US" spc="15" dirty="0"/>
              <a:t>storage</a:t>
            </a:r>
            <a:r>
              <a:rPr lang="en-US" spc="-80" dirty="0"/>
              <a:t> </a:t>
            </a:r>
            <a:r>
              <a:rPr lang="en-US" spc="-15" dirty="0"/>
              <a:t>&amp;</a:t>
            </a:r>
            <a:r>
              <a:rPr lang="en-US" spc="-75" dirty="0"/>
              <a:t> </a:t>
            </a:r>
            <a:r>
              <a:rPr lang="en-US" spc="15" dirty="0"/>
              <a:t>o</a:t>
            </a:r>
            <a:r>
              <a:rPr lang="en-US" spc="5" dirty="0"/>
              <a:t>p</a:t>
            </a:r>
            <a:r>
              <a:rPr lang="en-US" spc="10" dirty="0"/>
              <a:t>erations</a:t>
            </a:r>
            <a:r>
              <a:rPr lang="en-US" spc="-70" dirty="0"/>
              <a:t> </a:t>
            </a:r>
            <a:r>
              <a:rPr lang="en-US" spc="40" dirty="0"/>
              <a:t>encapsul</a:t>
            </a:r>
            <a:r>
              <a:rPr lang="en-US" spc="5" dirty="0"/>
              <a:t>ated</a:t>
            </a:r>
            <a:r>
              <a:rPr lang="en-US" spc="-85" dirty="0"/>
              <a:t> </a:t>
            </a:r>
            <a:r>
              <a:rPr lang="en-US" spc="5" dirty="0"/>
              <a:t>by</a:t>
            </a:r>
            <a:r>
              <a:rPr lang="en-US" spc="-80" dirty="0"/>
              <a:t> </a:t>
            </a:r>
            <a:r>
              <a:rPr lang="en-US" spc="30" dirty="0"/>
              <a:t>an</a:t>
            </a:r>
            <a:r>
              <a:rPr lang="en-US" spc="-195" dirty="0"/>
              <a:t> </a:t>
            </a:r>
            <a:r>
              <a:rPr lang="en-US" spc="120" dirty="0"/>
              <a:t>AD</a:t>
            </a:r>
            <a:r>
              <a:rPr lang="en-US" spc="-190" dirty="0"/>
              <a:t>T</a:t>
            </a:r>
            <a:r>
              <a:rPr lang="en-US" spc="-55" dirty="0"/>
              <a:t>.</a:t>
            </a:r>
          </a:p>
          <a:p>
            <a:pPr marL="261620" indent="-228600">
              <a:lnSpc>
                <a:spcPts val="2510"/>
              </a:lnSpc>
              <a:spcBef>
                <a:spcPts val="730"/>
              </a:spcBef>
              <a:buFont typeface="Wingdings"/>
              <a:buChar char=""/>
              <a:tabLst>
                <a:tab pos="261620" algn="l"/>
              </a:tabLst>
            </a:pPr>
            <a:r>
              <a:rPr lang="en-US" spc="100" dirty="0"/>
              <a:t>ADT</a:t>
            </a:r>
            <a:r>
              <a:rPr lang="en-US" spc="-120" dirty="0"/>
              <a:t> </a:t>
            </a:r>
            <a:r>
              <a:rPr lang="en-US" spc="35" dirty="0"/>
              <a:t>specifies</a:t>
            </a:r>
            <a:r>
              <a:rPr lang="en-US" spc="-85" dirty="0"/>
              <a:t> </a:t>
            </a:r>
            <a:r>
              <a:rPr lang="en-US" spc="-25" dirty="0"/>
              <a:t>permitted</a:t>
            </a:r>
            <a:r>
              <a:rPr lang="en-US" spc="-60" dirty="0"/>
              <a:t> </a:t>
            </a:r>
            <a:r>
              <a:rPr lang="en-US" b="1" dirty="0">
                <a:latin typeface="Arial"/>
                <a:cs typeface="Arial"/>
              </a:rPr>
              <a:t>operations</a:t>
            </a:r>
            <a:r>
              <a:rPr lang="en-US" b="1" spc="30" dirty="0">
                <a:latin typeface="Arial"/>
                <a:cs typeface="Arial"/>
              </a:rPr>
              <a:t> </a:t>
            </a:r>
            <a:r>
              <a:rPr lang="en-US" spc="90" dirty="0"/>
              <a:t>as</a:t>
            </a:r>
            <a:r>
              <a:rPr lang="en-US" spc="-75" dirty="0"/>
              <a:t> </a:t>
            </a:r>
            <a:r>
              <a:rPr lang="en-US" spc="-5" dirty="0"/>
              <a:t>well</a:t>
            </a:r>
            <a:r>
              <a:rPr lang="en-US" spc="-80" dirty="0"/>
              <a:t> </a:t>
            </a:r>
            <a:r>
              <a:rPr lang="en-US" spc="90" dirty="0"/>
              <a:t>as</a:t>
            </a:r>
            <a:r>
              <a:rPr lang="en-US" spc="-80" dirty="0"/>
              <a:t> </a:t>
            </a:r>
            <a:r>
              <a:rPr lang="en-US" b="1" dirty="0">
                <a:latin typeface="Arial"/>
                <a:cs typeface="Arial"/>
              </a:rPr>
              <a:t>time </a:t>
            </a:r>
            <a:r>
              <a:rPr lang="en-US" spc="20" dirty="0"/>
              <a:t>and</a:t>
            </a:r>
            <a:r>
              <a:rPr lang="en-US" spc="-65" dirty="0"/>
              <a:t> </a:t>
            </a:r>
            <a:r>
              <a:rPr lang="en-US" b="1" dirty="0">
                <a:latin typeface="Arial"/>
                <a:cs typeface="Arial"/>
              </a:rPr>
              <a:t>space</a:t>
            </a:r>
          </a:p>
          <a:p>
            <a:pPr marL="261620">
              <a:lnSpc>
                <a:spcPts val="2510"/>
              </a:lnSpc>
            </a:pPr>
            <a:r>
              <a:rPr lang="en-US" spc="10" dirty="0"/>
              <a:t>guarantees.</a:t>
            </a:r>
          </a:p>
          <a:p>
            <a:pPr marL="261620" indent="-228600">
              <a:lnSpc>
                <a:spcPct val="100000"/>
              </a:lnSpc>
              <a:spcBef>
                <a:spcPts val="740"/>
              </a:spcBef>
              <a:buFont typeface="Wingdings"/>
              <a:buChar char=""/>
              <a:tabLst>
                <a:tab pos="261620" algn="l"/>
              </a:tabLst>
            </a:pPr>
            <a:r>
              <a:rPr lang="en-US" spc="60" dirty="0"/>
              <a:t>User</a:t>
            </a:r>
            <a:r>
              <a:rPr lang="en-US" spc="-85" dirty="0"/>
              <a:t> </a:t>
            </a:r>
            <a:r>
              <a:rPr lang="en-US" spc="20" dirty="0"/>
              <a:t>unconcerned</a:t>
            </a:r>
            <a:r>
              <a:rPr lang="en-US" spc="-70" dirty="0"/>
              <a:t> </a:t>
            </a:r>
            <a:r>
              <a:rPr lang="en-US" spc="-50" dirty="0"/>
              <a:t>with</a:t>
            </a:r>
            <a:r>
              <a:rPr lang="en-US" spc="-85" dirty="0"/>
              <a:t> </a:t>
            </a:r>
            <a:r>
              <a:rPr lang="en-US" spc="-10" dirty="0"/>
              <a:t>how</a:t>
            </a:r>
            <a:r>
              <a:rPr lang="en-US" spc="-80" dirty="0"/>
              <a:t> </a:t>
            </a:r>
            <a:r>
              <a:rPr lang="en-US" spc="-15" dirty="0"/>
              <a:t>it’s</a:t>
            </a:r>
            <a:r>
              <a:rPr lang="en-US" spc="-85" dirty="0"/>
              <a:t> </a:t>
            </a:r>
            <a:r>
              <a:rPr lang="en-US" spc="-5" dirty="0"/>
              <a:t>implemented</a:t>
            </a:r>
          </a:p>
          <a:p>
            <a:pPr marL="718820" lvl="1" indent="-228600">
              <a:lnSpc>
                <a:spcPct val="100000"/>
              </a:lnSpc>
              <a:spcBef>
                <a:spcPts val="270"/>
              </a:spcBef>
              <a:buSzPct val="60000"/>
              <a:buChar char="►"/>
              <a:tabLst>
                <a:tab pos="718820" algn="l"/>
              </a:tabLst>
            </a:pPr>
            <a:r>
              <a:rPr lang="en-US" sz="2000" spc="-40" dirty="0">
                <a:latin typeface="Tahoma"/>
                <a:cs typeface="Tahoma"/>
              </a:rPr>
              <a:t>but</a:t>
            </a:r>
            <a:r>
              <a:rPr lang="en-US" sz="2000" spc="-85" dirty="0">
                <a:latin typeface="Tahoma"/>
                <a:cs typeface="Tahoma"/>
              </a:rPr>
              <a:t> </a:t>
            </a:r>
            <a:r>
              <a:rPr lang="en-US" sz="2000" spc="5" dirty="0">
                <a:latin typeface="Tahoma"/>
                <a:cs typeface="Tahoma"/>
              </a:rPr>
              <a:t>we</a:t>
            </a:r>
            <a:r>
              <a:rPr lang="en-US" sz="2000" spc="-70" dirty="0">
                <a:latin typeface="Tahoma"/>
                <a:cs typeface="Tahoma"/>
              </a:rPr>
              <a:t> </a:t>
            </a:r>
            <a:r>
              <a:rPr lang="en-US" sz="2000" spc="20" dirty="0">
                <a:latin typeface="Tahoma"/>
                <a:cs typeface="Tahoma"/>
              </a:rPr>
              <a:t>are</a:t>
            </a:r>
            <a:r>
              <a:rPr lang="en-US" sz="2000" spc="-70" dirty="0">
                <a:latin typeface="Tahoma"/>
                <a:cs typeface="Tahoma"/>
              </a:rPr>
              <a:t> </a:t>
            </a:r>
            <a:r>
              <a:rPr lang="en-US" sz="2000" spc="25" dirty="0">
                <a:latin typeface="Tahoma"/>
                <a:cs typeface="Tahoma"/>
              </a:rPr>
              <a:t>concerned</a:t>
            </a:r>
            <a:r>
              <a:rPr lang="en-US" sz="2000" spc="-70" dirty="0">
                <a:latin typeface="Tahoma"/>
                <a:cs typeface="Tahoma"/>
              </a:rPr>
              <a:t> </a:t>
            </a:r>
            <a:r>
              <a:rPr lang="en-US" sz="2000" spc="-45" dirty="0">
                <a:latin typeface="Tahoma"/>
                <a:cs typeface="Tahoma"/>
              </a:rPr>
              <a:t>with</a:t>
            </a:r>
            <a:r>
              <a:rPr lang="en-US" sz="2000" spc="-70" dirty="0">
                <a:latin typeface="Tahoma"/>
                <a:cs typeface="Tahoma"/>
              </a:rPr>
              <a:t> </a:t>
            </a:r>
            <a:r>
              <a:rPr lang="en-US" sz="2000" spc="-10" dirty="0">
                <a:latin typeface="Tahoma"/>
                <a:cs typeface="Tahoma"/>
              </a:rPr>
              <a:t>implementation</a:t>
            </a:r>
            <a:r>
              <a:rPr lang="en-US" sz="2000" spc="-60" dirty="0">
                <a:latin typeface="Tahoma"/>
                <a:cs typeface="Tahoma"/>
              </a:rPr>
              <a:t> </a:t>
            </a:r>
            <a:r>
              <a:rPr lang="en-US" sz="2000" spc="-10" dirty="0">
                <a:latin typeface="Tahoma"/>
                <a:cs typeface="Tahoma"/>
              </a:rPr>
              <a:t>in</a:t>
            </a:r>
            <a:r>
              <a:rPr lang="en-US" sz="2000" spc="-70" dirty="0">
                <a:latin typeface="Tahoma"/>
                <a:cs typeface="Tahoma"/>
              </a:rPr>
              <a:t> </a:t>
            </a:r>
            <a:r>
              <a:rPr lang="en-US" sz="2000" spc="-10" dirty="0">
                <a:latin typeface="Tahoma"/>
                <a:cs typeface="Tahoma"/>
              </a:rPr>
              <a:t>this</a:t>
            </a:r>
            <a:r>
              <a:rPr lang="en-US" sz="2000" spc="-65" dirty="0">
                <a:latin typeface="Tahoma"/>
                <a:cs typeface="Tahoma"/>
              </a:rPr>
              <a:t> </a:t>
            </a:r>
            <a:r>
              <a:rPr lang="en-US" sz="2000" spc="65" dirty="0">
                <a:latin typeface="Tahoma"/>
                <a:cs typeface="Tahoma"/>
              </a:rPr>
              <a:t>class</a:t>
            </a:r>
            <a:endParaRPr lang="en-US" sz="2000" dirty="0">
              <a:latin typeface="Tahoma"/>
              <a:cs typeface="Tahoma"/>
            </a:endParaRPr>
          </a:p>
          <a:p>
            <a:pPr marL="261620" indent="-228600">
              <a:lnSpc>
                <a:spcPct val="100000"/>
              </a:lnSpc>
              <a:spcBef>
                <a:spcPts val="730"/>
              </a:spcBef>
              <a:buFont typeface="Wingdings"/>
              <a:buChar char=""/>
              <a:tabLst>
                <a:tab pos="261620" algn="l"/>
              </a:tabLst>
            </a:pPr>
            <a:r>
              <a:rPr lang="en-US" spc="100" dirty="0"/>
              <a:t>ADT</a:t>
            </a:r>
            <a:r>
              <a:rPr lang="en-US" spc="-130" dirty="0"/>
              <a:t> </a:t>
            </a:r>
            <a:r>
              <a:rPr lang="en-US" spc="50" dirty="0"/>
              <a:t>is</a:t>
            </a:r>
            <a:r>
              <a:rPr lang="en-US" spc="-90" dirty="0"/>
              <a:t> </a:t>
            </a:r>
            <a:r>
              <a:rPr lang="en-US" spc="65" dirty="0"/>
              <a:t>a</a:t>
            </a:r>
            <a:r>
              <a:rPr lang="en-US" spc="-85" dirty="0"/>
              <a:t> </a:t>
            </a:r>
            <a:r>
              <a:rPr lang="en-US" b="1" dirty="0">
                <a:latin typeface="Arial"/>
                <a:cs typeface="Arial"/>
              </a:rPr>
              <a:t>concept</a:t>
            </a:r>
            <a:r>
              <a:rPr lang="en-US" b="1" spc="5" dirty="0">
                <a:latin typeface="Arial"/>
                <a:cs typeface="Arial"/>
              </a:rPr>
              <a:t> </a:t>
            </a:r>
            <a:r>
              <a:rPr lang="en-US" spc="-20" dirty="0"/>
              <a:t>or</a:t>
            </a:r>
            <a:r>
              <a:rPr lang="en-US" spc="-85" dirty="0"/>
              <a:t> </a:t>
            </a:r>
            <a:r>
              <a:rPr lang="en-US" b="1" spc="-15" dirty="0">
                <a:latin typeface="Arial"/>
                <a:cs typeface="Arial"/>
              </a:rPr>
              <a:t>convention</a:t>
            </a:r>
            <a:r>
              <a:rPr lang="en-US" spc="-15" dirty="0"/>
              <a:t>:</a:t>
            </a:r>
          </a:p>
          <a:p>
            <a:pPr marL="718820" lvl="1" indent="-228600">
              <a:lnSpc>
                <a:spcPct val="100000"/>
              </a:lnSpc>
              <a:spcBef>
                <a:spcPts val="265"/>
              </a:spcBef>
              <a:buSzPct val="60000"/>
              <a:buChar char="►"/>
              <a:tabLst>
                <a:tab pos="718820" algn="l"/>
              </a:tabLst>
            </a:pPr>
            <a:r>
              <a:rPr lang="en-US" sz="2000" spc="-35" dirty="0">
                <a:latin typeface="Tahoma"/>
                <a:cs typeface="Tahoma"/>
              </a:rPr>
              <a:t>not</a:t>
            </a:r>
            <a:r>
              <a:rPr lang="en-US" sz="2000" spc="-80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something</a:t>
            </a:r>
            <a:r>
              <a:rPr lang="en-US" sz="2000" spc="-65" dirty="0">
                <a:latin typeface="Tahoma"/>
                <a:cs typeface="Tahoma"/>
              </a:rPr>
              <a:t> </a:t>
            </a:r>
            <a:r>
              <a:rPr lang="en-US" sz="2000" spc="-45" dirty="0">
                <a:latin typeface="Tahoma"/>
                <a:cs typeface="Tahoma"/>
              </a:rPr>
              <a:t>that</a:t>
            </a:r>
            <a:r>
              <a:rPr lang="en-US" sz="2000" spc="-75" dirty="0">
                <a:latin typeface="Tahoma"/>
                <a:cs typeface="Tahoma"/>
              </a:rPr>
              <a:t> </a:t>
            </a:r>
            <a:r>
              <a:rPr lang="en-US" sz="2000" spc="-10" dirty="0">
                <a:latin typeface="Tahoma"/>
                <a:cs typeface="Tahoma"/>
              </a:rPr>
              <a:t>directly</a:t>
            </a:r>
            <a:r>
              <a:rPr lang="en-US" sz="2000" spc="-65" dirty="0">
                <a:latin typeface="Tahoma"/>
                <a:cs typeface="Tahoma"/>
              </a:rPr>
              <a:t> </a:t>
            </a:r>
            <a:r>
              <a:rPr lang="en-US" sz="2000" spc="30" dirty="0">
                <a:latin typeface="Tahoma"/>
                <a:cs typeface="Tahoma"/>
              </a:rPr>
              <a:t>appears</a:t>
            </a:r>
            <a:r>
              <a:rPr lang="en-US" sz="2000" spc="-65" dirty="0">
                <a:latin typeface="Tahoma"/>
                <a:cs typeface="Tahoma"/>
              </a:rPr>
              <a:t> </a:t>
            </a:r>
            <a:r>
              <a:rPr lang="en-US" sz="2000" spc="-10" dirty="0">
                <a:latin typeface="Tahoma"/>
                <a:cs typeface="Tahoma"/>
              </a:rPr>
              <a:t>in</a:t>
            </a:r>
            <a:r>
              <a:rPr lang="en-US" sz="2000" spc="-65" dirty="0">
                <a:latin typeface="Tahoma"/>
                <a:cs typeface="Tahoma"/>
              </a:rPr>
              <a:t> </a:t>
            </a:r>
            <a:r>
              <a:rPr lang="en-US" sz="2000" spc="-10" dirty="0">
                <a:latin typeface="Tahoma"/>
                <a:cs typeface="Tahoma"/>
              </a:rPr>
              <a:t>your</a:t>
            </a:r>
            <a:r>
              <a:rPr lang="en-US" sz="2000" spc="-65" dirty="0">
                <a:latin typeface="Tahoma"/>
                <a:cs typeface="Tahoma"/>
              </a:rPr>
              <a:t> </a:t>
            </a:r>
            <a:r>
              <a:rPr lang="en-US" sz="2000" spc="40" dirty="0">
                <a:latin typeface="Tahoma"/>
                <a:cs typeface="Tahoma"/>
              </a:rPr>
              <a:t>code</a:t>
            </a:r>
            <a:endParaRPr lang="en-US" sz="2000" dirty="0">
              <a:latin typeface="Tahoma"/>
              <a:cs typeface="Tahoma"/>
            </a:endParaRPr>
          </a:p>
          <a:p>
            <a:pPr marL="718820" marR="5080" lvl="1" indent="-228600">
              <a:lnSpc>
                <a:spcPts val="2160"/>
              </a:lnSpc>
              <a:spcBef>
                <a:spcPts val="530"/>
              </a:spcBef>
              <a:buSzPct val="60000"/>
              <a:buChar char="►"/>
              <a:tabLst>
                <a:tab pos="718820" algn="l"/>
              </a:tabLst>
            </a:pPr>
            <a:r>
              <a:rPr lang="en-US" sz="2000" spc="-10" dirty="0">
                <a:latin typeface="Tahoma"/>
                <a:cs typeface="Tahoma"/>
              </a:rPr>
              <a:t>programming</a:t>
            </a:r>
            <a:r>
              <a:rPr lang="en-US" sz="2000" spc="-60" dirty="0">
                <a:latin typeface="Tahoma"/>
                <a:cs typeface="Tahoma"/>
              </a:rPr>
              <a:t> </a:t>
            </a:r>
            <a:r>
              <a:rPr lang="en-US" sz="2000" spc="20" dirty="0">
                <a:latin typeface="Tahoma"/>
                <a:cs typeface="Tahoma"/>
              </a:rPr>
              <a:t>language</a:t>
            </a:r>
            <a:r>
              <a:rPr lang="en-US" sz="2000" spc="-50" dirty="0">
                <a:latin typeface="Tahoma"/>
                <a:cs typeface="Tahoma"/>
              </a:rPr>
              <a:t> </a:t>
            </a:r>
            <a:r>
              <a:rPr lang="en-US" sz="2000" spc="15" dirty="0">
                <a:latin typeface="Tahoma"/>
                <a:cs typeface="Tahoma"/>
              </a:rPr>
              <a:t>may</a:t>
            </a:r>
            <a:r>
              <a:rPr lang="en-US" sz="2000" spc="-60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provide</a:t>
            </a:r>
            <a:r>
              <a:rPr lang="en-US" sz="2000" spc="-65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support</a:t>
            </a:r>
            <a:r>
              <a:rPr lang="en-US" sz="2000" spc="-70" dirty="0">
                <a:latin typeface="Tahoma"/>
                <a:cs typeface="Tahoma"/>
              </a:rPr>
              <a:t> </a:t>
            </a:r>
            <a:r>
              <a:rPr lang="en-US" sz="2000" spc="-40" dirty="0">
                <a:latin typeface="Tahoma"/>
                <a:cs typeface="Tahoma"/>
              </a:rPr>
              <a:t>for</a:t>
            </a:r>
            <a:r>
              <a:rPr lang="en-US" sz="2000" spc="-7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communicating</a:t>
            </a:r>
            <a:r>
              <a:rPr lang="en-US" sz="2000" spc="-165" dirty="0">
                <a:latin typeface="Tahoma"/>
                <a:cs typeface="Tahoma"/>
              </a:rPr>
              <a:t> </a:t>
            </a:r>
            <a:r>
              <a:rPr lang="en-US" sz="2000" spc="90" dirty="0">
                <a:latin typeface="Tahoma"/>
                <a:cs typeface="Tahoma"/>
              </a:rPr>
              <a:t>ADT </a:t>
            </a:r>
            <a:r>
              <a:rPr lang="en-US" sz="2000" spc="-610" dirty="0">
                <a:latin typeface="Tahoma"/>
                <a:cs typeface="Tahoma"/>
              </a:rPr>
              <a:t> </a:t>
            </a:r>
            <a:r>
              <a:rPr lang="en-US" sz="2000" spc="-45" dirty="0">
                <a:latin typeface="Tahoma"/>
                <a:cs typeface="Tahoma"/>
              </a:rPr>
              <a:t>to</a:t>
            </a:r>
            <a:r>
              <a:rPr lang="en-US" sz="2000" spc="-85" dirty="0">
                <a:latin typeface="Tahoma"/>
                <a:cs typeface="Tahoma"/>
              </a:rPr>
              <a:t> </a:t>
            </a:r>
            <a:r>
              <a:rPr lang="en-US" sz="2000" spc="40" dirty="0">
                <a:latin typeface="Tahoma"/>
                <a:cs typeface="Tahoma"/>
              </a:rPr>
              <a:t>users</a:t>
            </a:r>
            <a:endParaRPr lang="en-US" sz="2000" dirty="0">
              <a:latin typeface="Tahoma"/>
              <a:cs typeface="Tahoma"/>
            </a:endParaRPr>
          </a:p>
          <a:p>
            <a:pPr marL="718820" lvl="1" indent="-228600">
              <a:lnSpc>
                <a:spcPct val="100000"/>
              </a:lnSpc>
              <a:spcBef>
                <a:spcPts val="225"/>
              </a:spcBef>
              <a:buSzPct val="60000"/>
              <a:buChar char="►"/>
              <a:tabLst>
                <a:tab pos="718820" algn="l"/>
              </a:tabLst>
            </a:pPr>
            <a:r>
              <a:rPr lang="en-US" sz="2000" spc="-30" dirty="0">
                <a:latin typeface="Tahoma"/>
                <a:cs typeface="Tahoma"/>
              </a:rPr>
              <a:t>(e.g.</a:t>
            </a:r>
            <a:r>
              <a:rPr lang="en-US" sz="2000" spc="-100" dirty="0">
                <a:latin typeface="Tahoma"/>
                <a:cs typeface="Tahoma"/>
              </a:rPr>
              <a:t> </a:t>
            </a:r>
            <a:r>
              <a:rPr lang="en-US" sz="2000" spc="70" dirty="0">
                <a:latin typeface="Tahoma"/>
                <a:cs typeface="Tahoma"/>
              </a:rPr>
              <a:t>classes</a:t>
            </a:r>
            <a:r>
              <a:rPr lang="en-US" sz="2000" spc="-75" dirty="0">
                <a:latin typeface="Tahoma"/>
                <a:cs typeface="Tahoma"/>
              </a:rPr>
              <a:t> </a:t>
            </a:r>
            <a:r>
              <a:rPr lang="en-US" sz="2000" spc="-10" dirty="0">
                <a:latin typeface="Tahoma"/>
                <a:cs typeface="Tahoma"/>
              </a:rPr>
              <a:t>in</a:t>
            </a:r>
            <a:r>
              <a:rPr lang="en-US" sz="2000" spc="-80" dirty="0">
                <a:latin typeface="Tahoma"/>
                <a:cs typeface="Tahoma"/>
              </a:rPr>
              <a:t> </a:t>
            </a:r>
            <a:r>
              <a:rPr lang="en-US" sz="2000" spc="70" dirty="0">
                <a:latin typeface="Tahoma"/>
                <a:cs typeface="Tahoma"/>
              </a:rPr>
              <a:t>Java</a:t>
            </a:r>
            <a:r>
              <a:rPr lang="en-US" sz="2000" spc="-75" dirty="0">
                <a:latin typeface="Tahoma"/>
                <a:cs typeface="Tahoma"/>
              </a:rPr>
              <a:t> </a:t>
            </a:r>
            <a:r>
              <a:rPr lang="en-US" sz="2000" spc="-15" dirty="0">
                <a:latin typeface="Tahoma"/>
                <a:cs typeface="Tahoma"/>
              </a:rPr>
              <a:t>&amp;</a:t>
            </a:r>
            <a:r>
              <a:rPr lang="en-US" sz="2000" spc="-75" dirty="0">
                <a:latin typeface="Tahoma"/>
                <a:cs typeface="Tahoma"/>
              </a:rPr>
              <a:t> </a:t>
            </a:r>
            <a:r>
              <a:rPr lang="en-US" sz="2000" spc="-114" dirty="0">
                <a:latin typeface="Tahoma"/>
                <a:cs typeface="Tahoma"/>
              </a:rPr>
              <a:t>C++)</a:t>
            </a:r>
            <a:endParaRPr lang="en-US" sz="2000" dirty="0">
              <a:latin typeface="Tahoma"/>
              <a:cs typeface="Tahom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533400" y="1646237"/>
            <a:ext cx="7981950" cy="4221163"/>
            <a:chOff x="533400" y="1646237"/>
            <a:chExt cx="7981950" cy="4221163"/>
          </a:xfrm>
        </p:grpSpPr>
        <p:sp>
          <p:nvSpPr>
            <p:cNvPr id="6" name="Rectangle 5"/>
            <p:cNvSpPr/>
            <p:nvPr/>
          </p:nvSpPr>
          <p:spPr>
            <a:xfrm>
              <a:off x="533400" y="1646237"/>
              <a:ext cx="7981950" cy="42211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8433" y="2880345"/>
              <a:ext cx="6667134" cy="1752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47792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Data</a:t>
            </a:r>
            <a:r>
              <a:rPr lang="en-US" spc="-20" dirty="0"/>
              <a:t> </a:t>
            </a:r>
            <a:r>
              <a:rPr lang="en-US" dirty="0"/>
              <a:t>Organizing</a:t>
            </a:r>
            <a:r>
              <a:rPr lang="en-US" spc="-40" dirty="0"/>
              <a:t> </a:t>
            </a:r>
            <a:r>
              <a:rPr lang="en-US" spc="-5" dirty="0"/>
              <a:t>Principles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241300" indent="-228600" fontAlgn="auto">
              <a:spcBef>
                <a:spcPts val="390"/>
              </a:spcBef>
              <a:spcAft>
                <a:spcPts val="0"/>
              </a:spcAft>
              <a:buFont typeface="Wingdings"/>
              <a:buChar char=""/>
              <a:tabLst>
                <a:tab pos="241300" algn="l"/>
              </a:tabLst>
            </a:pPr>
            <a:r>
              <a:rPr lang="en-US" sz="2200" b="1" dirty="0">
                <a:solidFill>
                  <a:prstClr val="black"/>
                </a:solidFill>
                <a:latin typeface="Arial"/>
                <a:cs typeface="Arial"/>
              </a:rPr>
              <a:t>Ordering</a:t>
            </a:r>
            <a:endParaRPr lang="en-US" sz="22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698500" marR="72390" lvl="1" indent="-228600" fontAlgn="auto">
              <a:lnSpc>
                <a:spcPts val="2160"/>
              </a:lnSpc>
              <a:spcBef>
                <a:spcPts val="530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35" dirty="0">
                <a:solidFill>
                  <a:prstClr val="black"/>
                </a:solidFill>
                <a:latin typeface="Tahoma"/>
                <a:cs typeface="Tahoma"/>
              </a:rPr>
              <a:t>Put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40" dirty="0">
                <a:solidFill>
                  <a:prstClr val="black"/>
                </a:solidFill>
                <a:latin typeface="Tahoma"/>
                <a:cs typeface="Tahoma"/>
              </a:rPr>
              <a:t>keys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30" dirty="0">
                <a:solidFill>
                  <a:prstClr val="black"/>
                </a:solidFill>
                <a:latin typeface="Tahoma"/>
                <a:cs typeface="Tahoma"/>
              </a:rPr>
              <a:t>into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40" dirty="0">
                <a:solidFill>
                  <a:prstClr val="black"/>
                </a:solidFill>
                <a:latin typeface="Tahoma"/>
                <a:cs typeface="Tahoma"/>
              </a:rPr>
              <a:t>some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order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65" dirty="0">
                <a:solidFill>
                  <a:prstClr val="black"/>
                </a:solidFill>
                <a:latin typeface="Tahoma"/>
                <a:cs typeface="Tahoma"/>
              </a:rPr>
              <a:t>so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45" dirty="0">
                <a:solidFill>
                  <a:prstClr val="black"/>
                </a:solidFill>
                <a:latin typeface="Tahoma"/>
                <a:cs typeface="Tahoma"/>
              </a:rPr>
              <a:t>that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we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" dirty="0">
                <a:solidFill>
                  <a:prstClr val="black"/>
                </a:solidFill>
                <a:latin typeface="Tahoma"/>
                <a:cs typeface="Tahoma"/>
              </a:rPr>
              <a:t>know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something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about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where </a:t>
            </a:r>
            <a:r>
              <a:rPr lang="en-US" sz="2000" spc="-6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45" dirty="0">
                <a:solidFill>
                  <a:prstClr val="black"/>
                </a:solidFill>
                <a:latin typeface="Tahoma"/>
                <a:cs typeface="Tahoma"/>
              </a:rPr>
              <a:t>each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0" dirty="0">
                <a:solidFill>
                  <a:prstClr val="black"/>
                </a:solidFill>
                <a:latin typeface="Tahoma"/>
                <a:cs typeface="Tahoma"/>
              </a:rPr>
              <a:t>key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45" dirty="0">
                <a:solidFill>
                  <a:prstClr val="black"/>
                </a:solidFill>
                <a:latin typeface="Tahoma"/>
                <a:cs typeface="Tahoma"/>
              </a:rPr>
              <a:t>is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" dirty="0">
                <a:solidFill>
                  <a:prstClr val="black"/>
                </a:solidFill>
                <a:latin typeface="Tahoma"/>
                <a:cs typeface="Tahoma"/>
              </a:rPr>
              <a:t>relative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45" dirty="0">
                <a:solidFill>
                  <a:prstClr val="black"/>
                </a:solidFill>
                <a:latin typeface="Tahoma"/>
                <a:cs typeface="Tahoma"/>
              </a:rPr>
              <a:t>to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the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other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5" dirty="0">
                <a:solidFill>
                  <a:prstClr val="black"/>
                </a:solidFill>
                <a:latin typeface="Tahoma"/>
                <a:cs typeface="Tahoma"/>
              </a:rPr>
              <a:t>keys.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lvl="1" indent="-228600" fontAlgn="auto">
              <a:spcBef>
                <a:spcPts val="234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60" dirty="0">
                <a:solidFill>
                  <a:prstClr val="black"/>
                </a:solidFill>
                <a:latin typeface="Tahoma"/>
                <a:cs typeface="Tahoma"/>
              </a:rPr>
              <a:t>Phone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30" dirty="0">
                <a:solidFill>
                  <a:prstClr val="black"/>
                </a:solidFill>
                <a:latin typeface="Tahoma"/>
                <a:cs typeface="Tahoma"/>
              </a:rPr>
              <a:t>books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0" dirty="0">
                <a:solidFill>
                  <a:prstClr val="black"/>
                </a:solidFill>
                <a:latin typeface="Tahoma"/>
                <a:cs typeface="Tahoma"/>
              </a:rPr>
              <a:t>are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35" dirty="0">
                <a:solidFill>
                  <a:prstClr val="black"/>
                </a:solidFill>
                <a:latin typeface="Tahoma"/>
                <a:cs typeface="Tahoma"/>
              </a:rPr>
              <a:t>easier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45" dirty="0">
                <a:solidFill>
                  <a:prstClr val="black"/>
                </a:solidFill>
                <a:latin typeface="Tahoma"/>
                <a:cs typeface="Tahoma"/>
              </a:rPr>
              <a:t>to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40" dirty="0">
                <a:solidFill>
                  <a:prstClr val="black"/>
                </a:solidFill>
                <a:latin typeface="Tahoma"/>
                <a:cs typeface="Tahoma"/>
              </a:rPr>
              <a:t>search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0" dirty="0">
                <a:solidFill>
                  <a:prstClr val="black"/>
                </a:solidFill>
                <a:latin typeface="Tahoma"/>
                <a:cs typeface="Tahoma"/>
              </a:rPr>
              <a:t>because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5" dirty="0">
                <a:solidFill>
                  <a:prstClr val="black"/>
                </a:solidFill>
                <a:latin typeface="Tahoma"/>
                <a:cs typeface="Tahoma"/>
              </a:rPr>
              <a:t>they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0" dirty="0">
                <a:solidFill>
                  <a:prstClr val="black"/>
                </a:solidFill>
                <a:latin typeface="Tahoma"/>
                <a:cs typeface="Tahoma"/>
              </a:rPr>
              <a:t>are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alphabetized.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241300" indent="-228600" fontAlgn="auto">
              <a:spcBef>
                <a:spcPts val="730"/>
              </a:spcBef>
              <a:spcAft>
                <a:spcPts val="0"/>
              </a:spcAft>
              <a:buFont typeface="Wingdings"/>
              <a:buChar char=""/>
              <a:tabLst>
                <a:tab pos="241300" algn="l"/>
              </a:tabLst>
            </a:pPr>
            <a:r>
              <a:rPr lang="en-US" sz="2200" b="1" dirty="0">
                <a:solidFill>
                  <a:prstClr val="black"/>
                </a:solidFill>
                <a:latin typeface="Arial"/>
                <a:cs typeface="Arial"/>
              </a:rPr>
              <a:t>Linking</a:t>
            </a:r>
            <a:endParaRPr lang="en-US" sz="22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698500" marR="410209" lvl="1" indent="-228600" fontAlgn="auto">
              <a:lnSpc>
                <a:spcPts val="2160"/>
              </a:lnSpc>
              <a:spcBef>
                <a:spcPts val="535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45" dirty="0">
                <a:solidFill>
                  <a:prstClr val="black"/>
                </a:solidFill>
                <a:latin typeface="Tahoma"/>
                <a:cs typeface="Tahoma"/>
              </a:rPr>
              <a:t>Add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pointers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45" dirty="0">
                <a:solidFill>
                  <a:prstClr val="black"/>
                </a:solidFill>
                <a:latin typeface="Tahoma"/>
                <a:cs typeface="Tahoma"/>
              </a:rPr>
              <a:t>to</a:t>
            </a:r>
            <a:r>
              <a:rPr lang="en-US" sz="2000" spc="-9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45" dirty="0">
                <a:solidFill>
                  <a:prstClr val="black"/>
                </a:solidFill>
                <a:latin typeface="Tahoma"/>
                <a:cs typeface="Tahoma"/>
              </a:rPr>
              <a:t>each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record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65" dirty="0">
                <a:solidFill>
                  <a:prstClr val="black"/>
                </a:solidFill>
                <a:latin typeface="Tahoma"/>
                <a:cs typeface="Tahoma"/>
              </a:rPr>
              <a:t>so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45" dirty="0">
                <a:solidFill>
                  <a:prstClr val="black"/>
                </a:solidFill>
                <a:latin typeface="Tahoma"/>
                <a:cs typeface="Tahoma"/>
              </a:rPr>
              <a:t>that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we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45" dirty="0">
                <a:solidFill>
                  <a:prstClr val="black"/>
                </a:solidFill>
                <a:latin typeface="Tahoma"/>
                <a:cs typeface="Tahoma"/>
              </a:rPr>
              <a:t>can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5" dirty="0">
                <a:solidFill>
                  <a:prstClr val="black"/>
                </a:solidFill>
                <a:latin typeface="Tahoma"/>
                <a:cs typeface="Tahoma"/>
              </a:rPr>
              <a:t>find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related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0" dirty="0">
                <a:solidFill>
                  <a:prstClr val="black"/>
                </a:solidFill>
                <a:latin typeface="Tahoma"/>
                <a:cs typeface="Tahoma"/>
              </a:rPr>
              <a:t>records </a:t>
            </a:r>
            <a:r>
              <a:rPr lang="en-US" sz="2000" spc="-6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quickly.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lvl="1" indent="-228600" fontAlgn="auto">
              <a:lnSpc>
                <a:spcPts val="2280"/>
              </a:lnSpc>
              <a:spcBef>
                <a:spcPts val="225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25" dirty="0">
                <a:solidFill>
                  <a:prstClr val="black"/>
                </a:solidFill>
                <a:latin typeface="Tahoma"/>
                <a:cs typeface="Tahoma"/>
              </a:rPr>
              <a:t>E.g.</a:t>
            </a:r>
            <a:r>
              <a:rPr lang="en-US" sz="2000" spc="-12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30" dirty="0">
                <a:solidFill>
                  <a:prstClr val="black"/>
                </a:solidFill>
                <a:latin typeface="Tahoma"/>
                <a:cs typeface="Tahoma"/>
              </a:rPr>
              <a:t>The</a:t>
            </a:r>
            <a:r>
              <a:rPr lang="en-US" sz="2000" spc="-6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index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in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the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35" dirty="0">
                <a:solidFill>
                  <a:prstClr val="black"/>
                </a:solidFill>
                <a:latin typeface="Tahoma"/>
                <a:cs typeface="Tahoma"/>
              </a:rPr>
              <a:t>back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30" dirty="0">
                <a:solidFill>
                  <a:prstClr val="black"/>
                </a:solidFill>
                <a:latin typeface="Tahoma"/>
                <a:cs typeface="Tahoma"/>
              </a:rPr>
              <a:t>of</a:t>
            </a:r>
            <a:r>
              <a:rPr lang="en-US" sz="2000" spc="-9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book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5" dirty="0">
                <a:solidFill>
                  <a:prstClr val="black"/>
                </a:solidFill>
                <a:latin typeface="Tahoma"/>
                <a:cs typeface="Tahoma"/>
              </a:rPr>
              <a:t>provides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5" dirty="0">
                <a:solidFill>
                  <a:prstClr val="black"/>
                </a:solidFill>
                <a:latin typeface="Tahoma"/>
                <a:cs typeface="Tahoma"/>
              </a:rPr>
              <a:t>links</a:t>
            </a:r>
            <a:r>
              <a:rPr lang="en-US" sz="2000" spc="-5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35" dirty="0">
                <a:solidFill>
                  <a:prstClr val="black"/>
                </a:solidFill>
                <a:latin typeface="Tahoma"/>
                <a:cs typeface="Tahoma"/>
              </a:rPr>
              <a:t>from</a:t>
            </a:r>
            <a:r>
              <a:rPr lang="en-US" sz="2000" spc="-9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words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45" dirty="0">
                <a:solidFill>
                  <a:prstClr val="black"/>
                </a:solidFill>
                <a:latin typeface="Tahoma"/>
                <a:cs typeface="Tahoma"/>
              </a:rPr>
              <a:t>to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the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fontAlgn="auto">
              <a:lnSpc>
                <a:spcPts val="228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spc="45" dirty="0">
                <a:solidFill>
                  <a:prstClr val="black"/>
                </a:solidFill>
                <a:latin typeface="Tahoma"/>
                <a:cs typeface="Tahoma"/>
              </a:rPr>
              <a:t>pages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on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which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5" dirty="0">
                <a:solidFill>
                  <a:prstClr val="black"/>
                </a:solidFill>
                <a:latin typeface="Tahoma"/>
                <a:cs typeface="Tahoma"/>
              </a:rPr>
              <a:t>they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" dirty="0">
                <a:solidFill>
                  <a:prstClr val="black"/>
                </a:solidFill>
                <a:latin typeface="Tahoma"/>
                <a:cs typeface="Tahoma"/>
              </a:rPr>
              <a:t>appear.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241300" indent="-228600" fontAlgn="auto">
              <a:spcBef>
                <a:spcPts val="730"/>
              </a:spcBef>
              <a:spcAft>
                <a:spcPts val="0"/>
              </a:spcAft>
              <a:buFont typeface="Wingdings"/>
              <a:buChar char=""/>
              <a:tabLst>
                <a:tab pos="241300" algn="l"/>
              </a:tabLst>
            </a:pPr>
            <a:r>
              <a:rPr lang="en-US" sz="2200" b="1" dirty="0">
                <a:solidFill>
                  <a:prstClr val="black"/>
                </a:solidFill>
                <a:latin typeface="Arial"/>
                <a:cs typeface="Arial"/>
              </a:rPr>
              <a:t>Partitioning:</a:t>
            </a:r>
            <a:endParaRPr lang="en-US" sz="22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698500" marR="423545" lvl="1" indent="-228600" fontAlgn="auto">
              <a:lnSpc>
                <a:spcPts val="2160"/>
              </a:lnSpc>
              <a:spcBef>
                <a:spcPts val="540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20" dirty="0">
                <a:solidFill>
                  <a:prstClr val="black"/>
                </a:solidFill>
                <a:latin typeface="Tahoma"/>
                <a:cs typeface="Tahoma"/>
              </a:rPr>
              <a:t>Divide</a:t>
            </a:r>
            <a:r>
              <a:rPr lang="en-US" sz="2000" spc="-5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the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0" dirty="0">
                <a:solidFill>
                  <a:prstClr val="black"/>
                </a:solidFill>
                <a:latin typeface="Tahoma"/>
                <a:cs typeface="Tahoma"/>
              </a:rPr>
              <a:t>records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30" dirty="0">
                <a:solidFill>
                  <a:prstClr val="black"/>
                </a:solidFill>
                <a:latin typeface="Tahoma"/>
                <a:cs typeface="Tahoma"/>
              </a:rPr>
              <a:t>into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5" dirty="0">
                <a:solidFill>
                  <a:prstClr val="black"/>
                </a:solidFill>
                <a:latin typeface="Tahoma"/>
                <a:cs typeface="Tahoma"/>
              </a:rPr>
              <a:t>2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or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more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groups,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45" dirty="0">
                <a:solidFill>
                  <a:prstClr val="black"/>
                </a:solidFill>
                <a:latin typeface="Tahoma"/>
                <a:cs typeface="Tahoma"/>
              </a:rPr>
              <a:t>each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" dirty="0">
                <a:solidFill>
                  <a:prstClr val="black"/>
                </a:solidFill>
                <a:latin typeface="Tahoma"/>
                <a:cs typeface="Tahoma"/>
              </a:rPr>
              <a:t>group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sharing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60" dirty="0">
                <a:solidFill>
                  <a:prstClr val="black"/>
                </a:solidFill>
                <a:latin typeface="Tahoma"/>
                <a:cs typeface="Tahoma"/>
              </a:rPr>
              <a:t>a </a:t>
            </a:r>
            <a:r>
              <a:rPr lang="en-US" sz="2000" spc="-6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particular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40" dirty="0">
                <a:solidFill>
                  <a:prstClr val="black"/>
                </a:solidFill>
                <a:latin typeface="Tahoma"/>
                <a:cs typeface="Tahoma"/>
              </a:rPr>
              <a:t>property.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lvl="1" indent="-228600" fontAlgn="auto">
              <a:spcBef>
                <a:spcPts val="225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25" dirty="0">
                <a:solidFill>
                  <a:prstClr val="black"/>
                </a:solidFill>
                <a:latin typeface="Tahoma"/>
                <a:cs typeface="Tahoma"/>
              </a:rPr>
              <a:t>E.g.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" dirty="0">
                <a:solidFill>
                  <a:prstClr val="black"/>
                </a:solidFill>
                <a:latin typeface="Tahoma"/>
                <a:cs typeface="Tahoma"/>
              </a:rPr>
              <a:t>Multi-volume</a:t>
            </a:r>
            <a:r>
              <a:rPr lang="en-US" sz="2000" spc="-5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30" dirty="0">
                <a:solidFill>
                  <a:prstClr val="black"/>
                </a:solidFill>
                <a:latin typeface="Tahoma"/>
                <a:cs typeface="Tahoma"/>
              </a:rPr>
              <a:t>encyclopedias</a:t>
            </a:r>
            <a:r>
              <a:rPr lang="en-US" sz="2000" spc="-5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5" dirty="0">
                <a:solidFill>
                  <a:prstClr val="black"/>
                </a:solidFill>
                <a:latin typeface="Tahoma"/>
                <a:cs typeface="Tahoma"/>
              </a:rPr>
              <a:t>(Aa-Be,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W-Z)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lvl="1" indent="-228600" fontAlgn="auto">
              <a:spcBef>
                <a:spcPts val="265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25" dirty="0">
                <a:solidFill>
                  <a:prstClr val="black"/>
                </a:solidFill>
                <a:latin typeface="Tahoma"/>
                <a:cs typeface="Tahoma"/>
              </a:rPr>
              <a:t>E.g.</a:t>
            </a:r>
            <a:r>
              <a:rPr lang="en-US" sz="2000" spc="-9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40" dirty="0">
                <a:solidFill>
                  <a:prstClr val="black"/>
                </a:solidFill>
                <a:latin typeface="Tahoma"/>
                <a:cs typeface="Tahoma"/>
              </a:rPr>
              <a:t>Folders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on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your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hard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" dirty="0">
                <a:solidFill>
                  <a:prstClr val="black"/>
                </a:solidFill>
                <a:latin typeface="Tahoma"/>
                <a:cs typeface="Tahoma"/>
              </a:rPr>
              <a:t>drive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21989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  <p:pic>
        <p:nvPicPr>
          <p:cNvPr id="5" name="object 3"/>
          <p:cNvPicPr>
            <a:picLocks noGrp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619125" y="685006"/>
            <a:ext cx="7905750" cy="548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1563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Lin</a:t>
            </a:r>
            <a:r>
              <a:rPr lang="en-US" spc="-15" dirty="0"/>
              <a:t>k</a:t>
            </a:r>
            <a:r>
              <a:rPr lang="en-US" spc="-5" dirty="0"/>
              <a:t>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41300" indent="-228600" fontAlgn="auto">
              <a:spcBef>
                <a:spcPts val="570"/>
              </a:spcBef>
              <a:spcAft>
                <a:spcPts val="0"/>
              </a:spcAft>
              <a:buFont typeface="Wingdings"/>
              <a:buChar char=""/>
              <a:tabLst>
                <a:tab pos="241300" algn="l"/>
              </a:tabLst>
            </a:pPr>
            <a:r>
              <a:rPr lang="en-US" sz="2000" spc="65" dirty="0">
                <a:solidFill>
                  <a:prstClr val="black"/>
                </a:solidFill>
                <a:latin typeface="Tahoma"/>
                <a:cs typeface="Tahoma"/>
              </a:rPr>
              <a:t>Records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5" dirty="0">
                <a:solidFill>
                  <a:prstClr val="black"/>
                </a:solidFill>
                <a:latin typeface="Tahoma"/>
                <a:cs typeface="Tahoma"/>
              </a:rPr>
              <a:t>located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0" dirty="0">
                <a:solidFill>
                  <a:prstClr val="black"/>
                </a:solidFill>
                <a:latin typeface="Tahoma"/>
                <a:cs typeface="Tahoma"/>
              </a:rPr>
              <a:t>any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where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in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memory</a:t>
            </a:r>
          </a:p>
          <a:p>
            <a:pPr marL="241300" indent="-228600" fontAlgn="auto">
              <a:spcBef>
                <a:spcPts val="475"/>
              </a:spcBef>
              <a:spcAft>
                <a:spcPts val="0"/>
              </a:spcAft>
              <a:buFont typeface="Wingdings"/>
              <a:buChar char=""/>
              <a:tabLst>
                <a:tab pos="241300" algn="l"/>
              </a:tabLst>
            </a:pPr>
            <a:r>
              <a:rPr lang="en-US" sz="2000" spc="60" dirty="0">
                <a:solidFill>
                  <a:prstClr val="black"/>
                </a:solidFill>
                <a:latin typeface="Tahoma"/>
                <a:cs typeface="Tahoma"/>
              </a:rPr>
              <a:t>Green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pointers</a:t>
            </a:r>
            <a:r>
              <a:rPr lang="en-US" sz="2000" spc="-9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give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“next”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element</a:t>
            </a:r>
          </a:p>
          <a:p>
            <a:pPr marL="241300" indent="-228600" fontAlgn="auto">
              <a:spcBef>
                <a:spcPts val="470"/>
              </a:spcBef>
              <a:spcAft>
                <a:spcPts val="0"/>
              </a:spcAft>
              <a:buFont typeface="Wingdings"/>
              <a:buChar char=""/>
              <a:tabLst>
                <a:tab pos="241300" algn="l"/>
              </a:tabLst>
            </a:pPr>
            <a:r>
              <a:rPr lang="en-US" sz="2000" spc="95" dirty="0">
                <a:solidFill>
                  <a:prstClr val="black"/>
                </a:solidFill>
                <a:latin typeface="Tahoma"/>
                <a:cs typeface="Tahoma"/>
              </a:rPr>
              <a:t>Red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" dirty="0">
                <a:solidFill>
                  <a:prstClr val="black"/>
                </a:solidFill>
                <a:latin typeface="Tahoma"/>
                <a:cs typeface="Tahoma"/>
              </a:rPr>
              <a:t>pointers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give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“previous”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element</a:t>
            </a:r>
          </a:p>
          <a:p>
            <a:pPr marL="241300" marR="5080" indent="-228600" fontAlgn="auto">
              <a:lnSpc>
                <a:spcPts val="2110"/>
              </a:lnSpc>
              <a:spcBef>
                <a:spcPts val="985"/>
              </a:spcBef>
              <a:spcAft>
                <a:spcPts val="0"/>
              </a:spcAft>
              <a:buFont typeface="Wingdings"/>
              <a:buChar char=""/>
              <a:tabLst>
                <a:tab pos="241300" algn="l"/>
              </a:tabLst>
            </a:pPr>
            <a:r>
              <a:rPr lang="en-US" sz="2000" spc="-25" dirty="0">
                <a:solidFill>
                  <a:prstClr val="black"/>
                </a:solidFill>
                <a:latin typeface="Tahoma"/>
                <a:cs typeface="Tahoma"/>
              </a:rPr>
              <a:t>Insertion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5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deletion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65" dirty="0">
                <a:solidFill>
                  <a:prstClr val="black"/>
                </a:solidFill>
                <a:latin typeface="Tahoma"/>
                <a:cs typeface="Tahoma"/>
              </a:rPr>
              <a:t>easy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5" dirty="0">
                <a:solidFill>
                  <a:prstClr val="black"/>
                </a:solidFill>
                <a:latin typeface="Tahoma"/>
                <a:cs typeface="Tahoma"/>
              </a:rPr>
              <a:t>if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you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30" dirty="0">
                <a:solidFill>
                  <a:prstClr val="black"/>
                </a:solidFill>
                <a:latin typeface="Tahoma"/>
                <a:cs typeface="Tahoma"/>
              </a:rPr>
              <a:t>have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65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5" dirty="0">
                <a:solidFill>
                  <a:prstClr val="black"/>
                </a:solidFill>
                <a:latin typeface="Tahoma"/>
                <a:cs typeface="Tahoma"/>
              </a:rPr>
              <a:t>pointer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0" dirty="0">
                <a:solidFill>
                  <a:prstClr val="black"/>
                </a:solidFill>
                <a:latin typeface="Tahoma"/>
                <a:cs typeface="Tahoma"/>
              </a:rPr>
              <a:t>to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the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middle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30" dirty="0">
                <a:solidFill>
                  <a:prstClr val="black"/>
                </a:solidFill>
                <a:latin typeface="Tahoma"/>
                <a:cs typeface="Tahoma"/>
              </a:rPr>
              <a:t>of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the </a:t>
            </a:r>
            <a:r>
              <a:rPr lang="en-US" sz="2000" spc="-6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0" dirty="0">
                <a:solidFill>
                  <a:prstClr val="black"/>
                </a:solidFill>
                <a:latin typeface="Tahoma"/>
                <a:cs typeface="Tahoma"/>
              </a:rPr>
              <a:t>list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241300" indent="-228600" fontAlgn="auto">
              <a:spcBef>
                <a:spcPts val="495"/>
              </a:spcBef>
              <a:spcAft>
                <a:spcPts val="0"/>
              </a:spcAft>
              <a:buFont typeface="Wingdings"/>
              <a:buChar char=""/>
              <a:tabLst>
                <a:tab pos="241300" algn="l"/>
              </a:tabLst>
            </a:pP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Don’t</a:t>
            </a:r>
            <a:r>
              <a:rPr lang="en-US" sz="2000" spc="-9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30" dirty="0">
                <a:solidFill>
                  <a:prstClr val="black"/>
                </a:solidFill>
                <a:latin typeface="Tahoma"/>
                <a:cs typeface="Tahoma"/>
              </a:rPr>
              <a:t>have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0" dirty="0">
                <a:solidFill>
                  <a:prstClr val="black"/>
                </a:solidFill>
                <a:latin typeface="Tahoma"/>
                <a:cs typeface="Tahoma"/>
              </a:rPr>
              <a:t>to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" dirty="0">
                <a:solidFill>
                  <a:prstClr val="black"/>
                </a:solidFill>
                <a:latin typeface="Tahoma"/>
                <a:cs typeface="Tahoma"/>
              </a:rPr>
              <a:t>know</a:t>
            </a:r>
            <a:r>
              <a:rPr lang="en-US" sz="2000" spc="-9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75" dirty="0">
                <a:solidFill>
                  <a:prstClr val="black"/>
                </a:solidFill>
                <a:latin typeface="Tahoma"/>
                <a:cs typeface="Tahoma"/>
              </a:rPr>
              <a:t>size</a:t>
            </a:r>
            <a:r>
              <a:rPr lang="en-US" sz="2000" spc="-10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35" dirty="0">
                <a:solidFill>
                  <a:prstClr val="black"/>
                </a:solidFill>
                <a:latin typeface="Tahoma"/>
                <a:cs typeface="Tahoma"/>
              </a:rPr>
              <a:t>of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data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30" dirty="0">
                <a:solidFill>
                  <a:prstClr val="black"/>
                </a:solidFill>
                <a:latin typeface="Tahoma"/>
                <a:cs typeface="Tahoma"/>
              </a:rPr>
              <a:t>at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5" dirty="0">
                <a:solidFill>
                  <a:prstClr val="black"/>
                </a:solidFill>
                <a:latin typeface="Tahoma"/>
                <a:cs typeface="Tahoma"/>
              </a:rPr>
              <a:t>start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241300" marR="1313180" indent="-228600" fontAlgn="auto">
              <a:lnSpc>
                <a:spcPts val="2110"/>
              </a:lnSpc>
              <a:spcBef>
                <a:spcPts val="980"/>
              </a:spcBef>
              <a:spcAft>
                <a:spcPts val="0"/>
              </a:spcAft>
              <a:buFont typeface="Wingdings"/>
              <a:buChar char=""/>
              <a:tabLst>
                <a:tab pos="241300" algn="l"/>
              </a:tabLst>
            </a:pPr>
            <a:r>
              <a:rPr lang="en-US" sz="2000" spc="30" dirty="0">
                <a:solidFill>
                  <a:prstClr val="black"/>
                </a:solidFill>
                <a:latin typeface="Tahoma"/>
                <a:cs typeface="Tahoma"/>
              </a:rPr>
              <a:t>Pointers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5" dirty="0">
                <a:solidFill>
                  <a:prstClr val="black"/>
                </a:solidFill>
                <a:latin typeface="Tahoma"/>
                <a:cs typeface="Tahoma"/>
              </a:rPr>
              <a:t>let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5" dirty="0">
                <a:solidFill>
                  <a:prstClr val="black"/>
                </a:solidFill>
                <a:latin typeface="Tahoma"/>
                <a:cs typeface="Tahoma"/>
              </a:rPr>
              <a:t>us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45" dirty="0">
                <a:solidFill>
                  <a:prstClr val="black"/>
                </a:solidFill>
                <a:latin typeface="Tahoma"/>
                <a:cs typeface="Tahoma"/>
              </a:rPr>
              <a:t>express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relationships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" dirty="0">
                <a:solidFill>
                  <a:prstClr val="black"/>
                </a:solidFill>
                <a:latin typeface="Tahoma"/>
                <a:cs typeface="Tahoma"/>
              </a:rPr>
              <a:t>between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5" dirty="0">
                <a:solidFill>
                  <a:prstClr val="black"/>
                </a:solidFill>
                <a:latin typeface="Tahoma"/>
                <a:cs typeface="Tahoma"/>
              </a:rPr>
              <a:t>pieces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30" dirty="0">
                <a:solidFill>
                  <a:prstClr val="black"/>
                </a:solidFill>
                <a:latin typeface="Tahoma"/>
                <a:cs typeface="Tahoma"/>
              </a:rPr>
              <a:t>of </a:t>
            </a:r>
            <a:r>
              <a:rPr lang="en-US" sz="2000" spc="-6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5" dirty="0">
                <a:solidFill>
                  <a:prstClr val="black"/>
                </a:solidFill>
                <a:latin typeface="Tahoma"/>
                <a:cs typeface="Tahoma"/>
              </a:rPr>
              <a:t>information.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  <p:pic>
        <p:nvPicPr>
          <p:cNvPr id="5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0063" y="4835844"/>
            <a:ext cx="8015287" cy="134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7154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Partitioning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41300" indent="-228600" fontAlgn="auto">
              <a:spcBef>
                <a:spcPts val="830"/>
              </a:spcBef>
              <a:spcAft>
                <a:spcPts val="0"/>
              </a:spcAft>
              <a:buFont typeface="Wingdings"/>
              <a:buChar char=""/>
              <a:tabLst>
                <a:tab pos="241300" algn="l"/>
              </a:tabLst>
            </a:pP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Ordering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5" dirty="0">
                <a:solidFill>
                  <a:prstClr val="black"/>
                </a:solidFill>
                <a:latin typeface="Tahoma"/>
                <a:cs typeface="Tahoma"/>
              </a:rPr>
              <a:t>implicitly</a:t>
            </a:r>
            <a:r>
              <a:rPr lang="en-US" sz="2000" spc="-9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30" dirty="0">
                <a:solidFill>
                  <a:prstClr val="black"/>
                </a:solidFill>
                <a:latin typeface="Tahoma"/>
                <a:cs typeface="Tahoma"/>
              </a:rPr>
              <a:t>gives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65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5" dirty="0">
                <a:solidFill>
                  <a:prstClr val="black"/>
                </a:solidFill>
                <a:latin typeface="Tahoma"/>
                <a:cs typeface="Tahoma"/>
              </a:rPr>
              <a:t>partitioning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0" dirty="0">
                <a:solidFill>
                  <a:prstClr val="black"/>
                </a:solidFill>
                <a:latin typeface="Tahoma"/>
                <a:cs typeface="Tahoma"/>
              </a:rPr>
              <a:t>based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on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the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4" dirty="0">
                <a:solidFill>
                  <a:prstClr val="black"/>
                </a:solidFill>
                <a:latin typeface="Tahoma"/>
                <a:cs typeface="Tahoma"/>
              </a:rPr>
              <a:t>“&lt;“</a:t>
            </a:r>
            <a:r>
              <a:rPr lang="en-US" sz="2000" spc="-5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15" dirty="0">
                <a:solidFill>
                  <a:prstClr val="black"/>
                </a:solidFill>
                <a:latin typeface="Tahoma"/>
                <a:cs typeface="Tahoma"/>
              </a:rPr>
              <a:t>relation.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241300" marR="466725" indent="-228600" fontAlgn="auto">
              <a:lnSpc>
                <a:spcPts val="2380"/>
              </a:lnSpc>
              <a:spcBef>
                <a:spcPts val="1030"/>
              </a:spcBef>
              <a:spcAft>
                <a:spcPts val="0"/>
              </a:spcAft>
              <a:buFont typeface="Wingdings"/>
              <a:buChar char=""/>
              <a:tabLst>
                <a:tab pos="241300" algn="l"/>
              </a:tabLst>
            </a:pPr>
            <a:r>
              <a:rPr lang="en-US" sz="2000" dirty="0">
                <a:solidFill>
                  <a:prstClr val="black"/>
                </a:solidFill>
                <a:latin typeface="Tahoma"/>
                <a:cs typeface="Tahoma"/>
              </a:rPr>
              <a:t>Partitioning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0" dirty="0">
                <a:solidFill>
                  <a:prstClr val="black"/>
                </a:solidFill>
                <a:latin typeface="Tahoma"/>
                <a:cs typeface="Tahoma"/>
              </a:rPr>
              <a:t>usually</a:t>
            </a:r>
            <a:r>
              <a:rPr lang="en-US" sz="2000" spc="-9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0" dirty="0">
                <a:solidFill>
                  <a:prstClr val="black"/>
                </a:solidFill>
                <a:latin typeface="Tahoma"/>
                <a:cs typeface="Tahoma"/>
              </a:rPr>
              <a:t>combined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0" dirty="0">
                <a:solidFill>
                  <a:prstClr val="black"/>
                </a:solidFill>
                <a:latin typeface="Tahoma"/>
                <a:cs typeface="Tahoma"/>
              </a:rPr>
              <a:t>with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" dirty="0">
                <a:solidFill>
                  <a:prstClr val="black"/>
                </a:solidFill>
                <a:latin typeface="Tahoma"/>
                <a:cs typeface="Tahoma"/>
              </a:rPr>
              <a:t>linking</a:t>
            </a:r>
            <a:r>
              <a:rPr lang="en-US" sz="2000" spc="-9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0" dirty="0">
                <a:solidFill>
                  <a:prstClr val="black"/>
                </a:solidFill>
                <a:latin typeface="Tahoma"/>
                <a:cs typeface="Tahoma"/>
              </a:rPr>
              <a:t>to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5" dirty="0">
                <a:solidFill>
                  <a:prstClr val="black"/>
                </a:solidFill>
                <a:latin typeface="Tahoma"/>
                <a:cs typeface="Tahoma"/>
              </a:rPr>
              <a:t>point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0" dirty="0">
                <a:solidFill>
                  <a:prstClr val="black"/>
                </a:solidFill>
                <a:latin typeface="Tahoma"/>
                <a:cs typeface="Tahoma"/>
              </a:rPr>
              <a:t>to</a:t>
            </a:r>
            <a:r>
              <a:rPr lang="en-US" sz="20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the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0" dirty="0">
                <a:solidFill>
                  <a:prstClr val="black"/>
                </a:solidFill>
                <a:latin typeface="Tahoma"/>
                <a:cs typeface="Tahoma"/>
              </a:rPr>
              <a:t>two </a:t>
            </a:r>
            <a:r>
              <a:rPr lang="en-US" sz="2000" spc="-6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5" dirty="0">
                <a:solidFill>
                  <a:prstClr val="black"/>
                </a:solidFill>
                <a:latin typeface="Tahoma"/>
                <a:cs typeface="Tahoma"/>
              </a:rPr>
              <a:t>halves.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241300" indent="-228600" fontAlgn="auto">
              <a:spcBef>
                <a:spcPts val="695"/>
              </a:spcBef>
              <a:spcAft>
                <a:spcPts val="0"/>
              </a:spcAft>
              <a:buFont typeface="Wingdings"/>
              <a:buChar char=""/>
              <a:tabLst>
                <a:tab pos="241300" algn="l"/>
              </a:tabLst>
            </a:pP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Prototypical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5" dirty="0">
                <a:solidFill>
                  <a:prstClr val="black"/>
                </a:solidFill>
                <a:latin typeface="Tahoma"/>
                <a:cs typeface="Tahoma"/>
              </a:rPr>
              <a:t>example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0" dirty="0">
                <a:solidFill>
                  <a:prstClr val="black"/>
                </a:solidFill>
                <a:latin typeface="Tahoma"/>
                <a:cs typeface="Tahoma"/>
              </a:rPr>
              <a:t>is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5" dirty="0">
                <a:solidFill>
                  <a:prstClr val="black"/>
                </a:solidFill>
                <a:latin typeface="Tahoma"/>
                <a:cs typeface="Tahoma"/>
              </a:rPr>
              <a:t>the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5" dirty="0">
                <a:solidFill>
                  <a:prstClr val="black"/>
                </a:solidFill>
                <a:latin typeface="Tahoma"/>
                <a:cs typeface="Tahoma"/>
              </a:rPr>
              <a:t>Binary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65" dirty="0">
                <a:solidFill>
                  <a:prstClr val="black"/>
                </a:solidFill>
                <a:latin typeface="Tahoma"/>
                <a:cs typeface="Tahoma"/>
              </a:rPr>
              <a:t>Search</a:t>
            </a:r>
            <a:r>
              <a:rPr lang="en-US" sz="2000" spc="-114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5" dirty="0">
                <a:solidFill>
                  <a:prstClr val="black"/>
                </a:solidFill>
                <a:latin typeface="Tahoma"/>
                <a:cs typeface="Tahoma"/>
              </a:rPr>
              <a:t>Tree: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  <p:pic>
        <p:nvPicPr>
          <p:cNvPr id="5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5632" y="3532317"/>
            <a:ext cx="8260944" cy="2835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7636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E7E7E"/>
                </a:solidFill>
                <a:latin typeface="Arial"/>
                <a:cs typeface="Arial"/>
              </a:rPr>
              <a:t>So,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41300" marR="5080" indent="-228600" fontAlgn="auto"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"/>
              <a:tabLst>
                <a:tab pos="241300" algn="l"/>
              </a:tabLst>
            </a:pPr>
            <a:r>
              <a:rPr lang="en-US" sz="2200" spc="55" dirty="0">
                <a:solidFill>
                  <a:prstClr val="black"/>
                </a:solidFill>
                <a:latin typeface="Tahoma"/>
                <a:cs typeface="Tahoma"/>
              </a:rPr>
              <a:t>Much</a:t>
            </a:r>
            <a:r>
              <a:rPr lang="en-US" sz="22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30" dirty="0">
                <a:solidFill>
                  <a:prstClr val="black"/>
                </a:solidFill>
                <a:latin typeface="Tahoma"/>
                <a:cs typeface="Tahoma"/>
              </a:rPr>
              <a:t>of</a:t>
            </a:r>
            <a:r>
              <a:rPr lang="en-US" sz="22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5" dirty="0">
                <a:solidFill>
                  <a:prstClr val="black"/>
                </a:solidFill>
                <a:latin typeface="Tahoma"/>
                <a:cs typeface="Tahoma"/>
              </a:rPr>
              <a:t>programming</a:t>
            </a:r>
            <a:r>
              <a:rPr lang="en-US" sz="2200" spc="-6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10" dirty="0">
                <a:solidFill>
                  <a:prstClr val="black"/>
                </a:solidFill>
                <a:latin typeface="Tahoma"/>
                <a:cs typeface="Tahoma"/>
              </a:rPr>
              <a:t>(and</a:t>
            </a:r>
            <a:r>
              <a:rPr lang="en-US" sz="22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20" dirty="0">
                <a:solidFill>
                  <a:prstClr val="black"/>
                </a:solidFill>
                <a:latin typeface="Tahoma"/>
                <a:cs typeface="Tahoma"/>
              </a:rPr>
              <a:t>thinking</a:t>
            </a:r>
            <a:r>
              <a:rPr lang="en-US" sz="2200" spc="-9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5" dirty="0">
                <a:solidFill>
                  <a:prstClr val="black"/>
                </a:solidFill>
                <a:latin typeface="Tahoma"/>
                <a:cs typeface="Tahoma"/>
              </a:rPr>
              <a:t>about</a:t>
            </a:r>
            <a:r>
              <a:rPr lang="en-US" sz="22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15" dirty="0">
                <a:solidFill>
                  <a:prstClr val="black"/>
                </a:solidFill>
                <a:latin typeface="Tahoma"/>
                <a:cs typeface="Tahoma"/>
              </a:rPr>
              <a:t>programming)</a:t>
            </a:r>
            <a:r>
              <a:rPr lang="en-US" sz="2200" spc="-6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25" dirty="0">
                <a:solidFill>
                  <a:prstClr val="black"/>
                </a:solidFill>
                <a:latin typeface="Tahoma"/>
                <a:cs typeface="Tahoma"/>
              </a:rPr>
              <a:t>involves </a:t>
            </a:r>
            <a:r>
              <a:rPr lang="en-US" sz="2200" spc="-6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15" dirty="0">
                <a:solidFill>
                  <a:prstClr val="black"/>
                </a:solidFill>
                <a:latin typeface="Tahoma"/>
                <a:cs typeface="Tahoma"/>
              </a:rPr>
              <a:t>deciding</a:t>
            </a:r>
            <a:endParaRPr lang="en-US" sz="22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241300" indent="-228600" fontAlgn="auto">
              <a:spcBef>
                <a:spcPts val="690"/>
              </a:spcBef>
              <a:spcAft>
                <a:spcPts val="0"/>
              </a:spcAft>
              <a:buFont typeface="Wingdings"/>
              <a:buChar char=""/>
              <a:tabLst>
                <a:tab pos="241300" algn="l"/>
              </a:tabLst>
            </a:pPr>
            <a:r>
              <a:rPr lang="en-US" sz="2200" spc="-10" dirty="0">
                <a:solidFill>
                  <a:prstClr val="black"/>
                </a:solidFill>
                <a:latin typeface="Tahoma"/>
                <a:cs typeface="Tahoma"/>
              </a:rPr>
              <a:t>how</a:t>
            </a:r>
            <a:r>
              <a:rPr lang="en-US" sz="22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50" dirty="0">
                <a:solidFill>
                  <a:prstClr val="black"/>
                </a:solidFill>
                <a:latin typeface="Tahoma"/>
                <a:cs typeface="Tahoma"/>
              </a:rPr>
              <a:t>to</a:t>
            </a:r>
            <a:r>
              <a:rPr lang="en-US" sz="22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5" dirty="0">
                <a:solidFill>
                  <a:prstClr val="black"/>
                </a:solidFill>
                <a:latin typeface="Tahoma"/>
                <a:cs typeface="Tahoma"/>
              </a:rPr>
              <a:t>arrange</a:t>
            </a:r>
            <a:r>
              <a:rPr lang="en-US" sz="2200" spc="-6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25" dirty="0">
                <a:solidFill>
                  <a:prstClr val="black"/>
                </a:solidFill>
                <a:latin typeface="Tahoma"/>
                <a:cs typeface="Tahoma"/>
              </a:rPr>
              <a:t>information</a:t>
            </a:r>
            <a:r>
              <a:rPr lang="en-US" sz="22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10" dirty="0">
                <a:solidFill>
                  <a:prstClr val="black"/>
                </a:solidFill>
                <a:latin typeface="Tahoma"/>
                <a:cs typeface="Tahoma"/>
              </a:rPr>
              <a:t>in</a:t>
            </a:r>
            <a:r>
              <a:rPr lang="en-US" sz="22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35" dirty="0">
                <a:solidFill>
                  <a:prstClr val="black"/>
                </a:solidFill>
                <a:latin typeface="Tahoma"/>
                <a:cs typeface="Tahoma"/>
              </a:rPr>
              <a:t>memory.</a:t>
            </a:r>
            <a:r>
              <a:rPr lang="en-US" sz="22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5" dirty="0">
                <a:solidFill>
                  <a:prstClr val="black"/>
                </a:solidFill>
                <a:latin typeface="Tahoma"/>
                <a:cs typeface="Tahoma"/>
              </a:rPr>
              <a:t>[Aka</a:t>
            </a:r>
            <a:r>
              <a:rPr lang="en-US" sz="2200" spc="-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ahoma"/>
                <a:cs typeface="Tahoma"/>
              </a:rPr>
              <a:t>data</a:t>
            </a:r>
            <a:r>
              <a:rPr lang="en-US" sz="22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30" dirty="0">
                <a:solidFill>
                  <a:prstClr val="black"/>
                </a:solidFill>
                <a:latin typeface="Tahoma"/>
                <a:cs typeface="Tahoma"/>
              </a:rPr>
              <a:t>structures.]</a:t>
            </a:r>
            <a:endParaRPr lang="en-US" sz="22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241300" indent="-228600" fontAlgn="auto">
              <a:spcBef>
                <a:spcPts val="740"/>
              </a:spcBef>
              <a:spcAft>
                <a:spcPts val="0"/>
              </a:spcAft>
              <a:buFont typeface="Wingdings"/>
              <a:buChar char=""/>
              <a:tabLst>
                <a:tab pos="241300" algn="l"/>
              </a:tabLst>
            </a:pPr>
            <a:r>
              <a:rPr lang="en-US" sz="2200" spc="70" dirty="0">
                <a:solidFill>
                  <a:prstClr val="black"/>
                </a:solidFill>
                <a:latin typeface="Tahoma"/>
                <a:cs typeface="Tahoma"/>
              </a:rPr>
              <a:t>Choice</a:t>
            </a:r>
            <a:r>
              <a:rPr lang="en-US" sz="22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30" dirty="0">
                <a:solidFill>
                  <a:prstClr val="black"/>
                </a:solidFill>
                <a:latin typeface="Tahoma"/>
                <a:cs typeface="Tahoma"/>
              </a:rPr>
              <a:t>of</a:t>
            </a:r>
            <a:r>
              <a:rPr lang="en-US" sz="22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5" dirty="0">
                <a:solidFill>
                  <a:prstClr val="black"/>
                </a:solidFill>
                <a:latin typeface="Tahoma"/>
                <a:cs typeface="Tahoma"/>
              </a:rPr>
              <a:t>data</a:t>
            </a:r>
            <a:r>
              <a:rPr lang="en-US" sz="22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ahoma"/>
                <a:cs typeface="Tahoma"/>
              </a:rPr>
              <a:t>structures</a:t>
            </a:r>
            <a:r>
              <a:rPr lang="en-US" sz="22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50" dirty="0">
                <a:solidFill>
                  <a:prstClr val="black"/>
                </a:solidFill>
                <a:latin typeface="Tahoma"/>
                <a:cs typeface="Tahoma"/>
              </a:rPr>
              <a:t>can</a:t>
            </a:r>
            <a:r>
              <a:rPr lang="en-US" sz="22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30" dirty="0">
                <a:solidFill>
                  <a:prstClr val="black"/>
                </a:solidFill>
                <a:latin typeface="Tahoma"/>
                <a:cs typeface="Tahoma"/>
              </a:rPr>
              <a:t>make</a:t>
            </a:r>
            <a:r>
              <a:rPr lang="en-US" sz="22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65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lang="en-US" sz="22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ahoma"/>
                <a:cs typeface="Tahoma"/>
              </a:rPr>
              <a:t>big</a:t>
            </a:r>
            <a:r>
              <a:rPr lang="en-US" sz="22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50" dirty="0">
                <a:solidFill>
                  <a:prstClr val="black"/>
                </a:solidFill>
                <a:latin typeface="Tahoma"/>
                <a:cs typeface="Tahoma"/>
              </a:rPr>
              <a:t>speed</a:t>
            </a:r>
            <a:r>
              <a:rPr lang="en-US" sz="22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5" dirty="0">
                <a:solidFill>
                  <a:prstClr val="black"/>
                </a:solidFill>
                <a:latin typeface="Tahoma"/>
                <a:cs typeface="Tahoma"/>
              </a:rPr>
              <a:t>difference.</a:t>
            </a:r>
            <a:endParaRPr lang="en-US" sz="22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lvl="1" indent="-228600" fontAlgn="auto">
              <a:spcBef>
                <a:spcPts val="265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25" dirty="0">
                <a:solidFill>
                  <a:prstClr val="black"/>
                </a:solidFill>
                <a:latin typeface="Tahoma"/>
                <a:cs typeface="Tahoma"/>
              </a:rPr>
              <a:t>Sequential</a:t>
            </a:r>
            <a:r>
              <a:rPr lang="en-US" sz="2000" spc="-5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40" dirty="0">
                <a:solidFill>
                  <a:prstClr val="black"/>
                </a:solidFill>
                <a:latin typeface="Tahoma"/>
                <a:cs typeface="Tahoma"/>
              </a:rPr>
              <a:t>search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5" dirty="0">
                <a:solidFill>
                  <a:prstClr val="black"/>
                </a:solidFill>
                <a:latin typeface="Tahoma"/>
                <a:cs typeface="Tahoma"/>
              </a:rPr>
              <a:t>vs.</a:t>
            </a:r>
            <a:r>
              <a:rPr lang="en-US" sz="20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20" dirty="0">
                <a:solidFill>
                  <a:prstClr val="black"/>
                </a:solidFill>
                <a:latin typeface="Tahoma"/>
                <a:cs typeface="Tahoma"/>
              </a:rPr>
              <a:t>Binary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55" dirty="0">
                <a:solidFill>
                  <a:prstClr val="black"/>
                </a:solidFill>
                <a:latin typeface="Tahoma"/>
                <a:cs typeface="Tahoma"/>
              </a:rPr>
              <a:t>Search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40" dirty="0">
                <a:solidFill>
                  <a:prstClr val="black"/>
                </a:solidFill>
                <a:latin typeface="Tahoma"/>
                <a:cs typeface="Tahoma"/>
              </a:rPr>
              <a:t>means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O(n)</a:t>
            </a:r>
            <a:r>
              <a:rPr lang="en-US" sz="2000" spc="-9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5" dirty="0">
                <a:solidFill>
                  <a:prstClr val="black"/>
                </a:solidFill>
                <a:latin typeface="Tahoma"/>
                <a:cs typeface="Tahoma"/>
              </a:rPr>
              <a:t>vs.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O(log</a:t>
            </a:r>
            <a:r>
              <a:rPr lang="en-US" sz="2000" spc="-6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5" dirty="0">
                <a:solidFill>
                  <a:prstClr val="black"/>
                </a:solidFill>
                <a:latin typeface="Tahoma"/>
                <a:cs typeface="Tahoma"/>
              </a:rPr>
              <a:t>n).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lvl="1" indent="-228600" fontAlgn="auto">
              <a:spcBef>
                <a:spcPts val="260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-50" dirty="0">
                <a:solidFill>
                  <a:prstClr val="black"/>
                </a:solidFill>
                <a:latin typeface="Tahoma"/>
                <a:cs typeface="Tahoma"/>
              </a:rPr>
              <a:t>[log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45" dirty="0">
                <a:solidFill>
                  <a:prstClr val="black"/>
                </a:solidFill>
                <a:latin typeface="Tahoma"/>
                <a:cs typeface="Tahoma"/>
              </a:rPr>
              <a:t>(1</a:t>
            </a:r>
            <a:r>
              <a:rPr lang="en-US" sz="20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illion)</a:t>
            </a:r>
            <a:r>
              <a:rPr lang="en-US" sz="2000" spc="-5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90" dirty="0">
                <a:solidFill>
                  <a:prstClr val="black"/>
                </a:solidFill>
                <a:latin typeface="Tahoma"/>
                <a:cs typeface="Tahoma"/>
              </a:rPr>
              <a:t>&lt;</a:t>
            </a:r>
            <a:r>
              <a:rPr lang="en-US" sz="20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60" dirty="0">
                <a:solidFill>
                  <a:prstClr val="black"/>
                </a:solidFill>
                <a:latin typeface="Tahoma"/>
                <a:cs typeface="Tahoma"/>
              </a:rPr>
              <a:t>40].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241300" marR="599440" indent="-228600">
              <a:spcBef>
                <a:spcPts val="995"/>
              </a:spcBef>
              <a:buFont typeface="Wingdings"/>
              <a:buChar char=""/>
              <a:tabLst>
                <a:tab pos="241300" algn="l"/>
              </a:tabLst>
            </a:pPr>
            <a:r>
              <a:rPr lang="en-US" sz="2200" b="1" dirty="0">
                <a:solidFill>
                  <a:prstClr val="black"/>
                </a:solidFill>
                <a:latin typeface="Arial"/>
                <a:cs typeface="Arial"/>
              </a:rPr>
              <a:t>Abstract Data</a:t>
            </a:r>
            <a:r>
              <a:rPr lang="en-US" sz="2200" b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z="2200" b="1" spc="-35" dirty="0">
                <a:solidFill>
                  <a:prstClr val="black"/>
                </a:solidFill>
                <a:latin typeface="Arial"/>
                <a:cs typeface="Arial"/>
              </a:rPr>
              <a:t>Types</a:t>
            </a:r>
            <a:r>
              <a:rPr lang="en-US" sz="22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z="2200" spc="25" dirty="0">
                <a:solidFill>
                  <a:prstClr val="black"/>
                </a:solidFill>
                <a:latin typeface="Tahoma"/>
                <a:cs typeface="Tahoma"/>
              </a:rPr>
              <a:t>are</a:t>
            </a:r>
            <a:r>
              <a:rPr lang="en-US" sz="22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65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lang="en-US" sz="22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10" dirty="0">
                <a:solidFill>
                  <a:prstClr val="black"/>
                </a:solidFill>
                <a:latin typeface="Tahoma"/>
                <a:cs typeface="Tahoma"/>
              </a:rPr>
              <a:t>way</a:t>
            </a:r>
            <a:r>
              <a:rPr lang="en-US" sz="22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50" dirty="0">
                <a:solidFill>
                  <a:prstClr val="black"/>
                </a:solidFill>
                <a:latin typeface="Tahoma"/>
                <a:cs typeface="Tahoma"/>
              </a:rPr>
              <a:t>to</a:t>
            </a:r>
            <a:r>
              <a:rPr lang="en-US" sz="22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i="1" dirty="0">
                <a:solidFill>
                  <a:prstClr val="black"/>
                </a:solidFill>
                <a:latin typeface="Arial"/>
                <a:cs typeface="Arial"/>
              </a:rPr>
              <a:t>encapsulate and hide</a:t>
            </a:r>
            <a:r>
              <a:rPr lang="en-US" sz="2200" i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z="2200" i="1" dirty="0">
                <a:solidFill>
                  <a:prstClr val="black"/>
                </a:solidFill>
                <a:latin typeface="Arial"/>
                <a:cs typeface="Arial"/>
              </a:rPr>
              <a:t>the </a:t>
            </a:r>
            <a:r>
              <a:rPr lang="en-US" sz="2200" i="1" spc="-59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z="2200" i="1" dirty="0">
                <a:solidFill>
                  <a:prstClr val="black"/>
                </a:solidFill>
                <a:latin typeface="Arial"/>
                <a:cs typeface="Arial"/>
              </a:rPr>
              <a:t>implementation of a </a:t>
            </a:r>
            <a:r>
              <a:rPr lang="en-US" sz="2200" spc="5" dirty="0">
                <a:solidFill>
                  <a:prstClr val="black"/>
                </a:solidFill>
                <a:latin typeface="Tahoma"/>
                <a:cs typeface="Tahoma"/>
              </a:rPr>
              <a:t>data </a:t>
            </a:r>
            <a:r>
              <a:rPr lang="en-US" sz="2200" spc="-15" dirty="0">
                <a:solidFill>
                  <a:prstClr val="black"/>
                </a:solidFill>
                <a:latin typeface="Tahoma"/>
                <a:cs typeface="Tahoma"/>
              </a:rPr>
              <a:t>structure, </a:t>
            </a:r>
            <a:r>
              <a:rPr lang="en-US" sz="2200" spc="-5" dirty="0">
                <a:solidFill>
                  <a:prstClr val="black"/>
                </a:solidFill>
                <a:latin typeface="Tahoma"/>
                <a:cs typeface="Tahoma"/>
              </a:rPr>
              <a:t>while </a:t>
            </a:r>
            <a:r>
              <a:rPr lang="en-US" sz="2200" spc="5" dirty="0">
                <a:solidFill>
                  <a:prstClr val="black"/>
                </a:solidFill>
                <a:latin typeface="Tahoma"/>
                <a:cs typeface="Tahoma"/>
              </a:rPr>
              <a:t>presenting </a:t>
            </a:r>
            <a:r>
              <a:rPr lang="en-US" sz="2200" spc="70" dirty="0">
                <a:solidFill>
                  <a:prstClr val="black"/>
                </a:solidFill>
                <a:latin typeface="Tahoma"/>
                <a:cs typeface="Tahoma"/>
              </a:rPr>
              <a:t>a </a:t>
            </a:r>
            <a:r>
              <a:rPr lang="en-US" sz="2200" spc="40" dirty="0">
                <a:solidFill>
                  <a:prstClr val="black"/>
                </a:solidFill>
                <a:latin typeface="Tahoma"/>
                <a:cs typeface="Tahoma"/>
              </a:rPr>
              <a:t>clean </a:t>
            </a:r>
            <a:r>
              <a:rPr lang="en-US" sz="2200" spc="-6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ahoma"/>
                <a:cs typeface="Tahoma"/>
              </a:rPr>
              <a:t>interface</a:t>
            </a:r>
            <a:r>
              <a:rPr lang="en-US" sz="2200" spc="-8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50" dirty="0">
                <a:solidFill>
                  <a:prstClr val="black"/>
                </a:solidFill>
                <a:latin typeface="Tahoma"/>
                <a:cs typeface="Tahoma"/>
              </a:rPr>
              <a:t>to</a:t>
            </a:r>
            <a:r>
              <a:rPr lang="en-US" sz="2200" spc="-7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spc="-20" dirty="0">
                <a:solidFill>
                  <a:prstClr val="black"/>
                </a:solidFill>
                <a:latin typeface="Tahoma"/>
                <a:cs typeface="Tahoma"/>
              </a:rPr>
              <a:t>other</a:t>
            </a:r>
            <a:r>
              <a:rPr lang="en-US" sz="2200" spc="-8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ahoma"/>
                <a:cs typeface="Tahoma"/>
              </a:rPr>
              <a:t>programmers.</a:t>
            </a:r>
          </a:p>
          <a:p>
            <a:pPr marL="241300" indent="-228600" fontAlgn="auto">
              <a:spcBef>
                <a:spcPts val="735"/>
              </a:spcBef>
              <a:spcAft>
                <a:spcPts val="0"/>
              </a:spcAft>
              <a:buFont typeface="Wingdings"/>
              <a:buChar char=""/>
              <a:tabLst>
                <a:tab pos="241300" algn="l"/>
              </a:tabLst>
            </a:pPr>
            <a:r>
              <a:rPr lang="en-US" sz="2200" b="1" dirty="0">
                <a:solidFill>
                  <a:prstClr val="black"/>
                </a:solidFill>
                <a:latin typeface="Arial"/>
                <a:cs typeface="Arial"/>
              </a:rPr>
              <a:t>Data</a:t>
            </a:r>
            <a:r>
              <a:rPr lang="en-US" sz="2200" b="1" spc="-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z="2200" b="1" dirty="0">
                <a:solidFill>
                  <a:prstClr val="black"/>
                </a:solidFill>
                <a:latin typeface="Arial"/>
                <a:cs typeface="Arial"/>
              </a:rPr>
              <a:t>structuring</a:t>
            </a:r>
            <a:r>
              <a:rPr lang="en-US" sz="2200" b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z="2200" b="1" dirty="0">
                <a:solidFill>
                  <a:prstClr val="black"/>
                </a:solidFill>
                <a:latin typeface="Arial"/>
                <a:cs typeface="Arial"/>
              </a:rPr>
              <a:t>principles:</a:t>
            </a:r>
            <a:endParaRPr lang="en-US" sz="22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698500" lvl="1" indent="-228600" fontAlgn="auto">
              <a:spcBef>
                <a:spcPts val="265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Ordering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lvl="1" indent="-228600" fontAlgn="auto">
              <a:spcBef>
                <a:spcPts val="260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10" dirty="0">
                <a:solidFill>
                  <a:prstClr val="black"/>
                </a:solidFill>
                <a:latin typeface="Tahoma"/>
                <a:cs typeface="Tahoma"/>
              </a:rPr>
              <a:t>Linking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pPr marL="698500" lvl="1" indent="-228600" fontAlgn="auto">
              <a:spcBef>
                <a:spcPts val="259"/>
              </a:spcBef>
              <a:spcAft>
                <a:spcPts val="0"/>
              </a:spcAft>
              <a:buSzPct val="60000"/>
              <a:buFontTx/>
              <a:buChar char="►"/>
              <a:tabLst>
                <a:tab pos="698500" algn="l"/>
              </a:tabLst>
            </a:pPr>
            <a:r>
              <a:rPr lang="en-US" sz="2000" spc="15" dirty="0">
                <a:solidFill>
                  <a:prstClr val="black"/>
                </a:solidFill>
                <a:latin typeface="Tahoma"/>
                <a:cs typeface="Tahoma"/>
              </a:rPr>
              <a:t>(Balanced)</a:t>
            </a:r>
            <a:r>
              <a:rPr lang="en-US" sz="2000" spc="-9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2000" spc="-20" dirty="0">
                <a:solidFill>
                  <a:prstClr val="black"/>
                </a:solidFill>
                <a:latin typeface="Tahoma"/>
                <a:cs typeface="Tahoma"/>
              </a:rPr>
              <a:t>partitioning</a:t>
            </a:r>
            <a:endParaRPr lang="en-US" sz="2000" dirty="0">
              <a:solidFill>
                <a:prstClr val="black"/>
              </a:solidFill>
              <a:latin typeface="Tahoma"/>
              <a:cs typeface="Tahoma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84991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Oval 2"/>
          <p:cNvSpPr>
            <a:spLocks noChangeArrowheads="1"/>
          </p:cNvSpPr>
          <p:nvPr/>
        </p:nvSpPr>
        <p:spPr bwMode="auto">
          <a:xfrm>
            <a:off x="5099050" y="5584825"/>
            <a:ext cx="1341437" cy="663575"/>
          </a:xfrm>
          <a:prstGeom prst="ellipse">
            <a:avLst/>
          </a:prstGeom>
          <a:solidFill>
            <a:srgbClr val="FFC000"/>
          </a:solidFill>
          <a:ln w="12699">
            <a:solidFill>
              <a:srgbClr val="FFCC66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733425" y="920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 dirty="0"/>
              <a:t>C++  Data Types</a:t>
            </a:r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H="1">
            <a:off x="2333625" y="1006475"/>
            <a:ext cx="1065212" cy="12954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3" name="Line 5"/>
          <p:cNvSpPr>
            <a:spLocks noChangeShapeType="1"/>
          </p:cNvSpPr>
          <p:nvPr/>
        </p:nvSpPr>
        <p:spPr bwMode="auto">
          <a:xfrm>
            <a:off x="4389437" y="930275"/>
            <a:ext cx="1601788" cy="39624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4" name="Line 6"/>
          <p:cNvSpPr>
            <a:spLocks noChangeShapeType="1"/>
          </p:cNvSpPr>
          <p:nvPr/>
        </p:nvSpPr>
        <p:spPr bwMode="auto">
          <a:xfrm>
            <a:off x="5380037" y="854075"/>
            <a:ext cx="1951038" cy="20574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5" name="Rectangle 7"/>
          <p:cNvSpPr>
            <a:spLocks noChangeArrowheads="1"/>
          </p:cNvSpPr>
          <p:nvPr/>
        </p:nvSpPr>
        <p:spPr bwMode="auto">
          <a:xfrm>
            <a:off x="6781800" y="2819400"/>
            <a:ext cx="1725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CC0000"/>
                </a:solidFill>
              </a:rPr>
              <a:t>Structured</a:t>
            </a:r>
          </a:p>
        </p:txBody>
      </p:sp>
      <p:sp>
        <p:nvSpPr>
          <p:cNvPr id="12296" name="Rectangle 8"/>
          <p:cNvSpPr>
            <a:spLocks noChangeArrowheads="1"/>
          </p:cNvSpPr>
          <p:nvPr/>
        </p:nvSpPr>
        <p:spPr bwMode="auto">
          <a:xfrm>
            <a:off x="5640387" y="3551238"/>
            <a:ext cx="812723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FFC000"/>
                </a:solidFill>
              </a:rPr>
              <a:t>array</a:t>
            </a:r>
          </a:p>
        </p:txBody>
      </p:sp>
      <p:sp>
        <p:nvSpPr>
          <p:cNvPr id="12297" name="Line 9"/>
          <p:cNvSpPr>
            <a:spLocks noChangeShapeType="1"/>
          </p:cNvSpPr>
          <p:nvPr/>
        </p:nvSpPr>
        <p:spPr bwMode="auto">
          <a:xfrm>
            <a:off x="7864475" y="3216275"/>
            <a:ext cx="685800" cy="3048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8" name="Line 10"/>
          <p:cNvSpPr>
            <a:spLocks noChangeShapeType="1"/>
          </p:cNvSpPr>
          <p:nvPr/>
        </p:nvSpPr>
        <p:spPr bwMode="auto">
          <a:xfrm>
            <a:off x="7635875" y="3216275"/>
            <a:ext cx="152400" cy="3048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9" name="Line 11"/>
          <p:cNvSpPr>
            <a:spLocks noChangeShapeType="1"/>
          </p:cNvSpPr>
          <p:nvPr/>
        </p:nvSpPr>
        <p:spPr bwMode="auto">
          <a:xfrm flipH="1">
            <a:off x="6950075" y="3216275"/>
            <a:ext cx="381000" cy="3810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0" name="Line 12"/>
          <p:cNvSpPr>
            <a:spLocks noChangeShapeType="1"/>
          </p:cNvSpPr>
          <p:nvPr/>
        </p:nvSpPr>
        <p:spPr bwMode="auto">
          <a:xfrm flipH="1">
            <a:off x="6188075" y="3216275"/>
            <a:ext cx="685800" cy="3048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2301" name="Group 17"/>
          <p:cNvGrpSpPr>
            <a:grpSpLocks/>
          </p:cNvGrpSpPr>
          <p:nvPr/>
        </p:nvGrpSpPr>
        <p:grpSpPr bwMode="auto">
          <a:xfrm>
            <a:off x="5289550" y="4876800"/>
            <a:ext cx="2401887" cy="1182688"/>
            <a:chOff x="3351" y="3398"/>
            <a:chExt cx="1513" cy="745"/>
          </a:xfrm>
        </p:grpSpPr>
        <p:sp>
          <p:nvSpPr>
            <p:cNvPr id="12317" name="Rectangle 13"/>
            <p:cNvSpPr>
              <a:spLocks noChangeArrowheads="1"/>
            </p:cNvSpPr>
            <p:nvPr/>
          </p:nvSpPr>
          <p:spPr bwMode="auto">
            <a:xfrm>
              <a:off x="3591" y="3398"/>
              <a:ext cx="9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solidFill>
                    <a:srgbClr val="CC0000"/>
                  </a:solidFill>
                </a:rPr>
                <a:t> Address</a:t>
              </a:r>
            </a:p>
          </p:txBody>
        </p:sp>
        <p:sp>
          <p:nvSpPr>
            <p:cNvPr id="12318" name="Line 14"/>
            <p:cNvSpPr>
              <a:spLocks noChangeShapeType="1"/>
            </p:cNvSpPr>
            <p:nvPr/>
          </p:nvSpPr>
          <p:spPr bwMode="auto">
            <a:xfrm flipH="1">
              <a:off x="3553" y="3648"/>
              <a:ext cx="288" cy="336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9" name="Line 15"/>
            <p:cNvSpPr>
              <a:spLocks noChangeShapeType="1"/>
            </p:cNvSpPr>
            <p:nvPr/>
          </p:nvSpPr>
          <p:spPr bwMode="auto">
            <a:xfrm>
              <a:off x="4177" y="3648"/>
              <a:ext cx="336" cy="288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0" name="Rectangle 16"/>
            <p:cNvSpPr>
              <a:spLocks noChangeArrowheads="1"/>
            </p:cNvSpPr>
            <p:nvPr/>
          </p:nvSpPr>
          <p:spPr bwMode="auto">
            <a:xfrm>
              <a:off x="3351" y="3955"/>
              <a:ext cx="1513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b="1">
                  <a:solidFill>
                    <a:srgbClr val="008080"/>
                  </a:solidFill>
                </a:rPr>
                <a:t>pointer </a:t>
              </a:r>
              <a:r>
                <a:rPr lang="en-US" altLang="en-US" sz="2000" b="1"/>
                <a:t>                 reference</a:t>
              </a:r>
            </a:p>
          </p:txBody>
        </p:sp>
      </p:grpSp>
      <p:sp>
        <p:nvSpPr>
          <p:cNvPr id="12302" name="Rectangle 18"/>
          <p:cNvSpPr>
            <a:spLocks noChangeArrowheads="1"/>
          </p:cNvSpPr>
          <p:nvPr/>
        </p:nvSpPr>
        <p:spPr bwMode="auto">
          <a:xfrm>
            <a:off x="1708150" y="2209800"/>
            <a:ext cx="1184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CC0000"/>
                </a:solidFill>
              </a:rPr>
              <a:t>Simple</a:t>
            </a:r>
          </a:p>
        </p:txBody>
      </p:sp>
      <p:sp>
        <p:nvSpPr>
          <p:cNvPr id="12303" name="Line 19"/>
          <p:cNvSpPr>
            <a:spLocks noChangeShapeType="1"/>
          </p:cNvSpPr>
          <p:nvPr/>
        </p:nvSpPr>
        <p:spPr bwMode="auto">
          <a:xfrm flipH="1">
            <a:off x="1190625" y="2606675"/>
            <a:ext cx="762000" cy="6858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4" name="Line 20"/>
          <p:cNvSpPr>
            <a:spLocks noChangeShapeType="1"/>
          </p:cNvSpPr>
          <p:nvPr/>
        </p:nvSpPr>
        <p:spPr bwMode="auto">
          <a:xfrm>
            <a:off x="2562225" y="2606675"/>
            <a:ext cx="1447800" cy="6858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5" name="Rectangle 21"/>
          <p:cNvSpPr>
            <a:spLocks noChangeArrowheads="1"/>
          </p:cNvSpPr>
          <p:nvPr/>
        </p:nvSpPr>
        <p:spPr bwMode="auto">
          <a:xfrm>
            <a:off x="641350" y="3246438"/>
            <a:ext cx="1171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A50021"/>
                </a:solidFill>
              </a:rPr>
              <a:t> Integral</a:t>
            </a:r>
          </a:p>
        </p:txBody>
      </p:sp>
      <p:sp>
        <p:nvSpPr>
          <p:cNvPr id="12306" name="Rectangle 22"/>
          <p:cNvSpPr>
            <a:spLocks noChangeArrowheads="1"/>
          </p:cNvSpPr>
          <p:nvPr/>
        </p:nvSpPr>
        <p:spPr bwMode="auto">
          <a:xfrm>
            <a:off x="3689350" y="3246438"/>
            <a:ext cx="1171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A50021"/>
                </a:solidFill>
              </a:rPr>
              <a:t>Floating</a:t>
            </a:r>
          </a:p>
        </p:txBody>
      </p:sp>
      <p:sp>
        <p:nvSpPr>
          <p:cNvPr id="12307" name="Rectangle 23"/>
          <p:cNvSpPr>
            <a:spLocks noChangeArrowheads="1"/>
          </p:cNvSpPr>
          <p:nvPr/>
        </p:nvSpPr>
        <p:spPr bwMode="auto">
          <a:xfrm>
            <a:off x="-28575" y="4160838"/>
            <a:ext cx="1793761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FFC000"/>
                </a:solidFill>
              </a:rPr>
              <a:t>char </a:t>
            </a:r>
            <a:r>
              <a:rPr lang="en-US" altLang="en-US" sz="2000" b="1" dirty="0" err="1">
                <a:solidFill>
                  <a:srgbClr val="FFC000"/>
                </a:solidFill>
              </a:rPr>
              <a:t>int</a:t>
            </a:r>
            <a:r>
              <a:rPr lang="en-US" altLang="en-US" sz="2000" b="1" dirty="0">
                <a:solidFill>
                  <a:srgbClr val="FFC000"/>
                </a:solidFill>
              </a:rPr>
              <a:t>  long</a:t>
            </a:r>
          </a:p>
        </p:txBody>
      </p:sp>
      <p:sp>
        <p:nvSpPr>
          <p:cNvPr id="12308" name="Line 24"/>
          <p:cNvSpPr>
            <a:spLocks noChangeShapeType="1"/>
          </p:cNvSpPr>
          <p:nvPr/>
        </p:nvSpPr>
        <p:spPr bwMode="auto">
          <a:xfrm flipH="1">
            <a:off x="581025" y="3597275"/>
            <a:ext cx="381000" cy="6096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9" name="Line 25"/>
          <p:cNvSpPr>
            <a:spLocks noChangeShapeType="1"/>
          </p:cNvSpPr>
          <p:nvPr/>
        </p:nvSpPr>
        <p:spPr bwMode="auto">
          <a:xfrm flipH="1">
            <a:off x="1038225" y="3597275"/>
            <a:ext cx="76200" cy="6096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0" name="Line 26"/>
          <p:cNvSpPr>
            <a:spLocks noChangeShapeType="1"/>
          </p:cNvSpPr>
          <p:nvPr/>
        </p:nvSpPr>
        <p:spPr bwMode="auto">
          <a:xfrm>
            <a:off x="1343025" y="3597275"/>
            <a:ext cx="304800" cy="6096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1" name="Line 27"/>
          <p:cNvSpPr>
            <a:spLocks noChangeShapeType="1"/>
          </p:cNvSpPr>
          <p:nvPr/>
        </p:nvSpPr>
        <p:spPr bwMode="auto">
          <a:xfrm>
            <a:off x="1571625" y="3597275"/>
            <a:ext cx="685800" cy="6096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2" name="Rectangle 28"/>
          <p:cNvSpPr>
            <a:spLocks noChangeArrowheads="1"/>
          </p:cNvSpPr>
          <p:nvPr/>
        </p:nvSpPr>
        <p:spPr bwMode="auto">
          <a:xfrm>
            <a:off x="2241550" y="5075238"/>
            <a:ext cx="2605087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FFC000"/>
                </a:solidFill>
              </a:rPr>
              <a:t>float        double   long double</a:t>
            </a:r>
          </a:p>
        </p:txBody>
      </p:sp>
      <p:sp>
        <p:nvSpPr>
          <p:cNvPr id="12313" name="Line 29"/>
          <p:cNvSpPr>
            <a:spLocks noChangeShapeType="1"/>
          </p:cNvSpPr>
          <p:nvPr/>
        </p:nvSpPr>
        <p:spPr bwMode="auto">
          <a:xfrm flipH="1">
            <a:off x="2790825" y="3597275"/>
            <a:ext cx="1524000" cy="15240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4" name="Line 30"/>
          <p:cNvSpPr>
            <a:spLocks noChangeShapeType="1"/>
          </p:cNvSpPr>
          <p:nvPr/>
        </p:nvSpPr>
        <p:spPr bwMode="auto">
          <a:xfrm>
            <a:off x="4467225" y="3597275"/>
            <a:ext cx="152400" cy="15240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5" name="Line 31"/>
          <p:cNvSpPr>
            <a:spLocks noChangeShapeType="1"/>
          </p:cNvSpPr>
          <p:nvPr/>
        </p:nvSpPr>
        <p:spPr bwMode="auto">
          <a:xfrm flipH="1">
            <a:off x="3476625" y="3597275"/>
            <a:ext cx="914400" cy="15240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6" name="Line 32"/>
          <p:cNvSpPr>
            <a:spLocks noChangeShapeType="1"/>
          </p:cNvSpPr>
          <p:nvPr/>
        </p:nvSpPr>
        <p:spPr bwMode="auto">
          <a:xfrm>
            <a:off x="1724025" y="3597275"/>
            <a:ext cx="1219200" cy="5334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7488237" y="3551238"/>
            <a:ext cx="7617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FFC000"/>
                </a:solidFill>
              </a:rPr>
              <a:t>class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568891" y="3604156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 err="1">
                <a:solidFill>
                  <a:srgbClr val="FFC000"/>
                </a:solidFill>
              </a:rPr>
              <a:t>struct</a:t>
            </a:r>
            <a:endParaRPr lang="en-US" altLang="en-US" b="1" dirty="0">
              <a:solidFill>
                <a:srgbClr val="FFC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43634" y="4179814"/>
            <a:ext cx="7617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FFC000"/>
                </a:solidFill>
              </a:rPr>
              <a:t>short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796990" y="4174610"/>
            <a:ext cx="800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 err="1">
                <a:solidFill>
                  <a:srgbClr val="FFC000"/>
                </a:solidFill>
              </a:rPr>
              <a:t>enum</a:t>
            </a:r>
            <a:endParaRPr lang="en-US" altLang="en-US" b="1" dirty="0">
              <a:solidFill>
                <a:srgbClr val="FFC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09033" y="3532743"/>
            <a:ext cx="8130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FFC000"/>
                </a:solidFill>
              </a:rPr>
              <a:t>union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9123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  Pointers and the Address Operator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4958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Each  variable in a program is stored at a unique location in memory that has an address</a:t>
            </a:r>
          </a:p>
          <a:p>
            <a:pPr eaLnBrk="1" hangingPunct="1"/>
            <a:r>
              <a:rPr lang="en-US" altLang="en-US" sz="2800" dirty="0"/>
              <a:t>Use the address operator </a:t>
            </a:r>
            <a:r>
              <a:rPr lang="en-US" altLang="en-US" sz="2800" b="1" dirty="0">
                <a:latin typeface="Courier New" panose="02070309020205020404" pitchFamily="49" charset="0"/>
              </a:rPr>
              <a:t>&amp;</a:t>
            </a:r>
            <a:r>
              <a:rPr lang="en-US" altLang="en-US" sz="2800" dirty="0"/>
              <a:t> to get the address of a variable: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	</a:t>
            </a:r>
            <a:r>
              <a:rPr lang="en-US" altLang="en-US" sz="24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4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num</a:t>
            </a: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</a:rPr>
              <a:t> = -23;</a:t>
            </a:r>
          </a:p>
          <a:p>
            <a:pPr lvl="1" eaLnBrk="1" hangingPunct="1"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	</a:t>
            </a:r>
            <a:r>
              <a:rPr lang="en-US" altLang="en-US" sz="24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cout</a:t>
            </a: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</a:rPr>
              <a:t> &lt;&lt; &amp;</a:t>
            </a:r>
            <a:r>
              <a:rPr lang="en-US" altLang="en-US" sz="24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num</a:t>
            </a: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</a:rPr>
              <a:t>; // prints address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					</a:t>
            </a: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</a:rPr>
              <a:t>// in hexadecimal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en-US" sz="2800" dirty="0"/>
              <a:t>The address of a memory location is a </a:t>
            </a:r>
            <a:r>
              <a:rPr lang="en-US" altLang="en-US" sz="2800" dirty="0">
                <a:solidFill>
                  <a:schemeClr val="accent2"/>
                </a:solidFill>
              </a:rPr>
              <a:t>pointer</a:t>
            </a:r>
          </a:p>
        </p:txBody>
      </p:sp>
    </p:spTree>
    <p:extLst>
      <p:ext uri="{BB962C8B-B14F-4D97-AF65-F5344CB8AC3E}">
        <p14:creationId xmlns:p14="http://schemas.microsoft.com/office/powerpoint/2010/main" val="35743387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             Pointer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2"/>
                </a:solidFill>
              </a:rPr>
              <a:t>Pointer variable</a:t>
            </a:r>
            <a:r>
              <a:rPr lang="en-US" altLang="en-US" dirty="0"/>
              <a:t> (</a:t>
            </a:r>
            <a:r>
              <a:rPr lang="en-US" altLang="en-US" dirty="0">
                <a:solidFill>
                  <a:schemeClr val="accent2"/>
                </a:solidFill>
              </a:rPr>
              <a:t>pointer</a:t>
            </a:r>
            <a:r>
              <a:rPr lang="en-US" altLang="en-US" dirty="0"/>
              <a:t>): a variable that holds an address</a:t>
            </a:r>
          </a:p>
          <a:p>
            <a:r>
              <a:rPr lang="en-US" altLang="en-US" dirty="0"/>
              <a:t>Pointers provide an alternate way to access memory locations</a:t>
            </a:r>
          </a:p>
          <a:p>
            <a:endParaRPr lang="en-US" dirty="0"/>
          </a:p>
        </p:txBody>
      </p:sp>
      <p:pic>
        <p:nvPicPr>
          <p:cNvPr id="16388" name="Picture 6" descr="BD05378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03547"/>
            <a:ext cx="1219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51254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Pointer Variables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Definition:</a:t>
            </a:r>
          </a:p>
          <a:p>
            <a:pPr lvl="1">
              <a:spcBef>
                <a:spcPct val="0"/>
              </a:spcBef>
              <a:buNone/>
              <a:defRPr/>
            </a:pPr>
            <a:r>
              <a:rPr lang="en-US" dirty="0"/>
              <a:t>	</a:t>
            </a:r>
            <a:r>
              <a:rPr lang="en-US" sz="2400" b="1" dirty="0" err="1">
                <a:solidFill>
                  <a:srgbClr val="3D8963"/>
                </a:solidFill>
                <a:latin typeface="Courier New" pitchFamily="49" charset="0"/>
              </a:rPr>
              <a:t>int</a:t>
            </a:r>
            <a:r>
              <a:rPr lang="en-US" sz="2400" b="1" dirty="0">
                <a:solidFill>
                  <a:srgbClr val="3D8963"/>
                </a:solidFill>
                <a:latin typeface="Courier New" pitchFamily="49" charset="0"/>
              </a:rPr>
              <a:t>  *</a:t>
            </a:r>
            <a:r>
              <a:rPr lang="en-US" sz="2400" b="1" dirty="0" err="1">
                <a:solidFill>
                  <a:srgbClr val="3D8963"/>
                </a:solidFill>
                <a:latin typeface="Courier New" pitchFamily="49" charset="0"/>
              </a:rPr>
              <a:t>intptr</a:t>
            </a:r>
            <a:r>
              <a:rPr lang="en-US" sz="2400" b="1" dirty="0">
                <a:solidFill>
                  <a:srgbClr val="3D8963"/>
                </a:solidFill>
                <a:latin typeface="Courier New" pitchFamily="49" charset="0"/>
              </a:rPr>
              <a:t>;</a:t>
            </a:r>
          </a:p>
          <a:p>
            <a:pPr>
              <a:spcBef>
                <a:spcPct val="40000"/>
              </a:spcBef>
              <a:defRPr/>
            </a:pPr>
            <a:r>
              <a:rPr lang="en-US" sz="2800" dirty="0"/>
              <a:t>Read as:</a:t>
            </a:r>
          </a:p>
          <a:p>
            <a:pPr>
              <a:spcBef>
                <a:spcPct val="0"/>
              </a:spcBef>
              <a:buNone/>
              <a:defRPr/>
            </a:pPr>
            <a:r>
              <a:rPr lang="en-US" sz="2800" dirty="0"/>
              <a:t>	“</a:t>
            </a:r>
            <a:r>
              <a:rPr lang="en-US" sz="2800" b="1" dirty="0" err="1">
                <a:latin typeface="Courier New" pitchFamily="49" charset="0"/>
              </a:rPr>
              <a:t>intptr</a:t>
            </a:r>
            <a:r>
              <a:rPr lang="en-US" sz="2800" dirty="0"/>
              <a:t> is a pointer variable of type </a:t>
            </a:r>
            <a:r>
              <a:rPr lang="en-US" sz="2800" dirty="0" err="1"/>
              <a:t>int</a:t>
            </a:r>
            <a:r>
              <a:rPr lang="en-US" sz="2800" dirty="0"/>
              <a:t>” or “the variable that </a:t>
            </a: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intptr</a:t>
            </a:r>
            <a:r>
              <a:rPr lang="en-US" sz="2800" dirty="0">
                <a:cs typeface="Courier New" pitchFamily="49" charset="0"/>
              </a:rPr>
              <a:t> points to has type </a:t>
            </a:r>
            <a:r>
              <a:rPr lang="en-US" sz="2800" dirty="0" err="1">
                <a:cs typeface="Courier New" pitchFamily="49" charset="0"/>
              </a:rPr>
              <a:t>int</a:t>
            </a:r>
            <a:r>
              <a:rPr lang="en-US" sz="2800" dirty="0">
                <a:cs typeface="Courier New" pitchFamily="49" charset="0"/>
              </a:rPr>
              <a:t>”</a:t>
            </a:r>
            <a:endParaRPr lang="en-US" sz="2800" dirty="0"/>
          </a:p>
          <a:p>
            <a:pPr>
              <a:spcBef>
                <a:spcPct val="40000"/>
              </a:spcBef>
              <a:defRPr/>
            </a:pPr>
            <a:r>
              <a:rPr lang="en-US" sz="2800" dirty="0"/>
              <a:t>The spacing in the definition does not matter:</a:t>
            </a:r>
          </a:p>
          <a:p>
            <a:pPr lvl="1">
              <a:spcBef>
                <a:spcPct val="0"/>
              </a:spcBef>
              <a:buNone/>
              <a:defRPr/>
            </a:pPr>
            <a:r>
              <a:rPr lang="en-US" dirty="0"/>
              <a:t>	</a:t>
            </a:r>
            <a:r>
              <a:rPr lang="en-US" sz="2400" b="1" dirty="0" err="1">
                <a:solidFill>
                  <a:srgbClr val="3D8963"/>
                </a:solidFill>
                <a:latin typeface="Courier New" pitchFamily="49" charset="0"/>
              </a:rPr>
              <a:t>int</a:t>
            </a:r>
            <a:r>
              <a:rPr lang="en-US" sz="2400" b="1" dirty="0">
                <a:solidFill>
                  <a:srgbClr val="3D8963"/>
                </a:solidFill>
                <a:latin typeface="Courier New" pitchFamily="49" charset="0"/>
              </a:rPr>
              <a:t> * </a:t>
            </a:r>
            <a:r>
              <a:rPr lang="en-US" sz="2400" b="1" dirty="0" err="1">
                <a:solidFill>
                  <a:srgbClr val="3D8963"/>
                </a:solidFill>
                <a:latin typeface="Courier New" pitchFamily="49" charset="0"/>
              </a:rPr>
              <a:t>intptr</a:t>
            </a:r>
            <a:r>
              <a:rPr lang="en-US" sz="2400" b="1" dirty="0">
                <a:solidFill>
                  <a:srgbClr val="3D8963"/>
                </a:solidFill>
                <a:latin typeface="Courier New" pitchFamily="49" charset="0"/>
              </a:rPr>
              <a:t>;</a:t>
            </a:r>
          </a:p>
          <a:p>
            <a:pPr lvl="1">
              <a:spcBef>
                <a:spcPct val="0"/>
              </a:spcBef>
              <a:buNone/>
              <a:defRPr/>
            </a:pPr>
            <a:r>
              <a:rPr lang="en-US" sz="2400" b="1" dirty="0">
                <a:solidFill>
                  <a:srgbClr val="3D8963"/>
                </a:solidFill>
                <a:latin typeface="Courier New" pitchFamily="49" charset="0"/>
              </a:rPr>
              <a:t>	</a:t>
            </a:r>
            <a:r>
              <a:rPr lang="en-US" sz="2400" b="1" dirty="0" err="1">
                <a:solidFill>
                  <a:srgbClr val="3D8963"/>
                </a:solidFill>
                <a:latin typeface="Courier New" pitchFamily="49" charset="0"/>
              </a:rPr>
              <a:t>int</a:t>
            </a:r>
            <a:r>
              <a:rPr lang="en-US" sz="2400" b="1" dirty="0">
                <a:solidFill>
                  <a:srgbClr val="3D8963"/>
                </a:solidFill>
                <a:latin typeface="Courier New" pitchFamily="49" charset="0"/>
              </a:rPr>
              <a:t>*  </a:t>
            </a:r>
            <a:r>
              <a:rPr lang="en-US" sz="2400" b="1" dirty="0" err="1">
                <a:solidFill>
                  <a:srgbClr val="3D8963"/>
                </a:solidFill>
                <a:latin typeface="Courier New" pitchFamily="49" charset="0"/>
              </a:rPr>
              <a:t>intptr</a:t>
            </a:r>
            <a:r>
              <a:rPr lang="en-US" sz="2400" b="1" dirty="0">
                <a:solidFill>
                  <a:srgbClr val="3D8963"/>
                </a:solidFill>
                <a:latin typeface="Courier New" pitchFamily="49" charset="0"/>
              </a:rPr>
              <a:t>;</a:t>
            </a:r>
            <a:endParaRPr lang="en-US" dirty="0"/>
          </a:p>
          <a:p>
            <a:pPr>
              <a:spcBef>
                <a:spcPct val="40000"/>
              </a:spcBef>
              <a:defRPr/>
            </a:pPr>
            <a:r>
              <a:rPr lang="en-US" sz="2800" b="1" dirty="0">
                <a:cs typeface="Courier New" pitchFamily="49" charset="0"/>
              </a:rPr>
              <a:t> 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800" b="1" dirty="0"/>
              <a:t>  </a:t>
            </a:r>
            <a:r>
              <a:rPr lang="en-US" sz="2800" dirty="0"/>
              <a:t>is called the </a:t>
            </a:r>
            <a:r>
              <a:rPr lang="en-US" sz="2800" dirty="0">
                <a:solidFill>
                  <a:schemeClr val="accent2"/>
                </a:solidFill>
              </a:rPr>
              <a:t>indirection operator</a:t>
            </a:r>
            <a:endParaRPr lang="en-US" sz="28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0165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Pointer Variables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Definition and assignment: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4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4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num</a:t>
            </a: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</a:rPr>
              <a:t> = 25;</a:t>
            </a:r>
          </a:p>
          <a:p>
            <a:pPr>
              <a:lnSpc>
                <a:spcPct val="75000"/>
              </a:lnSpc>
              <a:spcBef>
                <a:spcPct val="0"/>
              </a:spcBef>
              <a:buNone/>
            </a:pP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4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</a:rPr>
              <a:t> *</a:t>
            </a:r>
            <a:r>
              <a:rPr lang="en-US" altLang="en-US" sz="24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intptr</a:t>
            </a: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</a:rPr>
              <a:t>;	</a:t>
            </a:r>
          </a:p>
          <a:p>
            <a:pPr>
              <a:lnSpc>
                <a:spcPct val="75000"/>
              </a:lnSpc>
              <a:spcBef>
                <a:spcPct val="0"/>
              </a:spcBef>
              <a:buNone/>
            </a:pP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4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intptr</a:t>
            </a: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</a:rPr>
              <a:t> = &amp;</a:t>
            </a:r>
            <a:r>
              <a:rPr lang="en-US" altLang="en-US" sz="24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num</a:t>
            </a: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40000"/>
              </a:spcBef>
            </a:pPr>
            <a:r>
              <a:rPr lang="en-US" altLang="en-US" sz="2400" dirty="0"/>
              <a:t>Memory layout:</a:t>
            </a:r>
          </a:p>
          <a:p>
            <a:endParaRPr lang="en-US" altLang="en-US" dirty="0"/>
          </a:p>
          <a:p>
            <a:pPr>
              <a:spcBef>
                <a:spcPct val="0"/>
              </a:spcBef>
            </a:pPr>
            <a:r>
              <a:rPr lang="en-US" altLang="en-US" sz="2400" dirty="0"/>
              <a:t>You can access 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num</a:t>
            </a:r>
            <a:r>
              <a:rPr lang="en-US" altLang="en-US" sz="2400" dirty="0"/>
              <a:t> using 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intptr</a:t>
            </a:r>
            <a:r>
              <a:rPr lang="en-US" altLang="en-US" sz="2400" dirty="0"/>
              <a:t> and indirection operator</a:t>
            </a:r>
            <a:r>
              <a:rPr lang="en-US" altLang="en-US" sz="2400" dirty="0">
                <a:solidFill>
                  <a:schemeClr val="accent2"/>
                </a:solidFill>
              </a:rPr>
              <a:t> </a:t>
            </a:r>
            <a:r>
              <a:rPr lang="en-US" altLang="en-US" sz="2400" b="1" dirty="0">
                <a:latin typeface="Courier New" panose="02070309020205020404" pitchFamily="49" charset="0"/>
              </a:rPr>
              <a:t>*</a:t>
            </a:r>
            <a:r>
              <a:rPr lang="en-US" altLang="en-US" sz="2400" dirty="0"/>
              <a:t>: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b="1" dirty="0">
                <a:solidFill>
                  <a:srgbClr val="3D8963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4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cout</a:t>
            </a: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</a:rPr>
              <a:t> &lt;&lt; </a:t>
            </a:r>
            <a:r>
              <a:rPr lang="en-US" altLang="en-US" sz="24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intptr</a:t>
            </a: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</a:rPr>
              <a:t>;</a:t>
            </a:r>
            <a:r>
              <a:rPr lang="en-US" altLang="en-US" sz="2400" dirty="0">
                <a:solidFill>
                  <a:srgbClr val="3D8963"/>
                </a:solidFill>
                <a:latin typeface="Courier New" panose="02070309020205020404" pitchFamily="49" charset="0"/>
              </a:rPr>
              <a:t>  </a:t>
            </a: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</a:rPr>
              <a:t>// prints</a:t>
            </a:r>
            <a:r>
              <a:rPr lang="en-US" altLang="en-US" sz="2400" dirty="0">
                <a:solidFill>
                  <a:srgbClr val="3D8963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</a:rPr>
              <a:t>0x4a00</a:t>
            </a:r>
          </a:p>
          <a:p>
            <a:pPr>
              <a:lnSpc>
                <a:spcPct val="75000"/>
              </a:lnSpc>
              <a:spcBef>
                <a:spcPct val="0"/>
              </a:spcBef>
              <a:buNone/>
            </a:pP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4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cout</a:t>
            </a: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</a:rPr>
              <a:t> &lt;&lt; *</a:t>
            </a:r>
            <a:r>
              <a:rPr lang="en-US" altLang="en-US" sz="24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intptr</a:t>
            </a: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</a:rPr>
              <a:t>; // prints 25</a:t>
            </a:r>
          </a:p>
          <a:p>
            <a:pPr>
              <a:lnSpc>
                <a:spcPct val="75000"/>
              </a:lnSpc>
              <a:spcBef>
                <a:spcPct val="0"/>
              </a:spcBef>
              <a:buNone/>
            </a:pP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</a:rPr>
              <a:t> *</a:t>
            </a:r>
            <a:r>
              <a:rPr lang="en-US" altLang="en-US" sz="24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intptr</a:t>
            </a: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</a:rPr>
              <a:t> = 20;    // puts 20 in </a:t>
            </a:r>
            <a:r>
              <a:rPr lang="en-US" altLang="en-US" sz="24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num</a:t>
            </a:r>
            <a:r>
              <a:rPr lang="en-US" altLang="en-US" dirty="0"/>
              <a:t>     </a:t>
            </a:r>
          </a:p>
        </p:txBody>
      </p:sp>
      <p:grpSp>
        <p:nvGrpSpPr>
          <p:cNvPr id="20484" name="Group 13"/>
          <p:cNvGrpSpPr>
            <a:grpSpLocks/>
          </p:cNvGrpSpPr>
          <p:nvPr/>
        </p:nvGrpSpPr>
        <p:grpSpPr bwMode="auto">
          <a:xfrm>
            <a:off x="3124200" y="2743200"/>
            <a:ext cx="5308600" cy="1158875"/>
            <a:chOff x="1344" y="1872"/>
            <a:chExt cx="3344" cy="730"/>
          </a:xfrm>
        </p:grpSpPr>
        <p:sp>
          <p:nvSpPr>
            <p:cNvPr id="20485" name="Rectangle 4"/>
            <p:cNvSpPr>
              <a:spLocks noChangeArrowheads="1"/>
            </p:cNvSpPr>
            <p:nvPr/>
          </p:nvSpPr>
          <p:spPr bwMode="auto">
            <a:xfrm>
              <a:off x="2496" y="2112"/>
              <a:ext cx="67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0486" name="Rectangle 5"/>
            <p:cNvSpPr>
              <a:spLocks noChangeArrowheads="1"/>
            </p:cNvSpPr>
            <p:nvPr/>
          </p:nvSpPr>
          <p:spPr bwMode="auto">
            <a:xfrm>
              <a:off x="3984" y="2112"/>
              <a:ext cx="67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0487" name="Text Box 6"/>
            <p:cNvSpPr txBox="1">
              <a:spLocks noChangeArrowheads="1"/>
            </p:cNvSpPr>
            <p:nvPr/>
          </p:nvSpPr>
          <p:spPr bwMode="auto">
            <a:xfrm>
              <a:off x="2640" y="1872"/>
              <a:ext cx="4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 baseline="0">
                  <a:latin typeface="Courier New" panose="02070309020205020404" pitchFamily="49" charset="0"/>
                </a:rPr>
                <a:t>num</a:t>
              </a:r>
            </a:p>
          </p:txBody>
        </p:sp>
        <p:sp>
          <p:nvSpPr>
            <p:cNvPr id="20488" name="Text Box 7"/>
            <p:cNvSpPr txBox="1">
              <a:spLocks noChangeArrowheads="1"/>
            </p:cNvSpPr>
            <p:nvPr/>
          </p:nvSpPr>
          <p:spPr bwMode="auto">
            <a:xfrm>
              <a:off x="3936" y="1872"/>
              <a:ext cx="6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 baseline="0">
                  <a:latin typeface="Courier New" panose="02070309020205020404" pitchFamily="49" charset="0"/>
                </a:rPr>
                <a:t>intptr</a:t>
              </a:r>
            </a:p>
          </p:txBody>
        </p:sp>
        <p:sp>
          <p:nvSpPr>
            <p:cNvPr id="20489" name="Text Box 8"/>
            <p:cNvSpPr txBox="1">
              <a:spLocks noChangeArrowheads="1"/>
            </p:cNvSpPr>
            <p:nvPr/>
          </p:nvSpPr>
          <p:spPr bwMode="auto">
            <a:xfrm>
              <a:off x="2688" y="2112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 baseline="0">
                  <a:latin typeface="Courier New" panose="02070309020205020404" pitchFamily="49" charset="0"/>
                </a:rPr>
                <a:t>25</a:t>
              </a:r>
            </a:p>
          </p:txBody>
        </p:sp>
        <p:sp>
          <p:nvSpPr>
            <p:cNvPr id="20490" name="Text Box 9"/>
            <p:cNvSpPr txBox="1">
              <a:spLocks noChangeArrowheads="1"/>
            </p:cNvSpPr>
            <p:nvPr/>
          </p:nvSpPr>
          <p:spPr bwMode="auto">
            <a:xfrm>
              <a:off x="3936" y="2112"/>
              <a:ext cx="75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200" b="1" baseline="0">
                  <a:latin typeface="Courier New" panose="02070309020205020404" pitchFamily="49" charset="0"/>
                </a:rPr>
                <a:t>0x4a00</a:t>
              </a:r>
            </a:p>
          </p:txBody>
        </p:sp>
        <p:sp>
          <p:nvSpPr>
            <p:cNvPr id="20491" name="Line 10"/>
            <p:cNvSpPr>
              <a:spLocks noChangeShapeType="1"/>
            </p:cNvSpPr>
            <p:nvPr/>
          </p:nvSpPr>
          <p:spPr bwMode="auto">
            <a:xfrm flipH="1">
              <a:off x="3216" y="2256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2" name="Text Box 11"/>
            <p:cNvSpPr txBox="1">
              <a:spLocks noChangeArrowheads="1"/>
            </p:cNvSpPr>
            <p:nvPr/>
          </p:nvSpPr>
          <p:spPr bwMode="auto">
            <a:xfrm>
              <a:off x="1344" y="2352"/>
              <a:ext cx="19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 baseline="0"/>
                <a:t>address of </a:t>
              </a:r>
              <a:r>
                <a:rPr lang="en-US" altLang="en-US" sz="2000" b="1" baseline="0">
                  <a:latin typeface="Courier New" panose="02070309020205020404" pitchFamily="49" charset="0"/>
                </a:rPr>
                <a:t>num</a:t>
              </a:r>
              <a:r>
                <a:rPr lang="en-US" altLang="en-US" sz="2000" b="1" baseline="0"/>
                <a:t>: </a:t>
              </a:r>
              <a:r>
                <a:rPr lang="en-US" altLang="en-US" sz="2000" b="1" baseline="0">
                  <a:latin typeface="Courier New" panose="02070309020205020404" pitchFamily="49" charset="0"/>
                </a:rPr>
                <a:t>0x4a00</a:t>
              </a:r>
              <a:endParaRPr lang="en-US" altLang="en-US" sz="2000" b="1" baseline="0"/>
            </a:p>
          </p:txBody>
        </p:sp>
      </p:grpSp>
    </p:spTree>
    <p:extLst>
      <p:ext uri="{BB962C8B-B14F-4D97-AF65-F5344CB8AC3E}">
        <p14:creationId xmlns:p14="http://schemas.microsoft.com/office/powerpoint/2010/main" val="6720383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6997700" y="3759200"/>
            <a:ext cx="1549400" cy="566738"/>
          </a:xfrm>
          <a:prstGeom prst="rect">
            <a:avLst/>
          </a:prstGeom>
          <a:solidFill>
            <a:schemeClr val="accent1"/>
          </a:solidFill>
          <a:ln w="12699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 baseline="0">
              <a:solidFill>
                <a:srgbClr val="000000"/>
              </a:solidFill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0550" y="1752600"/>
            <a:ext cx="8267700" cy="4762500"/>
          </a:xfrm>
          <a:noFill/>
        </p:spPr>
        <p:txBody>
          <a:bodyPr lIns="92075" tIns="46038" rIns="92075" bIns="46038"/>
          <a:lstStyle/>
          <a:p>
            <a:pPr>
              <a:buFont typeface="Monotype Sorts" pitchFamily="2" charset="2"/>
              <a:buNone/>
            </a:pPr>
            <a:r>
              <a:rPr lang="en-US" altLang="en-US" sz="2800">
                <a:latin typeface="Courier New" panose="02070309020205020404" pitchFamily="49" charset="0"/>
              </a:rPr>
              <a:t> </a:t>
            </a:r>
            <a:r>
              <a:rPr lang="en-US" altLang="en-US" sz="2800" b="1">
                <a:latin typeface="Courier New" panose="02070309020205020404" pitchFamily="49" charset="0"/>
              </a:rPr>
              <a:t>char  ch;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ch =  ‘A’;</a:t>
            </a:r>
          </a:p>
          <a:p>
            <a:pPr>
              <a:buFont typeface="Monotype Sorts" pitchFamily="2" charset="2"/>
              <a:buNone/>
            </a:pPr>
            <a:endParaRPr lang="en-US" altLang="en-US" sz="1400" b="1">
              <a:latin typeface="Courier New" panose="020703090202050204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char*  q;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q  = &amp;ch;</a:t>
            </a:r>
            <a:r>
              <a:rPr lang="en-US" altLang="en-US" sz="1800"/>
              <a:t> </a:t>
            </a:r>
          </a:p>
          <a:p>
            <a:pPr>
              <a:buFont typeface="Monotype Sorts" pitchFamily="2" charset="2"/>
              <a:buNone/>
            </a:pPr>
            <a:endParaRPr lang="en-US" altLang="en-US" sz="1800"/>
          </a:p>
          <a:p>
            <a:pPr>
              <a:buFont typeface="Monotype Sorts" pitchFamily="2" charset="2"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*q = ‘Z’;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char*  p;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 p = q;   </a:t>
            </a:r>
            <a:r>
              <a:rPr lang="en-US" altLang="en-US" sz="2400" b="1">
                <a:solidFill>
                  <a:srgbClr val="A50021"/>
                </a:solidFill>
                <a:latin typeface="Courier New" panose="02070309020205020404" pitchFamily="49" charset="0"/>
              </a:rPr>
              <a:t>// the right side has value 4000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          </a:t>
            </a:r>
            <a:r>
              <a:rPr lang="en-US" altLang="en-US" sz="2400" b="1">
                <a:solidFill>
                  <a:srgbClr val="A50021"/>
                </a:solidFill>
                <a:latin typeface="Courier New" panose="02070309020205020404" pitchFamily="49" charset="0"/>
              </a:rPr>
              <a:t>// now p and q both point to ch</a:t>
            </a:r>
            <a:r>
              <a:rPr lang="en-US" altLang="en-US" sz="2800"/>
              <a:t> </a:t>
            </a:r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r>
              <a:rPr lang="en-US" altLang="en-US"/>
              <a:t>Another Example</a:t>
            </a:r>
          </a:p>
        </p:txBody>
      </p:sp>
      <p:sp>
        <p:nvSpPr>
          <p:cNvPr id="22533" name="Line 5"/>
          <p:cNvSpPr>
            <a:spLocks noChangeShapeType="1"/>
          </p:cNvSpPr>
          <p:nvPr/>
        </p:nvSpPr>
        <p:spPr bwMode="auto">
          <a:xfrm flipV="1">
            <a:off x="6477000" y="2381250"/>
            <a:ext cx="590550" cy="1524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2534" name="Group 9"/>
          <p:cNvGrpSpPr>
            <a:grpSpLocks/>
          </p:cNvGrpSpPr>
          <p:nvPr/>
        </p:nvGrpSpPr>
        <p:grpSpPr bwMode="auto">
          <a:xfrm>
            <a:off x="4959350" y="2189163"/>
            <a:ext cx="2578100" cy="2117725"/>
            <a:chOff x="3124" y="1379"/>
            <a:chExt cx="1624" cy="1334"/>
          </a:xfrm>
        </p:grpSpPr>
        <p:sp>
          <p:nvSpPr>
            <p:cNvPr id="22538" name="Rectangle 6"/>
            <p:cNvSpPr>
              <a:spLocks noChangeArrowheads="1"/>
            </p:cNvSpPr>
            <p:nvPr/>
          </p:nvSpPr>
          <p:spPr bwMode="auto">
            <a:xfrm>
              <a:off x="4012" y="1379"/>
              <a:ext cx="736" cy="357"/>
            </a:xfrm>
            <a:prstGeom prst="rect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 baseline="0">
                <a:solidFill>
                  <a:srgbClr val="000000"/>
                </a:solidFill>
              </a:endParaRPr>
            </a:p>
          </p:txBody>
        </p:sp>
        <p:sp>
          <p:nvSpPr>
            <p:cNvPr id="22539" name="Rectangle 7"/>
            <p:cNvSpPr>
              <a:spLocks noChangeArrowheads="1"/>
            </p:cNvSpPr>
            <p:nvPr/>
          </p:nvSpPr>
          <p:spPr bwMode="auto">
            <a:xfrm>
              <a:off x="3124" y="2356"/>
              <a:ext cx="976" cy="357"/>
            </a:xfrm>
            <a:prstGeom prst="rect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 baseline="0">
                <a:solidFill>
                  <a:srgbClr val="000000"/>
                </a:solidFill>
              </a:endParaRPr>
            </a:p>
          </p:txBody>
        </p:sp>
        <p:sp>
          <p:nvSpPr>
            <p:cNvPr id="22540" name="Line 8"/>
            <p:cNvSpPr>
              <a:spLocks noChangeShapeType="1"/>
            </p:cNvSpPr>
            <p:nvPr/>
          </p:nvSpPr>
          <p:spPr bwMode="auto">
            <a:xfrm flipV="1">
              <a:off x="3480" y="1560"/>
              <a:ext cx="528" cy="864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535" name="Rectangle 10"/>
          <p:cNvSpPr>
            <a:spLocks noChangeArrowheads="1"/>
          </p:cNvSpPr>
          <p:nvPr/>
        </p:nvSpPr>
        <p:spPr bwMode="auto">
          <a:xfrm>
            <a:off x="4994275" y="1771650"/>
            <a:ext cx="3425825" cy="326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baseline="0">
                <a:solidFill>
                  <a:srgbClr val="CC0000"/>
                </a:solidFill>
              </a:rPr>
              <a:t>                    4000</a:t>
            </a:r>
            <a:endParaRPr lang="en-US" altLang="en-US" sz="20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baseline="0">
                <a:solidFill>
                  <a:srgbClr val="000000"/>
                </a:solidFill>
              </a:rPr>
              <a:t>                     A     Z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0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baseline="0">
                <a:solidFill>
                  <a:srgbClr val="000000"/>
                </a:solidFill>
              </a:rPr>
              <a:t>                     ch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 baseline="0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baseline="0">
                <a:solidFill>
                  <a:srgbClr val="CC0000"/>
                </a:solidFill>
              </a:rPr>
              <a:t>5000                    6000</a:t>
            </a:r>
            <a:endParaRPr lang="en-US" altLang="en-US" sz="20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baseline="0">
                <a:solidFill>
                  <a:srgbClr val="000000"/>
                </a:solidFill>
              </a:rPr>
              <a:t>   4000                    4000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0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baseline="0">
                <a:solidFill>
                  <a:srgbClr val="000000"/>
                </a:solidFill>
              </a:rPr>
              <a:t>  q                        p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baseline="0">
                <a:solidFill>
                  <a:srgbClr val="000000"/>
                </a:solidFill>
              </a:rPr>
              <a:t>           </a:t>
            </a:r>
          </a:p>
        </p:txBody>
      </p:sp>
      <p:sp>
        <p:nvSpPr>
          <p:cNvPr id="22536" name="Line 11"/>
          <p:cNvSpPr>
            <a:spLocks noChangeShapeType="1"/>
          </p:cNvSpPr>
          <p:nvPr/>
        </p:nvSpPr>
        <p:spPr bwMode="auto">
          <a:xfrm flipV="1">
            <a:off x="6419850" y="2419350"/>
            <a:ext cx="514350" cy="17145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7" name="Line 12"/>
          <p:cNvSpPr>
            <a:spLocks noChangeShapeType="1"/>
          </p:cNvSpPr>
          <p:nvPr/>
        </p:nvSpPr>
        <p:spPr bwMode="auto">
          <a:xfrm flipH="1" flipV="1">
            <a:off x="7524750" y="2514600"/>
            <a:ext cx="800100" cy="14097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0685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457200" y="1676400"/>
            <a:ext cx="3276600" cy="4876800"/>
          </a:xfrm>
          <a:prstGeom prst="rect">
            <a:avLst/>
          </a:prstGeom>
          <a:solidFill>
            <a:srgbClr val="FFFFFF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 baseline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643" name="Rectangle 3"/>
          <p:cNvSpPr>
            <a:spLocks noChangeArrowheads="1"/>
          </p:cNvSpPr>
          <p:nvPr/>
        </p:nvSpPr>
        <p:spPr bwMode="auto">
          <a:xfrm>
            <a:off x="4479925" y="4713288"/>
            <a:ext cx="1168400" cy="755650"/>
          </a:xfrm>
          <a:prstGeom prst="rect">
            <a:avLst/>
          </a:prstGeom>
          <a:solidFill>
            <a:srgbClr val="CCFFFF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 baseline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644" name="Rectangle 4"/>
          <p:cNvSpPr>
            <a:spLocks noChangeArrowheads="1"/>
          </p:cNvSpPr>
          <p:nvPr/>
        </p:nvSpPr>
        <p:spPr bwMode="auto">
          <a:xfrm>
            <a:off x="4495800" y="5470525"/>
            <a:ext cx="10064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baseline="0">
                <a:solidFill>
                  <a:srgbClr val="000000"/>
                </a:solidFill>
              </a:rPr>
              <a:t> ptr</a:t>
            </a:r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172450" cy="1143000"/>
          </a:xfrm>
          <a:noFill/>
        </p:spPr>
        <p:txBody>
          <a:bodyPr lIns="92075" tIns="46038" rIns="92075" bIns="46038">
            <a:normAutofit fontScale="90000"/>
          </a:bodyPr>
          <a:lstStyle/>
          <a:p>
            <a:r>
              <a:rPr lang="en-US" altLang="en-US" sz="4000"/>
              <a:t>Using a Pointer to Access the Elements of a String</a:t>
            </a:r>
          </a:p>
        </p:txBody>
      </p:sp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4441825" y="3071813"/>
            <a:ext cx="4406900" cy="730250"/>
          </a:xfrm>
          <a:prstGeom prst="rect">
            <a:avLst/>
          </a:prstGeom>
          <a:solidFill>
            <a:srgbClr val="CCFFFF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 baseline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4476750" y="3048000"/>
            <a:ext cx="4295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baseline="0">
                <a:solidFill>
                  <a:srgbClr val="000000"/>
                </a:solidFill>
              </a:rPr>
              <a:t>‘H’    ‘e’     ‘l’      ‘l’      ‘o’    ‘\0’</a:t>
            </a:r>
          </a:p>
        </p:txBody>
      </p:sp>
      <p:sp>
        <p:nvSpPr>
          <p:cNvPr id="24584" name="Line 8"/>
          <p:cNvSpPr>
            <a:spLocks noChangeShapeType="1"/>
          </p:cNvSpPr>
          <p:nvPr/>
        </p:nvSpPr>
        <p:spPr bwMode="auto">
          <a:xfrm>
            <a:off x="5140325" y="3070225"/>
            <a:ext cx="0" cy="719138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5" name="Line 9"/>
          <p:cNvSpPr>
            <a:spLocks noChangeShapeType="1"/>
          </p:cNvSpPr>
          <p:nvPr/>
        </p:nvSpPr>
        <p:spPr bwMode="auto">
          <a:xfrm>
            <a:off x="5883275" y="3070225"/>
            <a:ext cx="0" cy="719138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6" name="Line 10"/>
          <p:cNvSpPr>
            <a:spLocks noChangeShapeType="1"/>
          </p:cNvSpPr>
          <p:nvPr/>
        </p:nvSpPr>
        <p:spPr bwMode="auto">
          <a:xfrm>
            <a:off x="6626225" y="3070225"/>
            <a:ext cx="0" cy="719138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7" name="Line 11"/>
          <p:cNvSpPr>
            <a:spLocks noChangeShapeType="1"/>
          </p:cNvSpPr>
          <p:nvPr/>
        </p:nvSpPr>
        <p:spPr bwMode="auto">
          <a:xfrm>
            <a:off x="7369175" y="3070225"/>
            <a:ext cx="0" cy="719138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8" name="Line 12"/>
          <p:cNvSpPr>
            <a:spLocks noChangeShapeType="1"/>
          </p:cNvSpPr>
          <p:nvPr/>
        </p:nvSpPr>
        <p:spPr bwMode="auto">
          <a:xfrm>
            <a:off x="8112125" y="3070225"/>
            <a:ext cx="0" cy="719138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9" name="Rectangle 16"/>
          <p:cNvSpPr>
            <a:spLocks noGrp="1" noChangeArrowheads="1"/>
          </p:cNvSpPr>
          <p:nvPr>
            <p:ph type="body" idx="1"/>
          </p:nvPr>
        </p:nvSpPr>
        <p:spPr>
          <a:xfrm>
            <a:off x="533400" y="1905000"/>
            <a:ext cx="3200400" cy="4572000"/>
          </a:xfrm>
          <a:noFill/>
        </p:spPr>
        <p:txBody>
          <a:bodyPr lIns="92075" tIns="46038" rIns="92075" bIns="46038"/>
          <a:lstStyle/>
          <a:p>
            <a:pPr>
              <a:buFontTx/>
              <a:buNone/>
            </a:pPr>
            <a:r>
              <a:rPr lang="en-US" altLang="en-US" sz="2400" b="1"/>
              <a:t>char   msg[ ] =“Hello”;          </a:t>
            </a:r>
          </a:p>
          <a:p>
            <a:pPr>
              <a:buFontTx/>
              <a:buNone/>
            </a:pPr>
            <a:r>
              <a:rPr lang="en-US" altLang="en-US" sz="2400" b="1"/>
              <a:t>char*  ptr; </a:t>
            </a:r>
          </a:p>
          <a:p>
            <a:pPr>
              <a:buFontTx/>
              <a:buNone/>
            </a:pPr>
            <a:r>
              <a:rPr lang="en-US" altLang="en-US" sz="2400" b="1"/>
              <a:t>ptr  =  msg; </a:t>
            </a:r>
          </a:p>
          <a:p>
            <a:pPr>
              <a:buFontTx/>
              <a:buNone/>
            </a:pPr>
            <a:r>
              <a:rPr lang="en-US" altLang="en-US" sz="2400" b="1"/>
              <a:t>*ptr  = ‘M’ ; </a:t>
            </a:r>
          </a:p>
          <a:p>
            <a:pPr>
              <a:buFontTx/>
              <a:buNone/>
            </a:pPr>
            <a:r>
              <a:rPr lang="en-US" altLang="en-US" sz="2400" b="1"/>
              <a:t>ptr++;		</a:t>
            </a:r>
          </a:p>
          <a:p>
            <a:pPr>
              <a:buFontTx/>
              <a:buNone/>
            </a:pPr>
            <a:endParaRPr lang="en-US" altLang="en-US" sz="800" b="1"/>
          </a:p>
          <a:p>
            <a:pPr>
              <a:buFontTx/>
              <a:buNone/>
            </a:pPr>
            <a:r>
              <a:rPr lang="en-US" altLang="en-US" sz="2400" b="1"/>
              <a:t>*ptr = ‘a’;</a:t>
            </a:r>
          </a:p>
        </p:txBody>
      </p:sp>
      <p:sp>
        <p:nvSpPr>
          <p:cNvPr id="24590" name="Text Box 17"/>
          <p:cNvSpPr txBox="1">
            <a:spLocks noChangeArrowheads="1"/>
          </p:cNvSpPr>
          <p:nvPr/>
        </p:nvSpPr>
        <p:spPr bwMode="auto">
          <a:xfrm>
            <a:off x="3733800" y="2135188"/>
            <a:ext cx="709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baseline="0">
                <a:solidFill>
                  <a:srgbClr val="000000"/>
                </a:solidFill>
                <a:latin typeface="Times New Roman" panose="02020603050405020304" pitchFamily="18" charset="0"/>
              </a:rPr>
              <a:t>msg</a:t>
            </a:r>
          </a:p>
        </p:txBody>
      </p:sp>
      <p:sp>
        <p:nvSpPr>
          <p:cNvPr id="24591" name="Line 18"/>
          <p:cNvSpPr>
            <a:spLocks noChangeShapeType="1"/>
          </p:cNvSpPr>
          <p:nvPr/>
        </p:nvSpPr>
        <p:spPr bwMode="auto">
          <a:xfrm>
            <a:off x="4114800" y="2590800"/>
            <a:ext cx="304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4592" name="Group 19"/>
          <p:cNvGrpSpPr>
            <a:grpSpLocks/>
          </p:cNvGrpSpPr>
          <p:nvPr/>
        </p:nvGrpSpPr>
        <p:grpSpPr bwMode="auto">
          <a:xfrm>
            <a:off x="76200" y="1447800"/>
            <a:ext cx="304800" cy="838200"/>
            <a:chOff x="2304" y="2736"/>
            <a:chExt cx="192" cy="528"/>
          </a:xfrm>
        </p:grpSpPr>
        <p:sp>
          <p:nvSpPr>
            <p:cNvPr id="24621" name="AutoShape 20"/>
            <p:cNvSpPr>
              <a:spLocks noChangeArrowheads="1"/>
            </p:cNvSpPr>
            <p:nvPr/>
          </p:nvSpPr>
          <p:spPr bwMode="auto">
            <a:xfrm>
              <a:off x="2304" y="3120"/>
              <a:ext cx="192" cy="144"/>
            </a:xfrm>
            <a:prstGeom prst="rightArrow">
              <a:avLst>
                <a:gd name="adj1" fmla="val 50000"/>
                <a:gd name="adj2" fmla="val 3333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 baseline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622" name="Rectangle 21"/>
            <p:cNvSpPr>
              <a:spLocks noChangeArrowheads="1"/>
            </p:cNvSpPr>
            <p:nvPr/>
          </p:nvSpPr>
          <p:spPr bwMode="auto">
            <a:xfrm>
              <a:off x="2304" y="2736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 baseline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2662" name="Group 22"/>
          <p:cNvGrpSpPr>
            <a:grpSpLocks/>
          </p:cNvGrpSpPr>
          <p:nvPr/>
        </p:nvGrpSpPr>
        <p:grpSpPr bwMode="auto">
          <a:xfrm>
            <a:off x="76200" y="1905000"/>
            <a:ext cx="304800" cy="838200"/>
            <a:chOff x="2304" y="2736"/>
            <a:chExt cx="192" cy="528"/>
          </a:xfrm>
        </p:grpSpPr>
        <p:sp>
          <p:nvSpPr>
            <p:cNvPr id="24619" name="AutoShape 23"/>
            <p:cNvSpPr>
              <a:spLocks noChangeArrowheads="1"/>
            </p:cNvSpPr>
            <p:nvPr/>
          </p:nvSpPr>
          <p:spPr bwMode="auto">
            <a:xfrm>
              <a:off x="2304" y="3120"/>
              <a:ext cx="192" cy="144"/>
            </a:xfrm>
            <a:prstGeom prst="rightArrow">
              <a:avLst>
                <a:gd name="adj1" fmla="val 50000"/>
                <a:gd name="adj2" fmla="val 3333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 baseline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620" name="Rectangle 24"/>
            <p:cNvSpPr>
              <a:spLocks noChangeArrowheads="1"/>
            </p:cNvSpPr>
            <p:nvPr/>
          </p:nvSpPr>
          <p:spPr bwMode="auto">
            <a:xfrm>
              <a:off x="2304" y="2736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 baseline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2665" name="Group 25"/>
          <p:cNvGrpSpPr>
            <a:grpSpLocks/>
          </p:cNvGrpSpPr>
          <p:nvPr/>
        </p:nvGrpSpPr>
        <p:grpSpPr bwMode="auto">
          <a:xfrm>
            <a:off x="76200" y="2362200"/>
            <a:ext cx="304800" cy="838200"/>
            <a:chOff x="2304" y="2736"/>
            <a:chExt cx="192" cy="528"/>
          </a:xfrm>
        </p:grpSpPr>
        <p:sp>
          <p:nvSpPr>
            <p:cNvPr id="24617" name="AutoShape 26"/>
            <p:cNvSpPr>
              <a:spLocks noChangeArrowheads="1"/>
            </p:cNvSpPr>
            <p:nvPr/>
          </p:nvSpPr>
          <p:spPr bwMode="auto">
            <a:xfrm>
              <a:off x="2304" y="3120"/>
              <a:ext cx="192" cy="144"/>
            </a:xfrm>
            <a:prstGeom prst="rightArrow">
              <a:avLst>
                <a:gd name="adj1" fmla="val 50000"/>
                <a:gd name="adj2" fmla="val 3333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 baseline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618" name="Rectangle 27"/>
            <p:cNvSpPr>
              <a:spLocks noChangeArrowheads="1"/>
            </p:cNvSpPr>
            <p:nvPr/>
          </p:nvSpPr>
          <p:spPr bwMode="auto">
            <a:xfrm>
              <a:off x="2304" y="2736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 baseline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4595" name="Text Box 28"/>
          <p:cNvSpPr txBox="1">
            <a:spLocks noChangeArrowheads="1"/>
          </p:cNvSpPr>
          <p:nvPr/>
        </p:nvSpPr>
        <p:spPr bwMode="auto">
          <a:xfrm>
            <a:off x="4343400" y="2651125"/>
            <a:ext cx="793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baseline="0">
                <a:solidFill>
                  <a:srgbClr val="CC0000"/>
                </a:solidFill>
                <a:latin typeface="Courier New" panose="02070309020205020404" pitchFamily="49" charset="0"/>
              </a:rPr>
              <a:t>3000</a:t>
            </a:r>
          </a:p>
        </p:txBody>
      </p:sp>
      <p:sp>
        <p:nvSpPr>
          <p:cNvPr id="112669" name="Text Box 29"/>
          <p:cNvSpPr txBox="1">
            <a:spLocks noChangeArrowheads="1"/>
          </p:cNvSpPr>
          <p:nvPr/>
        </p:nvSpPr>
        <p:spPr bwMode="auto">
          <a:xfrm>
            <a:off x="4616450" y="4708525"/>
            <a:ext cx="793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baseline="0">
                <a:solidFill>
                  <a:srgbClr val="CC0000"/>
                </a:solidFill>
                <a:latin typeface="Courier New" panose="02070309020205020404" pitchFamily="49" charset="0"/>
              </a:rPr>
              <a:t>3000</a:t>
            </a:r>
          </a:p>
        </p:txBody>
      </p:sp>
      <p:sp>
        <p:nvSpPr>
          <p:cNvPr id="112670" name="Line 30"/>
          <p:cNvSpPr>
            <a:spLocks noChangeShapeType="1"/>
          </p:cNvSpPr>
          <p:nvPr/>
        </p:nvSpPr>
        <p:spPr bwMode="auto">
          <a:xfrm flipV="1">
            <a:off x="4648200" y="3810000"/>
            <a:ext cx="1524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2676" name="Group 36"/>
          <p:cNvGrpSpPr>
            <a:grpSpLocks/>
          </p:cNvGrpSpPr>
          <p:nvPr/>
        </p:nvGrpSpPr>
        <p:grpSpPr bwMode="auto">
          <a:xfrm>
            <a:off x="4419600" y="3200400"/>
            <a:ext cx="674688" cy="685800"/>
            <a:chOff x="2784" y="2016"/>
            <a:chExt cx="425" cy="432"/>
          </a:xfrm>
        </p:grpSpPr>
        <p:sp>
          <p:nvSpPr>
            <p:cNvPr id="24615" name="Text Box 31"/>
            <p:cNvSpPr txBox="1">
              <a:spLocks noChangeArrowheads="1"/>
            </p:cNvSpPr>
            <p:nvPr/>
          </p:nvSpPr>
          <p:spPr bwMode="auto">
            <a:xfrm>
              <a:off x="2784" y="2160"/>
              <a:ext cx="4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b="1" baseline="0">
                  <a:solidFill>
                    <a:srgbClr val="3333CC"/>
                  </a:solidFill>
                  <a:latin typeface="Times New Roman" panose="02020603050405020304" pitchFamily="18" charset="0"/>
                </a:rPr>
                <a:t>‘M’</a:t>
              </a:r>
            </a:p>
          </p:txBody>
        </p:sp>
        <p:sp>
          <p:nvSpPr>
            <p:cNvPr id="24616" name="Line 32"/>
            <p:cNvSpPr>
              <a:spLocks noChangeShapeType="1"/>
            </p:cNvSpPr>
            <p:nvPr/>
          </p:nvSpPr>
          <p:spPr bwMode="auto">
            <a:xfrm flipV="1">
              <a:off x="2832" y="2016"/>
              <a:ext cx="33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2677" name="Group 37"/>
          <p:cNvGrpSpPr>
            <a:grpSpLocks/>
          </p:cNvGrpSpPr>
          <p:nvPr/>
        </p:nvGrpSpPr>
        <p:grpSpPr bwMode="auto">
          <a:xfrm>
            <a:off x="76200" y="2819400"/>
            <a:ext cx="304800" cy="838200"/>
            <a:chOff x="2304" y="2736"/>
            <a:chExt cx="192" cy="528"/>
          </a:xfrm>
        </p:grpSpPr>
        <p:sp>
          <p:nvSpPr>
            <p:cNvPr id="24613" name="AutoShape 38"/>
            <p:cNvSpPr>
              <a:spLocks noChangeArrowheads="1"/>
            </p:cNvSpPr>
            <p:nvPr/>
          </p:nvSpPr>
          <p:spPr bwMode="auto">
            <a:xfrm>
              <a:off x="2304" y="3120"/>
              <a:ext cx="192" cy="144"/>
            </a:xfrm>
            <a:prstGeom prst="rightArrow">
              <a:avLst>
                <a:gd name="adj1" fmla="val 50000"/>
                <a:gd name="adj2" fmla="val 3333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 baseline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614" name="Rectangle 39"/>
            <p:cNvSpPr>
              <a:spLocks noChangeArrowheads="1"/>
            </p:cNvSpPr>
            <p:nvPr/>
          </p:nvSpPr>
          <p:spPr bwMode="auto">
            <a:xfrm>
              <a:off x="2304" y="2736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 baseline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2680" name="Group 40"/>
          <p:cNvGrpSpPr>
            <a:grpSpLocks/>
          </p:cNvGrpSpPr>
          <p:nvPr/>
        </p:nvGrpSpPr>
        <p:grpSpPr bwMode="auto">
          <a:xfrm>
            <a:off x="76200" y="3276600"/>
            <a:ext cx="304800" cy="838200"/>
            <a:chOff x="2304" y="2736"/>
            <a:chExt cx="192" cy="528"/>
          </a:xfrm>
        </p:grpSpPr>
        <p:sp>
          <p:nvSpPr>
            <p:cNvPr id="24611" name="AutoShape 41"/>
            <p:cNvSpPr>
              <a:spLocks noChangeArrowheads="1"/>
            </p:cNvSpPr>
            <p:nvPr/>
          </p:nvSpPr>
          <p:spPr bwMode="auto">
            <a:xfrm>
              <a:off x="2304" y="3120"/>
              <a:ext cx="192" cy="144"/>
            </a:xfrm>
            <a:prstGeom prst="rightArrow">
              <a:avLst>
                <a:gd name="adj1" fmla="val 50000"/>
                <a:gd name="adj2" fmla="val 3333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 baseline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612" name="Rectangle 42"/>
            <p:cNvSpPr>
              <a:spLocks noChangeArrowheads="1"/>
            </p:cNvSpPr>
            <p:nvPr/>
          </p:nvSpPr>
          <p:spPr bwMode="auto">
            <a:xfrm>
              <a:off x="2304" y="2736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 baseline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2683" name="Group 43"/>
          <p:cNvGrpSpPr>
            <a:grpSpLocks/>
          </p:cNvGrpSpPr>
          <p:nvPr/>
        </p:nvGrpSpPr>
        <p:grpSpPr bwMode="auto">
          <a:xfrm>
            <a:off x="76200" y="3733800"/>
            <a:ext cx="304800" cy="838200"/>
            <a:chOff x="2304" y="2736"/>
            <a:chExt cx="192" cy="528"/>
          </a:xfrm>
        </p:grpSpPr>
        <p:sp>
          <p:nvSpPr>
            <p:cNvPr id="24609" name="AutoShape 44"/>
            <p:cNvSpPr>
              <a:spLocks noChangeArrowheads="1"/>
            </p:cNvSpPr>
            <p:nvPr/>
          </p:nvSpPr>
          <p:spPr bwMode="auto">
            <a:xfrm>
              <a:off x="2304" y="3120"/>
              <a:ext cx="192" cy="144"/>
            </a:xfrm>
            <a:prstGeom prst="rightArrow">
              <a:avLst>
                <a:gd name="adj1" fmla="val 50000"/>
                <a:gd name="adj2" fmla="val 3333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 baseline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610" name="Rectangle 45"/>
            <p:cNvSpPr>
              <a:spLocks noChangeArrowheads="1"/>
            </p:cNvSpPr>
            <p:nvPr/>
          </p:nvSpPr>
          <p:spPr bwMode="auto">
            <a:xfrm>
              <a:off x="2304" y="2736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 baseline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2688" name="Group 48"/>
          <p:cNvGrpSpPr>
            <a:grpSpLocks/>
          </p:cNvGrpSpPr>
          <p:nvPr/>
        </p:nvGrpSpPr>
        <p:grpSpPr bwMode="auto">
          <a:xfrm>
            <a:off x="4572000" y="3810000"/>
            <a:ext cx="914400" cy="838200"/>
            <a:chOff x="2880" y="2400"/>
            <a:chExt cx="576" cy="528"/>
          </a:xfrm>
        </p:grpSpPr>
        <p:sp>
          <p:nvSpPr>
            <p:cNvPr id="24607" name="Rectangle 47"/>
            <p:cNvSpPr>
              <a:spLocks noChangeArrowheads="1"/>
            </p:cNvSpPr>
            <p:nvPr/>
          </p:nvSpPr>
          <p:spPr bwMode="auto">
            <a:xfrm>
              <a:off x="2880" y="2400"/>
              <a:ext cx="288" cy="5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 baseline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608" name="Line 46"/>
            <p:cNvSpPr>
              <a:spLocks noChangeShapeType="1"/>
            </p:cNvSpPr>
            <p:nvPr/>
          </p:nvSpPr>
          <p:spPr bwMode="auto">
            <a:xfrm flipV="1">
              <a:off x="2976" y="2400"/>
              <a:ext cx="48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2692" name="Group 52"/>
          <p:cNvGrpSpPr>
            <a:grpSpLocks/>
          </p:cNvGrpSpPr>
          <p:nvPr/>
        </p:nvGrpSpPr>
        <p:grpSpPr bwMode="auto">
          <a:xfrm>
            <a:off x="5181600" y="3200400"/>
            <a:ext cx="539750" cy="685800"/>
            <a:chOff x="4460" y="2880"/>
            <a:chExt cx="340" cy="432"/>
          </a:xfrm>
        </p:grpSpPr>
        <p:sp>
          <p:nvSpPr>
            <p:cNvPr id="24605" name="Text Box 50"/>
            <p:cNvSpPr txBox="1">
              <a:spLocks noChangeArrowheads="1"/>
            </p:cNvSpPr>
            <p:nvPr/>
          </p:nvSpPr>
          <p:spPr bwMode="auto">
            <a:xfrm>
              <a:off x="4460" y="3024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b="1" baseline="0">
                  <a:solidFill>
                    <a:srgbClr val="3333CC"/>
                  </a:solidFill>
                  <a:latin typeface="Times New Roman" panose="02020603050405020304" pitchFamily="18" charset="0"/>
                </a:rPr>
                <a:t>‘a’</a:t>
              </a:r>
            </a:p>
          </p:txBody>
        </p:sp>
        <p:sp>
          <p:nvSpPr>
            <p:cNvPr id="24606" name="Line 51"/>
            <p:cNvSpPr>
              <a:spLocks noChangeShapeType="1"/>
            </p:cNvSpPr>
            <p:nvPr/>
          </p:nvSpPr>
          <p:spPr bwMode="auto">
            <a:xfrm flipV="1">
              <a:off x="4464" y="2880"/>
              <a:ext cx="33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2693" name="Text Box 53"/>
          <p:cNvSpPr txBox="1">
            <a:spLocks noChangeArrowheads="1"/>
          </p:cNvSpPr>
          <p:nvPr/>
        </p:nvSpPr>
        <p:spPr bwMode="auto">
          <a:xfrm>
            <a:off x="4648200" y="4724400"/>
            <a:ext cx="793750" cy="396875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baseline="0">
                <a:solidFill>
                  <a:srgbClr val="CC0000"/>
                </a:solidFill>
                <a:latin typeface="Courier New" panose="02070309020205020404" pitchFamily="49" charset="0"/>
              </a:rPr>
              <a:t>3001</a:t>
            </a:r>
          </a:p>
        </p:txBody>
      </p:sp>
    </p:spTree>
    <p:extLst>
      <p:ext uri="{BB962C8B-B14F-4D97-AF65-F5344CB8AC3E}">
        <p14:creationId xmlns:p14="http://schemas.microsoft.com/office/powerpoint/2010/main" val="1079762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2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2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2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2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2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2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12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12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12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12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4" grpId="0"/>
      <p:bldP spid="112669" grpId="0"/>
      <p:bldP spid="112670" grpId="0" animBg="1"/>
      <p:bldP spid="11269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  Initializing Pointers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You can initialize to NULL or 0 (zero)</a:t>
            </a:r>
          </a:p>
          <a:p>
            <a:pPr>
              <a:buNone/>
            </a:pPr>
            <a:r>
              <a:rPr lang="en-US" altLang="en-US" dirty="0"/>
              <a:t>        </a:t>
            </a:r>
            <a:r>
              <a:rPr lang="en-US" altLang="en-US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b="1" dirty="0">
                <a:solidFill>
                  <a:srgbClr val="3D8963"/>
                </a:solidFill>
                <a:latin typeface="Courier New" panose="02070309020205020404" pitchFamily="49" charset="0"/>
              </a:rPr>
              <a:t> *</a:t>
            </a:r>
            <a:r>
              <a:rPr lang="en-US" altLang="en-US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ptr</a:t>
            </a:r>
            <a:r>
              <a:rPr lang="en-US" altLang="en-US" b="1" dirty="0">
                <a:solidFill>
                  <a:srgbClr val="3D8963"/>
                </a:solidFill>
                <a:latin typeface="Courier New" panose="02070309020205020404" pitchFamily="49" charset="0"/>
              </a:rPr>
              <a:t> = NULL;</a:t>
            </a:r>
          </a:p>
          <a:p>
            <a:r>
              <a:rPr lang="en-US" altLang="en-US" dirty="0"/>
              <a:t>You can initialize to addresses of other variables</a:t>
            </a:r>
          </a:p>
          <a:p>
            <a:pPr lvl="1">
              <a:buNone/>
            </a:pPr>
            <a:r>
              <a:rPr lang="en-US" altLang="en-US" dirty="0"/>
              <a:t>	</a:t>
            </a:r>
            <a:r>
              <a:rPr lang="en-US" altLang="en-US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b="1" dirty="0">
                <a:solidFill>
                  <a:srgbClr val="3D8963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num</a:t>
            </a:r>
            <a:r>
              <a:rPr lang="en-US" altLang="en-US" b="1" dirty="0">
                <a:solidFill>
                  <a:srgbClr val="3D8963"/>
                </a:solidFill>
                <a:latin typeface="Courier New" panose="02070309020205020404" pitchFamily="49" charset="0"/>
              </a:rPr>
              <a:t>, *</a:t>
            </a:r>
            <a:r>
              <a:rPr lang="en-US" altLang="en-US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numPtr</a:t>
            </a:r>
            <a:r>
              <a:rPr lang="en-US" altLang="en-US" b="1" dirty="0">
                <a:solidFill>
                  <a:srgbClr val="3D8963"/>
                </a:solidFill>
                <a:latin typeface="Courier New" panose="02070309020205020404" pitchFamily="49" charset="0"/>
              </a:rPr>
              <a:t> = &amp;</a:t>
            </a:r>
            <a:r>
              <a:rPr lang="en-US" altLang="en-US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num</a:t>
            </a:r>
            <a:r>
              <a:rPr lang="en-US" altLang="en-US" b="1" dirty="0">
                <a:solidFill>
                  <a:srgbClr val="3D8963"/>
                </a:solidFill>
                <a:latin typeface="Courier New" panose="02070309020205020404" pitchFamily="49" charset="0"/>
              </a:rPr>
              <a:t>;</a:t>
            </a:r>
          </a:p>
          <a:p>
            <a:pPr lvl="1">
              <a:buNone/>
            </a:pPr>
            <a:r>
              <a:rPr lang="en-US" altLang="en-US" b="1" dirty="0">
                <a:solidFill>
                  <a:srgbClr val="3D8963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b="1" dirty="0">
                <a:solidFill>
                  <a:srgbClr val="3D8963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val</a:t>
            </a:r>
            <a:r>
              <a:rPr lang="en-US" altLang="en-US" b="1" dirty="0">
                <a:solidFill>
                  <a:srgbClr val="3D8963"/>
                </a:solidFill>
                <a:latin typeface="Courier New" panose="02070309020205020404" pitchFamily="49" charset="0"/>
              </a:rPr>
              <a:t>[ISIZE], *</a:t>
            </a:r>
            <a:r>
              <a:rPr lang="en-US" altLang="en-US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valptr</a:t>
            </a:r>
            <a:r>
              <a:rPr lang="en-US" altLang="en-US" b="1" dirty="0">
                <a:solidFill>
                  <a:srgbClr val="3D8963"/>
                </a:solidFill>
                <a:latin typeface="Courier New" panose="02070309020205020404" pitchFamily="49" charset="0"/>
              </a:rPr>
              <a:t> = </a:t>
            </a:r>
            <a:r>
              <a:rPr lang="en-US" altLang="en-US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val</a:t>
            </a:r>
            <a:r>
              <a:rPr lang="en-US" altLang="en-US" b="1" dirty="0">
                <a:solidFill>
                  <a:srgbClr val="3D8963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altLang="en-US" dirty="0"/>
              <a:t>The initial value must have the correct type</a:t>
            </a:r>
          </a:p>
          <a:p>
            <a:pPr lvl="1">
              <a:buNone/>
            </a:pPr>
            <a:r>
              <a:rPr lang="en-US" altLang="en-US" dirty="0"/>
              <a:t>	</a:t>
            </a:r>
            <a:r>
              <a:rPr lang="en-US" altLang="en-US" b="1" dirty="0">
                <a:solidFill>
                  <a:srgbClr val="3D8963"/>
                </a:solidFill>
                <a:latin typeface="Courier New" panose="02070309020205020404" pitchFamily="49" charset="0"/>
              </a:rPr>
              <a:t>float cost;</a:t>
            </a:r>
          </a:p>
          <a:p>
            <a:pPr lvl="1">
              <a:buNone/>
            </a:pPr>
            <a:r>
              <a:rPr lang="en-US" altLang="en-US" b="1" dirty="0">
                <a:solidFill>
                  <a:srgbClr val="3D8963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b="1" dirty="0">
                <a:solidFill>
                  <a:srgbClr val="3D8963"/>
                </a:solidFill>
                <a:latin typeface="Courier New" panose="02070309020205020404" pitchFamily="49" charset="0"/>
              </a:rPr>
              <a:t> *</a:t>
            </a:r>
            <a:r>
              <a:rPr lang="en-US" altLang="en-US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ptr</a:t>
            </a:r>
            <a:r>
              <a:rPr lang="en-US" altLang="en-US" b="1" dirty="0">
                <a:solidFill>
                  <a:srgbClr val="3D8963"/>
                </a:solidFill>
                <a:latin typeface="Courier New" panose="02070309020205020404" pitchFamily="49" charset="0"/>
              </a:rPr>
              <a:t> = &amp;cost; // won't work</a:t>
            </a: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B5B9488-E947-4580-A524-8E91E7EB8F82}" type="slidenum">
              <a:rPr lang="en-US" altLang="en-US" smtClean="0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57108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54074"/>
          </a:xfrm>
        </p:spPr>
        <p:txBody>
          <a:bodyPr/>
          <a:lstStyle/>
          <a:p>
            <a:r>
              <a:rPr lang="en-US" altLang="en-US" sz="3600" dirty="0"/>
              <a:t>The  </a:t>
            </a:r>
            <a:r>
              <a:rPr lang="en-US" altLang="en-US" sz="3600" dirty="0">
                <a:latin typeface="Courier New" panose="02070309020205020404" pitchFamily="49" charset="0"/>
              </a:rPr>
              <a:t>NULL </a:t>
            </a:r>
            <a:r>
              <a:rPr lang="en-US" altLang="en-US" sz="3600" dirty="0"/>
              <a:t>Pointer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66566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000" b="1" dirty="0"/>
              <a:t>NULL pointer</a:t>
            </a:r>
            <a:r>
              <a:rPr lang="en-GB" sz="2000" dirty="0"/>
              <a:t> is a special pointer that </a:t>
            </a:r>
            <a:r>
              <a:rPr lang="en-GB" sz="2000" b="1" dirty="0"/>
              <a:t>does not point to any valid memory location</a:t>
            </a:r>
            <a:r>
              <a:rPr lang="en-GB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It is usually used to indicate </a:t>
            </a:r>
            <a:r>
              <a:rPr lang="en-GB" sz="2000" b="1" dirty="0"/>
              <a:t>"nothing"</a:t>
            </a:r>
            <a:r>
              <a:rPr lang="en-GB" sz="2000" dirty="0"/>
              <a:t>, </a:t>
            </a:r>
            <a:r>
              <a:rPr lang="en-GB" sz="2000" b="1" dirty="0"/>
              <a:t>"empty"</a:t>
            </a:r>
            <a:r>
              <a:rPr lang="en-GB" sz="2000" dirty="0"/>
              <a:t>, or </a:t>
            </a:r>
            <a:r>
              <a:rPr lang="en-GB" sz="2000" b="1" dirty="0"/>
              <a:t>"not assigned yet"</a:t>
            </a:r>
            <a:r>
              <a:rPr lang="en-GB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b="1" dirty="0"/>
              <a:t>But NULL is not memory address 0.</a:t>
            </a:r>
          </a:p>
          <a:p>
            <a:pPr>
              <a:buFont typeface="Monotype Sorts" pitchFamily="2" charset="2"/>
              <a:buNone/>
            </a:pPr>
            <a:endParaRPr lang="en-US" altLang="en-US" sz="2000" b="1" dirty="0"/>
          </a:p>
          <a:p>
            <a:pPr>
              <a:buFont typeface="Monotype Sorts" pitchFamily="2" charset="2"/>
              <a:buNone/>
            </a:pPr>
            <a:r>
              <a:rPr lang="en-US" altLang="en-US" sz="2000" b="1" dirty="0"/>
              <a:t>NOTE:  It is an error to dereference a pointer whose value is NULL.  Such an error may cause your program to crash, or behave erratically.   It is the programmer’s job to check for this.</a:t>
            </a:r>
          </a:p>
          <a:p>
            <a:pPr>
              <a:buFont typeface="Monotype Sorts" pitchFamily="2" charset="2"/>
              <a:buNone/>
            </a:pPr>
            <a:endParaRPr lang="en-US" altLang="en-US" sz="1200" dirty="0">
              <a:latin typeface="Courier New" panose="020703090202050204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  </a:t>
            </a:r>
            <a:r>
              <a:rPr lang="en-US" altLang="en-US" sz="1800" b="1" dirty="0">
                <a:solidFill>
                  <a:srgbClr val="3D8963"/>
                </a:solidFill>
                <a:latin typeface="Courier New" panose="02070309020205020404" pitchFamily="49" charset="0"/>
              </a:rPr>
              <a:t>while (</a:t>
            </a:r>
            <a:r>
              <a:rPr lang="en-US" altLang="en-US" sz="18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ptr</a:t>
            </a:r>
            <a:r>
              <a:rPr lang="en-US" altLang="en-US" sz="1800" b="1" dirty="0">
                <a:solidFill>
                  <a:srgbClr val="3D8963"/>
                </a:solidFill>
                <a:latin typeface="Courier New" panose="02070309020205020404" pitchFamily="49" charset="0"/>
              </a:rPr>
              <a:t> != NULL) 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 b="1" dirty="0">
                <a:solidFill>
                  <a:srgbClr val="3D8963"/>
                </a:solidFill>
                <a:latin typeface="Courier New" panose="02070309020205020404" pitchFamily="49" charset="0"/>
              </a:rPr>
              <a:t>   {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 b="1" dirty="0">
                <a:solidFill>
                  <a:srgbClr val="3D8963"/>
                </a:solidFill>
                <a:latin typeface="Courier New" panose="02070309020205020404" pitchFamily="49" charset="0"/>
              </a:rPr>
              <a:t>     	. . . 	        // ok to use *</a:t>
            </a:r>
            <a:r>
              <a:rPr lang="en-US" altLang="en-US" sz="18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ptr</a:t>
            </a:r>
            <a:r>
              <a:rPr lang="en-US" altLang="en-US" sz="1800" b="1" dirty="0">
                <a:solidFill>
                  <a:srgbClr val="3D8963"/>
                </a:solidFill>
                <a:latin typeface="Courier New" panose="02070309020205020404" pitchFamily="49" charset="0"/>
              </a:rPr>
              <a:t> here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 b="1" dirty="0">
                <a:solidFill>
                  <a:srgbClr val="3D8963"/>
                </a:solidFill>
                <a:latin typeface="Courier New" panose="02070309020205020404" pitchFamily="49" charset="0"/>
              </a:rPr>
              <a:t>   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2359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Comparing Pointers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5000"/>
              </a:lnSpc>
            </a:pPr>
            <a:r>
              <a:rPr lang="en-US" altLang="en-US" dirty="0"/>
              <a:t>Relational operators can be used to compare the addresses in pointers</a:t>
            </a:r>
          </a:p>
          <a:p>
            <a:pPr>
              <a:lnSpc>
                <a:spcPct val="85000"/>
              </a:lnSpc>
            </a:pPr>
            <a:r>
              <a:rPr lang="en-US" altLang="en-US" dirty="0"/>
              <a:t>Comparing addresses in pointers is not the same as comparing contents pointed at by pointers:</a:t>
            </a:r>
          </a:p>
          <a:p>
            <a:pPr lvl="1">
              <a:lnSpc>
                <a:spcPct val="85000"/>
              </a:lnSpc>
              <a:buNone/>
            </a:pPr>
            <a:r>
              <a:rPr lang="en-US" altLang="en-US" b="1" dirty="0">
                <a:solidFill>
                  <a:srgbClr val="3D8963"/>
                </a:solidFill>
                <a:latin typeface="Courier New" panose="02070309020205020404" pitchFamily="49" charset="0"/>
              </a:rPr>
              <a:t> </a:t>
            </a:r>
          </a:p>
          <a:p>
            <a:pPr lvl="1">
              <a:lnSpc>
                <a:spcPct val="85000"/>
              </a:lnSpc>
              <a:buNone/>
            </a:pPr>
            <a:r>
              <a:rPr lang="en-US" altLang="en-US" b="1" dirty="0">
                <a:solidFill>
                  <a:srgbClr val="3D8963"/>
                </a:solidFill>
                <a:latin typeface="Courier New" panose="02070309020205020404" pitchFamily="49" charset="0"/>
              </a:rPr>
              <a:t>if (ptr1 == ptr2)   // compares addresses</a:t>
            </a:r>
          </a:p>
          <a:p>
            <a:pPr lvl="1">
              <a:lnSpc>
                <a:spcPct val="85000"/>
              </a:lnSpc>
              <a:buNone/>
            </a:pPr>
            <a:endParaRPr lang="en-US" altLang="en-US" b="1" dirty="0">
              <a:solidFill>
                <a:srgbClr val="3D8963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85000"/>
              </a:lnSpc>
              <a:buNone/>
            </a:pPr>
            <a:r>
              <a:rPr lang="en-US" altLang="en-US" b="1" dirty="0">
                <a:solidFill>
                  <a:srgbClr val="3D8963"/>
                </a:solidFill>
                <a:latin typeface="Courier New" panose="02070309020205020404" pitchFamily="49" charset="0"/>
              </a:rPr>
              <a:t>if (*ptr1 == *ptr2) // compares contents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78813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Size of Pointers and Variables/ objects of the same </a:t>
            </a:r>
            <a:r>
              <a:rPr lang="en-US" altLang="en-US" dirty="0" err="1"/>
              <a:t>DataType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The size of a pointer variables depends underlying computer architecture, OS etc.</a:t>
            </a:r>
          </a:p>
          <a:p>
            <a:pPr lvl="1"/>
            <a:r>
              <a:rPr lang="en-US" altLang="en-US" sz="2400" b="1" dirty="0"/>
              <a:t>4 bytes on 32-bit architectures</a:t>
            </a:r>
          </a:p>
          <a:p>
            <a:pPr lvl="1"/>
            <a:r>
              <a:rPr lang="en-US" altLang="en-US" sz="2400" b="1" dirty="0"/>
              <a:t>8 bytes on 64-bit architectures</a:t>
            </a:r>
          </a:p>
          <a:p>
            <a:pPr lvl="1"/>
            <a:endParaRPr lang="en-US" altLang="en-US" sz="2400" dirty="0"/>
          </a:p>
          <a:p>
            <a:r>
              <a:rPr lang="en-US" altLang="en-US" sz="2800" dirty="0"/>
              <a:t>The size of a pointer variable is same for all data types on a given architecture e.g.</a:t>
            </a:r>
          </a:p>
          <a:p>
            <a:pPr lvl="1"/>
            <a:r>
              <a:rPr lang="en-US" altLang="en-US" sz="2400" dirty="0"/>
              <a:t>Pointers of type </a:t>
            </a:r>
            <a:r>
              <a:rPr lang="en-US" altLang="en-US" sz="2400" dirty="0" err="1"/>
              <a:t>int</a:t>
            </a:r>
            <a:r>
              <a:rPr lang="en-US" altLang="en-US" sz="2400" dirty="0"/>
              <a:t>, long, char, double, or user defined data types will all be of 8-bytes on a 64-bit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88577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Size of Pointers and Variables/ objects of the same </a:t>
            </a:r>
            <a:r>
              <a:rPr lang="en-US" altLang="en-US" dirty="0" err="1"/>
              <a:t>DataType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42</a:t>
            </a:fld>
            <a:endParaRPr lang="en-US" altLang="en-US"/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29232"/>
            <a:ext cx="8839200" cy="180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4281488"/>
            <a:ext cx="6548438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54131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Memory Allocation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BD5D2-A63C-4CF3-9B33-EDAB3DA9185D}" type="slidenum">
              <a:rPr lang="en-US" altLang="en-US" smtClean="0"/>
              <a:pPr>
                <a:defRPr/>
              </a:pPr>
              <a:t>43</a:t>
            </a:fld>
            <a:endParaRPr lang="en-US" altLang="en-US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935559133"/>
              </p:ext>
            </p:extLst>
          </p:nvPr>
        </p:nvGraphicFramePr>
        <p:xfrm>
          <a:off x="1524000" y="1712766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011723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A8FA4A3-4340-4BA6-863C-28EBD8DADDE2}" type="slidenum">
              <a:rPr lang="en-US" altLang="en-US" sz="1400" baseline="0" smtClean="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400" baseline="0">
              <a:solidFill>
                <a:srgbClr val="000000"/>
              </a:solidFill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r>
              <a:rPr lang="en-US" altLang="en-US" noProof="1"/>
              <a:t>Dynamic Memory Allocation</a:t>
            </a:r>
            <a:endParaRPr lang="en-US" altLang="en-US"/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450" y="1676400"/>
            <a:ext cx="4495800" cy="4800600"/>
          </a:xfrm>
        </p:spPr>
        <p:txBody>
          <a:bodyPr/>
          <a:lstStyle/>
          <a:p>
            <a:r>
              <a:rPr lang="en-US" altLang="en-US" sz="2400" b="1" dirty="0"/>
              <a:t>Static memory</a:t>
            </a:r>
            <a:r>
              <a:rPr lang="en-US" altLang="en-US" sz="2400" dirty="0"/>
              <a:t> - </a:t>
            </a:r>
            <a:r>
              <a:rPr lang="en-US" altLang="en-US" sz="2200" dirty="0"/>
              <a:t>where global and static variables live</a:t>
            </a:r>
            <a:endParaRPr lang="en-US" altLang="en-US" sz="2400" dirty="0"/>
          </a:p>
          <a:p>
            <a:endParaRPr lang="en-US" altLang="en-US" sz="2400" dirty="0"/>
          </a:p>
          <a:p>
            <a:r>
              <a:rPr lang="en-US" altLang="en-US" sz="2400" b="1" dirty="0"/>
              <a:t>Heap memory</a:t>
            </a:r>
            <a:r>
              <a:rPr lang="en-US" altLang="en-US" sz="2400" dirty="0"/>
              <a:t> - </a:t>
            </a:r>
            <a:r>
              <a:rPr lang="en-US" altLang="en-US" sz="2200" dirty="0"/>
              <a:t>dynamically  allocated at execution time</a:t>
            </a:r>
          </a:p>
          <a:p>
            <a:pPr>
              <a:buFontTx/>
              <a:buNone/>
            </a:pPr>
            <a:r>
              <a:rPr lang="en-US" altLang="en-US" sz="2400" dirty="0"/>
              <a:t>	- "managed" memory accessed using pointers</a:t>
            </a:r>
          </a:p>
          <a:p>
            <a:pPr>
              <a:buFontTx/>
              <a:buNone/>
            </a:pPr>
            <a:r>
              <a:rPr lang="en-US" altLang="en-US" sz="2400" dirty="0"/>
              <a:t>         </a:t>
            </a:r>
          </a:p>
          <a:p>
            <a:r>
              <a:rPr lang="en-US" altLang="en-US" sz="2400" b="1" dirty="0"/>
              <a:t>Stack memory</a:t>
            </a:r>
            <a:r>
              <a:rPr lang="en-US" altLang="en-US" sz="2400" dirty="0"/>
              <a:t> - </a:t>
            </a:r>
            <a:r>
              <a:rPr lang="en-US" altLang="en-US" sz="2200" dirty="0"/>
              <a:t>used by automatic variables </a:t>
            </a:r>
          </a:p>
        </p:txBody>
      </p:sp>
      <p:sp>
        <p:nvSpPr>
          <p:cNvPr id="36869" name="Text Box 6"/>
          <p:cNvSpPr txBox="1">
            <a:spLocks noChangeArrowheads="1"/>
          </p:cNvSpPr>
          <p:nvPr/>
        </p:nvSpPr>
        <p:spPr bwMode="auto">
          <a:xfrm>
            <a:off x="457200" y="914400"/>
            <a:ext cx="807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baseline="0">
                <a:solidFill>
                  <a:srgbClr val="000000"/>
                </a:solidFill>
              </a:rPr>
              <a:t>In C and C++, three types of memory are used by programs:</a:t>
            </a:r>
          </a:p>
        </p:txBody>
      </p:sp>
      <p:pic>
        <p:nvPicPr>
          <p:cNvPr id="36870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25" y="1371600"/>
            <a:ext cx="4460875" cy="479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45356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3 Kinds of Program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 dirty="0">
                <a:solidFill>
                  <a:srgbClr val="FFCC66"/>
                </a:solidFill>
              </a:rPr>
              <a:t>STATIC DATA</a:t>
            </a:r>
            <a:r>
              <a:rPr lang="en-US" altLang="en-US" sz="2000" b="1" dirty="0"/>
              <a:t>:  allocated at compile time. Memory allocation exists throughout execution of program. 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static long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SeedValue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>
              <a:buFont typeface="Monotype Sorts" pitchFamily="2" charset="2"/>
              <a:buNone/>
            </a:pPr>
            <a:r>
              <a:rPr lang="en-US" altLang="en-US" sz="800" dirty="0"/>
              <a:t> </a:t>
            </a:r>
          </a:p>
          <a:p>
            <a:r>
              <a:rPr lang="en-US" altLang="en-US" sz="2000" b="1" dirty="0">
                <a:solidFill>
                  <a:srgbClr val="FFCC66"/>
                </a:solidFill>
              </a:rPr>
              <a:t>AUTOMATIC DATA</a:t>
            </a:r>
            <a:r>
              <a:rPr lang="en-US" altLang="en-US" sz="2000" b="1" dirty="0"/>
              <a:t>: automatically created at function entry, resides in activation frame of the function</a:t>
            </a:r>
            <a:r>
              <a:rPr lang="en-US" altLang="en-US" sz="2400" dirty="0"/>
              <a:t>, </a:t>
            </a:r>
            <a:r>
              <a:rPr lang="en-US" altLang="en-US" sz="2000" b="1" dirty="0"/>
              <a:t>and is destroyed when returning from function.  </a:t>
            </a:r>
            <a:r>
              <a:rPr lang="en-US" altLang="en-US" sz="2000" b="1" i="1" dirty="0">
                <a:solidFill>
                  <a:srgbClr val="FF0000"/>
                </a:solidFill>
              </a:rPr>
              <a:t>What you have been doing up to now!!</a:t>
            </a:r>
            <a:endParaRPr lang="en-US" altLang="en-US" sz="2000" b="1" dirty="0">
              <a:solidFill>
                <a:srgbClr val="FF0000"/>
              </a:solidFill>
            </a:endParaRPr>
          </a:p>
          <a:p>
            <a:pPr>
              <a:buFont typeface="Monotype Sorts" pitchFamily="2" charset="2"/>
              <a:buNone/>
            </a:pPr>
            <a:endParaRPr lang="en-US" altLang="en-US" sz="800" b="1" dirty="0"/>
          </a:p>
          <a:p>
            <a:r>
              <a:rPr lang="en-US" altLang="en-US" sz="2000" b="1" dirty="0">
                <a:solidFill>
                  <a:srgbClr val="FFCC66"/>
                </a:solidFill>
              </a:rPr>
              <a:t>DYNAMIC DATA</a:t>
            </a:r>
            <a:r>
              <a:rPr lang="en-US" altLang="en-US" sz="2000" b="1" dirty="0"/>
              <a:t>:  explicitly allocated and deallocated during program execution by C++ instructions written by programmer using unary operators </a:t>
            </a:r>
            <a:r>
              <a:rPr lang="en-US" altLang="en-US" sz="2000" b="1" dirty="0">
                <a:latin typeface="Courier New" panose="02070309020205020404" pitchFamily="49" charset="0"/>
              </a:rPr>
              <a:t>new</a:t>
            </a:r>
            <a:r>
              <a:rPr lang="en-US" altLang="en-US" sz="2000" b="1" dirty="0"/>
              <a:t> and </a:t>
            </a:r>
            <a:r>
              <a:rPr lang="en-US" altLang="en-US" sz="2000" b="1" dirty="0">
                <a:latin typeface="Courier New" panose="02070309020205020404" pitchFamily="49" charset="0"/>
              </a:rPr>
              <a:t>delete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08505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 noChangeArrowheads="1"/>
          </p:cNvSpPr>
          <p:nvPr>
            <p:ph type="title"/>
          </p:nvPr>
        </p:nvSpPr>
        <p:spPr>
          <a:xfrm>
            <a:off x="152400" y="222250"/>
            <a:ext cx="8229600" cy="1143000"/>
          </a:xfrm>
        </p:spPr>
        <p:txBody>
          <a:bodyPr/>
          <a:lstStyle/>
          <a:p>
            <a:r>
              <a:rPr lang="en-US" altLang="en-US" sz="3800"/>
              <a:t>Dynamic Memory Allocation Diagram</a:t>
            </a:r>
          </a:p>
        </p:txBody>
      </p:sp>
      <p:sp>
        <p:nvSpPr>
          <p:cNvPr id="39939" name="Slide Number Placeholder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CE1F745-CE5A-43EA-B2DD-E8AD7A580B11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en-US" sz="1400"/>
          </a:p>
        </p:txBody>
      </p:sp>
      <p:pic>
        <p:nvPicPr>
          <p:cNvPr id="3994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81200"/>
            <a:ext cx="6343650" cy="336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ight Brace 6"/>
          <p:cNvSpPr/>
          <p:nvPr/>
        </p:nvSpPr>
        <p:spPr bwMode="auto">
          <a:xfrm>
            <a:off x="6694488" y="1981200"/>
            <a:ext cx="609600" cy="1828800"/>
          </a:xfrm>
          <a:prstGeom prst="rightBrace">
            <a:avLst/>
          </a:prstGeom>
          <a:ln w="28575">
            <a:solidFill>
              <a:srgbClr val="B88C00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US" baseline="0"/>
          </a:p>
        </p:txBody>
      </p:sp>
      <p:sp>
        <p:nvSpPr>
          <p:cNvPr id="39942" name="Right Brace 7"/>
          <p:cNvSpPr>
            <a:spLocks/>
          </p:cNvSpPr>
          <p:nvPr/>
        </p:nvSpPr>
        <p:spPr bwMode="auto">
          <a:xfrm>
            <a:off x="6800850" y="3962400"/>
            <a:ext cx="655638" cy="1371600"/>
          </a:xfrm>
          <a:prstGeom prst="rightBrace">
            <a:avLst>
              <a:gd name="adj1" fmla="val 8339"/>
              <a:gd name="adj2" fmla="val 50000"/>
            </a:avLst>
          </a:prstGeom>
          <a:solidFill>
            <a:schemeClr val="bg1"/>
          </a:solidFill>
          <a:ln w="9525" algn="ctr">
            <a:solidFill>
              <a:srgbClr val="00B0F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 baseline="0"/>
          </a:p>
        </p:txBody>
      </p:sp>
      <p:sp>
        <p:nvSpPr>
          <p:cNvPr id="39943" name="TextBox 8"/>
          <p:cNvSpPr txBox="1">
            <a:spLocks noChangeArrowheads="1"/>
          </p:cNvSpPr>
          <p:nvPr/>
        </p:nvSpPr>
        <p:spPr bwMode="auto">
          <a:xfrm>
            <a:off x="7340600" y="2292350"/>
            <a:ext cx="138112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B88C00"/>
                </a:solidFill>
              </a:rPr>
              <a:t>Run-time allocated memory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b="1">
              <a:solidFill>
                <a:srgbClr val="B88C00"/>
              </a:solidFill>
            </a:endParaRPr>
          </a:p>
        </p:txBody>
      </p:sp>
      <p:sp>
        <p:nvSpPr>
          <p:cNvPr id="39944" name="TextBox 9"/>
          <p:cNvSpPr txBox="1">
            <a:spLocks noChangeArrowheads="1"/>
          </p:cNvSpPr>
          <p:nvPr/>
        </p:nvSpPr>
        <p:spPr bwMode="auto">
          <a:xfrm>
            <a:off x="7456488" y="3984625"/>
            <a:ext cx="1382712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00B0F0"/>
                </a:solidFill>
              </a:rPr>
              <a:t>Compile-time allocated memory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b="1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378680"/>
      </p:ext>
    </p:extLst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Dynamic Memory Allocation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000" dirty="0"/>
              <a:t>You can allocate storage for a variable while a program is running</a:t>
            </a:r>
          </a:p>
          <a:p>
            <a:r>
              <a:rPr lang="en-US" altLang="en-US" sz="3000" dirty="0"/>
              <a:t>Use the </a:t>
            </a:r>
            <a:r>
              <a:rPr lang="en-US" altLang="en-US" sz="3000" b="1" dirty="0">
                <a:latin typeface="Courier New" panose="02070309020205020404" pitchFamily="49" charset="0"/>
              </a:rPr>
              <a:t>new</a:t>
            </a:r>
            <a:r>
              <a:rPr lang="en-US" altLang="en-US" sz="3000" dirty="0"/>
              <a:t> operator to allocate memory</a:t>
            </a:r>
          </a:p>
          <a:p>
            <a:pPr lvl="1">
              <a:buNone/>
            </a:pPr>
            <a:r>
              <a:rPr lang="en-US" altLang="en-US" dirty="0"/>
              <a:t>	</a:t>
            </a:r>
            <a:r>
              <a:rPr lang="en-US" altLang="en-US" b="1" dirty="0">
                <a:solidFill>
                  <a:srgbClr val="3D8963"/>
                </a:solidFill>
                <a:latin typeface="Courier New" panose="02070309020205020404" pitchFamily="49" charset="0"/>
              </a:rPr>
              <a:t>double *</a:t>
            </a:r>
            <a:r>
              <a:rPr lang="en-US" altLang="en-US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dptr</a:t>
            </a:r>
            <a:r>
              <a:rPr lang="en-US" altLang="en-US" b="1" dirty="0">
                <a:solidFill>
                  <a:srgbClr val="3D8963"/>
                </a:solidFill>
                <a:latin typeface="Courier New" panose="02070309020205020404" pitchFamily="49" charset="0"/>
              </a:rPr>
              <a:t>;</a:t>
            </a:r>
          </a:p>
          <a:p>
            <a:pPr lvl="1">
              <a:buNone/>
            </a:pPr>
            <a:r>
              <a:rPr lang="en-US" altLang="en-US" b="1" dirty="0">
                <a:solidFill>
                  <a:srgbClr val="3D8963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dptr</a:t>
            </a:r>
            <a:r>
              <a:rPr lang="en-US" altLang="en-US" b="1" dirty="0">
                <a:solidFill>
                  <a:srgbClr val="3D8963"/>
                </a:solidFill>
                <a:latin typeface="Courier New" panose="02070309020205020404" pitchFamily="49" charset="0"/>
              </a:rPr>
              <a:t> = new double;</a:t>
            </a:r>
          </a:p>
          <a:p>
            <a:r>
              <a:rPr lang="en-US" altLang="en-US" sz="3000" b="1" dirty="0">
                <a:latin typeface="Courier New" panose="02070309020205020404" pitchFamily="49" charset="0"/>
              </a:rPr>
              <a:t>new</a:t>
            </a:r>
            <a:r>
              <a:rPr lang="en-US" altLang="en-US" sz="3000" dirty="0"/>
              <a:t> returns address of a memory location</a:t>
            </a:r>
          </a:p>
          <a:p>
            <a:r>
              <a:rPr lang="en-US" altLang="en-US" sz="3000" dirty="0"/>
              <a:t>The data type of the variable is indicated after </a:t>
            </a:r>
            <a:r>
              <a:rPr lang="en-US" alt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47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48319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Using operator </a:t>
            </a:r>
            <a:r>
              <a:rPr lang="en-US" altLang="en-US" dirty="0">
                <a:latin typeface="Courier New" panose="02070309020205020404" pitchFamily="49" charset="0"/>
              </a:rPr>
              <a:t>new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 dirty="0"/>
              <a:t>If memory is available in an area called the free store (or heap), operator new </a:t>
            </a:r>
            <a:r>
              <a:rPr lang="en-US" altLang="en-US" sz="2000" b="1" dirty="0">
                <a:solidFill>
                  <a:srgbClr val="FFCC66"/>
                </a:solidFill>
              </a:rPr>
              <a:t>allocates the requested object or array, and returns a pointer</a:t>
            </a:r>
            <a:r>
              <a:rPr lang="en-US" altLang="en-US" sz="2000" b="1" dirty="0"/>
              <a:t> to (address of ) the memory allocated.</a:t>
            </a:r>
          </a:p>
          <a:p>
            <a:endParaRPr lang="en-US" altLang="en-US" sz="1400" b="1" dirty="0"/>
          </a:p>
          <a:p>
            <a:r>
              <a:rPr lang="en-US" altLang="en-US" sz="2000" b="1" dirty="0"/>
              <a:t>Otherwise, the null pointer is returned.  </a:t>
            </a:r>
          </a:p>
          <a:p>
            <a:endParaRPr lang="en-US" altLang="en-US" sz="1400" b="1" dirty="0"/>
          </a:p>
          <a:p>
            <a:r>
              <a:rPr lang="en-US" altLang="en-US" sz="2000" b="1" dirty="0"/>
              <a:t>The dynamically allocated object exists until the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altLang="en-US" sz="2000" b="1" dirty="0"/>
              <a:t> operator destroys it.</a:t>
            </a:r>
            <a:endParaRPr lang="en-US" altLang="en-US" sz="1600" b="1" dirty="0"/>
          </a:p>
          <a:p>
            <a:pPr>
              <a:buFont typeface="Monotype Sorts" pitchFamily="2" charset="2"/>
              <a:buNone/>
            </a:pPr>
            <a:endParaRPr lang="en-US" altLang="en-US" sz="1600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48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49312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Dynamic Memory Allocation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2057400"/>
            <a:ext cx="8534400" cy="3810000"/>
          </a:xfrm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en-US" altLang="en-US"/>
              <a:t>You can also use </a:t>
            </a:r>
            <a:r>
              <a:rPr lang="en-US" altLang="en-US" b="1">
                <a:latin typeface="Courier New" panose="02070309020205020404" pitchFamily="49" charset="0"/>
              </a:rPr>
              <a:t>new</a:t>
            </a:r>
            <a:r>
              <a:rPr lang="en-US" altLang="en-US"/>
              <a:t> to allocate an array</a:t>
            </a:r>
          </a:p>
          <a:p>
            <a:pPr lvl="1" eaLnBrk="1" hangingPunct="1">
              <a:lnSpc>
                <a:spcPct val="85000"/>
              </a:lnSpc>
              <a:buFontTx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	</a:t>
            </a:r>
            <a:r>
              <a:rPr lang="en-US" altLang="en-US" sz="3200" b="1">
                <a:solidFill>
                  <a:srgbClr val="3D8963"/>
                </a:solidFill>
                <a:latin typeface="Courier New" panose="02070309020205020404" pitchFamily="49" charset="0"/>
              </a:rPr>
              <a:t>arrayPtr = new double[25];</a:t>
            </a:r>
          </a:p>
          <a:p>
            <a:pPr lvl="1" eaLnBrk="1" hangingPunct="1">
              <a:lnSpc>
                <a:spcPct val="85000"/>
              </a:lnSpc>
            </a:pPr>
            <a:r>
              <a:rPr lang="en-US" altLang="en-US"/>
              <a:t>The program may terminate if there is not sufficient memory</a:t>
            </a:r>
          </a:p>
          <a:p>
            <a:pPr lvl="1" eaLnBrk="1" hangingPunct="1">
              <a:lnSpc>
                <a:spcPct val="85000"/>
              </a:lnSpc>
              <a:buFontTx/>
              <a:buNone/>
            </a:pPr>
            <a:endParaRPr lang="en-US" altLang="en-US" sz="2400" b="1">
              <a:solidFill>
                <a:srgbClr val="3D8963"/>
              </a:solidFill>
            </a:endParaRPr>
          </a:p>
          <a:p>
            <a:pPr eaLnBrk="1" hangingPunct="1">
              <a:lnSpc>
                <a:spcPct val="85000"/>
              </a:lnSpc>
            </a:pPr>
            <a:r>
              <a:rPr lang="en-US" altLang="en-US"/>
              <a:t>You can then use </a:t>
            </a:r>
            <a:r>
              <a:rPr lang="en-US" altLang="en-US" b="1">
                <a:latin typeface="Courier New" panose="02070309020205020404" pitchFamily="49" charset="0"/>
              </a:rPr>
              <a:t>[</a:t>
            </a:r>
            <a:r>
              <a:rPr lang="en-US" altLang="en-US" b="1"/>
              <a:t> </a:t>
            </a:r>
            <a:r>
              <a:rPr lang="en-US" altLang="en-US" b="1">
                <a:latin typeface="Courier New" panose="02070309020205020404" pitchFamily="49" charset="0"/>
              </a:rPr>
              <a:t>]</a:t>
            </a:r>
            <a:r>
              <a:rPr lang="en-US" altLang="en-US"/>
              <a:t> or pointer arithmetic to access array</a:t>
            </a:r>
            <a:endParaRPr lang="en-US" altLang="en-US" sz="2400"/>
          </a:p>
          <a:p>
            <a:pPr lvl="1" eaLnBrk="1" hangingPunct="1">
              <a:lnSpc>
                <a:spcPct val="85000"/>
              </a:lnSpc>
              <a:buFontTx/>
              <a:buNone/>
            </a:pPr>
            <a:r>
              <a:rPr lang="en-US" altLang="en-US" sz="2400"/>
              <a:t>	</a:t>
            </a:r>
            <a:endParaRPr lang="en-US" altLang="en-US" sz="2400" b="1">
              <a:solidFill>
                <a:srgbClr val="3D8963"/>
              </a:solidFill>
              <a:latin typeface="Courier New" panose="02070309020205020404" pitchFamily="49" charset="0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4ED2FE-160B-44E1-A61E-AA7E9440E977}" type="slidenum">
              <a:rPr lang="en-US" altLang="en-US" sz="1200" smtClean="0"/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475068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Dynamic Memory Example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00200"/>
            <a:ext cx="8534400" cy="44958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5000"/>
              </a:lnSpc>
              <a:buFontTx/>
              <a:buNone/>
            </a:pP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*count, *</a:t>
            </a:r>
            <a:r>
              <a:rPr lang="en-US" altLang="en-US" sz="2400" b="1" dirty="0" err="1">
                <a:solidFill>
                  <a:srgbClr val="3D896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arrayptr</a:t>
            </a: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 = new int;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en-US" altLang="en-US" sz="2400" b="1" dirty="0" err="1">
                <a:solidFill>
                  <a:srgbClr val="3D896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&lt;&lt;"How many students? ";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en-US" altLang="en-US" sz="2400" b="1" dirty="0" err="1">
                <a:solidFill>
                  <a:srgbClr val="3D896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&gt;&gt; *count;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en-US" altLang="en-US" sz="2400" b="1" dirty="0" err="1">
                <a:solidFill>
                  <a:srgbClr val="3D896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arrayptr</a:t>
            </a: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int[*count];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endParaRPr lang="en-US" altLang="en-US" sz="2400" b="1" dirty="0">
              <a:solidFill>
                <a:srgbClr val="3D896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(int </a:t>
            </a:r>
            <a:r>
              <a:rPr lang="en-US" altLang="en-US" sz="2400" b="1" dirty="0" err="1">
                <a:solidFill>
                  <a:srgbClr val="3D896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altLang="en-US" sz="2400" b="1" dirty="0" err="1">
                <a:solidFill>
                  <a:srgbClr val="3D896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&lt;*count; </a:t>
            </a:r>
            <a:r>
              <a:rPr lang="en-US" altLang="en-US" sz="2400" b="1" dirty="0" err="1">
                <a:solidFill>
                  <a:srgbClr val="3D896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400" b="1" dirty="0" err="1">
                <a:solidFill>
                  <a:srgbClr val="3D896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"Enter score " &lt;&lt; </a:t>
            </a:r>
            <a:r>
              <a:rPr lang="en-US" altLang="en-US" sz="2400" b="1" dirty="0" err="1">
                <a:solidFill>
                  <a:srgbClr val="3D896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": ";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400" b="1" dirty="0" err="1">
                <a:solidFill>
                  <a:srgbClr val="3D896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&gt;&gt; </a:t>
            </a:r>
            <a:r>
              <a:rPr lang="en-US" altLang="en-US" sz="2400" b="1" dirty="0" err="1">
                <a:solidFill>
                  <a:srgbClr val="3D896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arrayptr</a:t>
            </a: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en-US" sz="2400" b="1" dirty="0" err="1">
                <a:solidFill>
                  <a:srgbClr val="3D896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eaLnBrk="1" hangingPunct="1">
              <a:lnSpc>
                <a:spcPct val="85000"/>
              </a:lnSpc>
              <a:buFontTx/>
              <a:buNone/>
            </a:pPr>
            <a:r>
              <a:rPr lang="en-US" altLang="en-US" sz="2400" b="1" dirty="0">
                <a:solidFill>
                  <a:srgbClr val="3D896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altLang="en-US" dirty="0">
                <a:solidFill>
                  <a:srgbClr val="3D8963"/>
                </a:solidFill>
              </a:rPr>
              <a:t>	</a:t>
            </a:r>
            <a:endParaRPr lang="en-US" altLang="en-US" b="1" dirty="0">
              <a:solidFill>
                <a:srgbClr val="3D8963"/>
              </a:solidFill>
              <a:latin typeface="Courier New" panose="02070309020205020404" pitchFamily="49" charset="0"/>
            </a:endParaRP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47BF39-DFEE-47F4-84DB-1A7A06B3F1CD}" type="slidenum">
              <a:rPr lang="en-US" altLang="en-US" sz="1200" smtClean="0"/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7456177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Using Operator </a:t>
            </a:r>
            <a:r>
              <a:rPr lang="en-US" altLang="en-US" b="1" dirty="0"/>
              <a:t>delete to </a:t>
            </a:r>
            <a:r>
              <a:rPr lang="en-US" altLang="en-US" dirty="0"/>
              <a:t>Release Dynamic Memory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sz="2000" dirty="0"/>
              <a:t>Use </a:t>
            </a:r>
            <a:r>
              <a:rPr lang="en-US" altLang="en-US" sz="2000" b="1" dirty="0">
                <a:latin typeface="Courier New" panose="02070309020205020404" pitchFamily="49" charset="0"/>
              </a:rPr>
              <a:t>delete</a:t>
            </a:r>
            <a:r>
              <a:rPr lang="en-US" altLang="en-US" sz="2000" dirty="0"/>
              <a:t> to free dynamic memory</a:t>
            </a:r>
          </a:p>
          <a:p>
            <a:pPr lvl="1"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	</a:t>
            </a:r>
            <a:r>
              <a:rPr lang="en-US" altLang="en-US" sz="2000" b="1" dirty="0">
                <a:solidFill>
                  <a:srgbClr val="3D8963"/>
                </a:solidFill>
                <a:latin typeface="Courier New" panose="02070309020205020404" pitchFamily="49" charset="0"/>
              </a:rPr>
              <a:t>delete count;</a:t>
            </a:r>
            <a:endParaRPr lang="en-US" altLang="en-US" sz="2000" b="1" dirty="0">
              <a:solidFill>
                <a:srgbClr val="3D8963"/>
              </a:solidFill>
            </a:endParaRPr>
          </a:p>
          <a:p>
            <a:pPr>
              <a:spcBef>
                <a:spcPct val="40000"/>
              </a:spcBef>
            </a:pPr>
            <a:r>
              <a:rPr lang="en-US" altLang="en-US" sz="2000" dirty="0"/>
              <a:t>Use </a:t>
            </a:r>
            <a:r>
              <a:rPr lang="en-US" altLang="en-US" sz="2000" b="1" dirty="0">
                <a:latin typeface="Courier New" panose="02070309020205020404" pitchFamily="49" charset="0"/>
              </a:rPr>
              <a:t>delete []</a:t>
            </a:r>
            <a:r>
              <a:rPr lang="en-US" altLang="en-US" sz="2000" dirty="0"/>
              <a:t> to free dynamic array memory</a:t>
            </a:r>
          </a:p>
          <a:p>
            <a:pPr lvl="1">
              <a:buNone/>
            </a:pPr>
            <a:r>
              <a:rPr lang="en-US" altLang="en-US" sz="2000" dirty="0"/>
              <a:t>	</a:t>
            </a:r>
            <a:r>
              <a:rPr lang="en-US" altLang="en-US" sz="2000" b="1" dirty="0">
                <a:solidFill>
                  <a:srgbClr val="3D8963"/>
                </a:solidFill>
                <a:latin typeface="Courier New" panose="02070309020205020404" pitchFamily="49" charset="0"/>
              </a:rPr>
              <a:t>delete [] </a:t>
            </a:r>
            <a:r>
              <a:rPr lang="en-US" altLang="en-US" sz="2000" b="1" dirty="0" err="1">
                <a:solidFill>
                  <a:srgbClr val="3D8963"/>
                </a:solidFill>
                <a:latin typeface="Courier New" panose="02070309020205020404" pitchFamily="49" charset="0"/>
              </a:rPr>
              <a:t>arrayptr</a:t>
            </a:r>
            <a:r>
              <a:rPr lang="en-US" altLang="en-US" sz="2000" b="1" dirty="0">
                <a:solidFill>
                  <a:srgbClr val="3D8963"/>
                </a:solidFill>
                <a:latin typeface="Courier New" panose="02070309020205020404" pitchFamily="49" charset="0"/>
              </a:rPr>
              <a:t>;</a:t>
            </a:r>
          </a:p>
          <a:p>
            <a:endParaRPr lang="en-US" altLang="en-US" sz="2000" dirty="0"/>
          </a:p>
          <a:p>
            <a:endParaRPr lang="en-US" altLang="en-US" sz="2000" dirty="0"/>
          </a:p>
          <a:p>
            <a:r>
              <a:rPr lang="en-US" altLang="en-US" sz="2000" dirty="0"/>
              <a:t>The </a:t>
            </a:r>
            <a:r>
              <a:rPr lang="en-US" altLang="en-US" sz="2000" dirty="0">
                <a:solidFill>
                  <a:srgbClr val="0000CC"/>
                </a:solidFill>
              </a:rPr>
              <a:t>object or array currently pointed to by Pointer is deallocated</a:t>
            </a:r>
            <a:r>
              <a:rPr lang="en-US" altLang="en-US" sz="2000" dirty="0"/>
              <a:t>, and the value of Pointer is undefined.  The memory is returned to the free store.</a:t>
            </a:r>
          </a:p>
          <a:p>
            <a:r>
              <a:rPr lang="en-US" altLang="en-US" sz="2000" dirty="0"/>
              <a:t>Good idea to set the pointer to the released memory to NULL</a:t>
            </a:r>
          </a:p>
          <a:p>
            <a:r>
              <a:rPr lang="en-US" altLang="en-US" sz="2000" dirty="0"/>
              <a:t>Square brackets are used with delete to deallocate a dynamically allocated array. </a:t>
            </a:r>
            <a:endParaRPr lang="en-US" altLang="en-US" sz="2000" u="sng" dirty="0"/>
          </a:p>
          <a:p>
            <a:pPr lvl="1">
              <a:buNone/>
            </a:pPr>
            <a:endParaRPr lang="en-US" altLang="en-US" sz="2000" b="1" dirty="0">
              <a:solidFill>
                <a:srgbClr val="3D8963"/>
              </a:solidFill>
            </a:endParaRPr>
          </a:p>
          <a:p>
            <a:pPr lvl="1">
              <a:buNone/>
            </a:pPr>
            <a:endParaRPr lang="en-US" altLang="en-US" sz="2000" b="1" dirty="0">
              <a:solidFill>
                <a:srgbClr val="3D8963"/>
              </a:solidFill>
            </a:endParaRPr>
          </a:p>
          <a:p>
            <a:pPr>
              <a:spcBef>
                <a:spcPct val="40000"/>
              </a:spcBef>
            </a:pPr>
            <a:r>
              <a:rPr lang="en-US" altLang="en-US" sz="2000" dirty="0"/>
              <a:t>Only use </a:t>
            </a:r>
            <a:r>
              <a:rPr lang="en-US" altLang="en-US" sz="2000" b="1" dirty="0">
                <a:latin typeface="Courier New" panose="02070309020205020404" pitchFamily="49" charset="0"/>
              </a:rPr>
              <a:t>delete</a:t>
            </a:r>
            <a:r>
              <a:rPr lang="en-US" altLang="en-US" sz="2000" dirty="0"/>
              <a:t> with dynamic memory!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51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08075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ChangeArrowheads="1"/>
          </p:cNvSpPr>
          <p:nvPr/>
        </p:nvSpPr>
        <p:spPr bwMode="auto">
          <a:xfrm>
            <a:off x="557213" y="1784350"/>
            <a:ext cx="4243387" cy="3776663"/>
          </a:xfrm>
          <a:prstGeom prst="rect">
            <a:avLst/>
          </a:prstGeom>
          <a:solidFill>
            <a:schemeClr val="bg1"/>
          </a:solidFill>
          <a:ln w="12699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buNone/>
            </a:pPr>
            <a:endParaRPr lang="en-US" altLang="en-US" sz="7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None/>
            </a:pPr>
            <a:endParaRPr lang="en-US" altLang="en-US" sz="7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char*  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ptr</a:t>
            </a:r>
            <a:r>
              <a:rPr lang="en-US" altLang="en-US" sz="2400" b="1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buNone/>
            </a:pPr>
            <a:endParaRPr lang="en-US" altLang="en-US" sz="1600" dirty="0"/>
          </a:p>
          <a:p>
            <a:pPr>
              <a:lnSpc>
                <a:spcPct val="90000"/>
              </a:lnSpc>
              <a:buNone/>
            </a:pPr>
            <a:endParaRPr lang="en-US" altLang="en-US" sz="24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en-US" sz="2400" b="1" dirty="0" err="1">
                <a:latin typeface="Courier New" panose="02070309020205020404" pitchFamily="49" charset="0"/>
              </a:rPr>
              <a:t>ptr</a:t>
            </a:r>
            <a:r>
              <a:rPr lang="en-US" altLang="en-US" sz="2400" b="1" dirty="0">
                <a:latin typeface="Courier New" panose="02070309020205020404" pitchFamily="49" charset="0"/>
              </a:rPr>
              <a:t> = new char;</a:t>
            </a:r>
            <a:endParaRPr lang="en-US" altLang="en-US" sz="1600" dirty="0"/>
          </a:p>
          <a:p>
            <a:pPr>
              <a:lnSpc>
                <a:spcPct val="90000"/>
              </a:lnSpc>
              <a:buNone/>
            </a:pPr>
            <a:endParaRPr lang="en-US" altLang="en-US" sz="700" dirty="0"/>
          </a:p>
          <a:p>
            <a:pPr>
              <a:lnSpc>
                <a:spcPct val="90000"/>
              </a:lnSpc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*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ptr</a:t>
            </a:r>
            <a:r>
              <a:rPr lang="en-US" altLang="en-US" sz="2400" b="1" dirty="0">
                <a:latin typeface="Courier New" panose="02070309020205020404" pitchFamily="49" charset="0"/>
              </a:rPr>
              <a:t> = ‘B’;  </a:t>
            </a:r>
          </a:p>
          <a:p>
            <a:pPr>
              <a:lnSpc>
                <a:spcPct val="90000"/>
              </a:lnSpc>
              <a:buNone/>
            </a:pPr>
            <a:endParaRPr lang="en-US" altLang="en-US" sz="1100" dirty="0"/>
          </a:p>
          <a:p>
            <a:pPr>
              <a:lnSpc>
                <a:spcPct val="90000"/>
              </a:lnSpc>
              <a:buNone/>
            </a:pPr>
            <a:r>
              <a:rPr lang="en-US" altLang="en-US" sz="2400" b="1" dirty="0" err="1">
                <a:latin typeface="Courier New" panose="02070309020205020404" pitchFamily="49" charset="0"/>
              </a:rPr>
              <a:t>cout</a:t>
            </a:r>
            <a:r>
              <a:rPr lang="en-US" altLang="en-US" sz="2400" b="1" dirty="0">
                <a:latin typeface="Courier New" panose="02070309020205020404" pitchFamily="49" charset="0"/>
              </a:rPr>
              <a:t> &lt;&lt; *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ptr</a:t>
            </a:r>
            <a:r>
              <a:rPr lang="en-US" altLang="en-US" sz="2400" b="1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delete  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ptr</a:t>
            </a:r>
            <a:r>
              <a:rPr lang="en-US" altLang="en-US" sz="2400" b="1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buNone/>
            </a:pPr>
            <a:endParaRPr lang="en-US" altLang="en-US" sz="2400" b="1" dirty="0">
              <a:latin typeface="Courier New" panose="02070309020205020404" pitchFamily="49" charset="0"/>
            </a:endParaRPr>
          </a:p>
        </p:txBody>
      </p:sp>
      <p:sp>
        <p:nvSpPr>
          <p:cNvPr id="53251" name="Rectangle 3"/>
          <p:cNvSpPr>
            <a:spLocks noChangeArrowheads="1"/>
          </p:cNvSpPr>
          <p:nvPr/>
        </p:nvSpPr>
        <p:spPr bwMode="auto">
          <a:xfrm>
            <a:off x="608958" y="2107819"/>
            <a:ext cx="2860675" cy="4984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baseline="0">
              <a:solidFill>
                <a:srgbClr val="000000"/>
              </a:solidFill>
            </a:endParaRPr>
          </a:p>
        </p:txBody>
      </p:sp>
      <p:sp>
        <p:nvSpPr>
          <p:cNvPr id="53252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b"/>
          <a:lstStyle/>
          <a:p>
            <a:r>
              <a:rPr lang="en-US" altLang="en-US"/>
              <a:t>Dynamically Allocated Data</a:t>
            </a:r>
          </a:p>
        </p:txBody>
      </p:sp>
      <p:sp>
        <p:nvSpPr>
          <p:cNvPr id="53258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01B0A8A9-8209-43AF-9653-6AC50AB94D88}" type="slidenum">
              <a:rPr kumimoji="0" lang="en-US" altLang="en-US" sz="1400" smtClean="0">
                <a:latin typeface="Times New Roman" panose="02020603050405020304" pitchFamily="18" charset="0"/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52</a:t>
            </a:fld>
            <a:endParaRPr kumimoji="0"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53254" name="Rectangle 6"/>
          <p:cNvSpPr>
            <a:spLocks noChangeArrowheads="1"/>
          </p:cNvSpPr>
          <p:nvPr/>
        </p:nvSpPr>
        <p:spPr bwMode="auto">
          <a:xfrm>
            <a:off x="4959350" y="2189163"/>
            <a:ext cx="1168400" cy="566737"/>
          </a:xfrm>
          <a:prstGeom prst="rect">
            <a:avLst/>
          </a:prstGeom>
          <a:solidFill>
            <a:schemeClr val="accent1"/>
          </a:solidFill>
          <a:ln w="12699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aseline="0" dirty="0">
                <a:solidFill>
                  <a:srgbClr val="000000"/>
                </a:solidFill>
              </a:rPr>
              <a:t>?</a:t>
            </a:r>
          </a:p>
        </p:txBody>
      </p:sp>
      <p:sp>
        <p:nvSpPr>
          <p:cNvPr id="53257" name="Rectangle 9"/>
          <p:cNvSpPr>
            <a:spLocks noChangeArrowheads="1"/>
          </p:cNvSpPr>
          <p:nvPr/>
        </p:nvSpPr>
        <p:spPr bwMode="auto">
          <a:xfrm>
            <a:off x="4899469" y="2772278"/>
            <a:ext cx="571500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baseline="0" dirty="0" err="1">
                <a:solidFill>
                  <a:srgbClr val="000000"/>
                </a:solidFill>
              </a:rPr>
              <a:t>ptr</a:t>
            </a:r>
            <a:endParaRPr kumimoji="0" lang="en-US" altLang="en-US" sz="2000" b="1" baseline="0" dirty="0">
              <a:solidFill>
                <a:srgbClr val="00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82600" y="5978143"/>
            <a:ext cx="5499100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altLang="en-US" b="1" dirty="0">
                <a:solidFill>
                  <a:srgbClr val="FF0000"/>
                </a:solidFill>
              </a:rPr>
              <a:t>NOTE:  Dynamic data has no variable name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948865" y="1819831"/>
            <a:ext cx="6976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CC0000"/>
                </a:solidFill>
              </a:rPr>
              <a:t>1000</a:t>
            </a:r>
            <a:endParaRPr lang="en-US" altLang="en-US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4647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ChangeArrowheads="1"/>
          </p:cNvSpPr>
          <p:nvPr/>
        </p:nvSpPr>
        <p:spPr bwMode="auto">
          <a:xfrm>
            <a:off x="557213" y="1784350"/>
            <a:ext cx="4243387" cy="3776663"/>
          </a:xfrm>
          <a:prstGeom prst="rect">
            <a:avLst/>
          </a:prstGeom>
          <a:solidFill>
            <a:schemeClr val="bg1"/>
          </a:solidFill>
          <a:ln w="12699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buNone/>
            </a:pPr>
            <a:endParaRPr lang="en-US" altLang="en-US" sz="7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None/>
            </a:pPr>
            <a:endParaRPr lang="en-US" altLang="en-US" sz="7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char*  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ptr</a:t>
            </a:r>
            <a:r>
              <a:rPr lang="en-US" altLang="en-US" sz="2400" b="1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buNone/>
            </a:pPr>
            <a:endParaRPr lang="en-US" altLang="en-US" sz="1600" dirty="0"/>
          </a:p>
          <a:p>
            <a:pPr>
              <a:lnSpc>
                <a:spcPct val="90000"/>
              </a:lnSpc>
              <a:buNone/>
            </a:pPr>
            <a:endParaRPr lang="en-US" altLang="en-US" sz="24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en-US" sz="2400" b="1" dirty="0" err="1">
                <a:latin typeface="Courier New" panose="02070309020205020404" pitchFamily="49" charset="0"/>
              </a:rPr>
              <a:t>ptr</a:t>
            </a:r>
            <a:r>
              <a:rPr lang="en-US" altLang="en-US" sz="2400" b="1" dirty="0">
                <a:latin typeface="Courier New" panose="02070309020205020404" pitchFamily="49" charset="0"/>
              </a:rPr>
              <a:t> = new char;</a:t>
            </a:r>
            <a:endParaRPr lang="en-US" altLang="en-US" sz="1600" dirty="0"/>
          </a:p>
          <a:p>
            <a:pPr>
              <a:lnSpc>
                <a:spcPct val="90000"/>
              </a:lnSpc>
              <a:buNone/>
            </a:pPr>
            <a:endParaRPr lang="en-US" altLang="en-US" sz="700" dirty="0"/>
          </a:p>
          <a:p>
            <a:pPr>
              <a:lnSpc>
                <a:spcPct val="90000"/>
              </a:lnSpc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*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ptr</a:t>
            </a:r>
            <a:r>
              <a:rPr lang="en-US" altLang="en-US" sz="2400" b="1" dirty="0">
                <a:latin typeface="Courier New" panose="02070309020205020404" pitchFamily="49" charset="0"/>
              </a:rPr>
              <a:t> = ‘B’;  </a:t>
            </a:r>
          </a:p>
          <a:p>
            <a:pPr>
              <a:lnSpc>
                <a:spcPct val="90000"/>
              </a:lnSpc>
              <a:buNone/>
            </a:pPr>
            <a:endParaRPr lang="en-US" altLang="en-US" sz="1100" dirty="0"/>
          </a:p>
          <a:p>
            <a:pPr>
              <a:lnSpc>
                <a:spcPct val="90000"/>
              </a:lnSpc>
              <a:buNone/>
            </a:pPr>
            <a:r>
              <a:rPr lang="en-US" altLang="en-US" sz="2400" b="1" dirty="0" err="1">
                <a:latin typeface="Courier New" panose="02070309020205020404" pitchFamily="49" charset="0"/>
              </a:rPr>
              <a:t>cout</a:t>
            </a:r>
            <a:r>
              <a:rPr lang="en-US" altLang="en-US" sz="2400" b="1" dirty="0">
                <a:latin typeface="Courier New" panose="02070309020205020404" pitchFamily="49" charset="0"/>
              </a:rPr>
              <a:t> &lt;&lt; *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ptr</a:t>
            </a:r>
            <a:r>
              <a:rPr lang="en-US" altLang="en-US" sz="2400" b="1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delete  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ptr</a:t>
            </a:r>
            <a:r>
              <a:rPr lang="en-US" altLang="en-US" sz="2400" b="1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buNone/>
            </a:pPr>
            <a:endParaRPr lang="en-US" altLang="en-US" sz="2400" b="1" dirty="0">
              <a:latin typeface="Courier New" panose="02070309020205020404" pitchFamily="49" charset="0"/>
            </a:endParaRPr>
          </a:p>
        </p:txBody>
      </p:sp>
      <p:sp>
        <p:nvSpPr>
          <p:cNvPr id="53251" name="Rectangle 3"/>
          <p:cNvSpPr>
            <a:spLocks noChangeArrowheads="1"/>
          </p:cNvSpPr>
          <p:nvPr/>
        </p:nvSpPr>
        <p:spPr bwMode="auto">
          <a:xfrm>
            <a:off x="628650" y="3178016"/>
            <a:ext cx="2860675" cy="4984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baseline="0">
              <a:solidFill>
                <a:srgbClr val="000000"/>
              </a:solidFill>
            </a:endParaRPr>
          </a:p>
        </p:txBody>
      </p:sp>
      <p:sp>
        <p:nvSpPr>
          <p:cNvPr id="53252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b"/>
          <a:lstStyle/>
          <a:p>
            <a:r>
              <a:rPr lang="en-US" altLang="en-US"/>
              <a:t>Dynamically Allocated Data</a:t>
            </a:r>
          </a:p>
        </p:txBody>
      </p:sp>
      <p:sp>
        <p:nvSpPr>
          <p:cNvPr id="53258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01B0A8A9-8209-43AF-9653-6AC50AB94D88}" type="slidenum">
              <a:rPr kumimoji="0" lang="en-US" altLang="en-US" sz="1400" smtClean="0">
                <a:latin typeface="Times New Roman" panose="02020603050405020304" pitchFamily="18" charset="0"/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53</a:t>
            </a:fld>
            <a:endParaRPr kumimoji="0"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53254" name="Rectangle 6"/>
          <p:cNvSpPr>
            <a:spLocks noChangeArrowheads="1"/>
          </p:cNvSpPr>
          <p:nvPr/>
        </p:nvSpPr>
        <p:spPr bwMode="auto">
          <a:xfrm>
            <a:off x="4959350" y="2189163"/>
            <a:ext cx="1168400" cy="566737"/>
          </a:xfrm>
          <a:prstGeom prst="rect">
            <a:avLst/>
          </a:prstGeom>
          <a:solidFill>
            <a:schemeClr val="accent1"/>
          </a:solidFill>
          <a:ln w="12699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baseline="0">
              <a:solidFill>
                <a:srgbClr val="000000"/>
              </a:solidFill>
            </a:endParaRPr>
          </a:p>
        </p:txBody>
      </p:sp>
      <p:sp>
        <p:nvSpPr>
          <p:cNvPr id="53255" name="Rectangle 7"/>
          <p:cNvSpPr>
            <a:spLocks noChangeArrowheads="1"/>
          </p:cNvSpPr>
          <p:nvPr/>
        </p:nvSpPr>
        <p:spPr bwMode="auto">
          <a:xfrm>
            <a:off x="6486525" y="3905250"/>
            <a:ext cx="977900" cy="566738"/>
          </a:xfrm>
          <a:prstGeom prst="rect">
            <a:avLst/>
          </a:prstGeom>
          <a:solidFill>
            <a:schemeClr val="accent1"/>
          </a:solidFill>
          <a:ln w="12699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aseline="0">
                <a:solidFill>
                  <a:srgbClr val="000000"/>
                </a:solidFill>
              </a:rPr>
              <a:t>    ?</a:t>
            </a:r>
          </a:p>
        </p:txBody>
      </p:sp>
      <p:sp>
        <p:nvSpPr>
          <p:cNvPr id="53256" name="Line 8"/>
          <p:cNvSpPr>
            <a:spLocks noChangeShapeType="1"/>
          </p:cNvSpPr>
          <p:nvPr/>
        </p:nvSpPr>
        <p:spPr bwMode="auto">
          <a:xfrm flipH="1" flipV="1">
            <a:off x="5981700" y="2495550"/>
            <a:ext cx="933450" cy="12573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57" name="Rectangle 9"/>
          <p:cNvSpPr>
            <a:spLocks noChangeArrowheads="1"/>
          </p:cNvSpPr>
          <p:nvPr/>
        </p:nvSpPr>
        <p:spPr bwMode="auto">
          <a:xfrm>
            <a:off x="4937125" y="1790700"/>
            <a:ext cx="3425825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baseline="0">
                <a:solidFill>
                  <a:srgbClr val="CC0000"/>
                </a:solidFill>
              </a:rPr>
              <a:t>1000</a:t>
            </a:r>
            <a:endParaRPr kumimoji="0" lang="en-US" altLang="en-US" sz="20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4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baseline="0">
                <a:solidFill>
                  <a:srgbClr val="000000"/>
                </a:solidFill>
              </a:rPr>
              <a:t>ptr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0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000" b="1" baseline="0">
              <a:solidFill>
                <a:srgbClr val="00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82600" y="5978143"/>
            <a:ext cx="5499100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altLang="en-US" b="1" dirty="0">
                <a:solidFill>
                  <a:srgbClr val="FF0000"/>
                </a:solidFill>
              </a:rPr>
              <a:t>NOTE:  Dynamic data has no variable name</a:t>
            </a:r>
          </a:p>
        </p:txBody>
      </p:sp>
    </p:spTree>
    <p:extLst>
      <p:ext uri="{BB962C8B-B14F-4D97-AF65-F5344CB8AC3E}">
        <p14:creationId xmlns:p14="http://schemas.microsoft.com/office/powerpoint/2010/main" val="31092762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ChangeArrowheads="1"/>
          </p:cNvSpPr>
          <p:nvPr/>
        </p:nvSpPr>
        <p:spPr bwMode="auto">
          <a:xfrm>
            <a:off x="557213" y="1784350"/>
            <a:ext cx="4243387" cy="3776663"/>
          </a:xfrm>
          <a:prstGeom prst="rect">
            <a:avLst/>
          </a:prstGeom>
          <a:solidFill>
            <a:schemeClr val="bg1"/>
          </a:solidFill>
          <a:ln w="12699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buNone/>
            </a:pPr>
            <a:endParaRPr lang="en-US" altLang="en-US" sz="7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None/>
            </a:pPr>
            <a:endParaRPr lang="en-US" altLang="en-US" sz="7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char*  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ptr</a:t>
            </a:r>
            <a:r>
              <a:rPr lang="en-US" altLang="en-US" sz="2400" b="1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buNone/>
            </a:pPr>
            <a:endParaRPr lang="en-US" altLang="en-US" sz="1600" dirty="0"/>
          </a:p>
          <a:p>
            <a:pPr>
              <a:lnSpc>
                <a:spcPct val="90000"/>
              </a:lnSpc>
              <a:buNone/>
            </a:pPr>
            <a:endParaRPr lang="en-US" altLang="en-US" sz="24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en-US" sz="2400" b="1" dirty="0" err="1">
                <a:latin typeface="Courier New" panose="02070309020205020404" pitchFamily="49" charset="0"/>
              </a:rPr>
              <a:t>ptr</a:t>
            </a:r>
            <a:r>
              <a:rPr lang="en-US" altLang="en-US" sz="2400" b="1" dirty="0">
                <a:latin typeface="Courier New" panose="02070309020205020404" pitchFamily="49" charset="0"/>
              </a:rPr>
              <a:t> = new char;</a:t>
            </a:r>
            <a:endParaRPr lang="en-US" altLang="en-US" sz="1600" dirty="0"/>
          </a:p>
          <a:p>
            <a:pPr>
              <a:lnSpc>
                <a:spcPct val="90000"/>
              </a:lnSpc>
              <a:buNone/>
            </a:pPr>
            <a:endParaRPr lang="en-US" altLang="en-US" sz="700" dirty="0"/>
          </a:p>
          <a:p>
            <a:pPr>
              <a:lnSpc>
                <a:spcPct val="90000"/>
              </a:lnSpc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*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ptr</a:t>
            </a:r>
            <a:r>
              <a:rPr lang="en-US" altLang="en-US" sz="2400" b="1" dirty="0">
                <a:latin typeface="Courier New" panose="02070309020205020404" pitchFamily="49" charset="0"/>
              </a:rPr>
              <a:t> = ‘B’;  </a:t>
            </a:r>
          </a:p>
          <a:p>
            <a:pPr>
              <a:lnSpc>
                <a:spcPct val="90000"/>
              </a:lnSpc>
              <a:buNone/>
            </a:pPr>
            <a:endParaRPr lang="en-US" altLang="en-US" sz="1100" dirty="0"/>
          </a:p>
          <a:p>
            <a:pPr>
              <a:lnSpc>
                <a:spcPct val="90000"/>
              </a:lnSpc>
              <a:buNone/>
            </a:pPr>
            <a:r>
              <a:rPr lang="en-US" altLang="en-US" sz="2400" b="1" dirty="0" err="1">
                <a:latin typeface="Courier New" panose="02070309020205020404" pitchFamily="49" charset="0"/>
              </a:rPr>
              <a:t>cout</a:t>
            </a:r>
            <a:r>
              <a:rPr lang="en-US" altLang="en-US" sz="2400" b="1" dirty="0">
                <a:latin typeface="Courier New" panose="02070309020205020404" pitchFamily="49" charset="0"/>
              </a:rPr>
              <a:t> &lt;&lt; *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ptr</a:t>
            </a:r>
            <a:r>
              <a:rPr lang="en-US" altLang="en-US" sz="2400" b="1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delete  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ptr</a:t>
            </a:r>
            <a:r>
              <a:rPr lang="en-US" altLang="en-US" sz="2400" b="1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buNone/>
            </a:pPr>
            <a:endParaRPr lang="en-US" altLang="en-US" sz="2400" b="1" dirty="0">
              <a:latin typeface="Courier New" panose="02070309020205020404" pitchFamily="49" charset="0"/>
            </a:endParaRPr>
          </a:p>
        </p:txBody>
      </p:sp>
      <p:sp>
        <p:nvSpPr>
          <p:cNvPr id="53251" name="Rectangle 3"/>
          <p:cNvSpPr>
            <a:spLocks noChangeArrowheads="1"/>
          </p:cNvSpPr>
          <p:nvPr/>
        </p:nvSpPr>
        <p:spPr bwMode="auto">
          <a:xfrm>
            <a:off x="625602" y="3656012"/>
            <a:ext cx="2860675" cy="4984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baseline="0">
              <a:solidFill>
                <a:srgbClr val="000000"/>
              </a:solidFill>
            </a:endParaRPr>
          </a:p>
        </p:txBody>
      </p:sp>
      <p:sp>
        <p:nvSpPr>
          <p:cNvPr id="53252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b"/>
          <a:lstStyle/>
          <a:p>
            <a:r>
              <a:rPr lang="en-US" altLang="en-US"/>
              <a:t>Dynamically Allocated Data</a:t>
            </a:r>
          </a:p>
        </p:txBody>
      </p:sp>
      <p:sp>
        <p:nvSpPr>
          <p:cNvPr id="53258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01B0A8A9-8209-43AF-9653-6AC50AB94D88}" type="slidenum">
              <a:rPr kumimoji="0" lang="en-US" altLang="en-US" sz="1400" smtClean="0">
                <a:latin typeface="Times New Roman" panose="02020603050405020304" pitchFamily="18" charset="0"/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54</a:t>
            </a:fld>
            <a:endParaRPr kumimoji="0"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53254" name="Rectangle 6"/>
          <p:cNvSpPr>
            <a:spLocks noChangeArrowheads="1"/>
          </p:cNvSpPr>
          <p:nvPr/>
        </p:nvSpPr>
        <p:spPr bwMode="auto">
          <a:xfrm>
            <a:off x="4959350" y="2189163"/>
            <a:ext cx="1168400" cy="566737"/>
          </a:xfrm>
          <a:prstGeom prst="rect">
            <a:avLst/>
          </a:prstGeom>
          <a:solidFill>
            <a:schemeClr val="accent1"/>
          </a:solidFill>
          <a:ln w="12699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baseline="0">
              <a:solidFill>
                <a:srgbClr val="000000"/>
              </a:solidFill>
            </a:endParaRPr>
          </a:p>
        </p:txBody>
      </p:sp>
      <p:sp>
        <p:nvSpPr>
          <p:cNvPr id="53255" name="Rectangle 7"/>
          <p:cNvSpPr>
            <a:spLocks noChangeArrowheads="1"/>
          </p:cNvSpPr>
          <p:nvPr/>
        </p:nvSpPr>
        <p:spPr bwMode="auto">
          <a:xfrm>
            <a:off x="6486525" y="3905250"/>
            <a:ext cx="977900" cy="566738"/>
          </a:xfrm>
          <a:prstGeom prst="rect">
            <a:avLst/>
          </a:prstGeom>
          <a:solidFill>
            <a:schemeClr val="accent1"/>
          </a:solidFill>
          <a:ln w="12699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aseline="0" dirty="0">
                <a:solidFill>
                  <a:srgbClr val="000000"/>
                </a:solidFill>
              </a:rPr>
              <a:t> </a:t>
            </a:r>
            <a:r>
              <a:rPr kumimoji="0" lang="en-US" altLang="en-US" sz="2400" b="1" dirty="0">
                <a:solidFill>
                  <a:srgbClr val="000000"/>
                </a:solidFill>
              </a:rPr>
              <a:t>‘B’</a:t>
            </a:r>
            <a:endParaRPr kumimoji="0" lang="en-US" altLang="en-US" sz="2400" baseline="0" dirty="0">
              <a:solidFill>
                <a:srgbClr val="000000"/>
              </a:solidFill>
            </a:endParaRPr>
          </a:p>
        </p:txBody>
      </p:sp>
      <p:sp>
        <p:nvSpPr>
          <p:cNvPr id="53256" name="Line 8"/>
          <p:cNvSpPr>
            <a:spLocks noChangeShapeType="1"/>
          </p:cNvSpPr>
          <p:nvPr/>
        </p:nvSpPr>
        <p:spPr bwMode="auto">
          <a:xfrm flipH="1" flipV="1">
            <a:off x="5981700" y="2495550"/>
            <a:ext cx="933450" cy="12573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57" name="Rectangle 9"/>
          <p:cNvSpPr>
            <a:spLocks noChangeArrowheads="1"/>
          </p:cNvSpPr>
          <p:nvPr/>
        </p:nvSpPr>
        <p:spPr bwMode="auto">
          <a:xfrm>
            <a:off x="4937125" y="1790700"/>
            <a:ext cx="3425825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baseline="0">
                <a:solidFill>
                  <a:srgbClr val="CC0000"/>
                </a:solidFill>
              </a:rPr>
              <a:t>1000</a:t>
            </a:r>
            <a:endParaRPr kumimoji="0" lang="en-US" altLang="en-US" sz="20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4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baseline="0">
                <a:solidFill>
                  <a:srgbClr val="000000"/>
                </a:solidFill>
              </a:rPr>
              <a:t>ptr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0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000" b="1" baseline="0">
              <a:solidFill>
                <a:srgbClr val="00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82600" y="5978143"/>
            <a:ext cx="5499100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altLang="en-US" b="1" dirty="0">
                <a:solidFill>
                  <a:srgbClr val="FF0000"/>
                </a:solidFill>
              </a:rPr>
              <a:t>NOTE:  Dynamic data has no variable name</a:t>
            </a:r>
          </a:p>
        </p:txBody>
      </p:sp>
    </p:spTree>
    <p:extLst>
      <p:ext uri="{BB962C8B-B14F-4D97-AF65-F5344CB8AC3E}">
        <p14:creationId xmlns:p14="http://schemas.microsoft.com/office/powerpoint/2010/main" val="402545915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ChangeArrowheads="1"/>
          </p:cNvSpPr>
          <p:nvPr/>
        </p:nvSpPr>
        <p:spPr bwMode="auto">
          <a:xfrm>
            <a:off x="557213" y="1784350"/>
            <a:ext cx="4243387" cy="3776663"/>
          </a:xfrm>
          <a:prstGeom prst="rect">
            <a:avLst/>
          </a:prstGeom>
          <a:solidFill>
            <a:schemeClr val="bg1"/>
          </a:solidFill>
          <a:ln w="12699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buNone/>
            </a:pPr>
            <a:endParaRPr lang="en-US" altLang="en-US" sz="7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None/>
            </a:pPr>
            <a:endParaRPr lang="en-US" altLang="en-US" sz="7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char*  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ptr</a:t>
            </a:r>
            <a:r>
              <a:rPr lang="en-US" altLang="en-US" sz="2400" b="1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buNone/>
            </a:pPr>
            <a:endParaRPr lang="en-US" altLang="en-US" sz="1600" dirty="0"/>
          </a:p>
          <a:p>
            <a:pPr>
              <a:lnSpc>
                <a:spcPct val="90000"/>
              </a:lnSpc>
              <a:buNone/>
            </a:pPr>
            <a:endParaRPr lang="en-US" altLang="en-US" sz="24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en-US" sz="2400" b="1" dirty="0" err="1">
                <a:latin typeface="Courier New" panose="02070309020205020404" pitchFamily="49" charset="0"/>
              </a:rPr>
              <a:t>ptr</a:t>
            </a:r>
            <a:r>
              <a:rPr lang="en-US" altLang="en-US" sz="2400" b="1" dirty="0">
                <a:latin typeface="Courier New" panose="02070309020205020404" pitchFamily="49" charset="0"/>
              </a:rPr>
              <a:t> = new char;</a:t>
            </a:r>
            <a:endParaRPr lang="en-US" altLang="en-US" sz="1600" dirty="0"/>
          </a:p>
          <a:p>
            <a:pPr>
              <a:lnSpc>
                <a:spcPct val="90000"/>
              </a:lnSpc>
              <a:buNone/>
            </a:pPr>
            <a:endParaRPr lang="en-US" altLang="en-US" sz="700" dirty="0"/>
          </a:p>
          <a:p>
            <a:pPr>
              <a:lnSpc>
                <a:spcPct val="90000"/>
              </a:lnSpc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*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ptr</a:t>
            </a:r>
            <a:r>
              <a:rPr lang="en-US" altLang="en-US" sz="2400" b="1" dirty="0">
                <a:latin typeface="Courier New" panose="02070309020205020404" pitchFamily="49" charset="0"/>
              </a:rPr>
              <a:t> = ‘B’;  </a:t>
            </a:r>
          </a:p>
          <a:p>
            <a:pPr>
              <a:lnSpc>
                <a:spcPct val="90000"/>
              </a:lnSpc>
              <a:buNone/>
            </a:pPr>
            <a:endParaRPr lang="en-US" altLang="en-US" sz="1100" dirty="0"/>
          </a:p>
          <a:p>
            <a:pPr>
              <a:lnSpc>
                <a:spcPct val="90000"/>
              </a:lnSpc>
              <a:buNone/>
            </a:pPr>
            <a:r>
              <a:rPr lang="en-US" altLang="en-US" sz="2400" b="1" dirty="0" err="1">
                <a:latin typeface="Courier New" panose="02070309020205020404" pitchFamily="49" charset="0"/>
              </a:rPr>
              <a:t>cout</a:t>
            </a:r>
            <a:r>
              <a:rPr lang="en-US" altLang="en-US" sz="2400" b="1" dirty="0">
                <a:latin typeface="Courier New" panose="02070309020205020404" pitchFamily="49" charset="0"/>
              </a:rPr>
              <a:t> &lt;&lt; *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ptr</a:t>
            </a:r>
            <a:r>
              <a:rPr lang="en-US" altLang="en-US" sz="2400" b="1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delete  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ptr</a:t>
            </a:r>
            <a:r>
              <a:rPr lang="en-US" altLang="en-US" sz="2400" b="1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buNone/>
            </a:pPr>
            <a:endParaRPr lang="en-US" altLang="en-US" sz="2400" b="1" dirty="0">
              <a:latin typeface="Courier New" panose="02070309020205020404" pitchFamily="49" charset="0"/>
            </a:endParaRPr>
          </a:p>
        </p:txBody>
      </p:sp>
      <p:sp>
        <p:nvSpPr>
          <p:cNvPr id="53251" name="Rectangle 3"/>
          <p:cNvSpPr>
            <a:spLocks noChangeArrowheads="1"/>
          </p:cNvSpPr>
          <p:nvPr/>
        </p:nvSpPr>
        <p:spPr bwMode="auto">
          <a:xfrm>
            <a:off x="628650" y="4222750"/>
            <a:ext cx="2860675" cy="4984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baseline="0">
              <a:solidFill>
                <a:srgbClr val="000000"/>
              </a:solidFill>
            </a:endParaRPr>
          </a:p>
        </p:txBody>
      </p:sp>
      <p:sp>
        <p:nvSpPr>
          <p:cNvPr id="53252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b"/>
          <a:lstStyle/>
          <a:p>
            <a:r>
              <a:rPr lang="en-US" altLang="en-US"/>
              <a:t>Dynamically Allocated Data</a:t>
            </a:r>
          </a:p>
        </p:txBody>
      </p:sp>
      <p:sp>
        <p:nvSpPr>
          <p:cNvPr id="53258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01B0A8A9-8209-43AF-9653-6AC50AB94D88}" type="slidenum">
              <a:rPr kumimoji="0" lang="en-US" altLang="en-US" sz="1400" smtClean="0">
                <a:latin typeface="Times New Roman" panose="02020603050405020304" pitchFamily="18" charset="0"/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55</a:t>
            </a:fld>
            <a:endParaRPr kumimoji="0"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53254" name="Rectangle 6"/>
          <p:cNvSpPr>
            <a:spLocks noChangeArrowheads="1"/>
          </p:cNvSpPr>
          <p:nvPr/>
        </p:nvSpPr>
        <p:spPr bwMode="auto">
          <a:xfrm>
            <a:off x="4959350" y="2189163"/>
            <a:ext cx="1168400" cy="566737"/>
          </a:xfrm>
          <a:prstGeom prst="rect">
            <a:avLst/>
          </a:prstGeom>
          <a:solidFill>
            <a:schemeClr val="accent1"/>
          </a:solidFill>
          <a:ln w="12699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baseline="0">
              <a:solidFill>
                <a:srgbClr val="000000"/>
              </a:solidFill>
            </a:endParaRPr>
          </a:p>
        </p:txBody>
      </p:sp>
      <p:sp>
        <p:nvSpPr>
          <p:cNvPr id="53255" name="Rectangle 7"/>
          <p:cNvSpPr>
            <a:spLocks noChangeArrowheads="1"/>
          </p:cNvSpPr>
          <p:nvPr/>
        </p:nvSpPr>
        <p:spPr bwMode="auto">
          <a:xfrm>
            <a:off x="6486525" y="3905250"/>
            <a:ext cx="977900" cy="566738"/>
          </a:xfrm>
          <a:prstGeom prst="rect">
            <a:avLst/>
          </a:prstGeom>
          <a:solidFill>
            <a:schemeClr val="accent1"/>
          </a:solidFill>
          <a:ln w="12699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aseline="0" dirty="0">
                <a:solidFill>
                  <a:srgbClr val="000000"/>
                </a:solidFill>
              </a:rPr>
              <a:t> </a:t>
            </a:r>
            <a:r>
              <a:rPr kumimoji="0" lang="en-US" altLang="en-US" sz="2400" b="1" dirty="0">
                <a:solidFill>
                  <a:srgbClr val="000000"/>
                </a:solidFill>
              </a:rPr>
              <a:t>‘B’</a:t>
            </a:r>
            <a:endParaRPr kumimoji="0" lang="en-US" altLang="en-US" sz="2400" baseline="0" dirty="0">
              <a:solidFill>
                <a:srgbClr val="000000"/>
              </a:solidFill>
            </a:endParaRPr>
          </a:p>
        </p:txBody>
      </p:sp>
      <p:sp>
        <p:nvSpPr>
          <p:cNvPr id="53256" name="Line 8"/>
          <p:cNvSpPr>
            <a:spLocks noChangeShapeType="1"/>
          </p:cNvSpPr>
          <p:nvPr/>
        </p:nvSpPr>
        <p:spPr bwMode="auto">
          <a:xfrm flipH="1" flipV="1">
            <a:off x="5981700" y="2495550"/>
            <a:ext cx="933450" cy="12573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57" name="Rectangle 9"/>
          <p:cNvSpPr>
            <a:spLocks noChangeArrowheads="1"/>
          </p:cNvSpPr>
          <p:nvPr/>
        </p:nvSpPr>
        <p:spPr bwMode="auto">
          <a:xfrm>
            <a:off x="4937125" y="1790700"/>
            <a:ext cx="3425825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baseline="0">
                <a:solidFill>
                  <a:srgbClr val="CC0000"/>
                </a:solidFill>
              </a:rPr>
              <a:t>1000</a:t>
            </a:r>
            <a:endParaRPr kumimoji="0" lang="en-US" altLang="en-US" sz="20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4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baseline="0">
                <a:solidFill>
                  <a:srgbClr val="000000"/>
                </a:solidFill>
              </a:rPr>
              <a:t>ptr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0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000" b="1" baseline="0">
              <a:solidFill>
                <a:srgbClr val="00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82600" y="5978143"/>
            <a:ext cx="5499100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altLang="en-US" b="1" dirty="0">
                <a:solidFill>
                  <a:srgbClr val="FF0000"/>
                </a:solidFill>
              </a:rPr>
              <a:t>NOTE:  Dynamic data has no variable name</a:t>
            </a:r>
          </a:p>
        </p:txBody>
      </p:sp>
      <p:sp>
        <p:nvSpPr>
          <p:cNvPr id="11" name="TextBox 1"/>
          <p:cNvSpPr txBox="1">
            <a:spLocks noChangeArrowheads="1"/>
          </p:cNvSpPr>
          <p:nvPr/>
        </p:nvSpPr>
        <p:spPr bwMode="auto">
          <a:xfrm>
            <a:off x="6127750" y="5175251"/>
            <a:ext cx="1879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aseline="0" dirty="0">
                <a:solidFill>
                  <a:srgbClr val="000000"/>
                </a:solidFill>
              </a:rPr>
              <a:t>Displays  B</a:t>
            </a:r>
          </a:p>
        </p:txBody>
      </p:sp>
    </p:spTree>
    <p:extLst>
      <p:ext uri="{BB962C8B-B14F-4D97-AF65-F5344CB8AC3E}">
        <p14:creationId xmlns:p14="http://schemas.microsoft.com/office/powerpoint/2010/main" val="144808773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ChangeArrowheads="1"/>
          </p:cNvSpPr>
          <p:nvPr/>
        </p:nvSpPr>
        <p:spPr bwMode="auto">
          <a:xfrm>
            <a:off x="557213" y="1784350"/>
            <a:ext cx="4243387" cy="3776663"/>
          </a:xfrm>
          <a:prstGeom prst="rect">
            <a:avLst/>
          </a:prstGeom>
          <a:solidFill>
            <a:schemeClr val="bg1"/>
          </a:solidFill>
          <a:ln w="12699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buNone/>
            </a:pPr>
            <a:endParaRPr lang="en-US" altLang="en-US" sz="7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None/>
            </a:pPr>
            <a:endParaRPr lang="en-US" altLang="en-US" sz="7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char*  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ptr</a:t>
            </a:r>
            <a:r>
              <a:rPr lang="en-US" altLang="en-US" sz="2400" b="1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buNone/>
            </a:pPr>
            <a:endParaRPr lang="en-US" altLang="en-US" sz="1600" dirty="0"/>
          </a:p>
          <a:p>
            <a:pPr>
              <a:lnSpc>
                <a:spcPct val="90000"/>
              </a:lnSpc>
              <a:buNone/>
            </a:pPr>
            <a:endParaRPr lang="en-US" altLang="en-US" sz="24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en-US" sz="2400" b="1" dirty="0" err="1">
                <a:latin typeface="Courier New" panose="02070309020205020404" pitchFamily="49" charset="0"/>
              </a:rPr>
              <a:t>ptr</a:t>
            </a:r>
            <a:r>
              <a:rPr lang="en-US" altLang="en-US" sz="2400" b="1" dirty="0">
                <a:latin typeface="Courier New" panose="02070309020205020404" pitchFamily="49" charset="0"/>
              </a:rPr>
              <a:t> = new char;</a:t>
            </a:r>
            <a:endParaRPr lang="en-US" altLang="en-US" sz="1600" dirty="0"/>
          </a:p>
          <a:p>
            <a:pPr>
              <a:lnSpc>
                <a:spcPct val="90000"/>
              </a:lnSpc>
              <a:buNone/>
            </a:pPr>
            <a:endParaRPr lang="en-US" altLang="en-US" sz="700" dirty="0"/>
          </a:p>
          <a:p>
            <a:pPr>
              <a:lnSpc>
                <a:spcPct val="90000"/>
              </a:lnSpc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*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ptr</a:t>
            </a:r>
            <a:r>
              <a:rPr lang="en-US" altLang="en-US" sz="2400" b="1" dirty="0">
                <a:latin typeface="Courier New" panose="02070309020205020404" pitchFamily="49" charset="0"/>
              </a:rPr>
              <a:t> = ‘B’;  </a:t>
            </a:r>
          </a:p>
          <a:p>
            <a:pPr>
              <a:lnSpc>
                <a:spcPct val="90000"/>
              </a:lnSpc>
              <a:buNone/>
            </a:pPr>
            <a:endParaRPr lang="en-US" altLang="en-US" sz="1100" dirty="0"/>
          </a:p>
          <a:p>
            <a:pPr>
              <a:lnSpc>
                <a:spcPct val="90000"/>
              </a:lnSpc>
              <a:buNone/>
            </a:pPr>
            <a:r>
              <a:rPr lang="en-US" altLang="en-US" sz="2400" b="1" dirty="0" err="1">
                <a:latin typeface="Courier New" panose="02070309020205020404" pitchFamily="49" charset="0"/>
              </a:rPr>
              <a:t>cout</a:t>
            </a:r>
            <a:r>
              <a:rPr lang="en-US" altLang="en-US" sz="2400" b="1" dirty="0">
                <a:latin typeface="Courier New" panose="02070309020205020404" pitchFamily="49" charset="0"/>
              </a:rPr>
              <a:t> &lt;&lt; *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ptr</a:t>
            </a:r>
            <a:r>
              <a:rPr lang="en-US" altLang="en-US" sz="2400" b="1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delete  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ptr</a:t>
            </a:r>
            <a:r>
              <a:rPr lang="en-US" altLang="en-US" sz="2400" b="1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buNone/>
            </a:pPr>
            <a:endParaRPr lang="en-US" altLang="en-US" sz="2400" b="1" dirty="0">
              <a:latin typeface="Courier New" panose="02070309020205020404" pitchFamily="49" charset="0"/>
            </a:endParaRPr>
          </a:p>
        </p:txBody>
      </p:sp>
      <p:sp>
        <p:nvSpPr>
          <p:cNvPr id="53251" name="Rectangle 3"/>
          <p:cNvSpPr>
            <a:spLocks noChangeArrowheads="1"/>
          </p:cNvSpPr>
          <p:nvPr/>
        </p:nvSpPr>
        <p:spPr bwMode="auto">
          <a:xfrm>
            <a:off x="583720" y="4663694"/>
            <a:ext cx="2860675" cy="4984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baseline="0">
              <a:solidFill>
                <a:srgbClr val="000000"/>
              </a:solidFill>
            </a:endParaRPr>
          </a:p>
        </p:txBody>
      </p:sp>
      <p:sp>
        <p:nvSpPr>
          <p:cNvPr id="53252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b"/>
          <a:lstStyle/>
          <a:p>
            <a:r>
              <a:rPr lang="en-US" altLang="en-US"/>
              <a:t>Dynamically Allocated Data</a:t>
            </a:r>
          </a:p>
        </p:txBody>
      </p:sp>
      <p:sp>
        <p:nvSpPr>
          <p:cNvPr id="53258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01B0A8A9-8209-43AF-9653-6AC50AB94D88}" type="slidenum">
              <a:rPr kumimoji="0" lang="en-US" altLang="en-US" sz="1400" smtClean="0">
                <a:latin typeface="Times New Roman" panose="02020603050405020304" pitchFamily="18" charset="0"/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56</a:t>
            </a:fld>
            <a:endParaRPr kumimoji="0"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53254" name="Rectangle 6"/>
          <p:cNvSpPr>
            <a:spLocks noChangeArrowheads="1"/>
          </p:cNvSpPr>
          <p:nvPr/>
        </p:nvSpPr>
        <p:spPr bwMode="auto">
          <a:xfrm>
            <a:off x="4959350" y="2189163"/>
            <a:ext cx="1168400" cy="566737"/>
          </a:xfrm>
          <a:prstGeom prst="rect">
            <a:avLst/>
          </a:prstGeom>
          <a:solidFill>
            <a:schemeClr val="accent1"/>
          </a:solidFill>
          <a:ln w="12699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aseline="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53257" name="Rectangle 9"/>
          <p:cNvSpPr>
            <a:spLocks noChangeArrowheads="1"/>
          </p:cNvSpPr>
          <p:nvPr/>
        </p:nvSpPr>
        <p:spPr bwMode="auto">
          <a:xfrm>
            <a:off x="4899469" y="2772278"/>
            <a:ext cx="571500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baseline="0" dirty="0" err="1">
                <a:solidFill>
                  <a:srgbClr val="000000"/>
                </a:solidFill>
              </a:rPr>
              <a:t>ptr</a:t>
            </a:r>
            <a:endParaRPr kumimoji="0" lang="en-US" altLang="en-US" sz="2000" b="1" baseline="0" dirty="0">
              <a:solidFill>
                <a:srgbClr val="0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948865" y="1819831"/>
            <a:ext cx="6976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CC0000"/>
                </a:solidFill>
              </a:rPr>
              <a:t>1000</a:t>
            </a:r>
            <a:endParaRPr lang="en-US" altLang="en-US" b="1" dirty="0">
              <a:solidFill>
                <a:srgbClr val="0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929949" y="3929255"/>
            <a:ext cx="42854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b="1" dirty="0">
                <a:solidFill>
                  <a:srgbClr val="A50021"/>
                </a:solidFill>
              </a:rPr>
              <a:t>NOTE:  Delete deallocates the memory pointed to by </a:t>
            </a:r>
            <a:r>
              <a:rPr lang="en-US" altLang="en-US" b="1" dirty="0" err="1">
                <a:solidFill>
                  <a:srgbClr val="A50021"/>
                </a:solidFill>
              </a:rPr>
              <a:t>ptr</a:t>
            </a:r>
            <a:r>
              <a:rPr lang="en-US" altLang="en-US" b="1" dirty="0">
                <a:solidFill>
                  <a:srgbClr val="A50021"/>
                </a:solidFill>
              </a:rPr>
              <a:t>.</a:t>
            </a:r>
            <a:endParaRPr lang="en-US" altLang="en-US" sz="16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795429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40D117D-48BF-4F03-A684-F008C44AA8D0}" type="slidenum">
              <a:rPr lang="en-US" altLang="en-US" sz="1400" baseline="0" smtClean="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57</a:t>
            </a:fld>
            <a:endParaRPr lang="en-US" altLang="en-US" sz="1400" baseline="0">
              <a:solidFill>
                <a:srgbClr val="000000"/>
              </a:solidFill>
            </a:endParaRPr>
          </a:p>
        </p:txBody>
      </p:sp>
      <p:sp>
        <p:nvSpPr>
          <p:cNvPr id="61443" name="Rectangle 2"/>
          <p:cNvSpPr>
            <a:spLocks noChangeArrowheads="1"/>
          </p:cNvSpPr>
          <p:nvPr/>
        </p:nvSpPr>
        <p:spPr bwMode="auto">
          <a:xfrm>
            <a:off x="533400" y="1371600"/>
            <a:ext cx="2667000" cy="4419600"/>
          </a:xfrm>
          <a:prstGeom prst="rect">
            <a:avLst/>
          </a:prstGeom>
          <a:solidFill>
            <a:srgbClr val="FFFFFF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 baseline="0">
              <a:solidFill>
                <a:srgbClr val="000000"/>
              </a:solidFill>
            </a:endParaRPr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  <a:noFill/>
        </p:spPr>
        <p:txBody>
          <a:bodyPr lIns="92075" tIns="46038" rIns="92075" bIns="46038" anchor="b"/>
          <a:lstStyle/>
          <a:p>
            <a:r>
              <a:rPr lang="en-US" altLang="en-US"/>
              <a:t>Example </a:t>
            </a:r>
          </a:p>
        </p:txBody>
      </p:sp>
      <p:sp>
        <p:nvSpPr>
          <p:cNvPr id="61445" name="Rectangle 4"/>
          <p:cNvSpPr>
            <a:spLocks noChangeArrowheads="1"/>
          </p:cNvSpPr>
          <p:nvPr/>
        </p:nvSpPr>
        <p:spPr bwMode="auto">
          <a:xfrm>
            <a:off x="609600" y="1600200"/>
            <a:ext cx="2590800" cy="374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aseline="0">
                <a:solidFill>
                  <a:srgbClr val="000000"/>
                </a:solidFill>
                <a:latin typeface="Arial" panose="020B0604020202020204" pitchFamily="34" charset="0"/>
              </a:rPr>
              <a:t>char  *ptr ;</a:t>
            </a:r>
            <a:endParaRPr lang="en-US" altLang="en-US" sz="2000" i="1" baseline="0">
              <a:solidFill>
                <a:srgbClr val="A50021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aseline="0">
              <a:solidFill>
                <a:srgbClr val="A50021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aseline="0">
                <a:solidFill>
                  <a:srgbClr val="000000"/>
                </a:solidFill>
                <a:latin typeface="Arial" panose="020B0604020202020204" pitchFamily="34" charset="0"/>
              </a:rPr>
              <a:t>ptr  =  new  char[ 5 ];   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aseline="0">
              <a:solidFill>
                <a:srgbClr val="A50021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aseline="0">
                <a:solidFill>
                  <a:srgbClr val="000000"/>
                </a:solidFill>
                <a:latin typeface="Arial" panose="020B0604020202020204" pitchFamily="34" charset="0"/>
              </a:rPr>
              <a:t>strcpy( ptr, “Bye” 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aseline="0">
              <a:solidFill>
                <a:srgbClr val="A50021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aseline="0">
                <a:solidFill>
                  <a:srgbClr val="000000"/>
                </a:solidFill>
                <a:latin typeface="Arial" panose="020B0604020202020204" pitchFamily="34" charset="0"/>
              </a:rPr>
              <a:t>ptr[ 0 ] = ‘u’;		</a:t>
            </a:r>
            <a:endParaRPr lang="en-US" altLang="en-US" sz="2000" i="1" baseline="0">
              <a:solidFill>
                <a:srgbClr val="A50021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aseline="0">
              <a:solidFill>
                <a:srgbClr val="A50021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aseline="0">
                <a:solidFill>
                  <a:srgbClr val="000000"/>
                </a:solidFill>
                <a:latin typeface="Arial" panose="020B0604020202020204" pitchFamily="34" charset="0"/>
              </a:rPr>
              <a:t>delete [] ptr;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aseline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aseline="0">
                <a:solidFill>
                  <a:srgbClr val="000000"/>
                </a:solidFill>
                <a:latin typeface="Arial" panose="020B0604020202020204" pitchFamily="34" charset="0"/>
              </a:rPr>
              <a:t>ptr = NULL;</a:t>
            </a:r>
            <a:endParaRPr lang="en-US" altLang="en-US" sz="2000" i="1" baseline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0153" name="Rectangle 41"/>
          <p:cNvSpPr>
            <a:spLocks noChangeArrowheads="1"/>
          </p:cNvSpPr>
          <p:nvPr/>
        </p:nvSpPr>
        <p:spPr bwMode="auto">
          <a:xfrm>
            <a:off x="4419600" y="3908425"/>
            <a:ext cx="3657600" cy="730250"/>
          </a:xfrm>
          <a:prstGeom prst="rect">
            <a:avLst/>
          </a:prstGeom>
          <a:solidFill>
            <a:srgbClr val="CCFFFF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 baseline="0">
              <a:solidFill>
                <a:srgbClr val="000000"/>
              </a:solidFill>
            </a:endParaRPr>
          </a:p>
        </p:txBody>
      </p:sp>
      <p:sp>
        <p:nvSpPr>
          <p:cNvPr id="90154" name="Rectangle 42"/>
          <p:cNvSpPr>
            <a:spLocks noChangeArrowheads="1"/>
          </p:cNvSpPr>
          <p:nvPr/>
        </p:nvSpPr>
        <p:spPr bwMode="auto">
          <a:xfrm>
            <a:off x="4419600" y="3886200"/>
            <a:ext cx="28495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baseline="0">
                <a:solidFill>
                  <a:srgbClr val="000000"/>
                </a:solidFill>
                <a:latin typeface="Arial" panose="020B0604020202020204" pitchFamily="34" charset="0"/>
              </a:rPr>
              <a:t>‘B’    ‘y’     ‘e’     ‘\0’</a:t>
            </a:r>
          </a:p>
        </p:txBody>
      </p:sp>
      <p:sp>
        <p:nvSpPr>
          <p:cNvPr id="90155" name="Line 43"/>
          <p:cNvSpPr>
            <a:spLocks noChangeShapeType="1"/>
          </p:cNvSpPr>
          <p:nvPr/>
        </p:nvSpPr>
        <p:spPr bwMode="auto">
          <a:xfrm>
            <a:off x="5118100" y="3906838"/>
            <a:ext cx="0" cy="719137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0156" name="Line 44"/>
          <p:cNvSpPr>
            <a:spLocks noChangeShapeType="1"/>
          </p:cNvSpPr>
          <p:nvPr/>
        </p:nvSpPr>
        <p:spPr bwMode="auto">
          <a:xfrm>
            <a:off x="5861050" y="3906838"/>
            <a:ext cx="0" cy="719137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0157" name="Line 45"/>
          <p:cNvSpPr>
            <a:spLocks noChangeShapeType="1"/>
          </p:cNvSpPr>
          <p:nvPr/>
        </p:nvSpPr>
        <p:spPr bwMode="auto">
          <a:xfrm>
            <a:off x="6604000" y="3906838"/>
            <a:ext cx="0" cy="719137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0158" name="Line 46"/>
          <p:cNvSpPr>
            <a:spLocks noChangeShapeType="1"/>
          </p:cNvSpPr>
          <p:nvPr/>
        </p:nvSpPr>
        <p:spPr bwMode="auto">
          <a:xfrm>
            <a:off x="7346950" y="3906838"/>
            <a:ext cx="0" cy="719137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0161" name="Line 49"/>
          <p:cNvSpPr>
            <a:spLocks noChangeShapeType="1"/>
          </p:cNvSpPr>
          <p:nvPr/>
        </p:nvSpPr>
        <p:spPr bwMode="auto">
          <a:xfrm>
            <a:off x="4092575" y="2947988"/>
            <a:ext cx="327025" cy="9382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90171" name="Group 59"/>
          <p:cNvGrpSpPr>
            <a:grpSpLocks/>
          </p:cNvGrpSpPr>
          <p:nvPr/>
        </p:nvGrpSpPr>
        <p:grpSpPr bwMode="auto">
          <a:xfrm>
            <a:off x="4495800" y="3962400"/>
            <a:ext cx="557213" cy="685800"/>
            <a:chOff x="4460" y="2880"/>
            <a:chExt cx="351" cy="432"/>
          </a:xfrm>
        </p:grpSpPr>
        <p:sp>
          <p:nvSpPr>
            <p:cNvPr id="61483" name="Text Box 60"/>
            <p:cNvSpPr txBox="1">
              <a:spLocks noChangeArrowheads="1"/>
            </p:cNvSpPr>
            <p:nvPr/>
          </p:nvSpPr>
          <p:spPr bwMode="auto">
            <a:xfrm>
              <a:off x="4460" y="3024"/>
              <a:ext cx="3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b="1" baseline="0">
                  <a:solidFill>
                    <a:srgbClr val="3333CC"/>
                  </a:solidFill>
                </a:rPr>
                <a:t>‘u’</a:t>
              </a:r>
            </a:p>
          </p:txBody>
        </p:sp>
        <p:sp>
          <p:nvSpPr>
            <p:cNvPr id="61484" name="Line 61"/>
            <p:cNvSpPr>
              <a:spLocks noChangeShapeType="1"/>
            </p:cNvSpPr>
            <p:nvPr/>
          </p:nvSpPr>
          <p:spPr bwMode="auto">
            <a:xfrm flipV="1">
              <a:off x="4464" y="2880"/>
              <a:ext cx="33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1454" name="Group 66"/>
          <p:cNvGrpSpPr>
            <a:grpSpLocks/>
          </p:cNvGrpSpPr>
          <p:nvPr/>
        </p:nvGrpSpPr>
        <p:grpSpPr bwMode="auto">
          <a:xfrm>
            <a:off x="3124200" y="1758950"/>
            <a:ext cx="1778000" cy="1136650"/>
            <a:chOff x="2304" y="1200"/>
            <a:chExt cx="1120" cy="716"/>
          </a:xfrm>
        </p:grpSpPr>
        <p:sp>
          <p:nvSpPr>
            <p:cNvPr id="61479" name="Rectangle 39"/>
            <p:cNvSpPr>
              <a:spLocks noChangeArrowheads="1"/>
            </p:cNvSpPr>
            <p:nvPr/>
          </p:nvSpPr>
          <p:spPr bwMode="auto">
            <a:xfrm>
              <a:off x="2688" y="1440"/>
              <a:ext cx="736" cy="476"/>
            </a:xfrm>
            <a:prstGeom prst="rect">
              <a:avLst/>
            </a:prstGeom>
            <a:solidFill>
              <a:srgbClr val="CCFFFF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 baseline="0">
                <a:solidFill>
                  <a:srgbClr val="000000"/>
                </a:solidFill>
              </a:endParaRPr>
            </a:p>
          </p:txBody>
        </p:sp>
        <p:sp>
          <p:nvSpPr>
            <p:cNvPr id="61480" name="Rectangle 40"/>
            <p:cNvSpPr>
              <a:spLocks noChangeArrowheads="1"/>
            </p:cNvSpPr>
            <p:nvPr/>
          </p:nvSpPr>
          <p:spPr bwMode="auto">
            <a:xfrm>
              <a:off x="2304" y="1344"/>
              <a:ext cx="63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b="1" baseline="0">
                  <a:solidFill>
                    <a:srgbClr val="000000"/>
                  </a:solidFill>
                  <a:latin typeface="Arial" panose="020B0604020202020204" pitchFamily="34" charset="0"/>
                </a:rPr>
                <a:t> ptr</a:t>
              </a:r>
            </a:p>
          </p:txBody>
        </p:sp>
        <p:sp>
          <p:nvSpPr>
            <p:cNvPr id="61481" name="Text Box 51"/>
            <p:cNvSpPr txBox="1">
              <a:spLocks noChangeArrowheads="1"/>
            </p:cNvSpPr>
            <p:nvPr/>
          </p:nvSpPr>
          <p:spPr bwMode="auto">
            <a:xfrm>
              <a:off x="2640" y="1200"/>
              <a:ext cx="5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b="1" baseline="0">
                  <a:solidFill>
                    <a:srgbClr val="CC0000"/>
                  </a:solidFill>
                  <a:latin typeface="Courier New" panose="02070309020205020404" pitchFamily="49" charset="0"/>
                </a:rPr>
                <a:t>3000</a:t>
              </a:r>
            </a:p>
          </p:txBody>
        </p:sp>
        <p:sp>
          <p:nvSpPr>
            <p:cNvPr id="61482" name="Text Box 62"/>
            <p:cNvSpPr txBox="1">
              <a:spLocks noChangeArrowheads="1"/>
            </p:cNvSpPr>
            <p:nvPr/>
          </p:nvSpPr>
          <p:spPr bwMode="auto">
            <a:xfrm>
              <a:off x="2812" y="1536"/>
              <a:ext cx="404" cy="250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b="1" baseline="0">
                  <a:solidFill>
                    <a:srgbClr val="CC0000"/>
                  </a:solidFill>
                  <a:latin typeface="Courier New" panose="02070309020205020404" pitchFamily="49" charset="0"/>
                </a:rPr>
                <a:t>???</a:t>
              </a:r>
            </a:p>
          </p:txBody>
        </p:sp>
      </p:grpSp>
      <p:grpSp>
        <p:nvGrpSpPr>
          <p:cNvPr id="61455" name="Group 63"/>
          <p:cNvGrpSpPr>
            <a:grpSpLocks/>
          </p:cNvGrpSpPr>
          <p:nvPr/>
        </p:nvGrpSpPr>
        <p:grpSpPr bwMode="auto">
          <a:xfrm>
            <a:off x="152400" y="1066800"/>
            <a:ext cx="304800" cy="838200"/>
            <a:chOff x="2304" y="2736"/>
            <a:chExt cx="192" cy="528"/>
          </a:xfrm>
        </p:grpSpPr>
        <p:sp>
          <p:nvSpPr>
            <p:cNvPr id="61477" name="AutoShape 64"/>
            <p:cNvSpPr>
              <a:spLocks noChangeArrowheads="1"/>
            </p:cNvSpPr>
            <p:nvPr/>
          </p:nvSpPr>
          <p:spPr bwMode="auto">
            <a:xfrm>
              <a:off x="2304" y="3120"/>
              <a:ext cx="192" cy="144"/>
            </a:xfrm>
            <a:prstGeom prst="rightArrow">
              <a:avLst>
                <a:gd name="adj1" fmla="val 50000"/>
                <a:gd name="adj2" fmla="val 3333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 baseline="0">
                <a:solidFill>
                  <a:srgbClr val="000000"/>
                </a:solidFill>
              </a:endParaRPr>
            </a:p>
          </p:txBody>
        </p:sp>
        <p:sp>
          <p:nvSpPr>
            <p:cNvPr id="61478" name="Rectangle 65"/>
            <p:cNvSpPr>
              <a:spLocks noChangeArrowheads="1"/>
            </p:cNvSpPr>
            <p:nvPr/>
          </p:nvSpPr>
          <p:spPr bwMode="auto">
            <a:xfrm>
              <a:off x="2304" y="2736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 baseline="0">
                <a:solidFill>
                  <a:srgbClr val="000000"/>
                </a:solidFill>
              </a:endParaRPr>
            </a:p>
          </p:txBody>
        </p:sp>
      </p:grpSp>
      <p:grpSp>
        <p:nvGrpSpPr>
          <p:cNvPr id="90179" name="Group 67"/>
          <p:cNvGrpSpPr>
            <a:grpSpLocks/>
          </p:cNvGrpSpPr>
          <p:nvPr/>
        </p:nvGrpSpPr>
        <p:grpSpPr bwMode="auto">
          <a:xfrm>
            <a:off x="152400" y="1676400"/>
            <a:ext cx="304800" cy="838200"/>
            <a:chOff x="2304" y="2736"/>
            <a:chExt cx="192" cy="528"/>
          </a:xfrm>
        </p:grpSpPr>
        <p:sp>
          <p:nvSpPr>
            <p:cNvPr id="61475" name="AutoShape 68"/>
            <p:cNvSpPr>
              <a:spLocks noChangeArrowheads="1"/>
            </p:cNvSpPr>
            <p:nvPr/>
          </p:nvSpPr>
          <p:spPr bwMode="auto">
            <a:xfrm>
              <a:off x="2304" y="3120"/>
              <a:ext cx="192" cy="144"/>
            </a:xfrm>
            <a:prstGeom prst="rightArrow">
              <a:avLst>
                <a:gd name="adj1" fmla="val 50000"/>
                <a:gd name="adj2" fmla="val 3333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 baseline="0">
                <a:solidFill>
                  <a:srgbClr val="000000"/>
                </a:solidFill>
              </a:endParaRPr>
            </a:p>
          </p:txBody>
        </p:sp>
        <p:sp>
          <p:nvSpPr>
            <p:cNvPr id="61476" name="Rectangle 69"/>
            <p:cNvSpPr>
              <a:spLocks noChangeArrowheads="1"/>
            </p:cNvSpPr>
            <p:nvPr/>
          </p:nvSpPr>
          <p:spPr bwMode="auto">
            <a:xfrm>
              <a:off x="2304" y="2736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 baseline="0">
                <a:solidFill>
                  <a:srgbClr val="000000"/>
                </a:solidFill>
              </a:endParaRPr>
            </a:p>
          </p:txBody>
        </p:sp>
      </p:grpSp>
      <p:grpSp>
        <p:nvGrpSpPr>
          <p:cNvPr id="90182" name="Group 70"/>
          <p:cNvGrpSpPr>
            <a:grpSpLocks/>
          </p:cNvGrpSpPr>
          <p:nvPr/>
        </p:nvGrpSpPr>
        <p:grpSpPr bwMode="auto">
          <a:xfrm>
            <a:off x="152400" y="2286000"/>
            <a:ext cx="304800" cy="838200"/>
            <a:chOff x="2304" y="2736"/>
            <a:chExt cx="192" cy="528"/>
          </a:xfrm>
        </p:grpSpPr>
        <p:sp>
          <p:nvSpPr>
            <p:cNvPr id="61473" name="AutoShape 71"/>
            <p:cNvSpPr>
              <a:spLocks noChangeArrowheads="1"/>
            </p:cNvSpPr>
            <p:nvPr/>
          </p:nvSpPr>
          <p:spPr bwMode="auto">
            <a:xfrm>
              <a:off x="2304" y="3120"/>
              <a:ext cx="192" cy="144"/>
            </a:xfrm>
            <a:prstGeom prst="rightArrow">
              <a:avLst>
                <a:gd name="adj1" fmla="val 50000"/>
                <a:gd name="adj2" fmla="val 3333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 baseline="0">
                <a:solidFill>
                  <a:srgbClr val="000000"/>
                </a:solidFill>
              </a:endParaRPr>
            </a:p>
          </p:txBody>
        </p:sp>
        <p:sp>
          <p:nvSpPr>
            <p:cNvPr id="61474" name="Rectangle 72"/>
            <p:cNvSpPr>
              <a:spLocks noChangeArrowheads="1"/>
            </p:cNvSpPr>
            <p:nvPr/>
          </p:nvSpPr>
          <p:spPr bwMode="auto">
            <a:xfrm>
              <a:off x="2304" y="2736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 baseline="0">
                <a:solidFill>
                  <a:srgbClr val="000000"/>
                </a:solidFill>
              </a:endParaRPr>
            </a:p>
          </p:txBody>
        </p:sp>
      </p:grpSp>
      <p:grpSp>
        <p:nvGrpSpPr>
          <p:cNvPr id="90185" name="Group 73"/>
          <p:cNvGrpSpPr>
            <a:grpSpLocks/>
          </p:cNvGrpSpPr>
          <p:nvPr/>
        </p:nvGrpSpPr>
        <p:grpSpPr bwMode="auto">
          <a:xfrm>
            <a:off x="152400" y="2895600"/>
            <a:ext cx="304800" cy="838200"/>
            <a:chOff x="2304" y="2736"/>
            <a:chExt cx="192" cy="528"/>
          </a:xfrm>
        </p:grpSpPr>
        <p:sp>
          <p:nvSpPr>
            <p:cNvPr id="61471" name="AutoShape 74"/>
            <p:cNvSpPr>
              <a:spLocks noChangeArrowheads="1"/>
            </p:cNvSpPr>
            <p:nvPr/>
          </p:nvSpPr>
          <p:spPr bwMode="auto">
            <a:xfrm>
              <a:off x="2304" y="3120"/>
              <a:ext cx="192" cy="144"/>
            </a:xfrm>
            <a:prstGeom prst="rightArrow">
              <a:avLst>
                <a:gd name="adj1" fmla="val 50000"/>
                <a:gd name="adj2" fmla="val 3333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 baseline="0">
                <a:solidFill>
                  <a:srgbClr val="000000"/>
                </a:solidFill>
              </a:endParaRPr>
            </a:p>
          </p:txBody>
        </p:sp>
        <p:sp>
          <p:nvSpPr>
            <p:cNvPr id="61472" name="Rectangle 75"/>
            <p:cNvSpPr>
              <a:spLocks noChangeArrowheads="1"/>
            </p:cNvSpPr>
            <p:nvPr/>
          </p:nvSpPr>
          <p:spPr bwMode="auto">
            <a:xfrm>
              <a:off x="2304" y="2736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 baseline="0">
                <a:solidFill>
                  <a:srgbClr val="000000"/>
                </a:solidFill>
              </a:endParaRPr>
            </a:p>
          </p:txBody>
        </p:sp>
      </p:grpSp>
      <p:grpSp>
        <p:nvGrpSpPr>
          <p:cNvPr id="90188" name="Group 76"/>
          <p:cNvGrpSpPr>
            <a:grpSpLocks/>
          </p:cNvGrpSpPr>
          <p:nvPr/>
        </p:nvGrpSpPr>
        <p:grpSpPr bwMode="auto">
          <a:xfrm>
            <a:off x="152400" y="3810000"/>
            <a:ext cx="304800" cy="838200"/>
            <a:chOff x="2304" y="2736"/>
            <a:chExt cx="192" cy="528"/>
          </a:xfrm>
        </p:grpSpPr>
        <p:sp>
          <p:nvSpPr>
            <p:cNvPr id="61469" name="AutoShape 77"/>
            <p:cNvSpPr>
              <a:spLocks noChangeArrowheads="1"/>
            </p:cNvSpPr>
            <p:nvPr/>
          </p:nvSpPr>
          <p:spPr bwMode="auto">
            <a:xfrm>
              <a:off x="2304" y="3120"/>
              <a:ext cx="192" cy="144"/>
            </a:xfrm>
            <a:prstGeom prst="rightArrow">
              <a:avLst>
                <a:gd name="adj1" fmla="val 50000"/>
                <a:gd name="adj2" fmla="val 3333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 baseline="0">
                <a:solidFill>
                  <a:srgbClr val="000000"/>
                </a:solidFill>
              </a:endParaRPr>
            </a:p>
          </p:txBody>
        </p:sp>
        <p:sp>
          <p:nvSpPr>
            <p:cNvPr id="61470" name="Rectangle 78"/>
            <p:cNvSpPr>
              <a:spLocks noChangeArrowheads="1"/>
            </p:cNvSpPr>
            <p:nvPr/>
          </p:nvSpPr>
          <p:spPr bwMode="auto">
            <a:xfrm>
              <a:off x="2304" y="2736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 baseline="0">
                <a:solidFill>
                  <a:srgbClr val="000000"/>
                </a:solidFill>
              </a:endParaRPr>
            </a:p>
          </p:txBody>
        </p:sp>
      </p:grpSp>
      <p:sp>
        <p:nvSpPr>
          <p:cNvPr id="90191" name="Rectangle 79"/>
          <p:cNvSpPr>
            <a:spLocks noChangeArrowheads="1"/>
          </p:cNvSpPr>
          <p:nvPr/>
        </p:nvSpPr>
        <p:spPr bwMode="auto">
          <a:xfrm>
            <a:off x="0" y="3429000"/>
            <a:ext cx="457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 baseline="0">
              <a:solidFill>
                <a:srgbClr val="000000"/>
              </a:solidFill>
            </a:endParaRPr>
          </a:p>
        </p:txBody>
      </p:sp>
      <p:sp>
        <p:nvSpPr>
          <p:cNvPr id="90192" name="Text Box 80"/>
          <p:cNvSpPr txBox="1">
            <a:spLocks noChangeArrowheads="1"/>
          </p:cNvSpPr>
          <p:nvPr/>
        </p:nvSpPr>
        <p:spPr bwMode="auto">
          <a:xfrm>
            <a:off x="4356100" y="3505200"/>
            <a:ext cx="749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baseline="0">
                <a:solidFill>
                  <a:srgbClr val="CC0000"/>
                </a:solidFill>
                <a:latin typeface="Arial" panose="020B0604020202020204" pitchFamily="34" charset="0"/>
              </a:rPr>
              <a:t>6000</a:t>
            </a:r>
          </a:p>
        </p:txBody>
      </p:sp>
      <p:sp>
        <p:nvSpPr>
          <p:cNvPr id="90193" name="Text Box 81"/>
          <p:cNvSpPr txBox="1">
            <a:spLocks noChangeArrowheads="1"/>
          </p:cNvSpPr>
          <p:nvPr/>
        </p:nvSpPr>
        <p:spPr bwMode="auto">
          <a:xfrm>
            <a:off x="3886200" y="2286000"/>
            <a:ext cx="749300" cy="396875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baseline="0">
                <a:solidFill>
                  <a:srgbClr val="CC0000"/>
                </a:solidFill>
                <a:latin typeface="Arial" panose="020B0604020202020204" pitchFamily="34" charset="0"/>
              </a:rPr>
              <a:t>6000</a:t>
            </a:r>
          </a:p>
        </p:txBody>
      </p:sp>
      <p:sp>
        <p:nvSpPr>
          <p:cNvPr id="90194" name="Text Box 82"/>
          <p:cNvSpPr txBox="1">
            <a:spLocks noChangeArrowheads="1"/>
          </p:cNvSpPr>
          <p:nvPr/>
        </p:nvSpPr>
        <p:spPr bwMode="auto">
          <a:xfrm>
            <a:off x="3962400" y="2286000"/>
            <a:ext cx="608013" cy="396875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aseline="0">
                <a:solidFill>
                  <a:srgbClr val="000000"/>
                </a:solidFill>
                <a:latin typeface="Arial" panose="020B0604020202020204" pitchFamily="34" charset="0"/>
              </a:rPr>
              <a:t>???</a:t>
            </a:r>
          </a:p>
        </p:txBody>
      </p:sp>
      <p:grpSp>
        <p:nvGrpSpPr>
          <p:cNvPr id="90196" name="Group 84"/>
          <p:cNvGrpSpPr>
            <a:grpSpLocks/>
          </p:cNvGrpSpPr>
          <p:nvPr/>
        </p:nvGrpSpPr>
        <p:grpSpPr bwMode="auto">
          <a:xfrm>
            <a:off x="152400" y="4419600"/>
            <a:ext cx="304800" cy="838200"/>
            <a:chOff x="2304" y="2736"/>
            <a:chExt cx="192" cy="528"/>
          </a:xfrm>
        </p:grpSpPr>
        <p:sp>
          <p:nvSpPr>
            <p:cNvPr id="61467" name="AutoShape 85"/>
            <p:cNvSpPr>
              <a:spLocks noChangeArrowheads="1"/>
            </p:cNvSpPr>
            <p:nvPr/>
          </p:nvSpPr>
          <p:spPr bwMode="auto">
            <a:xfrm>
              <a:off x="2304" y="3120"/>
              <a:ext cx="192" cy="144"/>
            </a:xfrm>
            <a:prstGeom prst="rightArrow">
              <a:avLst>
                <a:gd name="adj1" fmla="val 50000"/>
                <a:gd name="adj2" fmla="val 3333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 baseline="0">
                <a:solidFill>
                  <a:srgbClr val="000000"/>
                </a:solidFill>
              </a:endParaRPr>
            </a:p>
          </p:txBody>
        </p:sp>
        <p:sp>
          <p:nvSpPr>
            <p:cNvPr id="61468" name="Rectangle 86"/>
            <p:cNvSpPr>
              <a:spLocks noChangeArrowheads="1"/>
            </p:cNvSpPr>
            <p:nvPr/>
          </p:nvSpPr>
          <p:spPr bwMode="auto">
            <a:xfrm>
              <a:off x="2304" y="2736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 baseline="0">
                <a:solidFill>
                  <a:srgbClr val="000000"/>
                </a:solidFill>
              </a:endParaRPr>
            </a:p>
          </p:txBody>
        </p:sp>
      </p:grpSp>
      <p:sp>
        <p:nvSpPr>
          <p:cNvPr id="90199" name="Text Box 87"/>
          <p:cNvSpPr txBox="1">
            <a:spLocks noChangeArrowheads="1"/>
          </p:cNvSpPr>
          <p:nvPr/>
        </p:nvSpPr>
        <p:spPr bwMode="auto">
          <a:xfrm>
            <a:off x="3886200" y="2286000"/>
            <a:ext cx="863600" cy="396875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baseline="0">
                <a:solidFill>
                  <a:srgbClr val="CC0000"/>
                </a:solidFill>
                <a:latin typeface="Arial" panose="020B0604020202020204" pitchFamily="34" charset="0"/>
              </a:rPr>
              <a:t>NULL</a:t>
            </a:r>
          </a:p>
        </p:txBody>
      </p:sp>
      <p:sp>
        <p:nvSpPr>
          <p:cNvPr id="90201" name="Text Box 89"/>
          <p:cNvSpPr txBox="1">
            <a:spLocks noChangeArrowheads="1"/>
          </p:cNvSpPr>
          <p:nvPr/>
        </p:nvSpPr>
        <p:spPr bwMode="auto">
          <a:xfrm>
            <a:off x="3429000" y="4495800"/>
            <a:ext cx="5027613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aseline="0">
                <a:solidFill>
                  <a:srgbClr val="A50021"/>
                </a:solidFill>
              </a:rPr>
              <a:t>// deallocates the array pointed to by ptr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aseline="0">
                <a:solidFill>
                  <a:srgbClr val="A50021"/>
                </a:solidFill>
              </a:rPr>
              <a:t>// ptr itself is not deallocated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aseline="0">
                <a:solidFill>
                  <a:srgbClr val="A50021"/>
                </a:solidFill>
              </a:rPr>
              <a:t>// the value of ptr becomes undefined</a:t>
            </a:r>
          </a:p>
        </p:txBody>
      </p:sp>
    </p:spTree>
    <p:extLst>
      <p:ext uri="{BB962C8B-B14F-4D97-AF65-F5344CB8AC3E}">
        <p14:creationId xmlns:p14="http://schemas.microsoft.com/office/powerpoint/2010/main" val="3584610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90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0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0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0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0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0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9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0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90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9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0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0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90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9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54" grpId="0"/>
      <p:bldP spid="90155" grpId="0" animBg="1"/>
      <p:bldP spid="90156" grpId="0" animBg="1"/>
      <p:bldP spid="90157" grpId="0" animBg="1"/>
      <p:bldP spid="90158" grpId="0" animBg="1"/>
      <p:bldP spid="90161" grpId="0" animBg="1"/>
      <p:bldP spid="90192" grpId="0"/>
      <p:bldP spid="90193" grpId="0" animBg="1"/>
      <p:bldP spid="90194" grpId="0" animBg="1"/>
      <p:bldP spid="90199" grpId="0" animBg="1"/>
      <p:bldP spid="9020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610600" cy="992188"/>
          </a:xfrm>
        </p:spPr>
        <p:txBody>
          <a:bodyPr/>
          <a:lstStyle/>
          <a:p>
            <a:pPr eaLnBrk="1" hangingPunct="1"/>
            <a:r>
              <a:rPr lang="en-US" altLang="en-US"/>
              <a:t>Dangling Pointers and Memory Leaks</a:t>
            </a:r>
          </a:p>
        </p:txBody>
      </p:sp>
      <p:sp>
        <p:nvSpPr>
          <p:cNvPr id="63491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304800" y="1371600"/>
            <a:ext cx="8294688" cy="4572000"/>
          </a:xfrm>
        </p:spPr>
        <p:txBody>
          <a:bodyPr/>
          <a:lstStyle/>
          <a:p>
            <a:pPr eaLnBrk="1" hangingPunct="1">
              <a:lnSpc>
                <a:spcPts val="3400"/>
              </a:lnSpc>
            </a:pPr>
            <a:r>
              <a:rPr lang="en-US" altLang="en-US" sz="3000"/>
              <a:t>A pointer is </a:t>
            </a:r>
            <a:r>
              <a:rPr lang="en-US" altLang="en-US" sz="3000">
                <a:solidFill>
                  <a:schemeClr val="accent2"/>
                </a:solidFill>
              </a:rPr>
              <a:t>dangling</a:t>
            </a:r>
            <a:r>
              <a:rPr lang="en-US" altLang="en-US" sz="3000"/>
              <a:t> if it contains the address of memory that has been freed by a call to </a:t>
            </a:r>
            <a:r>
              <a:rPr lang="en-US" altLang="en-US" sz="3000" b="1"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altLang="en-US" sz="3000">
                <a:cs typeface="Courier New" panose="02070309020205020404" pitchFamily="49" charset="0"/>
              </a:rPr>
              <a:t>.</a:t>
            </a:r>
          </a:p>
          <a:p>
            <a:pPr lvl="1" eaLnBrk="1" hangingPunct="1">
              <a:lnSpc>
                <a:spcPts val="3400"/>
              </a:lnSpc>
            </a:pPr>
            <a:r>
              <a:rPr lang="en-US" altLang="en-US">
                <a:cs typeface="Courier New" panose="02070309020205020404" pitchFamily="49" charset="0"/>
              </a:rPr>
              <a:t>Solution: set such pointers to NULL (or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nullptr</a:t>
            </a:r>
            <a:r>
              <a:rPr lang="en-US" altLang="en-US">
                <a:cs typeface="Courier New" panose="02070309020205020404" pitchFamily="49" charset="0"/>
              </a:rPr>
              <a:t> in C++ 11) as soon as the memory is freed.</a:t>
            </a:r>
          </a:p>
          <a:p>
            <a:pPr eaLnBrk="1" hangingPunct="1">
              <a:lnSpc>
                <a:spcPts val="3400"/>
              </a:lnSpc>
            </a:pPr>
            <a:r>
              <a:rPr lang="en-US" altLang="en-US" sz="3000">
                <a:cs typeface="Courier New" panose="02070309020205020404" pitchFamily="49" charset="0"/>
              </a:rPr>
              <a:t>A </a:t>
            </a:r>
            <a:r>
              <a:rPr lang="en-US" altLang="en-US" sz="3000">
                <a:solidFill>
                  <a:schemeClr val="accent2"/>
                </a:solidFill>
                <a:cs typeface="Courier New" panose="02070309020205020404" pitchFamily="49" charset="0"/>
              </a:rPr>
              <a:t>memory leak</a:t>
            </a:r>
            <a:r>
              <a:rPr lang="en-US" altLang="en-US" sz="3000">
                <a:cs typeface="Courier New" panose="02070309020205020404" pitchFamily="49" charset="0"/>
              </a:rPr>
              <a:t> occurs if no-longer-needed dynamic memory is not freed.  The memory is unavailable for reuse within the program.</a:t>
            </a:r>
          </a:p>
          <a:p>
            <a:pPr lvl="1" eaLnBrk="1" hangingPunct="1">
              <a:lnSpc>
                <a:spcPts val="3400"/>
              </a:lnSpc>
            </a:pPr>
            <a:r>
              <a:rPr lang="en-US" altLang="en-US">
                <a:cs typeface="Courier New" panose="02070309020205020404" pitchFamily="49" charset="0"/>
              </a:rPr>
              <a:t>Solution:  free up dynamic memory after use</a:t>
            </a:r>
            <a:endParaRPr lang="en-US" altLang="en-US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13A249-D1B6-49F9-BFB7-68C627801118}" type="slidenum">
              <a:rPr lang="en-US" altLang="en-US" sz="1200" smtClean="0"/>
              <a:pPr>
                <a:spcBef>
                  <a:spcPct val="0"/>
                </a:spcBef>
                <a:buFontTx/>
                <a:buNone/>
              </a:pPr>
              <a:t>58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80762565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Memory Leak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altLang="en-US" sz="2000" b="1" dirty="0"/>
              <a:t>A memory leak occurs when dynamic memory (that was created using operator </a:t>
            </a:r>
            <a:r>
              <a:rPr lang="en-US" altLang="en-US" sz="2000" b="1" dirty="0">
                <a:latin typeface="Courier New" panose="02070309020205020404" pitchFamily="49" charset="0"/>
              </a:rPr>
              <a:t>new</a:t>
            </a:r>
            <a:r>
              <a:rPr lang="en-US" altLang="en-US" sz="2000" b="1" dirty="0"/>
              <a:t>) has been left without a pointer to it by the programmer, and so is inaccessible.</a:t>
            </a:r>
            <a:endParaRPr lang="en-US" altLang="en-US" sz="2400" b="1" dirty="0"/>
          </a:p>
          <a:p>
            <a:pPr>
              <a:buNone/>
            </a:pPr>
            <a:endParaRPr lang="en-US" altLang="en-US" sz="1100" b="1" dirty="0"/>
          </a:p>
          <a:p>
            <a:pPr>
              <a:buNone/>
            </a:pPr>
            <a:endParaRPr lang="en-US" altLang="en-US" sz="12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*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ptr</a:t>
            </a:r>
            <a:r>
              <a:rPr lang="en-US" altLang="en-US" sz="2000" b="1" dirty="0">
                <a:latin typeface="Courier New" panose="02070309020205020404" pitchFamily="49" charset="0"/>
              </a:rPr>
              <a:t> = new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;</a:t>
            </a:r>
          </a:p>
          <a:p>
            <a:pPr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*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ptr</a:t>
            </a:r>
            <a:r>
              <a:rPr lang="en-US" altLang="en-US" sz="2000" b="1" dirty="0">
                <a:latin typeface="Courier New" panose="02070309020205020404" pitchFamily="49" charset="0"/>
              </a:rPr>
              <a:t> = 8;</a:t>
            </a:r>
          </a:p>
          <a:p>
            <a:pPr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* ptr2 = new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;</a:t>
            </a:r>
          </a:p>
          <a:p>
            <a:pPr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*ptr2 = -5;</a:t>
            </a:r>
          </a:p>
          <a:p>
            <a:pPr>
              <a:buNone/>
            </a:pPr>
            <a:endParaRPr lang="en-US" altLang="en-US" sz="2000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</a:t>
            </a:r>
            <a:r>
              <a:rPr lang="en-US" altLang="en-US" sz="2000" b="1" dirty="0">
                <a:solidFill>
                  <a:srgbClr val="FF0000"/>
                </a:solidFill>
              </a:rPr>
              <a:t>How else can an object become inaccessible?</a:t>
            </a:r>
            <a:endParaRPr lang="en-US" altLang="en-US" sz="20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</a:t>
            </a:r>
          </a:p>
          <a:p>
            <a:pPr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59</a:t>
            </a:fld>
            <a:endParaRPr lang="en-US" altLang="en-US"/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5751616" y="3103563"/>
            <a:ext cx="1168400" cy="566737"/>
          </a:xfrm>
          <a:prstGeom prst="rect">
            <a:avLst/>
          </a:prstGeom>
          <a:solidFill>
            <a:schemeClr val="accent1"/>
          </a:solidFill>
          <a:ln w="12699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baseline="0">
              <a:solidFill>
                <a:srgbClr val="000000"/>
              </a:solidFill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5789716" y="4189413"/>
            <a:ext cx="1168400" cy="566737"/>
          </a:xfrm>
          <a:prstGeom prst="rect">
            <a:avLst/>
          </a:prstGeom>
          <a:solidFill>
            <a:schemeClr val="accent1"/>
          </a:solidFill>
          <a:ln w="12699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baseline="0">
              <a:solidFill>
                <a:srgbClr val="000000"/>
              </a:solidFill>
            </a:endParaRP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7580416" y="3103563"/>
            <a:ext cx="901700" cy="566737"/>
          </a:xfrm>
          <a:prstGeom prst="rect">
            <a:avLst/>
          </a:prstGeom>
          <a:solidFill>
            <a:schemeClr val="accent1"/>
          </a:solidFill>
          <a:ln w="12699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baseline="0">
              <a:solidFill>
                <a:srgbClr val="000000"/>
              </a:solidFill>
            </a:endParaRP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7599466" y="4189413"/>
            <a:ext cx="939800" cy="566737"/>
          </a:xfrm>
          <a:prstGeom prst="rect">
            <a:avLst/>
          </a:prstGeom>
          <a:solidFill>
            <a:schemeClr val="accent1"/>
          </a:solidFill>
          <a:ln w="12699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baseline="0">
              <a:solidFill>
                <a:srgbClr val="000000"/>
              </a:solidFill>
            </a:endParaRP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5710341" y="2667000"/>
            <a:ext cx="3425825" cy="283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4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baseline="0">
                <a:solidFill>
                  <a:srgbClr val="000000"/>
                </a:solidFill>
              </a:rPr>
              <a:t>                              8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0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baseline="0">
                <a:solidFill>
                  <a:srgbClr val="000000"/>
                </a:solidFill>
              </a:rPr>
              <a:t> ptr</a:t>
            </a:r>
            <a:endParaRPr kumimoji="0" lang="en-US" altLang="en-US" sz="10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2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2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baseline="0">
                <a:solidFill>
                  <a:srgbClr val="000000"/>
                </a:solidFill>
              </a:rPr>
              <a:t>                             -5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2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baseline="0">
                <a:solidFill>
                  <a:srgbClr val="000000"/>
                </a:solidFill>
              </a:rPr>
              <a:t> ptr2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baseline="0">
                <a:solidFill>
                  <a:srgbClr val="000000"/>
                </a:solidFill>
              </a:rPr>
              <a:t>           </a:t>
            </a:r>
          </a:p>
        </p:txBody>
      </p:sp>
      <p:sp>
        <p:nvSpPr>
          <p:cNvPr id="17" name="Line 9"/>
          <p:cNvSpPr>
            <a:spLocks noChangeShapeType="1"/>
          </p:cNvSpPr>
          <p:nvPr/>
        </p:nvSpPr>
        <p:spPr bwMode="auto">
          <a:xfrm>
            <a:off x="6773966" y="3467100"/>
            <a:ext cx="781050" cy="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Line 10"/>
          <p:cNvSpPr>
            <a:spLocks noChangeShapeType="1"/>
          </p:cNvSpPr>
          <p:nvPr/>
        </p:nvSpPr>
        <p:spPr bwMode="auto">
          <a:xfrm>
            <a:off x="6793016" y="4457700"/>
            <a:ext cx="781050" cy="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2419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19100"/>
            <a:ext cx="7848600" cy="1028700"/>
          </a:xfrm>
          <a:noFill/>
        </p:spPr>
        <p:txBody>
          <a:bodyPr lIns="92075" tIns="46038" rIns="92075" bIns="46038" anchor="b"/>
          <a:lstStyle/>
          <a:p>
            <a:r>
              <a:rPr lang="en-US" altLang="en-US"/>
              <a:t>Causing a Memory Leak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95450"/>
            <a:ext cx="7867650" cy="3905250"/>
          </a:xfrm>
          <a:noFill/>
        </p:spPr>
        <p:txBody>
          <a:bodyPr lIns="92075" tIns="46038" rIns="92075" bIns="46038"/>
          <a:lstStyle/>
          <a:p>
            <a:pPr>
              <a:buFont typeface="Monotype Sorts" pitchFamily="2" charset="2"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int* ptr = new int;</a:t>
            </a:r>
            <a:endParaRPr lang="en-US" altLang="en-US" sz="2800" b="1"/>
          </a:p>
          <a:p>
            <a:pPr>
              <a:buFont typeface="Monotype Sorts" pitchFamily="2" charset="2"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*ptr = 8;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int* ptr2 = new int;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*ptr2 = -5;</a:t>
            </a:r>
          </a:p>
          <a:p>
            <a:pPr>
              <a:buFont typeface="Monotype Sorts" pitchFamily="2" charset="2"/>
              <a:buNone/>
            </a:pPr>
            <a:endParaRPr lang="en-US" altLang="en-US" sz="2400" b="1">
              <a:latin typeface="Courier New" panose="020703090202050204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ptr = ptr2;</a:t>
            </a:r>
            <a:r>
              <a:rPr lang="en-US" altLang="en-US" sz="2400" b="1"/>
              <a:t>     </a:t>
            </a:r>
            <a:r>
              <a:rPr lang="en-US" altLang="en-US" sz="2400" b="1" i="1">
                <a:solidFill>
                  <a:srgbClr val="A50021"/>
                </a:solidFill>
              </a:rPr>
              <a:t>// here the 8 becomes inaccessible</a:t>
            </a:r>
            <a:endParaRPr lang="en-US" altLang="en-US" sz="2400" b="1">
              <a:latin typeface="Courier New" panose="020703090202050204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   </a:t>
            </a:r>
          </a:p>
        </p:txBody>
      </p:sp>
      <p:sp>
        <p:nvSpPr>
          <p:cNvPr id="66564" name="Rectangle 4"/>
          <p:cNvSpPr>
            <a:spLocks noChangeArrowheads="1"/>
          </p:cNvSpPr>
          <p:nvPr/>
        </p:nvSpPr>
        <p:spPr bwMode="auto">
          <a:xfrm>
            <a:off x="5187950" y="1731963"/>
            <a:ext cx="1168400" cy="566737"/>
          </a:xfrm>
          <a:prstGeom prst="rect">
            <a:avLst/>
          </a:prstGeom>
          <a:solidFill>
            <a:schemeClr val="accent1"/>
          </a:solidFill>
          <a:ln w="12699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baseline="0">
              <a:solidFill>
                <a:srgbClr val="000000"/>
              </a:solidFill>
            </a:endParaRPr>
          </a:p>
        </p:txBody>
      </p:sp>
      <p:sp>
        <p:nvSpPr>
          <p:cNvPr id="66565" name="Rectangle 5"/>
          <p:cNvSpPr>
            <a:spLocks noChangeArrowheads="1"/>
          </p:cNvSpPr>
          <p:nvPr/>
        </p:nvSpPr>
        <p:spPr bwMode="auto">
          <a:xfrm>
            <a:off x="5226050" y="2817813"/>
            <a:ext cx="1168400" cy="566737"/>
          </a:xfrm>
          <a:prstGeom prst="rect">
            <a:avLst/>
          </a:prstGeom>
          <a:solidFill>
            <a:schemeClr val="accent1"/>
          </a:solidFill>
          <a:ln w="12699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baseline="0">
              <a:solidFill>
                <a:srgbClr val="000000"/>
              </a:solidFill>
            </a:endParaRPr>
          </a:p>
        </p:txBody>
      </p:sp>
      <p:sp>
        <p:nvSpPr>
          <p:cNvPr id="66566" name="Rectangle 6"/>
          <p:cNvSpPr>
            <a:spLocks noChangeArrowheads="1"/>
          </p:cNvSpPr>
          <p:nvPr/>
        </p:nvSpPr>
        <p:spPr bwMode="auto">
          <a:xfrm>
            <a:off x="7016750" y="1731963"/>
            <a:ext cx="901700" cy="566737"/>
          </a:xfrm>
          <a:prstGeom prst="rect">
            <a:avLst/>
          </a:prstGeom>
          <a:solidFill>
            <a:schemeClr val="accent1"/>
          </a:solidFill>
          <a:ln w="12699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baseline="0">
              <a:solidFill>
                <a:srgbClr val="000000"/>
              </a:solidFill>
            </a:endParaRPr>
          </a:p>
        </p:txBody>
      </p:sp>
      <p:sp>
        <p:nvSpPr>
          <p:cNvPr id="66567" name="Rectangle 7"/>
          <p:cNvSpPr>
            <a:spLocks noChangeArrowheads="1"/>
          </p:cNvSpPr>
          <p:nvPr/>
        </p:nvSpPr>
        <p:spPr bwMode="auto">
          <a:xfrm>
            <a:off x="7035800" y="2817813"/>
            <a:ext cx="939800" cy="566737"/>
          </a:xfrm>
          <a:prstGeom prst="rect">
            <a:avLst/>
          </a:prstGeom>
          <a:solidFill>
            <a:schemeClr val="accent1"/>
          </a:solidFill>
          <a:ln w="12699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baseline="0">
              <a:solidFill>
                <a:srgbClr val="000000"/>
              </a:solidFill>
            </a:endParaRPr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6210300" y="2095500"/>
            <a:ext cx="781050" cy="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69" name="Line 9"/>
          <p:cNvSpPr>
            <a:spLocks noChangeShapeType="1"/>
          </p:cNvSpPr>
          <p:nvPr/>
        </p:nvSpPr>
        <p:spPr bwMode="auto">
          <a:xfrm>
            <a:off x="6229350" y="3086100"/>
            <a:ext cx="781050" cy="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70" name="Line 10"/>
          <p:cNvSpPr>
            <a:spLocks noChangeShapeType="1"/>
          </p:cNvSpPr>
          <p:nvPr/>
        </p:nvSpPr>
        <p:spPr bwMode="auto">
          <a:xfrm>
            <a:off x="6229350" y="4914900"/>
            <a:ext cx="819150" cy="6858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71" name="Rectangle 11"/>
          <p:cNvSpPr>
            <a:spLocks noChangeArrowheads="1"/>
          </p:cNvSpPr>
          <p:nvPr/>
        </p:nvSpPr>
        <p:spPr bwMode="auto">
          <a:xfrm>
            <a:off x="5226050" y="4456113"/>
            <a:ext cx="1168400" cy="566737"/>
          </a:xfrm>
          <a:prstGeom prst="rect">
            <a:avLst/>
          </a:prstGeom>
          <a:solidFill>
            <a:schemeClr val="accent1"/>
          </a:solidFill>
          <a:ln w="12699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baseline="0">
              <a:solidFill>
                <a:srgbClr val="000000"/>
              </a:solidFill>
            </a:endParaRPr>
          </a:p>
        </p:txBody>
      </p:sp>
      <p:sp>
        <p:nvSpPr>
          <p:cNvPr id="66572" name="Rectangle 12"/>
          <p:cNvSpPr>
            <a:spLocks noChangeArrowheads="1"/>
          </p:cNvSpPr>
          <p:nvPr/>
        </p:nvSpPr>
        <p:spPr bwMode="auto">
          <a:xfrm>
            <a:off x="5264150" y="5541963"/>
            <a:ext cx="1168400" cy="566737"/>
          </a:xfrm>
          <a:prstGeom prst="rect">
            <a:avLst/>
          </a:prstGeom>
          <a:solidFill>
            <a:schemeClr val="accent1"/>
          </a:solidFill>
          <a:ln w="12699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baseline="0">
              <a:solidFill>
                <a:srgbClr val="000000"/>
              </a:solidFill>
            </a:endParaRPr>
          </a:p>
        </p:txBody>
      </p:sp>
      <p:sp>
        <p:nvSpPr>
          <p:cNvPr id="66573" name="Rectangle 13"/>
          <p:cNvSpPr>
            <a:spLocks noChangeArrowheads="1"/>
          </p:cNvSpPr>
          <p:nvPr/>
        </p:nvSpPr>
        <p:spPr bwMode="auto">
          <a:xfrm>
            <a:off x="7054850" y="4456113"/>
            <a:ext cx="901700" cy="566737"/>
          </a:xfrm>
          <a:prstGeom prst="rect">
            <a:avLst/>
          </a:prstGeom>
          <a:solidFill>
            <a:schemeClr val="accent1"/>
          </a:solidFill>
          <a:ln w="12699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baseline="0">
              <a:solidFill>
                <a:srgbClr val="000000"/>
              </a:solidFill>
            </a:endParaRPr>
          </a:p>
        </p:txBody>
      </p:sp>
      <p:sp>
        <p:nvSpPr>
          <p:cNvPr id="66574" name="Rectangle 14"/>
          <p:cNvSpPr>
            <a:spLocks noChangeArrowheads="1"/>
          </p:cNvSpPr>
          <p:nvPr/>
        </p:nvSpPr>
        <p:spPr bwMode="auto">
          <a:xfrm>
            <a:off x="7073900" y="5541963"/>
            <a:ext cx="939800" cy="566737"/>
          </a:xfrm>
          <a:prstGeom prst="rect">
            <a:avLst/>
          </a:prstGeom>
          <a:solidFill>
            <a:schemeClr val="accent1"/>
          </a:solidFill>
          <a:ln w="12699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baseline="0">
              <a:solidFill>
                <a:srgbClr val="000000"/>
              </a:solidFill>
            </a:endParaRPr>
          </a:p>
        </p:txBody>
      </p:sp>
      <p:sp>
        <p:nvSpPr>
          <p:cNvPr id="66575" name="Line 15"/>
          <p:cNvSpPr>
            <a:spLocks noChangeShapeType="1"/>
          </p:cNvSpPr>
          <p:nvPr/>
        </p:nvSpPr>
        <p:spPr bwMode="auto">
          <a:xfrm>
            <a:off x="6267450" y="5810250"/>
            <a:ext cx="781050" cy="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76" name="Rectangle 16"/>
          <p:cNvSpPr>
            <a:spLocks noChangeArrowheads="1"/>
          </p:cNvSpPr>
          <p:nvPr/>
        </p:nvSpPr>
        <p:spPr bwMode="auto">
          <a:xfrm>
            <a:off x="5184775" y="4019550"/>
            <a:ext cx="3425825" cy="283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4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baseline="0">
                <a:solidFill>
                  <a:srgbClr val="000000"/>
                </a:solidFill>
              </a:rPr>
              <a:t>                              8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0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baseline="0">
                <a:solidFill>
                  <a:srgbClr val="000000"/>
                </a:solidFill>
              </a:rPr>
              <a:t> ptr</a:t>
            </a:r>
            <a:endParaRPr kumimoji="0" lang="en-US" altLang="en-US" sz="10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2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2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baseline="0">
                <a:solidFill>
                  <a:srgbClr val="000000"/>
                </a:solidFill>
              </a:rPr>
              <a:t>                             -5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2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baseline="0">
                <a:solidFill>
                  <a:srgbClr val="000000"/>
                </a:solidFill>
              </a:rPr>
              <a:t> ptr2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baseline="0">
                <a:solidFill>
                  <a:srgbClr val="000000"/>
                </a:solidFill>
              </a:rPr>
              <a:t>           </a:t>
            </a:r>
          </a:p>
        </p:txBody>
      </p:sp>
      <p:sp>
        <p:nvSpPr>
          <p:cNvPr id="66577" name="Rectangle 17"/>
          <p:cNvSpPr>
            <a:spLocks noChangeArrowheads="1"/>
          </p:cNvSpPr>
          <p:nvPr/>
        </p:nvSpPr>
        <p:spPr bwMode="auto">
          <a:xfrm>
            <a:off x="5146675" y="1295400"/>
            <a:ext cx="3425825" cy="283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4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baseline="0">
                <a:solidFill>
                  <a:srgbClr val="000000"/>
                </a:solidFill>
              </a:rPr>
              <a:t>                              8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0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baseline="0">
                <a:solidFill>
                  <a:srgbClr val="000000"/>
                </a:solidFill>
              </a:rPr>
              <a:t> ptr</a:t>
            </a:r>
            <a:endParaRPr kumimoji="0" lang="en-US" altLang="en-US" sz="10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2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2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baseline="0">
                <a:solidFill>
                  <a:srgbClr val="000000"/>
                </a:solidFill>
              </a:rPr>
              <a:t>                             -5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2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baseline="0">
                <a:solidFill>
                  <a:srgbClr val="000000"/>
                </a:solidFill>
              </a:rPr>
              <a:t> ptr2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baseline="0">
                <a:solidFill>
                  <a:srgbClr val="000000"/>
                </a:solidFill>
              </a:rPr>
              <a:t>           </a:t>
            </a:r>
          </a:p>
        </p:txBody>
      </p:sp>
      <p:sp>
        <p:nvSpPr>
          <p:cNvPr id="66578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9E1BF781-1FAA-4C9A-8AE2-C28247B3B53E}" type="slidenum">
              <a:rPr kumimoji="0" lang="en-US" altLang="en-US" sz="1400" smtClean="0">
                <a:latin typeface="Times New Roman" panose="02020603050405020304" pitchFamily="18" charset="0"/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60</a:t>
            </a:fld>
            <a:endParaRPr kumimoji="0" lang="en-US" altLang="en-US" sz="1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10656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76250" y="1600200"/>
            <a:ext cx="8210550" cy="4514850"/>
          </a:xfrm>
          <a:noFill/>
        </p:spPr>
        <p:txBody>
          <a:bodyPr lIns="92075" tIns="46038" rIns="92075" bIns="46038"/>
          <a:lstStyle/>
          <a:p>
            <a:r>
              <a:rPr lang="en-US" altLang="en-US" sz="2400" b="1">
                <a:latin typeface="Courier New" panose="02070309020205020404" pitchFamily="49" charset="0"/>
              </a:rPr>
              <a:t> </a:t>
            </a:r>
            <a:r>
              <a:rPr lang="en-US" altLang="en-US" sz="2800" b="1"/>
              <a:t>occurs when two pointers point to the same object and delete is applied to one of them.</a:t>
            </a:r>
            <a:r>
              <a:rPr lang="en-US" altLang="en-US" sz="2400" b="1">
                <a:latin typeface="Courier New" panose="02070309020205020404" pitchFamily="49" charset="0"/>
              </a:rPr>
              <a:t>  </a:t>
            </a:r>
          </a:p>
          <a:p>
            <a:pPr>
              <a:buFont typeface="Monotype Sorts" pitchFamily="2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 </a:t>
            </a:r>
          </a:p>
          <a:p>
            <a:pPr>
              <a:buFont typeface="Monotype Sorts" pitchFamily="2" charset="2"/>
              <a:buNone/>
            </a:pPr>
            <a:endParaRPr lang="en-US" altLang="en-US" sz="1600" b="1">
              <a:latin typeface="Courier New" panose="020703090202050204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int* ptr = new int;</a:t>
            </a:r>
            <a:endParaRPr lang="en-US" altLang="en-US" sz="2800" b="1"/>
          </a:p>
          <a:p>
            <a:pPr>
              <a:buFont typeface="Monotype Sorts" pitchFamily="2" charset="2"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*ptr = 8;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int* ptr2 = new int;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*ptr2 = -5;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ptr = ptr2;</a:t>
            </a:r>
            <a:r>
              <a:rPr lang="en-US" altLang="en-US" sz="2400" b="1"/>
              <a:t>     </a:t>
            </a:r>
            <a:endParaRPr lang="en-US" altLang="en-US" sz="2400" b="1">
              <a:latin typeface="Courier New" panose="020703090202050204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altLang="en-US" sz="1200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495300"/>
            <a:ext cx="7848600" cy="1028700"/>
          </a:xfrm>
          <a:noFill/>
        </p:spPr>
        <p:txBody>
          <a:bodyPr lIns="92075" tIns="46038" rIns="92075" bIns="46038" anchor="b"/>
          <a:lstStyle/>
          <a:p>
            <a:r>
              <a:rPr lang="en-US" altLang="en-US"/>
              <a:t>A Dangling Pointer</a:t>
            </a:r>
          </a:p>
        </p:txBody>
      </p:sp>
      <p:grpSp>
        <p:nvGrpSpPr>
          <p:cNvPr id="68612" name="Group 8"/>
          <p:cNvGrpSpPr>
            <a:grpSpLocks/>
          </p:cNvGrpSpPr>
          <p:nvPr/>
        </p:nvGrpSpPr>
        <p:grpSpPr bwMode="auto">
          <a:xfrm>
            <a:off x="4959350" y="3313113"/>
            <a:ext cx="1822450" cy="1652587"/>
            <a:chOff x="3124" y="2087"/>
            <a:chExt cx="1148" cy="1041"/>
          </a:xfrm>
        </p:grpSpPr>
        <p:sp>
          <p:nvSpPr>
            <p:cNvPr id="68619" name="Line 4"/>
            <p:cNvSpPr>
              <a:spLocks noChangeShapeType="1"/>
            </p:cNvSpPr>
            <p:nvPr/>
          </p:nvSpPr>
          <p:spPr bwMode="auto">
            <a:xfrm>
              <a:off x="3756" y="2376"/>
              <a:ext cx="516" cy="432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20" name="Rectangle 5"/>
            <p:cNvSpPr>
              <a:spLocks noChangeArrowheads="1"/>
            </p:cNvSpPr>
            <p:nvPr/>
          </p:nvSpPr>
          <p:spPr bwMode="auto">
            <a:xfrm>
              <a:off x="3124" y="2087"/>
              <a:ext cx="736" cy="357"/>
            </a:xfrm>
            <a:prstGeom prst="rect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0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2400" baseline="0">
                <a:solidFill>
                  <a:srgbClr val="000000"/>
                </a:solidFill>
              </a:endParaRPr>
            </a:p>
          </p:txBody>
        </p:sp>
        <p:sp>
          <p:nvSpPr>
            <p:cNvPr id="68621" name="Rectangle 6"/>
            <p:cNvSpPr>
              <a:spLocks noChangeArrowheads="1"/>
            </p:cNvSpPr>
            <p:nvPr/>
          </p:nvSpPr>
          <p:spPr bwMode="auto">
            <a:xfrm>
              <a:off x="3148" y="2771"/>
              <a:ext cx="736" cy="357"/>
            </a:xfrm>
            <a:prstGeom prst="rect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0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2400" baseline="0">
                <a:solidFill>
                  <a:srgbClr val="000000"/>
                </a:solidFill>
              </a:endParaRPr>
            </a:p>
          </p:txBody>
        </p:sp>
        <p:sp>
          <p:nvSpPr>
            <p:cNvPr id="68622" name="Line 7"/>
            <p:cNvSpPr>
              <a:spLocks noChangeShapeType="1"/>
            </p:cNvSpPr>
            <p:nvPr/>
          </p:nvSpPr>
          <p:spPr bwMode="auto">
            <a:xfrm>
              <a:off x="3780" y="2940"/>
              <a:ext cx="492" cy="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8613" name="Group 13"/>
          <p:cNvGrpSpPr>
            <a:grpSpLocks/>
          </p:cNvGrpSpPr>
          <p:nvPr/>
        </p:nvGrpSpPr>
        <p:grpSpPr bwMode="auto">
          <a:xfrm>
            <a:off x="4918075" y="2857500"/>
            <a:ext cx="3425825" cy="3443288"/>
            <a:chOff x="3098" y="1800"/>
            <a:chExt cx="2158" cy="2169"/>
          </a:xfrm>
        </p:grpSpPr>
        <p:grpSp>
          <p:nvGrpSpPr>
            <p:cNvPr id="68615" name="Group 11"/>
            <p:cNvGrpSpPr>
              <a:grpSpLocks/>
            </p:cNvGrpSpPr>
            <p:nvPr/>
          </p:nvGrpSpPr>
          <p:grpSpPr bwMode="auto">
            <a:xfrm>
              <a:off x="4276" y="2075"/>
              <a:ext cx="604" cy="1041"/>
              <a:chOff x="4276" y="2075"/>
              <a:chExt cx="604" cy="1041"/>
            </a:xfrm>
          </p:grpSpPr>
          <p:sp>
            <p:nvSpPr>
              <p:cNvPr id="68617" name="Rectangle 9"/>
              <p:cNvSpPr>
                <a:spLocks noChangeArrowheads="1"/>
              </p:cNvSpPr>
              <p:nvPr/>
            </p:nvSpPr>
            <p:spPr bwMode="auto">
              <a:xfrm>
                <a:off x="4276" y="2075"/>
                <a:ext cx="568" cy="357"/>
              </a:xfrm>
              <a:prstGeom prst="rect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Monotype Sorts" pitchFamily="2" charset="2"/>
                  <a:buChar char="n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 sz="2400" baseline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8618" name="Rectangle 10"/>
              <p:cNvSpPr>
                <a:spLocks noChangeArrowheads="1"/>
              </p:cNvSpPr>
              <p:nvPr/>
            </p:nvSpPr>
            <p:spPr bwMode="auto">
              <a:xfrm>
                <a:off x="4288" y="2759"/>
                <a:ext cx="592" cy="357"/>
              </a:xfrm>
              <a:prstGeom prst="rect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Monotype Sorts" pitchFamily="2" charset="2"/>
                  <a:buChar char="n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 sz="2400" baseline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68616" name="Rectangle 12"/>
            <p:cNvSpPr>
              <a:spLocks noChangeArrowheads="1"/>
            </p:cNvSpPr>
            <p:nvPr/>
          </p:nvSpPr>
          <p:spPr bwMode="auto">
            <a:xfrm>
              <a:off x="3098" y="1800"/>
              <a:ext cx="2158" cy="2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0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2000" b="1" baseline="0">
                <a:solidFill>
                  <a:srgbClr val="000000"/>
                </a:solidFill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1400" b="1" baseline="0">
                <a:solidFill>
                  <a:srgbClr val="000000"/>
                </a:solidFill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 b="1" baseline="0">
                  <a:solidFill>
                    <a:srgbClr val="000000"/>
                  </a:solidFill>
                </a:rPr>
                <a:t>                              8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1000" b="1" baseline="0">
                <a:solidFill>
                  <a:srgbClr val="000000"/>
                </a:solidFill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 b="1" baseline="0">
                  <a:solidFill>
                    <a:srgbClr val="000000"/>
                  </a:solidFill>
                </a:rPr>
                <a:t> ptr</a:t>
              </a:r>
              <a:endParaRPr kumimoji="0" lang="en-US" altLang="en-US" sz="1000" b="1" baseline="0">
                <a:solidFill>
                  <a:srgbClr val="000000"/>
                </a:solidFill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1200" b="1" baseline="0">
                <a:solidFill>
                  <a:srgbClr val="000000"/>
                </a:solidFill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1200" b="1" baseline="0">
                <a:solidFill>
                  <a:srgbClr val="000000"/>
                </a:solidFill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 b="1" baseline="0">
                  <a:solidFill>
                    <a:srgbClr val="000000"/>
                  </a:solidFill>
                </a:rPr>
                <a:t>                             -5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1200" b="1" baseline="0">
                <a:solidFill>
                  <a:srgbClr val="000000"/>
                </a:solidFill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 b="1" baseline="0">
                  <a:solidFill>
                    <a:srgbClr val="000000"/>
                  </a:solidFill>
                </a:rPr>
                <a:t> ptr2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 b="1" baseline="0">
                  <a:solidFill>
                    <a:srgbClr val="000000"/>
                  </a:solidFill>
                </a:rPr>
                <a:t> 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2000" b="1" baseline="0">
                <a:solidFill>
                  <a:srgbClr val="000000"/>
                </a:solidFill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 b="1" baseline="0">
                  <a:solidFill>
                    <a:srgbClr val="000000"/>
                  </a:solidFill>
                </a:rPr>
                <a:t>FOR EXAMPLE,         </a:t>
              </a:r>
            </a:p>
          </p:txBody>
        </p:sp>
      </p:grpSp>
      <p:sp>
        <p:nvSpPr>
          <p:cNvPr id="68614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804D7009-F712-4609-BC81-AD0850A99B6A}" type="slidenum">
              <a:rPr kumimoji="0" lang="en-US" altLang="en-US" sz="1400" smtClean="0">
                <a:latin typeface="Times New Roman" panose="02020603050405020304" pitchFamily="18" charset="0"/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61</a:t>
            </a:fld>
            <a:endParaRPr kumimoji="0" lang="en-US" altLang="en-US" sz="1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50642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76250" y="1600200"/>
            <a:ext cx="8134350" cy="4476750"/>
          </a:xfrm>
          <a:noFill/>
        </p:spPr>
        <p:txBody>
          <a:bodyPr lIns="92075" tIns="46038" rIns="92075" bIns="46038"/>
          <a:lstStyle/>
          <a:p>
            <a:pPr>
              <a:buFont typeface="Monotype Sorts" pitchFamily="2" charset="2"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int* ptr = new int;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*ptr = 8;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int* ptr2 = new int;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*ptr2 = -5;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ptr = ptr2;</a:t>
            </a:r>
            <a:r>
              <a:rPr lang="en-US" altLang="en-US" sz="2400" b="1"/>
              <a:t>     </a:t>
            </a:r>
            <a:endParaRPr lang="en-US" altLang="en-US" sz="2400" b="1">
              <a:latin typeface="Courier New" panose="020703090202050204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altLang="en-US" sz="1200" b="1">
                <a:latin typeface="Courier New" panose="02070309020205020404" pitchFamily="49" charset="0"/>
              </a:rPr>
              <a:t> 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delete ptr2;    </a:t>
            </a:r>
            <a:r>
              <a:rPr lang="en-US" altLang="en-US" sz="2000" b="1" i="1">
                <a:solidFill>
                  <a:srgbClr val="CC0000"/>
                </a:solidFill>
                <a:latin typeface="Courier New" panose="02070309020205020404" pitchFamily="49" charset="0"/>
              </a:rPr>
              <a:t>// ptr is left dangling</a:t>
            </a:r>
            <a:endParaRPr lang="en-US" altLang="en-US" sz="2400" b="1">
              <a:latin typeface="Courier New" panose="020703090202050204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ptr2 = NULL;    </a:t>
            </a:r>
            <a:endParaRPr lang="en-US" altLang="en-US" sz="2000" b="1" i="1">
              <a:solidFill>
                <a:srgbClr val="CC0000"/>
              </a:solidFill>
              <a:latin typeface="Courier New" panose="02070309020205020404" pitchFamily="49" charset="0"/>
            </a:endParaRPr>
          </a:p>
          <a:p>
            <a:pPr>
              <a:buFont typeface="Monotype Sorts" pitchFamily="2" charset="2"/>
              <a:buNone/>
            </a:pPr>
            <a:endParaRPr lang="en-US" altLang="en-US" sz="2000" b="1" i="1">
              <a:solidFill>
                <a:srgbClr val="CC0000"/>
              </a:solidFill>
              <a:latin typeface="Courier New" panose="02070309020205020404" pitchFamily="49" charset="0"/>
            </a:endParaRP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419100"/>
            <a:ext cx="7848600" cy="1028700"/>
          </a:xfrm>
          <a:noFill/>
        </p:spPr>
        <p:txBody>
          <a:bodyPr lIns="92075" tIns="46038" rIns="92075" bIns="46038" anchor="b"/>
          <a:lstStyle/>
          <a:p>
            <a:r>
              <a:rPr lang="en-US" altLang="en-US"/>
              <a:t>Leaving a Dangling Pointer</a:t>
            </a:r>
          </a:p>
        </p:txBody>
      </p:sp>
      <p:grpSp>
        <p:nvGrpSpPr>
          <p:cNvPr id="70660" name="Group 14"/>
          <p:cNvGrpSpPr>
            <a:grpSpLocks/>
          </p:cNvGrpSpPr>
          <p:nvPr/>
        </p:nvGrpSpPr>
        <p:grpSpPr bwMode="auto">
          <a:xfrm>
            <a:off x="4994275" y="1390650"/>
            <a:ext cx="3425825" cy="2833688"/>
            <a:chOff x="3146" y="876"/>
            <a:chExt cx="2158" cy="1785"/>
          </a:xfrm>
        </p:grpSpPr>
        <p:grpSp>
          <p:nvGrpSpPr>
            <p:cNvPr id="70667" name="Group 8"/>
            <p:cNvGrpSpPr>
              <a:grpSpLocks/>
            </p:cNvGrpSpPr>
            <p:nvPr/>
          </p:nvGrpSpPr>
          <p:grpSpPr bwMode="auto">
            <a:xfrm>
              <a:off x="3172" y="1163"/>
              <a:ext cx="1148" cy="1041"/>
              <a:chOff x="3172" y="1163"/>
              <a:chExt cx="1148" cy="1041"/>
            </a:xfrm>
          </p:grpSpPr>
          <p:sp>
            <p:nvSpPr>
              <p:cNvPr id="70673" name="Line 4"/>
              <p:cNvSpPr>
                <a:spLocks noChangeShapeType="1"/>
              </p:cNvSpPr>
              <p:nvPr/>
            </p:nvSpPr>
            <p:spPr bwMode="auto">
              <a:xfrm>
                <a:off x="3804" y="1452"/>
                <a:ext cx="516" cy="432"/>
              </a:xfrm>
              <a:prstGeom prst="line">
                <a:avLst/>
              </a:prstGeom>
              <a:noFill/>
              <a:ln w="12699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674" name="Rectangle 5"/>
              <p:cNvSpPr>
                <a:spLocks noChangeArrowheads="1"/>
              </p:cNvSpPr>
              <p:nvPr/>
            </p:nvSpPr>
            <p:spPr bwMode="auto">
              <a:xfrm>
                <a:off x="3172" y="1163"/>
                <a:ext cx="736" cy="357"/>
              </a:xfrm>
              <a:prstGeom prst="rect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Monotype Sorts" pitchFamily="2" charset="2"/>
                  <a:buChar char="n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 sz="2400" baseline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0675" name="Rectangle 6"/>
              <p:cNvSpPr>
                <a:spLocks noChangeArrowheads="1"/>
              </p:cNvSpPr>
              <p:nvPr/>
            </p:nvSpPr>
            <p:spPr bwMode="auto">
              <a:xfrm>
                <a:off x="3196" y="1847"/>
                <a:ext cx="736" cy="357"/>
              </a:xfrm>
              <a:prstGeom prst="rect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Monotype Sorts" pitchFamily="2" charset="2"/>
                  <a:buChar char="n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 sz="2400" baseline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0676" name="Line 7"/>
              <p:cNvSpPr>
                <a:spLocks noChangeShapeType="1"/>
              </p:cNvSpPr>
              <p:nvPr/>
            </p:nvSpPr>
            <p:spPr bwMode="auto">
              <a:xfrm>
                <a:off x="3828" y="2016"/>
                <a:ext cx="492" cy="0"/>
              </a:xfrm>
              <a:prstGeom prst="line">
                <a:avLst/>
              </a:prstGeom>
              <a:noFill/>
              <a:ln w="12699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0668" name="Group 13"/>
            <p:cNvGrpSpPr>
              <a:grpSpLocks/>
            </p:cNvGrpSpPr>
            <p:nvPr/>
          </p:nvGrpSpPr>
          <p:grpSpPr bwMode="auto">
            <a:xfrm>
              <a:off x="3146" y="876"/>
              <a:ext cx="2158" cy="1785"/>
              <a:chOff x="3146" y="876"/>
              <a:chExt cx="2158" cy="1785"/>
            </a:xfrm>
          </p:grpSpPr>
          <p:grpSp>
            <p:nvGrpSpPr>
              <p:cNvPr id="70669" name="Group 11"/>
              <p:cNvGrpSpPr>
                <a:grpSpLocks/>
              </p:cNvGrpSpPr>
              <p:nvPr/>
            </p:nvGrpSpPr>
            <p:grpSpPr bwMode="auto">
              <a:xfrm>
                <a:off x="4324" y="1151"/>
                <a:ext cx="604" cy="1041"/>
                <a:chOff x="4324" y="1151"/>
                <a:chExt cx="604" cy="1041"/>
              </a:xfrm>
            </p:grpSpPr>
            <p:sp>
              <p:nvSpPr>
                <p:cNvPr id="70671" name="Rectangle 9"/>
                <p:cNvSpPr>
                  <a:spLocks noChangeArrowheads="1"/>
                </p:cNvSpPr>
                <p:nvPr/>
              </p:nvSpPr>
              <p:spPr bwMode="auto">
                <a:xfrm>
                  <a:off x="4324" y="1151"/>
                  <a:ext cx="568" cy="357"/>
                </a:xfrm>
                <a:prstGeom prst="rect">
                  <a:avLst/>
                </a:prstGeom>
                <a:solidFill>
                  <a:schemeClr val="accent1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Monotype Sorts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kumimoji="0" lang="en-US" altLang="en-US" sz="2400" baseline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70672" name="Rectangle 10"/>
                <p:cNvSpPr>
                  <a:spLocks noChangeArrowheads="1"/>
                </p:cNvSpPr>
                <p:nvPr/>
              </p:nvSpPr>
              <p:spPr bwMode="auto">
                <a:xfrm>
                  <a:off x="4336" y="1835"/>
                  <a:ext cx="592" cy="357"/>
                </a:xfrm>
                <a:prstGeom prst="rect">
                  <a:avLst/>
                </a:prstGeom>
                <a:solidFill>
                  <a:schemeClr val="accent1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Monotype Sorts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kumimoji="0" lang="en-US" altLang="en-US" sz="2400" baseline="0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70670" name="Rectangle 12"/>
              <p:cNvSpPr>
                <a:spLocks noChangeArrowheads="1"/>
              </p:cNvSpPr>
              <p:nvPr/>
            </p:nvSpPr>
            <p:spPr bwMode="auto">
              <a:xfrm>
                <a:off x="3146" y="876"/>
                <a:ext cx="2158" cy="17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Monotype Sorts" pitchFamily="2" charset="2"/>
                  <a:buChar char="n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 sz="2000" b="1" baseline="0">
                  <a:solidFill>
                    <a:srgbClr val="000000"/>
                  </a:solidFill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 sz="1400" b="1" baseline="0">
                  <a:solidFill>
                    <a:srgbClr val="000000"/>
                  </a:solidFill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 b="1" baseline="0">
                    <a:solidFill>
                      <a:srgbClr val="000000"/>
                    </a:solidFill>
                  </a:rPr>
                  <a:t>                              8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 sz="1000" b="1" baseline="0">
                  <a:solidFill>
                    <a:srgbClr val="000000"/>
                  </a:solidFill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 b="1" baseline="0">
                    <a:solidFill>
                      <a:srgbClr val="000000"/>
                    </a:solidFill>
                  </a:rPr>
                  <a:t> ptr</a:t>
                </a:r>
                <a:endParaRPr kumimoji="0" lang="en-US" altLang="en-US" sz="1000" b="1" baseline="0">
                  <a:solidFill>
                    <a:srgbClr val="000000"/>
                  </a:solidFill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 sz="1200" b="1" baseline="0">
                  <a:solidFill>
                    <a:srgbClr val="000000"/>
                  </a:solidFill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 sz="1200" b="1" baseline="0">
                  <a:solidFill>
                    <a:srgbClr val="000000"/>
                  </a:solidFill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 b="1" baseline="0">
                    <a:solidFill>
                      <a:srgbClr val="000000"/>
                    </a:solidFill>
                  </a:rPr>
                  <a:t>                             -5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 sz="1200" b="1" baseline="0">
                  <a:solidFill>
                    <a:srgbClr val="000000"/>
                  </a:solidFill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 b="1" baseline="0">
                    <a:solidFill>
                      <a:srgbClr val="000000"/>
                    </a:solidFill>
                  </a:rPr>
                  <a:t> ptr2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 b="1" baseline="0">
                    <a:solidFill>
                      <a:srgbClr val="000000"/>
                    </a:solidFill>
                  </a:rPr>
                  <a:t>           </a:t>
                </a:r>
              </a:p>
            </p:txBody>
          </p:sp>
        </p:grpSp>
      </p:grpSp>
      <p:sp>
        <p:nvSpPr>
          <p:cNvPr id="70661" name="Line 15"/>
          <p:cNvSpPr>
            <a:spLocks noChangeShapeType="1"/>
          </p:cNvSpPr>
          <p:nvPr/>
        </p:nvSpPr>
        <p:spPr bwMode="auto">
          <a:xfrm>
            <a:off x="6096000" y="4914900"/>
            <a:ext cx="819150" cy="6858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62" name="Rectangle 16"/>
          <p:cNvSpPr>
            <a:spLocks noChangeArrowheads="1"/>
          </p:cNvSpPr>
          <p:nvPr/>
        </p:nvSpPr>
        <p:spPr bwMode="auto">
          <a:xfrm>
            <a:off x="5092700" y="4456113"/>
            <a:ext cx="1168400" cy="566737"/>
          </a:xfrm>
          <a:prstGeom prst="rect">
            <a:avLst/>
          </a:prstGeom>
          <a:solidFill>
            <a:schemeClr val="accent1"/>
          </a:solidFill>
          <a:ln w="12699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baseline="0">
              <a:solidFill>
                <a:srgbClr val="000000"/>
              </a:solidFill>
            </a:endParaRPr>
          </a:p>
        </p:txBody>
      </p:sp>
      <p:sp>
        <p:nvSpPr>
          <p:cNvPr id="70663" name="Rectangle 17"/>
          <p:cNvSpPr>
            <a:spLocks noChangeArrowheads="1"/>
          </p:cNvSpPr>
          <p:nvPr/>
        </p:nvSpPr>
        <p:spPr bwMode="auto">
          <a:xfrm>
            <a:off x="5130800" y="5541963"/>
            <a:ext cx="1168400" cy="566737"/>
          </a:xfrm>
          <a:prstGeom prst="rect">
            <a:avLst/>
          </a:prstGeom>
          <a:solidFill>
            <a:schemeClr val="accent1"/>
          </a:solidFill>
          <a:ln w="12699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baseline="0">
              <a:solidFill>
                <a:srgbClr val="000000"/>
              </a:solidFill>
            </a:endParaRPr>
          </a:p>
        </p:txBody>
      </p:sp>
      <p:sp>
        <p:nvSpPr>
          <p:cNvPr id="70664" name="Rectangle 18"/>
          <p:cNvSpPr>
            <a:spLocks noChangeArrowheads="1"/>
          </p:cNvSpPr>
          <p:nvPr/>
        </p:nvSpPr>
        <p:spPr bwMode="auto">
          <a:xfrm>
            <a:off x="6921500" y="4437063"/>
            <a:ext cx="901700" cy="566737"/>
          </a:xfrm>
          <a:prstGeom prst="rect">
            <a:avLst/>
          </a:prstGeom>
          <a:solidFill>
            <a:schemeClr val="accent1"/>
          </a:solidFill>
          <a:ln w="12699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baseline="0">
              <a:solidFill>
                <a:srgbClr val="000000"/>
              </a:solidFill>
            </a:endParaRPr>
          </a:p>
        </p:txBody>
      </p:sp>
      <p:sp>
        <p:nvSpPr>
          <p:cNvPr id="70665" name="Rectangle 19"/>
          <p:cNvSpPr>
            <a:spLocks noChangeArrowheads="1"/>
          </p:cNvSpPr>
          <p:nvPr/>
        </p:nvSpPr>
        <p:spPr bwMode="auto">
          <a:xfrm>
            <a:off x="5051425" y="4000500"/>
            <a:ext cx="2816225" cy="283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4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baseline="0">
                <a:solidFill>
                  <a:srgbClr val="000000"/>
                </a:solidFill>
              </a:rPr>
              <a:t>                              8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0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baseline="0">
                <a:solidFill>
                  <a:srgbClr val="000000"/>
                </a:solidFill>
              </a:rPr>
              <a:t> ptr</a:t>
            </a:r>
            <a:endParaRPr kumimoji="0" lang="en-US" altLang="en-US" sz="10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2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2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baseline="0">
                <a:solidFill>
                  <a:srgbClr val="000000"/>
                </a:solidFill>
              </a:rPr>
              <a:t>  NULL          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200" b="1" baseline="0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baseline="0">
                <a:solidFill>
                  <a:srgbClr val="000000"/>
                </a:solidFill>
              </a:rPr>
              <a:t> ptr2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baseline="0">
                <a:solidFill>
                  <a:srgbClr val="000000"/>
                </a:solidFill>
              </a:rPr>
              <a:t>           </a:t>
            </a:r>
          </a:p>
        </p:txBody>
      </p:sp>
      <p:sp>
        <p:nvSpPr>
          <p:cNvPr id="70666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63B503E4-91F6-4D3A-B9BE-DDC02CD40F3D}" type="slidenum">
              <a:rPr kumimoji="0" lang="en-US" altLang="en-US" sz="1400" smtClean="0">
                <a:latin typeface="Times New Roman" panose="02020603050405020304" pitchFamily="18" charset="0"/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62</a:t>
            </a:fld>
            <a:endParaRPr kumimoji="0" lang="en-US" altLang="en-US" sz="1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7655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More on Memory Leaks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00200"/>
            <a:ext cx="8229600" cy="4572000"/>
          </a:xfrm>
        </p:spPr>
        <p:txBody>
          <a:bodyPr/>
          <a:lstStyle/>
          <a:p>
            <a:pPr marL="0" indent="0" eaLnBrk="1" hangingPunct="1">
              <a:buFontTx/>
              <a:buNone/>
              <a:defRPr/>
            </a:pPr>
            <a:r>
              <a:rPr lang="en-US" altLang="en-US" dirty="0"/>
              <a:t>General guidelines to avoid memory leaks:</a:t>
            </a:r>
            <a:endParaRPr lang="en-US" altLang="en-US" b="1" dirty="0">
              <a:solidFill>
                <a:srgbClr val="3D8963"/>
              </a:solidFill>
              <a:latin typeface="Courier New" pitchFamily="49" charset="0"/>
            </a:endParaRPr>
          </a:p>
          <a:p>
            <a:pPr eaLnBrk="1" hangingPunct="1">
              <a:defRPr/>
            </a:pPr>
            <a:r>
              <a:rPr lang="en-US" altLang="en-US" dirty="0"/>
              <a:t>If a function allocates memory via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altLang="en-US" dirty="0"/>
              <a:t>, it should, whenever possible, also deallocate the memory using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</a:p>
          <a:p>
            <a:pPr eaLnBrk="1" hangingPunct="1">
              <a:defRPr/>
            </a:pPr>
            <a:r>
              <a:rPr lang="en-US" altLang="en-US" dirty="0"/>
              <a:t>If a class needs dynamic memory, it should</a:t>
            </a:r>
          </a:p>
          <a:p>
            <a:pPr lvl="1" eaLnBrk="1" hangingPunct="1">
              <a:defRPr/>
            </a:pPr>
            <a:r>
              <a:rPr lang="en-US" altLang="en-US" dirty="0"/>
              <a:t>allocate it using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altLang="en-US" dirty="0"/>
              <a:t> in the constructor</a:t>
            </a:r>
          </a:p>
          <a:p>
            <a:pPr lvl="1" eaLnBrk="1" hangingPunct="1">
              <a:defRPr/>
            </a:pPr>
            <a:r>
              <a:rPr lang="en-US" altLang="en-US" dirty="0"/>
              <a:t>deallocate it using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altLang="en-US" dirty="0"/>
              <a:t> in the destructor</a:t>
            </a: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3D29115-4B87-4244-9449-4C1779B26BBC}" type="slidenum">
              <a:rPr lang="en-US" altLang="en-US" sz="1200" smtClean="0"/>
              <a:pPr>
                <a:spcBef>
                  <a:spcPct val="0"/>
                </a:spcBef>
                <a:buFontTx/>
                <a:buNone/>
              </a:pPr>
              <a:t>63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4864747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Some C++ pointer operations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0D435-2DCA-4D63-B007-D33EC4F44F07}" type="slidenum">
              <a:rPr lang="en-US" altLang="en-US" smtClean="0"/>
              <a:pPr>
                <a:defRPr/>
              </a:pPr>
              <a:t>64</a:t>
            </a:fld>
            <a:endParaRPr lang="en-US" altLang="en-US"/>
          </a:p>
        </p:txBody>
      </p:sp>
      <p:sp>
        <p:nvSpPr>
          <p:cNvPr id="17" name="Rectangle 16"/>
          <p:cNvSpPr/>
          <p:nvPr/>
        </p:nvSpPr>
        <p:spPr>
          <a:xfrm rot="16200000">
            <a:off x="250655" y="3780738"/>
            <a:ext cx="1479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b="1" dirty="0">
                <a:solidFill>
                  <a:srgbClr val="006633"/>
                </a:solidFill>
              </a:rPr>
              <a:t>Precedence</a:t>
            </a:r>
            <a:endParaRPr lang="en-US" altLang="en-US" dirty="0">
              <a:solidFill>
                <a:srgbClr val="006633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67360" y="2245282"/>
            <a:ext cx="9156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i="1" dirty="0">
                <a:solidFill>
                  <a:srgbClr val="006633"/>
                </a:solidFill>
              </a:rPr>
              <a:t>Higher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893008" y="5956512"/>
            <a:ext cx="864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i="1" dirty="0">
                <a:solidFill>
                  <a:srgbClr val="006633"/>
                </a:solidFill>
              </a:rPr>
              <a:t>Lower</a:t>
            </a:r>
            <a:endParaRPr lang="en-US" dirty="0"/>
          </a:p>
        </p:txBody>
      </p:sp>
      <p:cxnSp>
        <p:nvCxnSpPr>
          <p:cNvPr id="21" name="Straight Arrow Connector 20"/>
          <p:cNvCxnSpPr>
            <a:stCxn id="18" idx="2"/>
            <a:endCxn id="19" idx="0"/>
          </p:cNvCxnSpPr>
          <p:nvPr/>
        </p:nvCxnSpPr>
        <p:spPr>
          <a:xfrm>
            <a:off x="1325178" y="2614614"/>
            <a:ext cx="0" cy="33418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212117" y="2667000"/>
          <a:ext cx="6096000" cy="25857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21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4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en-US" sz="1400" dirty="0"/>
                        <a:t> -&gt;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400" b="1" dirty="0"/>
                        <a:t>Select member of class pointed to</a:t>
                      </a:r>
                      <a:endParaRPr lang="en-US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1400" dirty="0"/>
                        <a:t>Unary:    ++        --           !      *              new    delete 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1400" dirty="0"/>
                        <a:t> Increment,  Decrement,  NOT,  Dereference,  Allocate, Deallocate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1400" dirty="0">
                          <a:latin typeface="Arial Rounded MT Bold" panose="020F0704030504030204" pitchFamily="34" charset="0"/>
                        </a:rPr>
                        <a:t>+</a:t>
                      </a:r>
                      <a:r>
                        <a:rPr lang="en-US" altLang="en-US" sz="1400" dirty="0"/>
                        <a:t>	 -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1400" dirty="0"/>
                        <a:t>Add Subtract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1400" dirty="0"/>
                        <a:t>&lt;    &lt;=    &gt;    &gt;= 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1400" dirty="0"/>
                        <a:t>Relational operators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1400" dirty="0"/>
                        <a:t>==   !=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1400" dirty="0"/>
                        <a:t>Tests for equality, inequality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1400" dirty="0"/>
                        <a:t> =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1400" dirty="0"/>
                        <a:t>Assignment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777145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529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3747</TotalTime>
  <Words>4700</Words>
  <Application>Microsoft Office PowerPoint</Application>
  <PresentationFormat>On-screen Show (4:3)</PresentationFormat>
  <Paragraphs>886</Paragraphs>
  <Slides>65</Slides>
  <Notes>37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5" baseType="lpstr">
      <vt:lpstr>Arial</vt:lpstr>
      <vt:lpstr>Arial Rounded MT Bold</vt:lpstr>
      <vt:lpstr>Calibri</vt:lpstr>
      <vt:lpstr>Calibri Light</vt:lpstr>
      <vt:lpstr>Courier New</vt:lpstr>
      <vt:lpstr>Monotype Sorts</vt:lpstr>
      <vt:lpstr>Tahoma</vt:lpstr>
      <vt:lpstr>Times New Roman</vt:lpstr>
      <vt:lpstr>Wingdings</vt:lpstr>
      <vt:lpstr>Office Theme</vt:lpstr>
      <vt:lpstr>CS250: Data Structures and Algorithms</vt:lpstr>
      <vt:lpstr>Course Learning Outcome</vt:lpstr>
      <vt:lpstr>Recommended Text/ Reference Books</vt:lpstr>
      <vt:lpstr>Lecture Resources &amp; Class Policy</vt:lpstr>
      <vt:lpstr>Tentative Grading Criteria</vt:lpstr>
      <vt:lpstr>Course Contents</vt:lpstr>
      <vt:lpstr>Class Rules (1/2)</vt:lpstr>
      <vt:lpstr>Class Rules (2/2)</vt:lpstr>
      <vt:lpstr>Contact</vt:lpstr>
      <vt:lpstr>Lecture 1</vt:lpstr>
      <vt:lpstr>What is a Data Structure?</vt:lpstr>
      <vt:lpstr>What is a Data Structure?</vt:lpstr>
      <vt:lpstr>What is a Data Structure Anyway?</vt:lpstr>
      <vt:lpstr>Why is Data StructurING necessay?</vt:lpstr>
      <vt:lpstr>Foundation terms</vt:lpstr>
      <vt:lpstr>Example</vt:lpstr>
      <vt:lpstr>Which data structure to use?</vt:lpstr>
      <vt:lpstr>Introduction to algorithms</vt:lpstr>
      <vt:lpstr>What is an algorithm?</vt:lpstr>
      <vt:lpstr>Properties of interest</vt:lpstr>
      <vt:lpstr>Data structures &amp; algorithms</vt:lpstr>
      <vt:lpstr>Data Type</vt:lpstr>
      <vt:lpstr>Data Types</vt:lpstr>
      <vt:lpstr>Abstract data types (ADT)</vt:lpstr>
      <vt:lpstr>Abstract Data Types (ADTs)</vt:lpstr>
      <vt:lpstr>Data Organizing Principles</vt:lpstr>
      <vt:lpstr>PowerPoint Presentation</vt:lpstr>
      <vt:lpstr>Linking</vt:lpstr>
      <vt:lpstr>Partitioning</vt:lpstr>
      <vt:lpstr>So,</vt:lpstr>
      <vt:lpstr>PowerPoint Presentation</vt:lpstr>
      <vt:lpstr>  Pointers and the Address Operator</vt:lpstr>
      <vt:lpstr>             Pointer Variables</vt:lpstr>
      <vt:lpstr>Pointer Variables</vt:lpstr>
      <vt:lpstr>Pointer Variables</vt:lpstr>
      <vt:lpstr>Another Example</vt:lpstr>
      <vt:lpstr>Using a Pointer to Access the Elements of a String</vt:lpstr>
      <vt:lpstr>  Initializing Pointers</vt:lpstr>
      <vt:lpstr>The  NULL Pointer</vt:lpstr>
      <vt:lpstr>Comparing Pointers</vt:lpstr>
      <vt:lpstr>Size of Pointers and Variables/ objects of the same DataType</vt:lpstr>
      <vt:lpstr>Size of Pointers and Variables/ objects of the same DataType</vt:lpstr>
      <vt:lpstr>Memory Allocation</vt:lpstr>
      <vt:lpstr>Dynamic Memory Allocation</vt:lpstr>
      <vt:lpstr>3 Kinds of Program Data</vt:lpstr>
      <vt:lpstr>Dynamic Memory Allocation Diagram</vt:lpstr>
      <vt:lpstr>Dynamic Memory Allocation</vt:lpstr>
      <vt:lpstr>Using operator new</vt:lpstr>
      <vt:lpstr>Dynamic Memory Allocation</vt:lpstr>
      <vt:lpstr>Dynamic Memory Example</vt:lpstr>
      <vt:lpstr>Using Operator delete to Release Dynamic Memory</vt:lpstr>
      <vt:lpstr>Dynamically Allocated Data</vt:lpstr>
      <vt:lpstr>Dynamically Allocated Data</vt:lpstr>
      <vt:lpstr>Dynamically Allocated Data</vt:lpstr>
      <vt:lpstr>Dynamically Allocated Data</vt:lpstr>
      <vt:lpstr>Dynamically Allocated Data</vt:lpstr>
      <vt:lpstr>Example </vt:lpstr>
      <vt:lpstr>Dangling Pointers and Memory Leaks</vt:lpstr>
      <vt:lpstr>Memory Leak</vt:lpstr>
      <vt:lpstr>Causing a Memory Leak</vt:lpstr>
      <vt:lpstr>A Dangling Pointer</vt:lpstr>
      <vt:lpstr>Leaving a Dangling Pointer</vt:lpstr>
      <vt:lpstr>More on Memory Leaks</vt:lpstr>
      <vt:lpstr>Some C++ pointer operations</vt:lpstr>
      <vt:lpstr>Thank you</vt:lpstr>
    </vt:vector>
  </TitlesOfParts>
  <Company>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</dc:title>
  <dc:creator>Salman</dc:creator>
  <cp:lastModifiedBy>Hanan Zia</cp:lastModifiedBy>
  <cp:revision>372</cp:revision>
  <dcterms:created xsi:type="dcterms:W3CDTF">2009-01-19T04:49:55Z</dcterms:created>
  <dcterms:modified xsi:type="dcterms:W3CDTF">2025-11-05T17:13:36Z</dcterms:modified>
</cp:coreProperties>
</file>