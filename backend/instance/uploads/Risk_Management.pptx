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Lst>
  <p:notesMasterIdLst>
    <p:notesMasterId r:id="rId78"/>
  </p:notesMasterIdLst>
  <p:sldIdLst>
    <p:sldId id="306" r:id="rId2"/>
    <p:sldId id="262" r:id="rId3"/>
    <p:sldId id="272" r:id="rId4"/>
    <p:sldId id="273" r:id="rId5"/>
    <p:sldId id="274" r:id="rId6"/>
    <p:sldId id="275" r:id="rId7"/>
    <p:sldId id="276" r:id="rId8"/>
    <p:sldId id="277" r:id="rId9"/>
    <p:sldId id="278" r:id="rId10"/>
    <p:sldId id="279" r:id="rId11"/>
    <p:sldId id="349" r:id="rId12"/>
    <p:sldId id="282" r:id="rId13"/>
    <p:sldId id="293" r:id="rId14"/>
    <p:sldId id="283" r:id="rId15"/>
    <p:sldId id="284" r:id="rId16"/>
    <p:sldId id="294" r:id="rId17"/>
    <p:sldId id="285" r:id="rId18"/>
    <p:sldId id="286" r:id="rId19"/>
    <p:sldId id="287" r:id="rId20"/>
    <p:sldId id="288" r:id="rId21"/>
    <p:sldId id="289" r:id="rId22"/>
    <p:sldId id="290" r:id="rId23"/>
    <p:sldId id="291" r:id="rId24"/>
    <p:sldId id="295" r:id="rId25"/>
    <p:sldId id="292" r:id="rId26"/>
    <p:sldId id="296" r:id="rId27"/>
    <p:sldId id="297" r:id="rId28"/>
    <p:sldId id="299" r:id="rId29"/>
    <p:sldId id="298" r:id="rId30"/>
    <p:sldId id="300" r:id="rId31"/>
    <p:sldId id="301" r:id="rId32"/>
    <p:sldId id="304" r:id="rId33"/>
    <p:sldId id="351" r:id="rId34"/>
    <p:sldId id="303" r:id="rId35"/>
    <p:sldId id="305" r:id="rId36"/>
    <p:sldId id="350" r:id="rId37"/>
    <p:sldId id="307" r:id="rId38"/>
    <p:sldId id="308" r:id="rId39"/>
    <p:sldId id="309" r:id="rId40"/>
    <p:sldId id="310" r:id="rId41"/>
    <p:sldId id="311" r:id="rId42"/>
    <p:sldId id="312" r:id="rId43"/>
    <p:sldId id="313" r:id="rId44"/>
    <p:sldId id="314" r:id="rId45"/>
    <p:sldId id="315" r:id="rId46"/>
    <p:sldId id="316" r:id="rId47"/>
    <p:sldId id="318" r:id="rId48"/>
    <p:sldId id="317" r:id="rId49"/>
    <p:sldId id="319" r:id="rId50"/>
    <p:sldId id="320" r:id="rId51"/>
    <p:sldId id="321" r:id="rId52"/>
    <p:sldId id="322" r:id="rId53"/>
    <p:sldId id="323" r:id="rId54"/>
    <p:sldId id="324" r:id="rId55"/>
    <p:sldId id="326" r:id="rId56"/>
    <p:sldId id="327" r:id="rId57"/>
    <p:sldId id="328" r:id="rId58"/>
    <p:sldId id="329" r:id="rId59"/>
    <p:sldId id="330" r:id="rId60"/>
    <p:sldId id="331" r:id="rId61"/>
    <p:sldId id="334" r:id="rId62"/>
    <p:sldId id="333" r:id="rId63"/>
    <p:sldId id="335" r:id="rId64"/>
    <p:sldId id="336" r:id="rId65"/>
    <p:sldId id="337" r:id="rId66"/>
    <p:sldId id="338" r:id="rId67"/>
    <p:sldId id="339" r:id="rId68"/>
    <p:sldId id="341" r:id="rId69"/>
    <p:sldId id="340" r:id="rId70"/>
    <p:sldId id="342" r:id="rId71"/>
    <p:sldId id="343" r:id="rId72"/>
    <p:sldId id="344" r:id="rId73"/>
    <p:sldId id="345" r:id="rId74"/>
    <p:sldId id="346" r:id="rId75"/>
    <p:sldId id="347" r:id="rId76"/>
    <p:sldId id="348" r:id="rId77"/>
  </p:sldIdLst>
  <p:sldSz cx="9144000" cy="5143500" type="screen16x9"/>
  <p:notesSz cx="6858000" cy="9144000"/>
  <p:embeddedFontLst>
    <p:embeddedFont>
      <p:font typeface="Comic Sans MS" panose="030F0702030302020204" pitchFamily="66" charset="0"/>
      <p:regular r:id="rId79"/>
      <p:bold r:id="rId80"/>
      <p:italic r:id="rId81"/>
      <p:boldItalic r:id="rId82"/>
    </p:embeddedFont>
    <p:embeddedFont>
      <p:font typeface="Economica" panose="020B0604020202020204" charset="0"/>
      <p:regular r:id="rId83"/>
      <p:bold r:id="rId84"/>
      <p:italic r:id="rId85"/>
      <p:boldItalic r:id="rId86"/>
    </p:embeddedFont>
    <p:embeddedFont>
      <p:font typeface="Open Sans" panose="020B0606030504020204" pitchFamily="34" charset="0"/>
      <p:regular r:id="rId87"/>
      <p:bold r:id="rId88"/>
      <p:italic r:id="rId89"/>
      <p:boldItalic r:id="rId90"/>
    </p:embeddedFont>
    <p:embeddedFont>
      <p:font typeface="Tw Cen MT" panose="020B0602020104020603" pitchFamily="34" charset="0"/>
      <p:regular r:id="rId91"/>
      <p:bold r:id="rId92"/>
      <p:italic r:id="rId93"/>
      <p:boldItalic r:id="rId9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sorterViewPr>
    <p:cViewPr>
      <p:scale>
        <a:sx n="100" d="100"/>
        <a:sy n="100" d="100"/>
      </p:scale>
      <p:origin x="0" y="-1554"/>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6.fntdata"/><Relationship Id="rId89" Type="http://schemas.openxmlformats.org/officeDocument/2006/relationships/font" Target="fonts/font11.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font" Target="fonts/font1.fntdata"/><Relationship Id="rId5" Type="http://schemas.openxmlformats.org/officeDocument/2006/relationships/slide" Target="slides/slide4.xml"/><Relationship Id="rId90" Type="http://schemas.openxmlformats.org/officeDocument/2006/relationships/font" Target="fonts/font12.fntdata"/><Relationship Id="rId95"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font" Target="fonts/font2.fntdata"/><Relationship Id="rId85" Type="http://schemas.openxmlformats.org/officeDocument/2006/relationships/font" Target="fonts/font7.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font" Target="fonts/font5.fntdata"/><Relationship Id="rId88" Type="http://schemas.openxmlformats.org/officeDocument/2006/relationships/font" Target="fonts/font10.fntdata"/><Relationship Id="rId91" Type="http://schemas.openxmlformats.org/officeDocument/2006/relationships/font" Target="fonts/font13.fntdata"/><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font" Target="fonts/font3.fntdata"/><Relationship Id="rId86" Type="http://schemas.openxmlformats.org/officeDocument/2006/relationships/font" Target="fonts/font8.fntdata"/><Relationship Id="rId94"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14.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9.fntdata"/><Relationship Id="rId61" Type="http://schemas.openxmlformats.org/officeDocument/2006/relationships/slide" Target="slides/slide60.xml"/><Relationship Id="rId82" Type="http://schemas.openxmlformats.org/officeDocument/2006/relationships/font" Target="fonts/font4.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15.fntdata"/><Relationship Id="rId9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BA42AE6-878C-46A5-A432-87C112332D23}" type="slidenum">
              <a:rPr lang="en-US" smtClean="0"/>
              <a:t>1</a:t>
            </a:fld>
            <a:endParaRPr lang="en-US"/>
          </a:p>
        </p:txBody>
      </p:sp>
    </p:spTree>
    <p:extLst>
      <p:ext uri="{BB962C8B-B14F-4D97-AF65-F5344CB8AC3E}">
        <p14:creationId xmlns:p14="http://schemas.microsoft.com/office/powerpoint/2010/main" val="16614433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2744013" y="756700"/>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1" name="Google Shape;11;p2"/>
          <p:cNvSpPr/>
          <p:nvPr/>
        </p:nvSpPr>
        <p:spPr>
          <a:xfrm rot="10800000">
            <a:off x="5318350" y="32667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2" name="Google Shape;12;p2"/>
          <p:cNvSpPr txBox="1">
            <a:spLocks noGrp="1"/>
          </p:cNvSpPr>
          <p:nvPr>
            <p:ph type="ctrTitle"/>
          </p:nvPr>
        </p:nvSpPr>
        <p:spPr>
          <a:xfrm>
            <a:off x="3044700" y="1444255"/>
            <a:ext cx="3054600" cy="15372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a:endParaRPr/>
          </a:p>
        </p:txBody>
      </p:sp>
      <p:sp>
        <p:nvSpPr>
          <p:cNvPr id="13" name="Google Shape;13;p2"/>
          <p:cNvSpPr txBox="1">
            <a:spLocks noGrp="1"/>
          </p:cNvSpPr>
          <p:nvPr>
            <p:ph type="subTitle" idx="1"/>
          </p:nvPr>
        </p:nvSpPr>
        <p:spPr>
          <a:xfrm>
            <a:off x="3044700" y="3116580"/>
            <a:ext cx="3054600" cy="7014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a:endParaRPr/>
          </a:p>
        </p:txBody>
      </p:sp>
      <p:sp>
        <p:nvSpPr>
          <p:cNvPr id="14" name="Google Shape;14;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3"/>
          <p:cNvSpPr/>
          <p:nvPr/>
        </p:nvSpPr>
        <p:spPr>
          <a:xfrm flipH="1">
            <a:off x="7595938" y="4602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7" name="Google Shape;17;p3"/>
          <p:cNvSpPr/>
          <p:nvPr/>
        </p:nvSpPr>
        <p:spPr>
          <a:xfrm rot="10800000" flipH="1">
            <a:off x="466425" y="35583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8" name="Google Shape;18;p3"/>
          <p:cNvSpPr txBox="1">
            <a:spLocks noGrp="1"/>
          </p:cNvSpPr>
          <p:nvPr>
            <p:ph type="title"/>
          </p:nvPr>
        </p:nvSpPr>
        <p:spPr>
          <a:xfrm>
            <a:off x="773700" y="1806450"/>
            <a:ext cx="7596600" cy="15306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a:endParaRPr/>
          </a:p>
        </p:txBody>
      </p:sp>
      <p:sp>
        <p:nvSpPr>
          <p:cNvPr id="19" name="Google Shape;19;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sp>
        <p:nvSpPr>
          <p:cNvPr id="26" name="Google Shape;26;p5"/>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27" name="Google Shape;27;p5"/>
          <p:cNvSpPr txBox="1">
            <a:spLocks noGrp="1"/>
          </p:cNvSpPr>
          <p:nvPr>
            <p:ph type="body" idx="1"/>
          </p:nvPr>
        </p:nvSpPr>
        <p:spPr>
          <a:xfrm>
            <a:off x="311700" y="1225225"/>
            <a:ext cx="3999900" cy="3354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8" name="Google Shape;28;p5"/>
          <p:cNvSpPr txBox="1">
            <a:spLocks noGrp="1"/>
          </p:cNvSpPr>
          <p:nvPr>
            <p:ph type="body" idx="2"/>
          </p:nvPr>
        </p:nvSpPr>
        <p:spPr>
          <a:xfrm>
            <a:off x="4832400" y="1225225"/>
            <a:ext cx="3999900" cy="3354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9" name="Google Shape;29;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6"/>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32" name="Google Shape;32;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35" name="Google Shape;35;p7"/>
          <p:cNvSpPr txBox="1">
            <a:spLocks noGrp="1"/>
          </p:cNvSpPr>
          <p:nvPr>
            <p:ph type="body" idx="1"/>
          </p:nvPr>
        </p:nvSpPr>
        <p:spPr>
          <a:xfrm>
            <a:off x="311700" y="1399400"/>
            <a:ext cx="2808000" cy="27849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6" name="Google Shape;36;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7"/>
        <p:cNvGrpSpPr/>
        <p:nvPr/>
      </p:nvGrpSpPr>
      <p:grpSpPr>
        <a:xfrm>
          <a:off x="0" y="0"/>
          <a:ext cx="0" cy="0"/>
          <a:chOff x="0" y="0"/>
          <a:chExt cx="0" cy="0"/>
        </a:xfrm>
      </p:grpSpPr>
      <p:sp>
        <p:nvSpPr>
          <p:cNvPr id="38" name="Google Shape;38;p8"/>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8"/>
          <p:cNvSpPr txBox="1">
            <a:spLocks noGrp="1"/>
          </p:cNvSpPr>
          <p:nvPr>
            <p:ph type="title"/>
          </p:nvPr>
        </p:nvSpPr>
        <p:spPr>
          <a:xfrm>
            <a:off x="490250" y="450150"/>
            <a:ext cx="5878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0" name="Google Shape;40;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8"/>
        <p:cNvGrpSpPr/>
        <p:nvPr/>
      </p:nvGrpSpPr>
      <p:grpSpPr>
        <a:xfrm>
          <a:off x="0" y="0"/>
          <a:ext cx="0" cy="0"/>
          <a:chOff x="0" y="0"/>
          <a:chExt cx="0" cy="0"/>
        </a:xfrm>
      </p:grpSpPr>
      <p:sp>
        <p:nvSpPr>
          <p:cNvPr id="49" name="Google Shape;49;p10"/>
          <p:cNvSpPr txBox="1">
            <a:spLocks noGrp="1"/>
          </p:cNvSpPr>
          <p:nvPr>
            <p:ph type="body" idx="1"/>
          </p:nvPr>
        </p:nvSpPr>
        <p:spPr>
          <a:xfrm>
            <a:off x="319500" y="42189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a:endParaRPr/>
          </a:p>
        </p:txBody>
      </p:sp>
      <p:sp>
        <p:nvSpPr>
          <p:cNvPr id="50" name="Google Shape;50;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1"/>
        <p:cNvGrpSpPr/>
        <p:nvPr/>
      </p:nvGrpSpPr>
      <p:grpSpPr>
        <a:xfrm>
          <a:off x="0" y="0"/>
          <a:ext cx="0" cy="0"/>
          <a:chOff x="0" y="0"/>
          <a:chExt cx="0" cy="0"/>
        </a:xfrm>
      </p:grpSpPr>
      <p:sp>
        <p:nvSpPr>
          <p:cNvPr id="52" name="Google Shape;52;p11"/>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11"/>
          <p:cNvSpPr txBox="1">
            <a:spLocks noGrp="1"/>
          </p:cNvSpPr>
          <p:nvPr>
            <p:ph type="title" hasCustomPrompt="1"/>
          </p:nvPr>
        </p:nvSpPr>
        <p:spPr>
          <a:xfrm>
            <a:off x="311700" y="957125"/>
            <a:ext cx="8520600" cy="21288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a:spLocks noGrp="1"/>
          </p:cNvSpPr>
          <p:nvPr>
            <p:ph type="body" idx="1"/>
          </p:nvPr>
        </p:nvSpPr>
        <p:spPr>
          <a:xfrm>
            <a:off x="311700" y="3162000"/>
            <a:ext cx="8520600" cy="10716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5" name="Google Shape;55;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070A7B3-6521-4DCA-87E5-044747A908C1}" type="datetimeFigureOut">
              <a:rPr lang="en-US" smtClean="0"/>
              <a:t>12/22/2025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10638669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lux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rm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a:endParaRPr/>
          </a:p>
        </p:txBody>
      </p:sp>
      <p:sp>
        <p:nvSpPr>
          <p:cNvPr id="7" name="Google Shape;7;p1"/>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marL="914400" lvl="1"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marL="1371600" lvl="2"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marL="1828800" lvl="3"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marL="2286000" lvl="4"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marL="2743200" lvl="5"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marL="3200400" lvl="6"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marL="3657600" lvl="7"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marL="4114800" lvl="8"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6" r:id="rId7"/>
    <p:sldLayoutId id="2147483657" r:id="rId8"/>
    <p:sldLayoutId id="2147483660"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5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6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9.xml"/></Relationships>
</file>

<file path=ppt/slides/_rels/slide6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85900" y="670601"/>
            <a:ext cx="6400800" cy="1529334"/>
          </a:xfrm>
        </p:spPr>
        <p:txBody>
          <a:bodyPr>
            <a:normAutofit/>
          </a:bodyPr>
          <a:lstStyle/>
          <a:p>
            <a:pPr algn="ctr"/>
            <a:r>
              <a:rPr lang="en-US" b="1" dirty="0"/>
              <a:t>Information Security</a:t>
            </a:r>
            <a:br>
              <a:rPr lang="en-US" b="1"/>
            </a:br>
            <a:r>
              <a:rPr lang="en-US" b="1"/>
              <a:t>CS-353</a:t>
            </a:r>
            <a:endParaRPr lang="en-US" b="1" dirty="0"/>
          </a:p>
        </p:txBody>
      </p:sp>
      <p:sp>
        <p:nvSpPr>
          <p:cNvPr id="3" name="Subtitle 2"/>
          <p:cNvSpPr>
            <a:spLocks noGrp="1"/>
          </p:cNvSpPr>
          <p:nvPr>
            <p:ph type="subTitle" idx="1"/>
          </p:nvPr>
        </p:nvSpPr>
        <p:spPr>
          <a:xfrm>
            <a:off x="2082387" y="3314700"/>
            <a:ext cx="5552854" cy="400050"/>
          </a:xfrm>
        </p:spPr>
        <p:txBody>
          <a:bodyPr>
            <a:normAutofit fontScale="77500" lnSpcReduction="20000"/>
          </a:bodyPr>
          <a:lstStyle/>
          <a:p>
            <a:pPr algn="just"/>
            <a:r>
              <a:rPr lang="en-US" dirty="0">
                <a:solidFill>
                  <a:srgbClr val="0000FF"/>
                </a:solidFill>
                <a:latin typeface="Comic Sans MS" panose="030F0702030302020204" pitchFamily="66" charset="0"/>
              </a:rPr>
              <a:t>Dr. Muhammad Ashraf</a:t>
            </a:r>
          </a:p>
        </p:txBody>
      </p:sp>
      <p:sp>
        <p:nvSpPr>
          <p:cNvPr id="4" name="Title 1">
            <a:extLst>
              <a:ext uri="{FF2B5EF4-FFF2-40B4-BE49-F238E27FC236}">
                <a16:creationId xmlns:a16="http://schemas.microsoft.com/office/drawing/2014/main" id="{A14BD0BB-149A-EDBD-ADEF-9DF8F07ADF9B}"/>
              </a:ext>
            </a:extLst>
          </p:cNvPr>
          <p:cNvSpPr txBox="1">
            <a:spLocks/>
          </p:cNvSpPr>
          <p:nvPr/>
        </p:nvSpPr>
        <p:spPr>
          <a:xfrm>
            <a:off x="1257300" y="2066044"/>
            <a:ext cx="6400800" cy="882445"/>
          </a:xfrm>
          <a:prstGeom prst="rect">
            <a:avLst/>
          </a:prstGeom>
          <a:solidFill>
            <a:schemeClr val="bg1"/>
          </a:solidFill>
        </p:spPr>
        <p:txBody>
          <a:bodyPr vert="horz" lIns="68580" tIns="34290" rIns="68580" bIns="34290" rtlCol="0" anchor="b">
            <a:normAutofit fontScale="97500"/>
          </a:bodyPr>
          <a:lstStyle>
            <a:lvl1pPr algn="l" defTabSz="914400" rtl="0" eaLnBrk="1" latinLnBrk="0" hangingPunct="1">
              <a:lnSpc>
                <a:spcPct val="85000"/>
              </a:lnSpc>
              <a:spcBef>
                <a:spcPct val="0"/>
              </a:spcBef>
              <a:buNone/>
              <a:defRPr sz="8000" kern="1200" spc="-50" baseline="0">
                <a:solidFill>
                  <a:schemeClr val="tx1">
                    <a:lumMod val="85000"/>
                    <a:lumOff val="15000"/>
                  </a:schemeClr>
                </a:solidFill>
                <a:latin typeface="+mj-lt"/>
                <a:ea typeface="+mj-ea"/>
                <a:cs typeface="+mj-cs"/>
              </a:defRPr>
            </a:lvl1pPr>
          </a:lstStyle>
          <a:p>
            <a:pPr algn="ctr"/>
            <a:r>
              <a:rPr lang="en-US" sz="6000" b="1" dirty="0">
                <a:solidFill>
                  <a:srgbClr val="C00000"/>
                </a:solidFill>
              </a:rPr>
              <a:t>Risk </a:t>
            </a:r>
            <a:r>
              <a:rPr lang="en-US" sz="6000" b="1" dirty="0" err="1">
                <a:solidFill>
                  <a:srgbClr val="C00000"/>
                </a:solidFill>
              </a:rPr>
              <a:t>Managment</a:t>
            </a:r>
            <a:endParaRPr lang="en-US" sz="6000" b="1" dirty="0">
              <a:solidFill>
                <a:srgbClr val="C00000"/>
              </a:solidFill>
            </a:endParaRPr>
          </a:p>
        </p:txBody>
      </p:sp>
    </p:spTree>
    <p:extLst>
      <p:ext uri="{BB962C8B-B14F-4D97-AF65-F5344CB8AC3E}">
        <p14:creationId xmlns:p14="http://schemas.microsoft.com/office/powerpoint/2010/main" val="21008291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Week 14-Agenda</a:t>
            </a:r>
          </a:p>
        </p:txBody>
      </p:sp>
      <p:sp>
        <p:nvSpPr>
          <p:cNvPr id="3" name="Content Placeholder 2"/>
          <p:cNvSpPr>
            <a:spLocks noGrp="1"/>
          </p:cNvSpPr>
          <p:nvPr>
            <p:ph idx="1"/>
          </p:nvPr>
        </p:nvSpPr>
        <p:spPr>
          <a:xfrm>
            <a:off x="768096" y="1522705"/>
            <a:ext cx="4596384" cy="3017520"/>
          </a:xfrm>
        </p:spPr>
        <p:txBody>
          <a:bodyPr>
            <a:noAutofit/>
          </a:bodyPr>
          <a:lstStyle/>
          <a:p>
            <a:pPr marL="342900">
              <a:buFont typeface="+mj-lt"/>
              <a:buAutoNum type="arabicPeriod"/>
            </a:pPr>
            <a:r>
              <a:rPr lang="en-US" dirty="0"/>
              <a:t>Risk Management</a:t>
            </a:r>
          </a:p>
          <a:p>
            <a:pPr marL="473202" lvl="1" indent="-342900">
              <a:buFont typeface="+mj-lt"/>
              <a:buAutoNum type="alphaLcParenR"/>
            </a:pPr>
            <a:r>
              <a:rPr lang="en-US" sz="1650" dirty="0"/>
              <a:t>Risk Identification</a:t>
            </a:r>
          </a:p>
          <a:p>
            <a:pPr marL="473202" lvl="1" indent="-342900">
              <a:buFont typeface="+mj-lt"/>
              <a:buAutoNum type="alphaLcParenR"/>
            </a:pPr>
            <a:r>
              <a:rPr lang="en-US" sz="1650" dirty="0"/>
              <a:t>Risk Assessment</a:t>
            </a:r>
          </a:p>
          <a:p>
            <a:pPr marL="473202" lvl="1" indent="-342900">
              <a:buFont typeface="+mj-lt"/>
              <a:buAutoNum type="alphaLcParenR"/>
            </a:pPr>
            <a:r>
              <a:rPr lang="en-US" sz="1650" dirty="0"/>
              <a:t>Risk Control</a:t>
            </a:r>
          </a:p>
          <a:p>
            <a:pPr marL="342900">
              <a:buFont typeface="+mj-lt"/>
              <a:buAutoNum type="arabicPeriod"/>
            </a:pPr>
            <a:endParaRPr lang="en-US" sz="1650" dirty="0"/>
          </a:p>
        </p:txBody>
      </p:sp>
    </p:spTree>
    <p:extLst>
      <p:ext uri="{BB962C8B-B14F-4D97-AF65-F5344CB8AC3E}">
        <p14:creationId xmlns:p14="http://schemas.microsoft.com/office/powerpoint/2010/main" val="20120321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Content Placeholder 2"/>
          <p:cNvSpPr>
            <a:spLocks noGrp="1"/>
          </p:cNvSpPr>
          <p:nvPr>
            <p:ph idx="1"/>
          </p:nvPr>
        </p:nvSpPr>
        <p:spPr/>
        <p:txBody>
          <a:bodyPr/>
          <a:lstStyle/>
          <a:p>
            <a:pPr marL="342900" indent="-257175"/>
            <a:r>
              <a:rPr lang="en-US" b="1" dirty="0">
                <a:solidFill>
                  <a:srgbClr val="0000FF"/>
                </a:solidFill>
              </a:rPr>
              <a:t>Competitive advantage</a:t>
            </a:r>
            <a:r>
              <a:rPr lang="en-US" dirty="0"/>
              <a:t> → the adoption and implementation of an innovative business model, method, technique, resource, or technology in order to </a:t>
            </a:r>
            <a:r>
              <a:rPr lang="en-US" b="1" dirty="0"/>
              <a:t>outperform the competition</a:t>
            </a:r>
            <a:r>
              <a:rPr lang="en-US" dirty="0"/>
              <a:t>.</a:t>
            </a:r>
          </a:p>
          <a:p>
            <a:pPr marL="342900" indent="0">
              <a:buNone/>
            </a:pPr>
            <a:endParaRPr lang="en-US" dirty="0"/>
          </a:p>
          <a:p>
            <a:pPr marL="342900" indent="-257175"/>
            <a:r>
              <a:rPr lang="en-US" dirty="0"/>
              <a:t>Upper management of an organization must defend its information assets—</a:t>
            </a:r>
            <a:r>
              <a:rPr lang="en-US" b="1" dirty="0"/>
              <a:t>information and data</a:t>
            </a:r>
            <a:r>
              <a:rPr lang="en-US" dirty="0"/>
              <a:t>, </a:t>
            </a:r>
            <a:r>
              <a:rPr lang="en-US" b="1" dirty="0"/>
              <a:t>hardware</a:t>
            </a:r>
            <a:r>
              <a:rPr lang="en-US" dirty="0"/>
              <a:t>, </a:t>
            </a:r>
            <a:r>
              <a:rPr lang="en-US" b="1" dirty="0"/>
              <a:t>software</a:t>
            </a:r>
            <a:r>
              <a:rPr lang="en-US" dirty="0"/>
              <a:t>, </a:t>
            </a:r>
            <a:r>
              <a:rPr lang="en-US" b="1" dirty="0"/>
              <a:t>procedures</a:t>
            </a:r>
            <a:r>
              <a:rPr lang="en-US" dirty="0"/>
              <a:t>, </a:t>
            </a:r>
            <a:r>
              <a:rPr lang="en-US" b="1" dirty="0"/>
              <a:t>networks</a:t>
            </a:r>
            <a:r>
              <a:rPr lang="en-US" dirty="0"/>
              <a:t>, and </a:t>
            </a:r>
            <a:r>
              <a:rPr lang="en-US" b="1" dirty="0"/>
              <a:t>people</a:t>
            </a:r>
            <a:r>
              <a:rPr lang="en-US" dirty="0"/>
              <a:t> to avoid </a:t>
            </a:r>
            <a:r>
              <a:rPr lang="en-US" b="1" dirty="0">
                <a:solidFill>
                  <a:srgbClr val="0000FF"/>
                </a:solidFill>
              </a:rPr>
              <a:t>competitive disadvantage</a:t>
            </a:r>
            <a:r>
              <a:rPr lang="en-US" dirty="0"/>
              <a:t>—working to prevent falling behind the competition</a:t>
            </a:r>
          </a:p>
          <a:p>
            <a:endParaRPr lang="en-US" dirty="0"/>
          </a:p>
        </p:txBody>
      </p:sp>
    </p:spTree>
    <p:extLst>
      <p:ext uri="{BB962C8B-B14F-4D97-AF65-F5344CB8AC3E}">
        <p14:creationId xmlns:p14="http://schemas.microsoft.com/office/powerpoint/2010/main" val="15862487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 dirty="0"/>
              <a:t>Overview of Risk Management</a:t>
            </a:r>
            <a:endParaRPr lang="en-US" dirty="0"/>
          </a:p>
        </p:txBody>
      </p:sp>
      <p:sp>
        <p:nvSpPr>
          <p:cNvPr id="3" name="Content Placeholder 2"/>
          <p:cNvSpPr>
            <a:spLocks noGrp="1"/>
          </p:cNvSpPr>
          <p:nvPr>
            <p:ph idx="1"/>
          </p:nvPr>
        </p:nvSpPr>
        <p:spPr/>
        <p:txBody>
          <a:bodyPr/>
          <a:lstStyle/>
          <a:p>
            <a:pPr marL="342900" indent="-257175"/>
            <a:r>
              <a:rPr lang="en-US" dirty="0"/>
              <a:t>Each of the three elements in the C.I.A. triangle is an essential part of every IT organization’s ability to </a:t>
            </a:r>
            <a:r>
              <a:rPr lang="en-US" b="1" dirty="0"/>
              <a:t>sustain long-term competitiveness</a:t>
            </a:r>
            <a:r>
              <a:rPr lang="en-US" dirty="0"/>
              <a:t>.</a:t>
            </a:r>
          </a:p>
          <a:p>
            <a:pPr marL="0" indent="0">
              <a:buNone/>
            </a:pPr>
            <a:endParaRPr lang="en-US" dirty="0"/>
          </a:p>
          <a:p>
            <a:pPr marL="342900" indent="-257175"/>
            <a:r>
              <a:rPr lang="en-US" b="1" dirty="0"/>
              <a:t>Risk management</a:t>
            </a:r>
            <a:r>
              <a:rPr lang="en-US" dirty="0"/>
              <a:t> must become an integral part of the economic basis for making business decisions. These decisions are based on </a:t>
            </a:r>
            <a:r>
              <a:rPr lang="en-US" b="1" dirty="0">
                <a:solidFill>
                  <a:srgbClr val="0000FF"/>
                </a:solidFill>
              </a:rPr>
              <a:t>trade-offs </a:t>
            </a:r>
            <a:r>
              <a:rPr lang="en-US" dirty="0"/>
              <a:t>between the </a:t>
            </a:r>
            <a:r>
              <a:rPr lang="en-US" b="1" dirty="0"/>
              <a:t>costs of applying</a:t>
            </a:r>
            <a:r>
              <a:rPr lang="en-US" dirty="0"/>
              <a:t> information system </a:t>
            </a:r>
            <a:r>
              <a:rPr lang="en-US" b="1" dirty="0"/>
              <a:t>controls </a:t>
            </a:r>
            <a:r>
              <a:rPr lang="en-US" dirty="0"/>
              <a:t>and the </a:t>
            </a:r>
            <a:r>
              <a:rPr lang="en-US" b="1" dirty="0"/>
              <a:t>benefits of using</a:t>
            </a:r>
            <a:r>
              <a:rPr lang="en-US" dirty="0"/>
              <a:t> secured, available systems.</a:t>
            </a:r>
          </a:p>
          <a:p>
            <a:endParaRPr lang="en-US" dirty="0"/>
          </a:p>
        </p:txBody>
      </p:sp>
    </p:spTree>
    <p:extLst>
      <p:ext uri="{BB962C8B-B14F-4D97-AF65-F5344CB8AC3E}">
        <p14:creationId xmlns:p14="http://schemas.microsoft.com/office/powerpoint/2010/main" val="41070171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471275" y="94799"/>
            <a:ext cx="6486205" cy="4962977"/>
          </a:xfrm>
          <a:prstGeom prst="rect">
            <a:avLst/>
          </a:prstGeom>
        </p:spPr>
      </p:pic>
    </p:spTree>
    <p:extLst>
      <p:ext uri="{BB962C8B-B14F-4D97-AF65-F5344CB8AC3E}">
        <p14:creationId xmlns:p14="http://schemas.microsoft.com/office/powerpoint/2010/main" val="18212542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Risk management</a:t>
            </a:r>
          </a:p>
        </p:txBody>
      </p:sp>
      <p:sp>
        <p:nvSpPr>
          <p:cNvPr id="3" name="Content Placeholder 2"/>
          <p:cNvSpPr>
            <a:spLocks noGrp="1"/>
          </p:cNvSpPr>
          <p:nvPr>
            <p:ph idx="1"/>
          </p:nvPr>
        </p:nvSpPr>
        <p:spPr/>
        <p:txBody>
          <a:bodyPr/>
          <a:lstStyle/>
          <a:p>
            <a:pPr marL="342900">
              <a:buFont typeface="+mj-lt"/>
              <a:buAutoNum type="arabicPeriod"/>
            </a:pPr>
            <a:r>
              <a:rPr lang="en-US" b="1" dirty="0">
                <a:solidFill>
                  <a:srgbClr val="0000FF"/>
                </a:solidFill>
              </a:rPr>
              <a:t>Risk management</a:t>
            </a:r>
            <a:r>
              <a:rPr lang="en-US" dirty="0"/>
              <a:t> → The process of </a:t>
            </a:r>
            <a:r>
              <a:rPr lang="en-US" b="1" dirty="0"/>
              <a:t>identifying </a:t>
            </a:r>
            <a:r>
              <a:rPr lang="en-US" dirty="0"/>
              <a:t>risk, </a:t>
            </a:r>
            <a:r>
              <a:rPr lang="en-US" b="1" dirty="0"/>
              <a:t>assessing </a:t>
            </a:r>
            <a:r>
              <a:rPr lang="en-US" dirty="0"/>
              <a:t>its relative magnitude, and taking </a:t>
            </a:r>
            <a:r>
              <a:rPr lang="en-US" b="1" dirty="0"/>
              <a:t>steps </a:t>
            </a:r>
            <a:r>
              <a:rPr lang="en-US" dirty="0"/>
              <a:t>to </a:t>
            </a:r>
            <a:r>
              <a:rPr lang="en-US" b="1" dirty="0"/>
              <a:t>reduce </a:t>
            </a:r>
            <a:r>
              <a:rPr lang="en-US" dirty="0"/>
              <a:t>it to an </a:t>
            </a:r>
            <a:r>
              <a:rPr lang="en-US" b="1" dirty="0"/>
              <a:t>acceptable level</a:t>
            </a:r>
            <a:r>
              <a:rPr lang="en-US" dirty="0"/>
              <a:t>.</a:t>
            </a:r>
          </a:p>
          <a:p>
            <a:pPr marL="342900">
              <a:buFont typeface="+mj-lt"/>
              <a:buAutoNum type="arabicPeriod"/>
            </a:pPr>
            <a:r>
              <a:rPr lang="en-US" b="1" dirty="0">
                <a:solidFill>
                  <a:srgbClr val="0000FF"/>
                </a:solidFill>
              </a:rPr>
              <a:t>Risk identification</a:t>
            </a:r>
            <a:r>
              <a:rPr lang="en-US" dirty="0"/>
              <a:t> → the </a:t>
            </a:r>
            <a:r>
              <a:rPr lang="en-US" b="1" dirty="0"/>
              <a:t>recognition</a:t>
            </a:r>
            <a:r>
              <a:rPr lang="en-US" dirty="0"/>
              <a:t>, </a:t>
            </a:r>
            <a:r>
              <a:rPr lang="en-US" b="1" dirty="0"/>
              <a:t>enumeration</a:t>
            </a:r>
            <a:r>
              <a:rPr lang="en-US" dirty="0"/>
              <a:t>, and </a:t>
            </a:r>
            <a:r>
              <a:rPr lang="en-US" b="1" dirty="0"/>
              <a:t>documentation </a:t>
            </a:r>
            <a:r>
              <a:rPr lang="en-US" dirty="0"/>
              <a:t>of risks to an organization’s information assets.</a:t>
            </a:r>
          </a:p>
          <a:p>
            <a:pPr marL="342900">
              <a:buFont typeface="+mj-lt"/>
              <a:buAutoNum type="arabicPeriod"/>
            </a:pPr>
            <a:r>
              <a:rPr lang="en-US" b="1" dirty="0">
                <a:solidFill>
                  <a:srgbClr val="0000FF"/>
                </a:solidFill>
              </a:rPr>
              <a:t>Risk assessment</a:t>
            </a:r>
            <a:r>
              <a:rPr lang="en-US" dirty="0"/>
              <a:t> → a determination of the </a:t>
            </a:r>
            <a:r>
              <a:rPr lang="en-US" b="1" dirty="0"/>
              <a:t>extent </a:t>
            </a:r>
            <a:r>
              <a:rPr lang="en-US" dirty="0"/>
              <a:t>to which an organization’s information assets are </a:t>
            </a:r>
            <a:r>
              <a:rPr lang="en-US" b="1" dirty="0"/>
              <a:t>exposed </a:t>
            </a:r>
            <a:r>
              <a:rPr lang="en-US" dirty="0"/>
              <a:t>to risk.</a:t>
            </a:r>
          </a:p>
          <a:p>
            <a:pPr marL="342900">
              <a:buFont typeface="+mj-lt"/>
              <a:buAutoNum type="arabicPeriod"/>
            </a:pPr>
            <a:r>
              <a:rPr lang="en-US" b="1" dirty="0">
                <a:solidFill>
                  <a:srgbClr val="0000FF"/>
                </a:solidFill>
              </a:rPr>
              <a:t>Risk control</a:t>
            </a:r>
            <a:r>
              <a:rPr lang="en-US" dirty="0">
                <a:solidFill>
                  <a:srgbClr val="0000FF"/>
                </a:solidFill>
              </a:rPr>
              <a:t> </a:t>
            </a:r>
            <a:r>
              <a:rPr lang="en-US" dirty="0"/>
              <a:t>→ the </a:t>
            </a:r>
            <a:r>
              <a:rPr lang="en-US" b="1" dirty="0"/>
              <a:t>application of controls</a:t>
            </a:r>
            <a:r>
              <a:rPr lang="en-US" dirty="0"/>
              <a:t> that reduce the risks to an organization’s information assets to an </a:t>
            </a:r>
            <a:r>
              <a:rPr lang="en-US" b="1" dirty="0"/>
              <a:t>acceptable level</a:t>
            </a:r>
            <a:r>
              <a:rPr lang="en-US" dirty="0"/>
              <a:t>.</a:t>
            </a:r>
          </a:p>
          <a:p>
            <a:pPr marL="342900">
              <a:buFont typeface="+mj-lt"/>
              <a:buAutoNum type="arabicPeriod"/>
            </a:pPr>
            <a:endParaRPr lang="en-US" dirty="0"/>
          </a:p>
          <a:p>
            <a:pPr marL="342900">
              <a:buFont typeface="+mj-lt"/>
              <a:buAutoNum type="arabicPeriod"/>
            </a:pPr>
            <a:endParaRPr lang="en-US" dirty="0"/>
          </a:p>
          <a:p>
            <a:pPr marL="342900">
              <a:buFont typeface="+mj-lt"/>
              <a:buAutoNum type="arabicPeriod"/>
            </a:pPr>
            <a:endParaRPr lang="en-US" dirty="0"/>
          </a:p>
          <a:p>
            <a:pPr marL="342900">
              <a:buFont typeface="+mj-lt"/>
              <a:buAutoNum type="arabicPeriod"/>
            </a:pPr>
            <a:endParaRPr lang="en-US" dirty="0"/>
          </a:p>
          <a:p>
            <a:endParaRPr lang="en-US" dirty="0"/>
          </a:p>
        </p:txBody>
      </p:sp>
    </p:spTree>
    <p:extLst>
      <p:ext uri="{BB962C8B-B14F-4D97-AF65-F5344CB8AC3E}">
        <p14:creationId xmlns:p14="http://schemas.microsoft.com/office/powerpoint/2010/main" val="40045156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risk management</a:t>
            </a:r>
          </a:p>
        </p:txBody>
      </p:sp>
      <p:sp>
        <p:nvSpPr>
          <p:cNvPr id="3" name="Content Placeholder 2"/>
          <p:cNvSpPr>
            <a:spLocks noGrp="1"/>
          </p:cNvSpPr>
          <p:nvPr>
            <p:ph idx="1"/>
          </p:nvPr>
        </p:nvSpPr>
        <p:spPr/>
        <p:txBody>
          <a:bodyPr/>
          <a:lstStyle/>
          <a:p>
            <a:pPr marL="342900" indent="-257175"/>
            <a:r>
              <a:rPr lang="en-US" b="1" dirty="0"/>
              <a:t>Know yourself</a:t>
            </a:r>
            <a:r>
              <a:rPr lang="en-US" dirty="0"/>
              <a:t> → you must know what your information assets are, where they are, how they add value to the organization, and the vulnerabilities to which they are susceptible.</a:t>
            </a:r>
          </a:p>
          <a:p>
            <a:pPr marL="342900" indent="0">
              <a:buNone/>
            </a:pPr>
            <a:endParaRPr lang="en-US" dirty="0"/>
          </a:p>
          <a:p>
            <a:pPr marL="342900" indent="-257175"/>
            <a:r>
              <a:rPr lang="en-US" b="1" dirty="0"/>
              <a:t>know your enemy</a:t>
            </a:r>
            <a:r>
              <a:rPr lang="en-US" dirty="0"/>
              <a:t> → This means identifying, examining, and understanding the threats facing the organization. Rank each one according to the importance of the information assets that it threatens.</a:t>
            </a:r>
          </a:p>
          <a:p>
            <a:endParaRPr lang="en-US" dirty="0"/>
          </a:p>
        </p:txBody>
      </p:sp>
    </p:spTree>
    <p:extLst>
      <p:ext uri="{BB962C8B-B14F-4D97-AF65-F5344CB8AC3E}">
        <p14:creationId xmlns:p14="http://schemas.microsoft.com/office/powerpoint/2010/main" val="36560054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Risk appetite</a:t>
            </a:r>
          </a:p>
        </p:txBody>
      </p:sp>
      <p:sp>
        <p:nvSpPr>
          <p:cNvPr id="3" name="Content Placeholder 2"/>
          <p:cNvSpPr>
            <a:spLocks noGrp="1"/>
          </p:cNvSpPr>
          <p:nvPr>
            <p:ph idx="1"/>
          </p:nvPr>
        </p:nvSpPr>
        <p:spPr/>
        <p:txBody>
          <a:bodyPr>
            <a:normAutofit lnSpcReduction="10000"/>
          </a:bodyPr>
          <a:lstStyle/>
          <a:p>
            <a:pPr marL="342900" indent="-257175"/>
            <a:r>
              <a:rPr lang="en-US" b="1" dirty="0">
                <a:solidFill>
                  <a:srgbClr val="0000FF"/>
                </a:solidFill>
              </a:rPr>
              <a:t>Risk appetite/tolerance</a:t>
            </a:r>
            <a:r>
              <a:rPr lang="en-US" b="1" dirty="0">
                <a:solidFill>
                  <a:srgbClr val="FF0000"/>
                </a:solidFill>
              </a:rPr>
              <a:t>*</a:t>
            </a:r>
            <a:r>
              <a:rPr lang="en-US" dirty="0"/>
              <a:t> → The </a:t>
            </a:r>
            <a:r>
              <a:rPr lang="en-US" b="1" dirty="0"/>
              <a:t>quantity </a:t>
            </a:r>
            <a:r>
              <a:rPr lang="en-US" dirty="0"/>
              <a:t>and </a:t>
            </a:r>
            <a:r>
              <a:rPr lang="en-US" b="1" dirty="0"/>
              <a:t>nature </a:t>
            </a:r>
            <a:r>
              <a:rPr lang="en-US" dirty="0"/>
              <a:t>of risk that organizations are </a:t>
            </a:r>
            <a:r>
              <a:rPr lang="en-US" b="1" dirty="0"/>
              <a:t>willing to accept</a:t>
            </a:r>
            <a:r>
              <a:rPr lang="en-US" dirty="0"/>
              <a:t> as they evaluate the trade-offs between perfect security and unlimited accessibility.</a:t>
            </a:r>
          </a:p>
          <a:p>
            <a:pPr marL="342900" indent="0">
              <a:buNone/>
            </a:pPr>
            <a:endParaRPr lang="en-US" dirty="0"/>
          </a:p>
          <a:p>
            <a:pPr marL="342900" indent="-257175"/>
            <a:r>
              <a:rPr lang="en-US" u="sng" dirty="0"/>
              <a:t>Example</a:t>
            </a:r>
            <a:r>
              <a:rPr lang="en-US" dirty="0"/>
              <a:t>: firewall vendor for a conservative financial services company may provide a default set of firewall rules that are far stricter than those needed by the average organization because the negative consequence of being hacked would be catastrophic in the eyes of its customers.</a:t>
            </a:r>
          </a:p>
          <a:p>
            <a:pPr marL="342900" indent="-257175"/>
            <a:endParaRPr lang="en-US" dirty="0"/>
          </a:p>
          <a:p>
            <a:pPr marL="342900" indent="-257175"/>
            <a:r>
              <a:rPr lang="en-US" dirty="0"/>
              <a:t>Note that ‘expenses’ in this context are considered both in terms of finance and the usability of information assets.</a:t>
            </a:r>
          </a:p>
          <a:p>
            <a:pPr marL="85725" indent="0">
              <a:buNone/>
            </a:pPr>
            <a:endParaRPr lang="en-US" dirty="0"/>
          </a:p>
          <a:p>
            <a:endParaRPr lang="en-US" dirty="0"/>
          </a:p>
        </p:txBody>
      </p:sp>
    </p:spTree>
    <p:extLst>
      <p:ext uri="{BB962C8B-B14F-4D97-AF65-F5344CB8AC3E}">
        <p14:creationId xmlns:p14="http://schemas.microsoft.com/office/powerpoint/2010/main" val="30709177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Residue risk</a:t>
            </a:r>
          </a:p>
        </p:txBody>
      </p:sp>
      <p:sp>
        <p:nvSpPr>
          <p:cNvPr id="3" name="Content Placeholder 2"/>
          <p:cNvSpPr>
            <a:spLocks noGrp="1"/>
          </p:cNvSpPr>
          <p:nvPr>
            <p:ph idx="1"/>
          </p:nvPr>
        </p:nvSpPr>
        <p:spPr/>
        <p:txBody>
          <a:bodyPr>
            <a:normAutofit lnSpcReduction="10000"/>
          </a:bodyPr>
          <a:lstStyle/>
          <a:p>
            <a:pPr lvl="0"/>
            <a:r>
              <a:rPr lang="en-US" b="1" dirty="0">
                <a:solidFill>
                  <a:srgbClr val="0000FF"/>
                </a:solidFill>
              </a:rPr>
              <a:t>Residual risk</a:t>
            </a:r>
            <a:r>
              <a:rPr lang="en-US" dirty="0"/>
              <a:t> → The risk to information assets that </a:t>
            </a:r>
            <a:r>
              <a:rPr lang="en-US" b="1" dirty="0"/>
              <a:t>remains </a:t>
            </a:r>
            <a:r>
              <a:rPr lang="en-US" dirty="0"/>
              <a:t>even </a:t>
            </a:r>
            <a:r>
              <a:rPr lang="en-US" b="1" dirty="0"/>
              <a:t>after </a:t>
            </a:r>
            <a:r>
              <a:rPr lang="en-US" dirty="0"/>
              <a:t>current </a:t>
            </a:r>
            <a:r>
              <a:rPr lang="en-US" b="1" dirty="0"/>
              <a:t>controls </a:t>
            </a:r>
            <a:r>
              <a:rPr lang="en-US" dirty="0"/>
              <a:t>have been applied.</a:t>
            </a:r>
          </a:p>
          <a:p>
            <a:pPr marL="0" indent="0">
              <a:buNone/>
            </a:pPr>
            <a:endParaRPr lang="en-US" dirty="0"/>
          </a:p>
          <a:p>
            <a:pPr marL="0" indent="0">
              <a:buNone/>
            </a:pPr>
            <a:r>
              <a:rPr lang="en-US" dirty="0"/>
              <a:t>To express the concept another way,  “residual risk is a combined function of: </a:t>
            </a:r>
          </a:p>
          <a:p>
            <a:pPr marL="342900" indent="-257175"/>
            <a:r>
              <a:rPr lang="en-US" dirty="0"/>
              <a:t>(1) A threat less the effect of threat-reducing safeguards, </a:t>
            </a:r>
          </a:p>
          <a:p>
            <a:pPr marL="342900" indent="-257175"/>
            <a:r>
              <a:rPr lang="en-US" dirty="0"/>
              <a:t>(2) A vulnerability less the effect of vulnerability-reducing safeguards, and</a:t>
            </a:r>
          </a:p>
          <a:p>
            <a:pPr marL="342900" indent="-257175"/>
            <a:r>
              <a:rPr lang="en-US" dirty="0"/>
              <a:t>(3) An asset less the effect of asset value-reducing safeguards.”</a:t>
            </a:r>
          </a:p>
          <a:p>
            <a:pPr marL="0" indent="0">
              <a:buNone/>
            </a:pPr>
            <a:endParaRPr lang="en-US" dirty="0"/>
          </a:p>
          <a:p>
            <a:pPr marL="0" indent="0">
              <a:spcAft>
                <a:spcPts val="900"/>
              </a:spcAft>
              <a:buNone/>
            </a:pPr>
            <a:r>
              <a:rPr lang="en-US" dirty="0"/>
              <a:t>The goal of information security is not to bring residual risk to zero; it is to </a:t>
            </a:r>
            <a:r>
              <a:rPr lang="en-US" i="1" dirty="0">
                <a:solidFill>
                  <a:srgbClr val="0000FF"/>
                </a:solidFill>
              </a:rPr>
              <a:t>bring residual risk into line with</a:t>
            </a:r>
            <a:r>
              <a:rPr lang="en-US" dirty="0"/>
              <a:t> an organization’s comfort zone or </a:t>
            </a:r>
            <a:r>
              <a:rPr lang="en-US" i="1" dirty="0">
                <a:solidFill>
                  <a:srgbClr val="0000FF"/>
                </a:solidFill>
              </a:rPr>
              <a:t>risk appetite</a:t>
            </a:r>
            <a:r>
              <a:rPr lang="en-US" dirty="0"/>
              <a:t>.</a:t>
            </a:r>
          </a:p>
          <a:p>
            <a:endParaRPr lang="en-US" dirty="0"/>
          </a:p>
        </p:txBody>
      </p:sp>
    </p:spTree>
    <p:extLst>
      <p:ext uri="{BB962C8B-B14F-4D97-AF65-F5344CB8AC3E}">
        <p14:creationId xmlns:p14="http://schemas.microsoft.com/office/powerpoint/2010/main" val="11002962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166;p26"/>
          <p:cNvPicPr preferRelativeResize="0"/>
          <p:nvPr/>
        </p:nvPicPr>
        <p:blipFill>
          <a:blip r:embed="rId2">
            <a:alphaModFix/>
          </a:blip>
          <a:srcRect b="6535"/>
          <a:stretch/>
        </p:blipFill>
        <p:spPr>
          <a:xfrm>
            <a:off x="1324206" y="417942"/>
            <a:ext cx="6549306" cy="4250311"/>
          </a:xfrm>
          <a:prstGeom prst="rect">
            <a:avLst/>
          </a:prstGeom>
          <a:noFill/>
          <a:ln>
            <a:noFill/>
          </a:ln>
        </p:spPr>
      </p:pic>
      <p:sp>
        <p:nvSpPr>
          <p:cNvPr id="5" name="Google Shape;167;p26"/>
          <p:cNvSpPr/>
          <p:nvPr/>
        </p:nvSpPr>
        <p:spPr>
          <a:xfrm>
            <a:off x="3865074" y="998992"/>
            <a:ext cx="1814777" cy="545561"/>
          </a:xfrm>
          <a:prstGeom prst="rect">
            <a:avLst/>
          </a:prstGeom>
          <a:noFill/>
          <a:ln w="9525" cap="flat" cmpd="sng">
            <a:solidFill>
              <a:srgbClr val="FF0000"/>
            </a:solidFill>
            <a:prstDash val="solid"/>
            <a:round/>
            <a:headEnd type="none" w="sm" len="sm"/>
            <a:tailEnd type="none" w="sm" len="sm"/>
          </a:ln>
        </p:spPr>
        <p:txBody>
          <a:bodyPr spcFirstLastPara="1" wrap="square" lIns="68569" tIns="68569" rIns="68569" bIns="68569" anchor="ctr" anchorCtr="0">
            <a:noAutofit/>
          </a:bodyPr>
          <a:lstStyle/>
          <a:p>
            <a:endParaRPr sz="1050"/>
          </a:p>
        </p:txBody>
      </p:sp>
    </p:spTree>
    <p:extLst>
      <p:ext uri="{BB962C8B-B14F-4D97-AF65-F5344CB8AC3E}">
        <p14:creationId xmlns:p14="http://schemas.microsoft.com/office/powerpoint/2010/main" val="6969012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Risk Identification</a:t>
            </a:r>
          </a:p>
        </p:txBody>
      </p:sp>
      <p:pic>
        <p:nvPicPr>
          <p:cNvPr id="4" name="Google Shape;183;p28"/>
          <p:cNvPicPr preferRelativeResize="0"/>
          <p:nvPr/>
        </p:nvPicPr>
        <p:blipFill>
          <a:blip r:embed="rId2">
            <a:alphaModFix/>
          </a:blip>
          <a:stretch>
            <a:fillRect/>
          </a:stretch>
        </p:blipFill>
        <p:spPr>
          <a:xfrm>
            <a:off x="1336488" y="1216507"/>
            <a:ext cx="6411733" cy="3867645"/>
          </a:xfrm>
          <a:prstGeom prst="rect">
            <a:avLst/>
          </a:prstGeom>
          <a:noFill/>
          <a:ln>
            <a:noFill/>
          </a:ln>
        </p:spPr>
      </p:pic>
      <p:sp>
        <p:nvSpPr>
          <p:cNvPr id="5" name="Google Shape;184;p28"/>
          <p:cNvSpPr/>
          <p:nvPr/>
        </p:nvSpPr>
        <p:spPr>
          <a:xfrm>
            <a:off x="3717464" y="2360935"/>
            <a:ext cx="516041" cy="187142"/>
          </a:xfrm>
          <a:prstGeom prst="rect">
            <a:avLst/>
          </a:prstGeom>
          <a:noFill/>
          <a:ln w="9525" cap="flat" cmpd="sng">
            <a:solidFill>
              <a:srgbClr val="FF0000"/>
            </a:solidFill>
            <a:prstDash val="solid"/>
            <a:round/>
            <a:headEnd type="none" w="sm" len="sm"/>
            <a:tailEnd type="none" w="sm" len="sm"/>
          </a:ln>
        </p:spPr>
        <p:txBody>
          <a:bodyPr spcFirstLastPara="1" wrap="square" lIns="68569" tIns="68569" rIns="68569" bIns="68569" anchor="ctr" anchorCtr="0">
            <a:noAutofit/>
          </a:bodyPr>
          <a:lstStyle/>
          <a:p>
            <a:endParaRPr sz="1050"/>
          </a:p>
        </p:txBody>
      </p:sp>
      <p:sp>
        <p:nvSpPr>
          <p:cNvPr id="6" name="Google Shape;185;p28"/>
          <p:cNvSpPr/>
          <p:nvPr/>
        </p:nvSpPr>
        <p:spPr>
          <a:xfrm>
            <a:off x="4614787" y="2976373"/>
            <a:ext cx="516041" cy="187142"/>
          </a:xfrm>
          <a:prstGeom prst="rect">
            <a:avLst/>
          </a:prstGeom>
          <a:noFill/>
          <a:ln w="9525" cap="flat" cmpd="sng">
            <a:solidFill>
              <a:srgbClr val="FF0000"/>
            </a:solidFill>
            <a:prstDash val="solid"/>
            <a:round/>
            <a:headEnd type="none" w="sm" len="sm"/>
            <a:tailEnd type="none" w="sm" len="sm"/>
          </a:ln>
        </p:spPr>
        <p:txBody>
          <a:bodyPr spcFirstLastPara="1" wrap="square" lIns="68569" tIns="68569" rIns="68569" bIns="68569" anchor="ctr" anchorCtr="0">
            <a:noAutofit/>
          </a:bodyPr>
          <a:lstStyle/>
          <a:p>
            <a:endParaRPr sz="1050"/>
          </a:p>
        </p:txBody>
      </p:sp>
      <p:sp>
        <p:nvSpPr>
          <p:cNvPr id="7" name="Google Shape;186;p28"/>
          <p:cNvSpPr/>
          <p:nvPr/>
        </p:nvSpPr>
        <p:spPr>
          <a:xfrm>
            <a:off x="5163799" y="3532530"/>
            <a:ext cx="516041" cy="187142"/>
          </a:xfrm>
          <a:prstGeom prst="rect">
            <a:avLst/>
          </a:prstGeom>
          <a:noFill/>
          <a:ln w="9525" cap="flat" cmpd="sng">
            <a:solidFill>
              <a:srgbClr val="FF0000"/>
            </a:solidFill>
            <a:prstDash val="solid"/>
            <a:round/>
            <a:headEnd type="none" w="sm" len="sm"/>
            <a:tailEnd type="none" w="sm" len="sm"/>
          </a:ln>
        </p:spPr>
        <p:txBody>
          <a:bodyPr spcFirstLastPara="1" wrap="square" lIns="68569" tIns="68569" rIns="68569" bIns="68569" anchor="ctr" anchorCtr="0">
            <a:noAutofit/>
          </a:bodyPr>
          <a:lstStyle/>
          <a:p>
            <a:endParaRPr sz="1050"/>
          </a:p>
        </p:txBody>
      </p:sp>
      <p:sp>
        <p:nvSpPr>
          <p:cNvPr id="8" name="Google Shape;187;p28"/>
          <p:cNvSpPr/>
          <p:nvPr/>
        </p:nvSpPr>
        <p:spPr>
          <a:xfrm>
            <a:off x="6029841" y="3890816"/>
            <a:ext cx="1186329" cy="396016"/>
          </a:xfrm>
          <a:prstGeom prst="rect">
            <a:avLst/>
          </a:prstGeom>
          <a:noFill/>
          <a:ln w="9525" cap="flat" cmpd="sng">
            <a:solidFill>
              <a:srgbClr val="FF0000"/>
            </a:solidFill>
            <a:prstDash val="solid"/>
            <a:round/>
            <a:headEnd type="none" w="sm" len="sm"/>
            <a:tailEnd type="none" w="sm" len="sm"/>
          </a:ln>
        </p:spPr>
        <p:txBody>
          <a:bodyPr spcFirstLastPara="1" wrap="square" lIns="68569" tIns="68569" rIns="68569" bIns="68569" anchor="ctr" anchorCtr="0">
            <a:noAutofit/>
          </a:bodyPr>
          <a:lstStyle/>
          <a:p>
            <a:endParaRPr sz="1050"/>
          </a:p>
        </p:txBody>
      </p:sp>
      <p:sp>
        <p:nvSpPr>
          <p:cNvPr id="9" name="Google Shape;188;p28"/>
          <p:cNvSpPr/>
          <p:nvPr/>
        </p:nvSpPr>
        <p:spPr>
          <a:xfrm>
            <a:off x="2341468" y="1787036"/>
            <a:ext cx="566589" cy="175244"/>
          </a:xfrm>
          <a:prstGeom prst="rect">
            <a:avLst/>
          </a:prstGeom>
          <a:noFill/>
          <a:ln w="9525" cap="flat" cmpd="sng">
            <a:solidFill>
              <a:srgbClr val="FF0000"/>
            </a:solidFill>
            <a:prstDash val="solid"/>
            <a:round/>
            <a:headEnd type="none" w="sm" len="sm"/>
            <a:tailEnd type="none" w="sm" len="sm"/>
          </a:ln>
        </p:spPr>
        <p:txBody>
          <a:bodyPr spcFirstLastPara="1" wrap="square" lIns="68569" tIns="68569" rIns="68569" bIns="68569" anchor="ctr" anchorCtr="0">
            <a:noAutofit/>
          </a:bodyPr>
          <a:lstStyle/>
          <a:p>
            <a:endParaRPr sz="1050"/>
          </a:p>
        </p:txBody>
      </p:sp>
    </p:spTree>
    <p:extLst>
      <p:ext uri="{BB962C8B-B14F-4D97-AF65-F5344CB8AC3E}">
        <p14:creationId xmlns:p14="http://schemas.microsoft.com/office/powerpoint/2010/main" val="10987386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 dirty="0"/>
              <a:t>Planning and Organizing the Process</a:t>
            </a:r>
            <a:endParaRPr lang="en-US" dirty="0"/>
          </a:p>
        </p:txBody>
      </p:sp>
      <p:sp>
        <p:nvSpPr>
          <p:cNvPr id="3" name="Content Placeholder 2"/>
          <p:cNvSpPr>
            <a:spLocks noGrp="1"/>
          </p:cNvSpPr>
          <p:nvPr>
            <p:ph idx="1"/>
          </p:nvPr>
        </p:nvSpPr>
        <p:spPr/>
        <p:txBody>
          <a:bodyPr/>
          <a:lstStyle/>
          <a:p>
            <a:pPr marL="342900" indent="-257175"/>
            <a:r>
              <a:rPr lang="en-US" dirty="0"/>
              <a:t>A </a:t>
            </a:r>
            <a:r>
              <a:rPr lang="en-US" i="1" dirty="0">
                <a:solidFill>
                  <a:srgbClr val="0000FF"/>
                </a:solidFill>
              </a:rPr>
              <a:t>team </a:t>
            </a:r>
            <a:r>
              <a:rPr lang="en-US" dirty="0"/>
              <a:t>is organized. It typically consists of representatives </a:t>
            </a:r>
            <a:r>
              <a:rPr lang="en-US" dirty="0">
                <a:solidFill>
                  <a:srgbClr val="0000FF"/>
                </a:solidFill>
              </a:rPr>
              <a:t>from all affected groups</a:t>
            </a:r>
            <a:r>
              <a:rPr lang="en-US" dirty="0"/>
              <a:t>. Because risk can exist everywhere in the organization, representatives will come from every department and will include users, managers, IT groups, and information security groups. </a:t>
            </a:r>
          </a:p>
          <a:p>
            <a:pPr marL="85725" indent="0">
              <a:buNone/>
            </a:pPr>
            <a:endParaRPr lang="en-US" dirty="0"/>
          </a:p>
          <a:p>
            <a:pPr marL="342900" indent="-257175"/>
            <a:r>
              <a:rPr lang="en-US" dirty="0"/>
              <a:t>The process must then be </a:t>
            </a:r>
            <a:r>
              <a:rPr lang="en-US" i="1" dirty="0">
                <a:solidFill>
                  <a:srgbClr val="0000FF"/>
                </a:solidFill>
              </a:rPr>
              <a:t>planned</a:t>
            </a:r>
            <a:r>
              <a:rPr lang="en-US" dirty="0"/>
              <a:t>, with periodic deliverables, reviews, and presentations to management.</a:t>
            </a:r>
          </a:p>
          <a:p>
            <a:pPr marL="85725" indent="0">
              <a:buNone/>
            </a:pPr>
            <a:endParaRPr lang="en-US" dirty="0"/>
          </a:p>
          <a:p>
            <a:pPr marL="342900" indent="-257175"/>
            <a:r>
              <a:rPr lang="en-US" dirty="0"/>
              <a:t>The team can </a:t>
            </a:r>
            <a:r>
              <a:rPr lang="en-US" i="1" dirty="0">
                <a:solidFill>
                  <a:srgbClr val="0000FF"/>
                </a:solidFill>
              </a:rPr>
              <a:t>organize </a:t>
            </a:r>
            <a:r>
              <a:rPr lang="en-US" dirty="0"/>
              <a:t>a meeting in which tasks are laid out, assignments are made, and timetables are discussed.</a:t>
            </a:r>
          </a:p>
          <a:p>
            <a:endParaRPr lang="en-US" dirty="0"/>
          </a:p>
        </p:txBody>
      </p:sp>
    </p:spTree>
    <p:extLst>
      <p:ext uri="{BB962C8B-B14F-4D97-AF65-F5344CB8AC3E}">
        <p14:creationId xmlns:p14="http://schemas.microsoft.com/office/powerpoint/2010/main" val="31022899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Risk Identification</a:t>
            </a:r>
          </a:p>
        </p:txBody>
      </p:sp>
      <p:pic>
        <p:nvPicPr>
          <p:cNvPr id="4" name="Google Shape;183;p28"/>
          <p:cNvPicPr preferRelativeResize="0"/>
          <p:nvPr/>
        </p:nvPicPr>
        <p:blipFill>
          <a:blip r:embed="rId2">
            <a:alphaModFix/>
          </a:blip>
          <a:stretch>
            <a:fillRect/>
          </a:stretch>
        </p:blipFill>
        <p:spPr>
          <a:xfrm>
            <a:off x="1336488" y="1216507"/>
            <a:ext cx="6411733" cy="3867645"/>
          </a:xfrm>
          <a:prstGeom prst="rect">
            <a:avLst/>
          </a:prstGeom>
          <a:noFill/>
          <a:ln>
            <a:noFill/>
          </a:ln>
        </p:spPr>
      </p:pic>
      <p:sp>
        <p:nvSpPr>
          <p:cNvPr id="5" name="Google Shape;184;p28"/>
          <p:cNvSpPr/>
          <p:nvPr/>
        </p:nvSpPr>
        <p:spPr>
          <a:xfrm>
            <a:off x="3717464" y="2360935"/>
            <a:ext cx="516041" cy="187142"/>
          </a:xfrm>
          <a:prstGeom prst="rect">
            <a:avLst/>
          </a:prstGeom>
          <a:noFill/>
          <a:ln w="9525" cap="flat" cmpd="sng">
            <a:solidFill>
              <a:srgbClr val="FF0000"/>
            </a:solidFill>
            <a:prstDash val="solid"/>
            <a:round/>
            <a:headEnd type="none" w="sm" len="sm"/>
            <a:tailEnd type="none" w="sm" len="sm"/>
          </a:ln>
        </p:spPr>
        <p:txBody>
          <a:bodyPr spcFirstLastPara="1" wrap="square" lIns="68569" tIns="68569" rIns="68569" bIns="68569" anchor="ctr" anchorCtr="0">
            <a:noAutofit/>
          </a:bodyPr>
          <a:lstStyle/>
          <a:p>
            <a:endParaRPr sz="1050"/>
          </a:p>
        </p:txBody>
      </p:sp>
      <p:sp>
        <p:nvSpPr>
          <p:cNvPr id="6" name="Google Shape;185;p28"/>
          <p:cNvSpPr/>
          <p:nvPr/>
        </p:nvSpPr>
        <p:spPr>
          <a:xfrm>
            <a:off x="4614787" y="2976373"/>
            <a:ext cx="516041" cy="187142"/>
          </a:xfrm>
          <a:prstGeom prst="rect">
            <a:avLst/>
          </a:prstGeom>
          <a:noFill/>
          <a:ln w="9525" cap="flat" cmpd="sng">
            <a:solidFill>
              <a:srgbClr val="FF0000"/>
            </a:solidFill>
            <a:prstDash val="solid"/>
            <a:round/>
            <a:headEnd type="none" w="sm" len="sm"/>
            <a:tailEnd type="none" w="sm" len="sm"/>
          </a:ln>
        </p:spPr>
        <p:txBody>
          <a:bodyPr spcFirstLastPara="1" wrap="square" lIns="68569" tIns="68569" rIns="68569" bIns="68569" anchor="ctr" anchorCtr="0">
            <a:noAutofit/>
          </a:bodyPr>
          <a:lstStyle/>
          <a:p>
            <a:endParaRPr sz="1050"/>
          </a:p>
        </p:txBody>
      </p:sp>
      <p:sp>
        <p:nvSpPr>
          <p:cNvPr id="7" name="Google Shape;186;p28"/>
          <p:cNvSpPr/>
          <p:nvPr/>
        </p:nvSpPr>
        <p:spPr>
          <a:xfrm>
            <a:off x="5163799" y="3532530"/>
            <a:ext cx="516041" cy="187142"/>
          </a:xfrm>
          <a:prstGeom prst="rect">
            <a:avLst/>
          </a:prstGeom>
          <a:noFill/>
          <a:ln w="9525" cap="flat" cmpd="sng">
            <a:solidFill>
              <a:srgbClr val="FF0000"/>
            </a:solidFill>
            <a:prstDash val="solid"/>
            <a:round/>
            <a:headEnd type="none" w="sm" len="sm"/>
            <a:tailEnd type="none" w="sm" len="sm"/>
          </a:ln>
        </p:spPr>
        <p:txBody>
          <a:bodyPr spcFirstLastPara="1" wrap="square" lIns="68569" tIns="68569" rIns="68569" bIns="68569" anchor="ctr" anchorCtr="0">
            <a:noAutofit/>
          </a:bodyPr>
          <a:lstStyle/>
          <a:p>
            <a:endParaRPr sz="1050"/>
          </a:p>
        </p:txBody>
      </p:sp>
      <p:sp>
        <p:nvSpPr>
          <p:cNvPr id="8" name="Google Shape;187;p28"/>
          <p:cNvSpPr/>
          <p:nvPr/>
        </p:nvSpPr>
        <p:spPr>
          <a:xfrm>
            <a:off x="6029841" y="3890816"/>
            <a:ext cx="1186329" cy="396016"/>
          </a:xfrm>
          <a:prstGeom prst="rect">
            <a:avLst/>
          </a:prstGeom>
          <a:noFill/>
          <a:ln w="9525" cap="flat" cmpd="sng">
            <a:solidFill>
              <a:srgbClr val="FF0000"/>
            </a:solidFill>
            <a:prstDash val="solid"/>
            <a:round/>
            <a:headEnd type="none" w="sm" len="sm"/>
            <a:tailEnd type="none" w="sm" len="sm"/>
          </a:ln>
        </p:spPr>
        <p:txBody>
          <a:bodyPr spcFirstLastPara="1" wrap="square" lIns="68569" tIns="68569" rIns="68569" bIns="68569" anchor="ctr" anchorCtr="0">
            <a:noAutofit/>
          </a:bodyPr>
          <a:lstStyle/>
          <a:p>
            <a:endParaRPr sz="1050"/>
          </a:p>
        </p:txBody>
      </p:sp>
      <p:sp>
        <p:nvSpPr>
          <p:cNvPr id="9" name="Google Shape;188;p28"/>
          <p:cNvSpPr/>
          <p:nvPr/>
        </p:nvSpPr>
        <p:spPr>
          <a:xfrm>
            <a:off x="2341468" y="1787036"/>
            <a:ext cx="566589" cy="175244"/>
          </a:xfrm>
          <a:prstGeom prst="rect">
            <a:avLst/>
          </a:prstGeom>
          <a:noFill/>
          <a:ln w="9525" cap="flat" cmpd="sng">
            <a:solidFill>
              <a:srgbClr val="FF0000"/>
            </a:solidFill>
            <a:prstDash val="solid"/>
            <a:round/>
            <a:headEnd type="none" w="sm" len="sm"/>
            <a:tailEnd type="none" w="sm" len="sm"/>
          </a:ln>
        </p:spPr>
        <p:txBody>
          <a:bodyPr spcFirstLastPara="1" wrap="square" lIns="68569" tIns="68569" rIns="68569" bIns="68569" anchor="ctr" anchorCtr="0">
            <a:noAutofit/>
          </a:bodyPr>
          <a:lstStyle/>
          <a:p>
            <a:endParaRPr sz="1050"/>
          </a:p>
        </p:txBody>
      </p:sp>
    </p:spTree>
    <p:extLst>
      <p:ext uri="{BB962C8B-B14F-4D97-AF65-F5344CB8AC3E}">
        <p14:creationId xmlns:p14="http://schemas.microsoft.com/office/powerpoint/2010/main" val="10061922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 dirty="0"/>
              <a:t>Identifying, Inventorying, and Categorizing Assets</a:t>
            </a:r>
            <a:endParaRPr lang="en-US" dirty="0"/>
          </a:p>
        </p:txBody>
      </p:sp>
      <p:sp>
        <p:nvSpPr>
          <p:cNvPr id="3" name="Content Placeholder 2"/>
          <p:cNvSpPr>
            <a:spLocks noGrp="1"/>
          </p:cNvSpPr>
          <p:nvPr>
            <p:ph idx="1"/>
          </p:nvPr>
        </p:nvSpPr>
        <p:spPr/>
        <p:txBody>
          <a:bodyPr/>
          <a:lstStyle/>
          <a:p>
            <a:pPr marL="342900" indent="-257175"/>
            <a:r>
              <a:rPr lang="en-US" dirty="0"/>
              <a:t>The objective of this process is to establish the</a:t>
            </a:r>
            <a:r>
              <a:rPr lang="en-US" i="1" dirty="0">
                <a:solidFill>
                  <a:srgbClr val="0000FF"/>
                </a:solidFill>
              </a:rPr>
              <a:t> relative priority of assets</a:t>
            </a:r>
            <a:r>
              <a:rPr lang="en-US" dirty="0"/>
              <a:t> to the success of the organization.</a:t>
            </a:r>
          </a:p>
          <a:p>
            <a:pPr marL="342900" indent="-257175"/>
            <a:endParaRPr lang="en-US" dirty="0"/>
          </a:p>
          <a:p>
            <a:pPr marL="342900" indent="-257175"/>
            <a:r>
              <a:rPr lang="en-US" dirty="0"/>
              <a:t>An iterative process that begins with the </a:t>
            </a:r>
            <a:r>
              <a:rPr lang="en-US" i="1" dirty="0">
                <a:solidFill>
                  <a:srgbClr val="0000FF"/>
                </a:solidFill>
              </a:rPr>
              <a:t>identification</a:t>
            </a:r>
            <a:r>
              <a:rPr lang="en-US" i="1" dirty="0"/>
              <a:t> </a:t>
            </a:r>
            <a:r>
              <a:rPr lang="en-US" dirty="0"/>
              <a:t>and </a:t>
            </a:r>
            <a:r>
              <a:rPr lang="en-US" i="1" dirty="0">
                <a:solidFill>
                  <a:srgbClr val="0000FF"/>
                </a:solidFill>
              </a:rPr>
              <a:t>inventory </a:t>
            </a:r>
            <a:r>
              <a:rPr lang="en-US" dirty="0"/>
              <a:t>of assets, including all elements of an organization’s system, such as people, procedures, data and information, software, hardware, and networking elements.</a:t>
            </a:r>
          </a:p>
          <a:p>
            <a:pPr marL="342900" indent="-257175"/>
            <a:endParaRPr lang="en-US" dirty="0"/>
          </a:p>
          <a:p>
            <a:pPr marL="342900" indent="-257175"/>
            <a:r>
              <a:rPr lang="en-US" dirty="0"/>
              <a:t>Then, you </a:t>
            </a:r>
            <a:r>
              <a:rPr lang="en-US" i="1" dirty="0">
                <a:solidFill>
                  <a:srgbClr val="0000FF"/>
                </a:solidFill>
              </a:rPr>
              <a:t>categorize </a:t>
            </a:r>
            <a:r>
              <a:rPr lang="en-US" dirty="0"/>
              <a:t>the assets, adding details as you dig deeper into the analysis (best to use an automated asset inventory system).</a:t>
            </a:r>
          </a:p>
          <a:p>
            <a:endParaRPr lang="en-US" dirty="0"/>
          </a:p>
        </p:txBody>
      </p:sp>
    </p:spTree>
    <p:extLst>
      <p:ext uri="{BB962C8B-B14F-4D97-AF65-F5344CB8AC3E}">
        <p14:creationId xmlns:p14="http://schemas.microsoft.com/office/powerpoint/2010/main" val="39302225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109;p19"/>
          <p:cNvPicPr preferRelativeResize="0"/>
          <p:nvPr/>
        </p:nvPicPr>
        <p:blipFill>
          <a:blip r:embed="rId2">
            <a:alphaModFix/>
          </a:blip>
          <a:stretch>
            <a:fillRect/>
          </a:stretch>
        </p:blipFill>
        <p:spPr>
          <a:xfrm>
            <a:off x="1496891" y="455526"/>
            <a:ext cx="7353811" cy="4378046"/>
          </a:xfrm>
          <a:prstGeom prst="rect">
            <a:avLst/>
          </a:prstGeom>
          <a:noFill/>
          <a:ln>
            <a:noFill/>
          </a:ln>
        </p:spPr>
      </p:pic>
      <p:sp>
        <p:nvSpPr>
          <p:cNvPr id="5" name="Google Shape;110;p19"/>
          <p:cNvSpPr/>
          <p:nvPr/>
        </p:nvSpPr>
        <p:spPr>
          <a:xfrm>
            <a:off x="1348229" y="1012923"/>
            <a:ext cx="148662" cy="1894147"/>
          </a:xfrm>
          <a:prstGeom prst="leftBrace">
            <a:avLst>
              <a:gd name="adj1" fmla="val 50000"/>
              <a:gd name="adj2" fmla="val 50000"/>
            </a:avLst>
          </a:prstGeom>
          <a:noFill/>
          <a:ln w="9525" cap="flat" cmpd="sng">
            <a:solidFill>
              <a:srgbClr val="FF0000"/>
            </a:solidFill>
            <a:prstDash val="solid"/>
            <a:round/>
            <a:headEnd type="none" w="sm" len="sm"/>
            <a:tailEnd type="none" w="sm" len="sm"/>
          </a:ln>
        </p:spPr>
        <p:txBody>
          <a:bodyPr spcFirstLastPara="1" wrap="square" lIns="68569" tIns="68569" rIns="68569" bIns="68569" anchor="ctr" anchorCtr="0">
            <a:noAutofit/>
          </a:bodyPr>
          <a:lstStyle/>
          <a:p>
            <a:endParaRPr sz="1050"/>
          </a:p>
        </p:txBody>
      </p:sp>
      <p:sp>
        <p:nvSpPr>
          <p:cNvPr id="6" name="Google Shape;111;p19"/>
          <p:cNvSpPr/>
          <p:nvPr/>
        </p:nvSpPr>
        <p:spPr>
          <a:xfrm>
            <a:off x="1348229" y="2963938"/>
            <a:ext cx="148662" cy="1496769"/>
          </a:xfrm>
          <a:prstGeom prst="leftBrace">
            <a:avLst>
              <a:gd name="adj1" fmla="val 50000"/>
              <a:gd name="adj2" fmla="val 50000"/>
            </a:avLst>
          </a:prstGeom>
          <a:noFill/>
          <a:ln w="9525" cap="flat" cmpd="sng">
            <a:solidFill>
              <a:srgbClr val="FF0000"/>
            </a:solidFill>
            <a:prstDash val="solid"/>
            <a:round/>
            <a:headEnd type="none" w="sm" len="sm"/>
            <a:tailEnd type="none" w="sm" len="sm"/>
          </a:ln>
        </p:spPr>
        <p:txBody>
          <a:bodyPr spcFirstLastPara="1" wrap="square" lIns="68569" tIns="68569" rIns="68569" bIns="68569" anchor="ctr" anchorCtr="0">
            <a:noAutofit/>
          </a:bodyPr>
          <a:lstStyle/>
          <a:p>
            <a:endParaRPr sz="1050"/>
          </a:p>
        </p:txBody>
      </p:sp>
    </p:spTree>
    <p:extLst>
      <p:ext uri="{BB962C8B-B14F-4D97-AF65-F5344CB8AC3E}">
        <p14:creationId xmlns:p14="http://schemas.microsoft.com/office/powerpoint/2010/main" val="4667094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Risk Identification</a:t>
            </a:r>
          </a:p>
        </p:txBody>
      </p:sp>
      <p:pic>
        <p:nvPicPr>
          <p:cNvPr id="4" name="Google Shape;183;p28"/>
          <p:cNvPicPr preferRelativeResize="0"/>
          <p:nvPr/>
        </p:nvPicPr>
        <p:blipFill>
          <a:blip r:embed="rId2">
            <a:alphaModFix/>
          </a:blip>
          <a:stretch>
            <a:fillRect/>
          </a:stretch>
        </p:blipFill>
        <p:spPr>
          <a:xfrm>
            <a:off x="1336488" y="1216507"/>
            <a:ext cx="6411733" cy="3867645"/>
          </a:xfrm>
          <a:prstGeom prst="rect">
            <a:avLst/>
          </a:prstGeom>
          <a:noFill/>
          <a:ln>
            <a:noFill/>
          </a:ln>
        </p:spPr>
      </p:pic>
      <p:sp>
        <p:nvSpPr>
          <p:cNvPr id="5" name="Google Shape;184;p28"/>
          <p:cNvSpPr/>
          <p:nvPr/>
        </p:nvSpPr>
        <p:spPr>
          <a:xfrm>
            <a:off x="3717464" y="2360935"/>
            <a:ext cx="516041" cy="187142"/>
          </a:xfrm>
          <a:prstGeom prst="rect">
            <a:avLst/>
          </a:prstGeom>
          <a:noFill/>
          <a:ln w="9525" cap="flat" cmpd="sng">
            <a:solidFill>
              <a:srgbClr val="FF0000"/>
            </a:solidFill>
            <a:prstDash val="solid"/>
            <a:round/>
            <a:headEnd type="none" w="sm" len="sm"/>
            <a:tailEnd type="none" w="sm" len="sm"/>
          </a:ln>
        </p:spPr>
        <p:txBody>
          <a:bodyPr spcFirstLastPara="1" wrap="square" lIns="68569" tIns="68569" rIns="68569" bIns="68569" anchor="ctr" anchorCtr="0">
            <a:noAutofit/>
          </a:bodyPr>
          <a:lstStyle/>
          <a:p>
            <a:endParaRPr sz="1050"/>
          </a:p>
        </p:txBody>
      </p:sp>
      <p:sp>
        <p:nvSpPr>
          <p:cNvPr id="6" name="Google Shape;185;p28"/>
          <p:cNvSpPr/>
          <p:nvPr/>
        </p:nvSpPr>
        <p:spPr>
          <a:xfrm>
            <a:off x="4614787" y="2976373"/>
            <a:ext cx="516041" cy="187142"/>
          </a:xfrm>
          <a:prstGeom prst="rect">
            <a:avLst/>
          </a:prstGeom>
          <a:noFill/>
          <a:ln w="9525" cap="flat" cmpd="sng">
            <a:solidFill>
              <a:srgbClr val="FF0000"/>
            </a:solidFill>
            <a:prstDash val="solid"/>
            <a:round/>
            <a:headEnd type="none" w="sm" len="sm"/>
            <a:tailEnd type="none" w="sm" len="sm"/>
          </a:ln>
        </p:spPr>
        <p:txBody>
          <a:bodyPr spcFirstLastPara="1" wrap="square" lIns="68569" tIns="68569" rIns="68569" bIns="68569" anchor="ctr" anchorCtr="0">
            <a:noAutofit/>
          </a:bodyPr>
          <a:lstStyle/>
          <a:p>
            <a:endParaRPr sz="1050"/>
          </a:p>
        </p:txBody>
      </p:sp>
      <p:sp>
        <p:nvSpPr>
          <p:cNvPr id="7" name="Google Shape;186;p28"/>
          <p:cNvSpPr/>
          <p:nvPr/>
        </p:nvSpPr>
        <p:spPr>
          <a:xfrm>
            <a:off x="5163799" y="3532530"/>
            <a:ext cx="516041" cy="187142"/>
          </a:xfrm>
          <a:prstGeom prst="rect">
            <a:avLst/>
          </a:prstGeom>
          <a:noFill/>
          <a:ln w="9525" cap="flat" cmpd="sng">
            <a:solidFill>
              <a:srgbClr val="FF0000"/>
            </a:solidFill>
            <a:prstDash val="solid"/>
            <a:round/>
            <a:headEnd type="none" w="sm" len="sm"/>
            <a:tailEnd type="none" w="sm" len="sm"/>
          </a:ln>
        </p:spPr>
        <p:txBody>
          <a:bodyPr spcFirstLastPara="1" wrap="square" lIns="68569" tIns="68569" rIns="68569" bIns="68569" anchor="ctr" anchorCtr="0">
            <a:noAutofit/>
          </a:bodyPr>
          <a:lstStyle/>
          <a:p>
            <a:endParaRPr sz="1050"/>
          </a:p>
        </p:txBody>
      </p:sp>
      <p:sp>
        <p:nvSpPr>
          <p:cNvPr id="8" name="Google Shape;187;p28"/>
          <p:cNvSpPr/>
          <p:nvPr/>
        </p:nvSpPr>
        <p:spPr>
          <a:xfrm>
            <a:off x="6029841" y="3890816"/>
            <a:ext cx="1186329" cy="396016"/>
          </a:xfrm>
          <a:prstGeom prst="rect">
            <a:avLst/>
          </a:prstGeom>
          <a:noFill/>
          <a:ln w="9525" cap="flat" cmpd="sng">
            <a:solidFill>
              <a:srgbClr val="FF0000"/>
            </a:solidFill>
            <a:prstDash val="solid"/>
            <a:round/>
            <a:headEnd type="none" w="sm" len="sm"/>
            <a:tailEnd type="none" w="sm" len="sm"/>
          </a:ln>
        </p:spPr>
        <p:txBody>
          <a:bodyPr spcFirstLastPara="1" wrap="square" lIns="68569" tIns="68569" rIns="68569" bIns="68569" anchor="ctr" anchorCtr="0">
            <a:noAutofit/>
          </a:bodyPr>
          <a:lstStyle/>
          <a:p>
            <a:endParaRPr sz="1050"/>
          </a:p>
        </p:txBody>
      </p:sp>
      <p:sp>
        <p:nvSpPr>
          <p:cNvPr id="9" name="Google Shape;188;p28"/>
          <p:cNvSpPr/>
          <p:nvPr/>
        </p:nvSpPr>
        <p:spPr>
          <a:xfrm>
            <a:off x="2341468" y="1787036"/>
            <a:ext cx="566589" cy="175244"/>
          </a:xfrm>
          <a:prstGeom prst="rect">
            <a:avLst/>
          </a:prstGeom>
          <a:noFill/>
          <a:ln w="9525" cap="flat" cmpd="sng">
            <a:solidFill>
              <a:srgbClr val="FF0000"/>
            </a:solidFill>
            <a:prstDash val="solid"/>
            <a:round/>
            <a:headEnd type="none" w="sm" len="sm"/>
            <a:tailEnd type="none" w="sm" len="sm"/>
          </a:ln>
        </p:spPr>
        <p:txBody>
          <a:bodyPr spcFirstLastPara="1" wrap="square" lIns="68569" tIns="68569" rIns="68569" bIns="68569" anchor="ctr" anchorCtr="0">
            <a:noAutofit/>
          </a:bodyPr>
          <a:lstStyle/>
          <a:p>
            <a:endParaRPr sz="1050"/>
          </a:p>
        </p:txBody>
      </p:sp>
    </p:spTree>
    <p:extLst>
      <p:ext uri="{BB962C8B-B14F-4D97-AF65-F5344CB8AC3E}">
        <p14:creationId xmlns:p14="http://schemas.microsoft.com/office/powerpoint/2010/main" val="14992881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 b="1" dirty="0"/>
              <a:t>Classifying</a:t>
            </a:r>
            <a:r>
              <a:rPr lang="en" dirty="0"/>
              <a:t>, Valuing, and Prioritizing Information Assets</a:t>
            </a:r>
            <a:endParaRPr lang="en-US" dirty="0"/>
          </a:p>
        </p:txBody>
      </p:sp>
      <p:sp>
        <p:nvSpPr>
          <p:cNvPr id="3" name="Content Placeholder 2"/>
          <p:cNvSpPr>
            <a:spLocks noGrp="1"/>
          </p:cNvSpPr>
          <p:nvPr>
            <p:ph idx="1"/>
          </p:nvPr>
        </p:nvSpPr>
        <p:spPr/>
        <p:txBody>
          <a:bodyPr/>
          <a:lstStyle/>
          <a:p>
            <a:pPr lvl="0"/>
            <a:r>
              <a:rPr lang="en-US" b="1" dirty="0"/>
              <a:t>Asset classification</a:t>
            </a:r>
            <a:r>
              <a:rPr lang="en-US" dirty="0"/>
              <a:t> → requires adding a dimension to represent the</a:t>
            </a:r>
            <a:r>
              <a:rPr lang="en-US" i="1" dirty="0">
                <a:solidFill>
                  <a:srgbClr val="0000FF"/>
                </a:solidFill>
              </a:rPr>
              <a:t> sensitivity and security priority </a:t>
            </a:r>
            <a:r>
              <a:rPr lang="en-US" dirty="0"/>
              <a:t>of the data and the devices that store, transmit, and process the data—that is, a </a:t>
            </a:r>
            <a:r>
              <a:rPr lang="en-US" b="1" dirty="0"/>
              <a:t>data classification scheme</a:t>
            </a:r>
            <a:r>
              <a:rPr lang="en-US" dirty="0"/>
              <a:t>.</a:t>
            </a:r>
          </a:p>
          <a:p>
            <a:pPr marL="342900" indent="-257175"/>
            <a:r>
              <a:rPr lang="en-US" dirty="0"/>
              <a:t>Rank the components using categories that are </a:t>
            </a:r>
            <a:r>
              <a:rPr lang="en-US" i="1" dirty="0">
                <a:solidFill>
                  <a:srgbClr val="0000FF"/>
                </a:solidFill>
              </a:rPr>
              <a:t>comprehensive</a:t>
            </a:r>
            <a:r>
              <a:rPr lang="en-US" i="1" dirty="0"/>
              <a:t> </a:t>
            </a:r>
            <a:r>
              <a:rPr lang="en-US" dirty="0"/>
              <a:t>and </a:t>
            </a:r>
            <a:r>
              <a:rPr lang="en-US" i="1" dirty="0">
                <a:solidFill>
                  <a:srgbClr val="0000FF"/>
                </a:solidFill>
              </a:rPr>
              <a:t>mutually exclusive</a:t>
            </a:r>
            <a:r>
              <a:rPr lang="en-US" dirty="0"/>
              <a:t>. </a:t>
            </a:r>
          </a:p>
          <a:p>
            <a:pPr marL="342900" indent="0">
              <a:buNone/>
            </a:pPr>
            <a:endParaRPr lang="en-US" dirty="0"/>
          </a:p>
          <a:p>
            <a:pPr marL="0" indent="0">
              <a:buNone/>
            </a:pPr>
            <a:r>
              <a:rPr lang="en-US" u="sng" dirty="0"/>
              <a:t>Example</a:t>
            </a:r>
            <a:r>
              <a:rPr lang="en-US" dirty="0"/>
              <a:t>: </a:t>
            </a:r>
          </a:p>
          <a:p>
            <a:pPr marL="342900" indent="-257175"/>
            <a:r>
              <a:rPr lang="en-US" dirty="0"/>
              <a:t>Suppose an organization has a </a:t>
            </a:r>
            <a:r>
              <a:rPr lang="en-US" b="1" dirty="0"/>
              <a:t>public key infrastructure certificate authority</a:t>
            </a:r>
            <a:r>
              <a:rPr lang="en-US" dirty="0"/>
              <a:t>, which is a software application that provides cryptographic key management services. </a:t>
            </a:r>
          </a:p>
          <a:p>
            <a:endParaRPr lang="en-US" dirty="0"/>
          </a:p>
        </p:txBody>
      </p:sp>
    </p:spTree>
    <p:extLst>
      <p:ext uri="{BB962C8B-B14F-4D97-AF65-F5344CB8AC3E}">
        <p14:creationId xmlns:p14="http://schemas.microsoft.com/office/powerpoint/2010/main" val="36799362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 dirty="0"/>
              <a:t>Classifying, Valuing, and Prioritizing Information Assets</a:t>
            </a:r>
            <a:endParaRPr lang="en-US" dirty="0"/>
          </a:p>
        </p:txBody>
      </p:sp>
      <p:sp>
        <p:nvSpPr>
          <p:cNvPr id="3" name="Content Placeholder 2"/>
          <p:cNvSpPr>
            <a:spLocks noGrp="1"/>
          </p:cNvSpPr>
          <p:nvPr>
            <p:ph idx="1"/>
          </p:nvPr>
        </p:nvSpPr>
        <p:spPr/>
        <p:txBody>
          <a:bodyPr/>
          <a:lstStyle/>
          <a:p>
            <a:pPr marL="0" indent="0">
              <a:buNone/>
            </a:pPr>
            <a:r>
              <a:rPr lang="en-US" u="sng" dirty="0"/>
              <a:t>Example (cont’d)</a:t>
            </a:r>
            <a:r>
              <a:rPr lang="en-US" dirty="0"/>
              <a:t>: </a:t>
            </a:r>
          </a:p>
          <a:p>
            <a:pPr marL="342900" indent="0">
              <a:buNone/>
            </a:pPr>
            <a:endParaRPr lang="en-US" dirty="0"/>
          </a:p>
          <a:p>
            <a:pPr marL="342900" indent="-257175"/>
            <a:r>
              <a:rPr lang="en-US" dirty="0"/>
              <a:t>Using a purely technical standard, an analysis team could categorize the certificate authority as </a:t>
            </a:r>
            <a:r>
              <a:rPr lang="en-US" b="1" dirty="0"/>
              <a:t>software </a:t>
            </a:r>
            <a:r>
              <a:rPr lang="en-US" dirty="0"/>
              <a:t>in the asset list of Table 5-1. </a:t>
            </a:r>
          </a:p>
          <a:p>
            <a:pPr marL="342900" indent="-257175"/>
            <a:r>
              <a:rPr lang="en-US" dirty="0"/>
              <a:t>Then, within the software category, the certificate authority could be listed either as an </a:t>
            </a:r>
            <a:r>
              <a:rPr lang="en-US" b="1" dirty="0"/>
              <a:t>application</a:t>
            </a:r>
            <a:r>
              <a:rPr lang="en-US" dirty="0"/>
              <a:t> or as a </a:t>
            </a:r>
            <a:r>
              <a:rPr lang="en-US" b="1" dirty="0"/>
              <a:t>security component</a:t>
            </a:r>
            <a:r>
              <a:rPr lang="en-US" dirty="0"/>
              <a:t>. </a:t>
            </a:r>
          </a:p>
          <a:p>
            <a:pPr marL="342900" indent="-257175"/>
            <a:r>
              <a:rPr lang="en-US" dirty="0"/>
              <a:t>However, a certificate authority should actually be categorized as a </a:t>
            </a:r>
            <a:r>
              <a:rPr lang="en-US" b="1" dirty="0"/>
              <a:t>software security  component</a:t>
            </a:r>
            <a:r>
              <a:rPr lang="en-US" dirty="0"/>
              <a:t> because it is part of the security infrastructure and must be protected carefully.</a:t>
            </a:r>
          </a:p>
          <a:p>
            <a:endParaRPr lang="en-US" dirty="0"/>
          </a:p>
        </p:txBody>
      </p:sp>
    </p:spTree>
    <p:extLst>
      <p:ext uri="{BB962C8B-B14F-4D97-AF65-F5344CB8AC3E}">
        <p14:creationId xmlns:p14="http://schemas.microsoft.com/office/powerpoint/2010/main" val="39357358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 dirty="0"/>
              <a:t>Classifying, </a:t>
            </a:r>
            <a:r>
              <a:rPr lang="en" b="1" dirty="0"/>
              <a:t>Valuing</a:t>
            </a:r>
            <a:r>
              <a:rPr lang="en" dirty="0"/>
              <a:t>, and Prioritizing Information Assets</a:t>
            </a:r>
            <a:endParaRPr lang="en-US" dirty="0"/>
          </a:p>
        </p:txBody>
      </p:sp>
      <p:sp>
        <p:nvSpPr>
          <p:cNvPr id="3" name="Content Placeholder 2"/>
          <p:cNvSpPr>
            <a:spLocks noGrp="1"/>
          </p:cNvSpPr>
          <p:nvPr>
            <p:ph idx="1"/>
          </p:nvPr>
        </p:nvSpPr>
        <p:spPr/>
        <p:txBody>
          <a:bodyPr/>
          <a:lstStyle/>
          <a:p>
            <a:pPr marL="342900" indent="-257175"/>
            <a:r>
              <a:rPr lang="en-US" b="1" dirty="0"/>
              <a:t>Asset valuation</a:t>
            </a:r>
            <a:r>
              <a:rPr lang="en-US" dirty="0"/>
              <a:t> → the process of </a:t>
            </a:r>
            <a:r>
              <a:rPr lang="en-US" i="1" dirty="0"/>
              <a:t>assigning</a:t>
            </a:r>
            <a:r>
              <a:rPr lang="en-US" dirty="0"/>
              <a:t> financial value or </a:t>
            </a:r>
            <a:r>
              <a:rPr lang="en-US" i="1" dirty="0"/>
              <a:t>worth </a:t>
            </a:r>
            <a:r>
              <a:rPr lang="en-US" dirty="0"/>
              <a:t>to each information asset.</a:t>
            </a:r>
          </a:p>
          <a:p>
            <a:pPr marL="685800" lvl="1" indent="-238125"/>
            <a:r>
              <a:rPr lang="en-US" dirty="0"/>
              <a:t>Tough task → e.g. what’s the worth of the chemical formula for a drug that could cure cancer? What about an organization’s strategic plan for the next five years?</a:t>
            </a:r>
          </a:p>
          <a:p>
            <a:pPr marL="342900" indent="0">
              <a:buNone/>
            </a:pPr>
            <a:endParaRPr lang="en-US" dirty="0"/>
          </a:p>
          <a:p>
            <a:pPr marL="342900" indent="-257175"/>
            <a:r>
              <a:rPr lang="en-US" dirty="0"/>
              <a:t>As a result, many organizations use </a:t>
            </a:r>
            <a:r>
              <a:rPr lang="en-US" i="1" dirty="0">
                <a:solidFill>
                  <a:srgbClr val="0000FF"/>
                </a:solidFill>
              </a:rPr>
              <a:t>categorical</a:t>
            </a:r>
            <a:r>
              <a:rPr lang="en-US" i="1" dirty="0"/>
              <a:t> </a:t>
            </a:r>
            <a:r>
              <a:rPr lang="en-US" i="1" dirty="0">
                <a:solidFill>
                  <a:srgbClr val="0000FF"/>
                </a:solidFill>
              </a:rPr>
              <a:t>values to provide ranges</a:t>
            </a:r>
            <a:r>
              <a:rPr lang="en-US" dirty="0"/>
              <a:t> of values for assets (such as </a:t>
            </a:r>
            <a:r>
              <a:rPr lang="en-US" b="1" dirty="0"/>
              <a:t>very low</a:t>
            </a:r>
            <a:r>
              <a:rPr lang="en-US" dirty="0"/>
              <a:t> to </a:t>
            </a:r>
            <a:r>
              <a:rPr lang="en-US" b="1" dirty="0"/>
              <a:t>very high</a:t>
            </a:r>
            <a:r>
              <a:rPr lang="en-US" dirty="0"/>
              <a:t>), or they use </a:t>
            </a:r>
            <a:r>
              <a:rPr lang="en-US" i="1" dirty="0">
                <a:solidFill>
                  <a:srgbClr val="0000FF"/>
                </a:solidFill>
              </a:rPr>
              <a:t>other qualitative measures</a:t>
            </a:r>
            <a:r>
              <a:rPr lang="en-US" dirty="0"/>
              <a:t>.</a:t>
            </a:r>
          </a:p>
          <a:p>
            <a:endParaRPr lang="en-US" dirty="0"/>
          </a:p>
        </p:txBody>
      </p:sp>
    </p:spTree>
    <p:extLst>
      <p:ext uri="{BB962C8B-B14F-4D97-AF65-F5344CB8AC3E}">
        <p14:creationId xmlns:p14="http://schemas.microsoft.com/office/powerpoint/2010/main" val="38346241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 dirty="0"/>
              <a:t>Classifying, </a:t>
            </a:r>
            <a:r>
              <a:rPr lang="en" b="1" dirty="0"/>
              <a:t>Valuing</a:t>
            </a:r>
            <a:r>
              <a:rPr lang="en" dirty="0"/>
              <a:t>, and Prioritizing Information Assets</a:t>
            </a:r>
            <a:endParaRPr lang="en-US" dirty="0"/>
          </a:p>
        </p:txBody>
      </p:sp>
      <p:sp>
        <p:nvSpPr>
          <p:cNvPr id="3" name="Content Placeholder 2"/>
          <p:cNvSpPr>
            <a:spLocks noGrp="1"/>
          </p:cNvSpPr>
          <p:nvPr>
            <p:ph idx="1"/>
          </p:nvPr>
        </p:nvSpPr>
        <p:spPr/>
        <p:txBody>
          <a:bodyPr/>
          <a:lstStyle/>
          <a:p>
            <a:pPr marL="0" indent="0">
              <a:buNone/>
            </a:pPr>
            <a:r>
              <a:rPr lang="en-US" b="1" dirty="0"/>
              <a:t>Examples of criteria</a:t>
            </a:r>
            <a:r>
              <a:rPr lang="en-US" dirty="0"/>
              <a:t> that can best establish the </a:t>
            </a:r>
            <a:r>
              <a:rPr lang="en-US" b="1" dirty="0"/>
              <a:t>value </a:t>
            </a:r>
            <a:r>
              <a:rPr lang="en-US" dirty="0"/>
              <a:t>of the information assets:</a:t>
            </a:r>
          </a:p>
          <a:p>
            <a:pPr marL="342900" indent="-257175"/>
            <a:r>
              <a:rPr lang="en-US" i="1" dirty="0"/>
              <a:t>Which information asset is most critical to the organization’s success?</a:t>
            </a:r>
            <a:r>
              <a:rPr lang="en-US" dirty="0"/>
              <a:t> </a:t>
            </a:r>
          </a:p>
          <a:p>
            <a:pPr marL="685800" lvl="1" indent="-238125"/>
            <a:r>
              <a:rPr lang="en-US" dirty="0"/>
              <a:t>Based on the organization’s mission statement or statement of objectives to determine which elements are essential, which are supportive, and which are merely adjuncts.</a:t>
            </a:r>
          </a:p>
          <a:p>
            <a:pPr marL="342900" indent="-257175"/>
            <a:r>
              <a:rPr lang="en-US" i="1" dirty="0"/>
              <a:t>Which information asset generates the most revenue?</a:t>
            </a:r>
            <a:r>
              <a:rPr lang="en-US" i="1" dirty="0">
                <a:solidFill>
                  <a:srgbClr val="FF0000"/>
                </a:solidFill>
              </a:rPr>
              <a:t>*</a:t>
            </a:r>
          </a:p>
          <a:p>
            <a:pPr marL="342900" indent="-257175"/>
            <a:r>
              <a:rPr lang="en-US" i="1" dirty="0"/>
              <a:t>Which information asset would be the most expensive to replace?</a:t>
            </a:r>
          </a:p>
          <a:p>
            <a:pPr marL="342900" indent="-257175"/>
            <a:r>
              <a:rPr lang="en-US" i="1" dirty="0"/>
              <a:t>Which information asset would most expose the company to liability or embarrassment if revealed?</a:t>
            </a:r>
          </a:p>
          <a:p>
            <a:endParaRPr lang="en-US" dirty="0"/>
          </a:p>
        </p:txBody>
      </p:sp>
    </p:spTree>
    <p:extLst>
      <p:ext uri="{BB962C8B-B14F-4D97-AF65-F5344CB8AC3E}">
        <p14:creationId xmlns:p14="http://schemas.microsoft.com/office/powerpoint/2010/main" val="42885667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153;p25"/>
          <p:cNvPicPr preferRelativeResize="0"/>
          <p:nvPr/>
        </p:nvPicPr>
        <p:blipFill>
          <a:blip r:embed="rId2">
            <a:alphaModFix/>
          </a:blip>
          <a:stretch>
            <a:fillRect/>
          </a:stretch>
        </p:blipFill>
        <p:spPr>
          <a:xfrm>
            <a:off x="1009702" y="183961"/>
            <a:ext cx="7015477" cy="4860626"/>
          </a:xfrm>
          <a:prstGeom prst="rect">
            <a:avLst/>
          </a:prstGeom>
          <a:noFill/>
          <a:ln>
            <a:noFill/>
          </a:ln>
        </p:spPr>
      </p:pic>
      <p:sp>
        <p:nvSpPr>
          <p:cNvPr id="5" name="Google Shape;154;p25"/>
          <p:cNvSpPr/>
          <p:nvPr/>
        </p:nvSpPr>
        <p:spPr>
          <a:xfrm>
            <a:off x="3794397" y="1000474"/>
            <a:ext cx="1672586" cy="168652"/>
          </a:xfrm>
          <a:prstGeom prst="rect">
            <a:avLst/>
          </a:prstGeom>
          <a:noFill/>
          <a:ln w="9525" cap="flat" cmpd="sng">
            <a:solidFill>
              <a:srgbClr val="FF0000"/>
            </a:solidFill>
            <a:prstDash val="solid"/>
            <a:round/>
            <a:headEnd type="none" w="sm" len="sm"/>
            <a:tailEnd type="none" w="sm" len="sm"/>
          </a:ln>
        </p:spPr>
        <p:txBody>
          <a:bodyPr spcFirstLastPara="1" wrap="square" lIns="68569" tIns="68569" rIns="68569" bIns="68569" anchor="ctr" anchorCtr="0">
            <a:noAutofit/>
          </a:bodyPr>
          <a:lstStyle/>
          <a:p>
            <a:endParaRPr sz="1050"/>
          </a:p>
        </p:txBody>
      </p:sp>
      <p:sp>
        <p:nvSpPr>
          <p:cNvPr id="6" name="Google Shape;155;p25"/>
          <p:cNvSpPr/>
          <p:nvPr/>
        </p:nvSpPr>
        <p:spPr>
          <a:xfrm>
            <a:off x="5805638" y="1000474"/>
            <a:ext cx="2005257" cy="168652"/>
          </a:xfrm>
          <a:prstGeom prst="rect">
            <a:avLst/>
          </a:prstGeom>
          <a:noFill/>
          <a:ln w="9525" cap="flat" cmpd="sng">
            <a:solidFill>
              <a:srgbClr val="FF0000"/>
            </a:solidFill>
            <a:prstDash val="solid"/>
            <a:round/>
            <a:headEnd type="none" w="sm" len="sm"/>
            <a:tailEnd type="none" w="sm" len="sm"/>
          </a:ln>
        </p:spPr>
        <p:txBody>
          <a:bodyPr spcFirstLastPara="1" wrap="square" lIns="68569" tIns="68569" rIns="68569" bIns="68569" anchor="ctr" anchorCtr="0">
            <a:noAutofit/>
          </a:bodyPr>
          <a:lstStyle/>
          <a:p>
            <a:endParaRPr sz="1050"/>
          </a:p>
        </p:txBody>
      </p:sp>
    </p:spTree>
    <p:extLst>
      <p:ext uri="{BB962C8B-B14F-4D97-AF65-F5344CB8AC3E}">
        <p14:creationId xmlns:p14="http://schemas.microsoft.com/office/powerpoint/2010/main" val="39753534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 dirty="0"/>
              <a:t>Classifying, Valuing, and </a:t>
            </a:r>
            <a:r>
              <a:rPr lang="en" b="1" dirty="0"/>
              <a:t>Prioritizing</a:t>
            </a:r>
            <a:r>
              <a:rPr lang="en" dirty="0"/>
              <a:t> Information Assets</a:t>
            </a:r>
            <a:endParaRPr lang="en-US" dirty="0"/>
          </a:p>
        </p:txBody>
      </p:sp>
      <p:sp>
        <p:nvSpPr>
          <p:cNvPr id="3" name="Content Placeholder 2"/>
          <p:cNvSpPr>
            <a:spLocks noGrp="1"/>
          </p:cNvSpPr>
          <p:nvPr>
            <p:ph idx="1"/>
          </p:nvPr>
        </p:nvSpPr>
        <p:spPr/>
        <p:txBody>
          <a:bodyPr/>
          <a:lstStyle/>
          <a:p>
            <a:pPr marL="342900" indent="-257175"/>
            <a:r>
              <a:rPr lang="en-US" b="1" dirty="0"/>
              <a:t>Asset prioritization </a:t>
            </a:r>
            <a:r>
              <a:rPr lang="en-US" dirty="0"/>
              <a:t>→ prioritize each asset using a straightforward process known as </a:t>
            </a:r>
            <a:r>
              <a:rPr lang="en-US" i="1" dirty="0">
                <a:solidFill>
                  <a:srgbClr val="0000FF"/>
                </a:solidFill>
              </a:rPr>
              <a:t>weighted factor analysis</a:t>
            </a:r>
            <a:r>
              <a:rPr lang="en-US" dirty="0"/>
              <a:t> or simply using a </a:t>
            </a:r>
            <a:r>
              <a:rPr lang="en-US" i="1" dirty="0">
                <a:solidFill>
                  <a:srgbClr val="0000FF"/>
                </a:solidFill>
              </a:rPr>
              <a:t>weighted table </a:t>
            </a:r>
            <a:r>
              <a:rPr lang="en-US" dirty="0"/>
              <a:t>(see Table 5-2)</a:t>
            </a:r>
          </a:p>
          <a:p>
            <a:pPr marL="342900" indent="0">
              <a:buNone/>
            </a:pPr>
            <a:endParaRPr lang="en-US" dirty="0"/>
          </a:p>
          <a:p>
            <a:pPr marL="342900" indent="-257175"/>
            <a:r>
              <a:rPr lang="en-US" dirty="0"/>
              <a:t>Each information asset is assigned </a:t>
            </a:r>
            <a:r>
              <a:rPr lang="en-US" b="1" dirty="0"/>
              <a:t>scores </a:t>
            </a:r>
            <a:r>
              <a:rPr lang="en-US" dirty="0"/>
              <a:t>for a set of assigned critical factors.</a:t>
            </a:r>
          </a:p>
          <a:p>
            <a:endParaRPr lang="en-US" dirty="0"/>
          </a:p>
        </p:txBody>
      </p:sp>
    </p:spTree>
    <p:extLst>
      <p:ext uri="{BB962C8B-B14F-4D97-AF65-F5344CB8AC3E}">
        <p14:creationId xmlns:p14="http://schemas.microsoft.com/office/powerpoint/2010/main" val="21439293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169;p27"/>
          <p:cNvPicPr preferRelativeResize="0"/>
          <p:nvPr/>
        </p:nvPicPr>
        <p:blipFill>
          <a:blip r:embed="rId2">
            <a:alphaModFix/>
          </a:blip>
          <a:stretch>
            <a:fillRect/>
          </a:stretch>
        </p:blipFill>
        <p:spPr>
          <a:xfrm>
            <a:off x="837468" y="1088049"/>
            <a:ext cx="7528415" cy="3474588"/>
          </a:xfrm>
          <a:prstGeom prst="rect">
            <a:avLst/>
          </a:prstGeom>
          <a:noFill/>
          <a:ln>
            <a:noFill/>
          </a:ln>
        </p:spPr>
      </p:pic>
      <p:sp>
        <p:nvSpPr>
          <p:cNvPr id="5" name="Google Shape;170;p27"/>
          <p:cNvSpPr/>
          <p:nvPr/>
        </p:nvSpPr>
        <p:spPr>
          <a:xfrm>
            <a:off x="914889" y="3233591"/>
            <a:ext cx="7373573" cy="219851"/>
          </a:xfrm>
          <a:prstGeom prst="rect">
            <a:avLst/>
          </a:prstGeom>
          <a:noFill/>
          <a:ln w="9525" cap="flat" cmpd="sng">
            <a:solidFill>
              <a:srgbClr val="FF0000"/>
            </a:solidFill>
            <a:prstDash val="solid"/>
            <a:round/>
            <a:headEnd type="none" w="sm" len="sm"/>
            <a:tailEnd type="none" w="sm" len="sm"/>
          </a:ln>
        </p:spPr>
        <p:txBody>
          <a:bodyPr spcFirstLastPara="1" wrap="square" lIns="68569" tIns="68569" rIns="68569" bIns="68569" anchor="ctr" anchorCtr="0">
            <a:noAutofit/>
          </a:bodyPr>
          <a:lstStyle/>
          <a:p>
            <a:endParaRPr sz="1050"/>
          </a:p>
        </p:txBody>
      </p:sp>
      <p:sp>
        <p:nvSpPr>
          <p:cNvPr id="6" name="Google Shape;171;p27"/>
          <p:cNvSpPr/>
          <p:nvPr/>
        </p:nvSpPr>
        <p:spPr>
          <a:xfrm rot="5400000">
            <a:off x="5199000" y="-1122868"/>
            <a:ext cx="200515" cy="4221318"/>
          </a:xfrm>
          <a:prstGeom prst="leftBrace">
            <a:avLst>
              <a:gd name="adj1" fmla="val 50000"/>
              <a:gd name="adj2" fmla="val 50000"/>
            </a:avLst>
          </a:prstGeom>
          <a:noFill/>
          <a:ln w="9525" cap="flat" cmpd="sng">
            <a:solidFill>
              <a:srgbClr val="0000FF"/>
            </a:solidFill>
            <a:prstDash val="solid"/>
            <a:round/>
            <a:headEnd type="none" w="sm" len="sm"/>
            <a:tailEnd type="none" w="sm" len="sm"/>
          </a:ln>
        </p:spPr>
        <p:txBody>
          <a:bodyPr spcFirstLastPara="1" wrap="square" lIns="68569" tIns="68569" rIns="68569" bIns="68569" anchor="ctr" anchorCtr="0">
            <a:noAutofit/>
          </a:bodyPr>
          <a:lstStyle/>
          <a:p>
            <a:endParaRPr sz="1050"/>
          </a:p>
        </p:txBody>
      </p:sp>
      <p:sp>
        <p:nvSpPr>
          <p:cNvPr id="7" name="Google Shape;174;p27"/>
          <p:cNvSpPr/>
          <p:nvPr/>
        </p:nvSpPr>
        <p:spPr>
          <a:xfrm>
            <a:off x="4650767" y="1142491"/>
            <a:ext cx="1296980" cy="2937797"/>
          </a:xfrm>
          <a:prstGeom prst="rect">
            <a:avLst/>
          </a:prstGeom>
          <a:noFill/>
          <a:ln w="9525" cap="flat" cmpd="sng">
            <a:solidFill>
              <a:srgbClr val="9900FF"/>
            </a:solidFill>
            <a:prstDash val="solid"/>
            <a:round/>
            <a:headEnd type="none" w="sm" len="sm"/>
            <a:tailEnd type="none" w="sm" len="sm"/>
          </a:ln>
        </p:spPr>
        <p:txBody>
          <a:bodyPr spcFirstLastPara="1" wrap="square" lIns="68569" tIns="68569" rIns="68569" bIns="68569" anchor="ctr" anchorCtr="0">
            <a:noAutofit/>
          </a:bodyPr>
          <a:lstStyle/>
          <a:p>
            <a:endParaRPr sz="1050"/>
          </a:p>
        </p:txBody>
      </p:sp>
    </p:spTree>
    <p:extLst>
      <p:ext uri="{BB962C8B-B14F-4D97-AF65-F5344CB8AC3E}">
        <p14:creationId xmlns:p14="http://schemas.microsoft.com/office/powerpoint/2010/main" val="344353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Risk identification</a:t>
            </a:r>
          </a:p>
        </p:txBody>
      </p:sp>
      <p:pic>
        <p:nvPicPr>
          <p:cNvPr id="4" name="Google Shape;183;p28"/>
          <p:cNvPicPr preferRelativeResize="0"/>
          <p:nvPr/>
        </p:nvPicPr>
        <p:blipFill>
          <a:blip r:embed="rId2">
            <a:alphaModFix/>
          </a:blip>
          <a:stretch>
            <a:fillRect/>
          </a:stretch>
        </p:blipFill>
        <p:spPr>
          <a:xfrm>
            <a:off x="1336488" y="1216507"/>
            <a:ext cx="6411733" cy="3867645"/>
          </a:xfrm>
          <a:prstGeom prst="rect">
            <a:avLst/>
          </a:prstGeom>
          <a:noFill/>
          <a:ln>
            <a:noFill/>
          </a:ln>
        </p:spPr>
      </p:pic>
      <p:sp>
        <p:nvSpPr>
          <p:cNvPr id="5" name="Google Shape;184;p28"/>
          <p:cNvSpPr/>
          <p:nvPr/>
        </p:nvSpPr>
        <p:spPr>
          <a:xfrm>
            <a:off x="3717464" y="2360935"/>
            <a:ext cx="516041" cy="187142"/>
          </a:xfrm>
          <a:prstGeom prst="rect">
            <a:avLst/>
          </a:prstGeom>
          <a:noFill/>
          <a:ln w="9525" cap="flat" cmpd="sng">
            <a:solidFill>
              <a:srgbClr val="FF0000"/>
            </a:solidFill>
            <a:prstDash val="solid"/>
            <a:round/>
            <a:headEnd type="none" w="sm" len="sm"/>
            <a:tailEnd type="none" w="sm" len="sm"/>
          </a:ln>
        </p:spPr>
        <p:txBody>
          <a:bodyPr spcFirstLastPara="1" wrap="square" lIns="68569" tIns="68569" rIns="68569" bIns="68569" anchor="ctr" anchorCtr="0">
            <a:noAutofit/>
          </a:bodyPr>
          <a:lstStyle/>
          <a:p>
            <a:endParaRPr sz="1050"/>
          </a:p>
        </p:txBody>
      </p:sp>
      <p:sp>
        <p:nvSpPr>
          <p:cNvPr id="6" name="Google Shape;185;p28"/>
          <p:cNvSpPr/>
          <p:nvPr/>
        </p:nvSpPr>
        <p:spPr>
          <a:xfrm>
            <a:off x="4614787" y="2976373"/>
            <a:ext cx="516041" cy="187142"/>
          </a:xfrm>
          <a:prstGeom prst="rect">
            <a:avLst/>
          </a:prstGeom>
          <a:noFill/>
          <a:ln w="9525" cap="flat" cmpd="sng">
            <a:solidFill>
              <a:srgbClr val="FF0000"/>
            </a:solidFill>
            <a:prstDash val="solid"/>
            <a:round/>
            <a:headEnd type="none" w="sm" len="sm"/>
            <a:tailEnd type="none" w="sm" len="sm"/>
          </a:ln>
        </p:spPr>
        <p:txBody>
          <a:bodyPr spcFirstLastPara="1" wrap="square" lIns="68569" tIns="68569" rIns="68569" bIns="68569" anchor="ctr" anchorCtr="0">
            <a:noAutofit/>
          </a:bodyPr>
          <a:lstStyle/>
          <a:p>
            <a:endParaRPr sz="1050"/>
          </a:p>
        </p:txBody>
      </p:sp>
      <p:sp>
        <p:nvSpPr>
          <p:cNvPr id="7" name="Google Shape;186;p28"/>
          <p:cNvSpPr/>
          <p:nvPr/>
        </p:nvSpPr>
        <p:spPr>
          <a:xfrm>
            <a:off x="5163799" y="3532530"/>
            <a:ext cx="516041" cy="187142"/>
          </a:xfrm>
          <a:prstGeom prst="rect">
            <a:avLst/>
          </a:prstGeom>
          <a:noFill/>
          <a:ln w="9525" cap="flat" cmpd="sng">
            <a:solidFill>
              <a:srgbClr val="FF0000"/>
            </a:solidFill>
            <a:prstDash val="solid"/>
            <a:round/>
            <a:headEnd type="none" w="sm" len="sm"/>
            <a:tailEnd type="none" w="sm" len="sm"/>
          </a:ln>
        </p:spPr>
        <p:txBody>
          <a:bodyPr spcFirstLastPara="1" wrap="square" lIns="68569" tIns="68569" rIns="68569" bIns="68569" anchor="ctr" anchorCtr="0">
            <a:noAutofit/>
          </a:bodyPr>
          <a:lstStyle/>
          <a:p>
            <a:endParaRPr sz="1050"/>
          </a:p>
        </p:txBody>
      </p:sp>
      <p:sp>
        <p:nvSpPr>
          <p:cNvPr id="8" name="Google Shape;187;p28"/>
          <p:cNvSpPr/>
          <p:nvPr/>
        </p:nvSpPr>
        <p:spPr>
          <a:xfrm>
            <a:off x="6029841" y="3890816"/>
            <a:ext cx="1186329" cy="396016"/>
          </a:xfrm>
          <a:prstGeom prst="rect">
            <a:avLst/>
          </a:prstGeom>
          <a:noFill/>
          <a:ln w="9525" cap="flat" cmpd="sng">
            <a:solidFill>
              <a:srgbClr val="FF0000"/>
            </a:solidFill>
            <a:prstDash val="solid"/>
            <a:round/>
            <a:headEnd type="none" w="sm" len="sm"/>
            <a:tailEnd type="none" w="sm" len="sm"/>
          </a:ln>
        </p:spPr>
        <p:txBody>
          <a:bodyPr spcFirstLastPara="1" wrap="square" lIns="68569" tIns="68569" rIns="68569" bIns="68569" anchor="ctr" anchorCtr="0">
            <a:noAutofit/>
          </a:bodyPr>
          <a:lstStyle/>
          <a:p>
            <a:endParaRPr sz="1050"/>
          </a:p>
        </p:txBody>
      </p:sp>
      <p:sp>
        <p:nvSpPr>
          <p:cNvPr id="9" name="Google Shape;188;p28"/>
          <p:cNvSpPr/>
          <p:nvPr/>
        </p:nvSpPr>
        <p:spPr>
          <a:xfrm>
            <a:off x="2341468" y="1787036"/>
            <a:ext cx="566589" cy="175244"/>
          </a:xfrm>
          <a:prstGeom prst="rect">
            <a:avLst/>
          </a:prstGeom>
          <a:noFill/>
          <a:ln w="9525" cap="flat" cmpd="sng">
            <a:solidFill>
              <a:srgbClr val="FF0000"/>
            </a:solidFill>
            <a:prstDash val="solid"/>
            <a:round/>
            <a:headEnd type="none" w="sm" len="sm"/>
            <a:tailEnd type="none" w="sm" len="sm"/>
          </a:ln>
        </p:spPr>
        <p:txBody>
          <a:bodyPr spcFirstLastPara="1" wrap="square" lIns="68569" tIns="68569" rIns="68569" bIns="68569" anchor="ctr" anchorCtr="0">
            <a:noAutofit/>
          </a:bodyPr>
          <a:lstStyle/>
          <a:p>
            <a:endParaRPr sz="1050"/>
          </a:p>
        </p:txBody>
      </p:sp>
    </p:spTree>
    <p:extLst>
      <p:ext uri="{BB962C8B-B14F-4D97-AF65-F5344CB8AC3E}">
        <p14:creationId xmlns:p14="http://schemas.microsoft.com/office/powerpoint/2010/main" val="10847255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 dirty="0"/>
              <a:t>Identifying and Prioritizing Threats</a:t>
            </a:r>
            <a:endParaRPr lang="en-US" dirty="0"/>
          </a:p>
        </p:txBody>
      </p:sp>
      <p:sp>
        <p:nvSpPr>
          <p:cNvPr id="3" name="Content Placeholder 2"/>
          <p:cNvSpPr>
            <a:spLocks noGrp="1"/>
          </p:cNvSpPr>
          <p:nvPr>
            <p:ph idx="1"/>
          </p:nvPr>
        </p:nvSpPr>
        <p:spPr/>
        <p:txBody>
          <a:bodyPr/>
          <a:lstStyle/>
          <a:p>
            <a:pPr marL="342900" indent="-257175"/>
            <a:r>
              <a:rPr lang="en-US" b="1" dirty="0"/>
              <a:t>Threat assessment</a:t>
            </a:r>
            <a:r>
              <a:rPr lang="en-US" dirty="0"/>
              <a:t> → an </a:t>
            </a:r>
            <a:r>
              <a:rPr lang="en-US" i="1" dirty="0">
                <a:solidFill>
                  <a:srgbClr val="0000FF"/>
                </a:solidFill>
              </a:rPr>
              <a:t>evaluation of the threats</a:t>
            </a:r>
            <a:r>
              <a:rPr lang="en-US" dirty="0"/>
              <a:t> to information assets, including a determination of their </a:t>
            </a:r>
            <a:r>
              <a:rPr lang="en-US" i="1" dirty="0">
                <a:solidFill>
                  <a:srgbClr val="0000FF"/>
                </a:solidFill>
              </a:rPr>
              <a:t>potential to endanger</a:t>
            </a:r>
            <a:r>
              <a:rPr lang="en-US" dirty="0"/>
              <a:t> the organization.</a:t>
            </a:r>
          </a:p>
          <a:p>
            <a:pPr marL="342900" indent="0">
              <a:buNone/>
            </a:pPr>
            <a:endParaRPr lang="en-US" dirty="0"/>
          </a:p>
          <a:p>
            <a:pPr marL="342900" indent="-257175"/>
            <a:r>
              <a:rPr lang="en-US" dirty="0"/>
              <a:t>Start by answering a few basic questions, as follows:</a:t>
            </a:r>
          </a:p>
          <a:p>
            <a:pPr marL="685800" lvl="1" indent="-238125"/>
            <a:r>
              <a:rPr lang="en-US" i="1" dirty="0"/>
              <a:t>Which threats present a danger to an organization’s assets in the given environment?</a:t>
            </a:r>
          </a:p>
          <a:p>
            <a:pPr marL="685800" lvl="1" indent="-238125"/>
            <a:r>
              <a:rPr lang="en-US" i="1" dirty="0"/>
              <a:t>Which threats represent the most danger to the organization’s information?</a:t>
            </a:r>
          </a:p>
          <a:p>
            <a:pPr marL="685800" lvl="1" indent="-238125"/>
            <a:r>
              <a:rPr lang="en-US" i="1" dirty="0"/>
              <a:t>How much would it cost to recover from a successful attack? </a:t>
            </a:r>
          </a:p>
          <a:p>
            <a:pPr marL="685800" lvl="1" indent="-238125"/>
            <a:r>
              <a:rPr lang="en-US" i="1" dirty="0"/>
              <a:t>Which of the threats would require the greatest expenditure to prevent?</a:t>
            </a:r>
          </a:p>
          <a:p>
            <a:endParaRPr lang="en-US" dirty="0"/>
          </a:p>
        </p:txBody>
      </p:sp>
    </p:spTree>
    <p:extLst>
      <p:ext uri="{BB962C8B-B14F-4D97-AF65-F5344CB8AC3E}">
        <p14:creationId xmlns:p14="http://schemas.microsoft.com/office/powerpoint/2010/main" val="23097769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 dirty="0"/>
              <a:t>Identifying Threats along with examples</a:t>
            </a:r>
            <a:endParaRPr lang="en-US" dirty="0"/>
          </a:p>
        </p:txBody>
      </p:sp>
      <p:pic>
        <p:nvPicPr>
          <p:cNvPr id="4" name="Google Shape;188;p29"/>
          <p:cNvPicPr preferRelativeResize="0">
            <a:picLocks noGrp="1"/>
          </p:cNvPicPr>
          <p:nvPr>
            <p:ph idx="1"/>
          </p:nvPr>
        </p:nvPicPr>
        <p:blipFill>
          <a:blip r:embed="rId2">
            <a:alphaModFix/>
          </a:blip>
          <a:srcRect b="13196"/>
          <a:stretch/>
        </p:blipFill>
        <p:spPr>
          <a:xfrm>
            <a:off x="463216" y="998621"/>
            <a:ext cx="8217568" cy="4144879"/>
          </a:xfrm>
          <a:prstGeom prst="rect">
            <a:avLst/>
          </a:prstGeom>
          <a:noFill/>
          <a:ln>
            <a:noFill/>
          </a:ln>
        </p:spPr>
      </p:pic>
    </p:spTree>
    <p:extLst>
      <p:ext uri="{BB962C8B-B14F-4D97-AF65-F5344CB8AC3E}">
        <p14:creationId xmlns:p14="http://schemas.microsoft.com/office/powerpoint/2010/main" val="38597501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 dirty="0"/>
              <a:t>Prioritizing Threats</a:t>
            </a:r>
            <a:endParaRPr lang="en-US" dirty="0"/>
          </a:p>
        </p:txBody>
      </p:sp>
      <p:sp>
        <p:nvSpPr>
          <p:cNvPr id="8" name="Google Shape;193;p30"/>
          <p:cNvSpPr txBox="1">
            <a:spLocks/>
          </p:cNvSpPr>
          <p:nvPr/>
        </p:nvSpPr>
        <p:spPr>
          <a:xfrm>
            <a:off x="352471" y="2163598"/>
            <a:ext cx="2074050" cy="2515500"/>
          </a:xfrm>
          <a:prstGeom prst="rect">
            <a:avLst/>
          </a:prstGeom>
        </p:spPr>
        <p:txBody>
          <a:bodyPr spcFirstLastPara="1" vert="horz" wrap="square" lIns="68569" tIns="68569" rIns="68569" bIns="68569" rtlCol="0" anchor="t" anchorCtr="0">
            <a:normAutofit/>
          </a:bodyPr>
          <a:lstStyle>
            <a:lvl1pPr marL="91440" indent="-91440" algn="l" defTabSz="914400" rtl="0" eaLnBrk="1" latinLnBrk="0" hangingPunct="1">
              <a:lnSpc>
                <a:spcPct val="90000"/>
              </a:lnSpc>
              <a:spcBef>
                <a:spcPts val="1200"/>
              </a:spcBef>
              <a:spcAft>
                <a:spcPts val="200"/>
              </a:spcAft>
              <a:buClr>
                <a:schemeClr val="accent3"/>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3"/>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3"/>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3"/>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3"/>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3"/>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3"/>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3"/>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3"/>
              </a:buClr>
              <a:buFont typeface="Wingdings 3" pitchFamily="18" charset="2"/>
              <a:buChar char=""/>
              <a:defRPr sz="1400" kern="1200">
                <a:solidFill>
                  <a:schemeClr val="tx1"/>
                </a:solidFill>
                <a:latin typeface="+mn-lt"/>
                <a:ea typeface="+mn-ea"/>
                <a:cs typeface="+mn-cs"/>
              </a:defRPr>
            </a:lvl9pPr>
          </a:lstStyle>
          <a:p>
            <a:pPr marL="342900" indent="-257175">
              <a:spcBef>
                <a:spcPts val="0"/>
              </a:spcBef>
              <a:spcAft>
                <a:spcPts val="0"/>
              </a:spcAft>
              <a:buSzPts val="1800"/>
              <a:buFont typeface="Tw Cen MT" panose="020B0602020104020603" pitchFamily="34" charset="0"/>
              <a:buChar char="●"/>
            </a:pPr>
            <a:r>
              <a:rPr lang="en-US" sz="1650" dirty="0"/>
              <a:t>See </a:t>
            </a:r>
            <a:r>
              <a:rPr lang="en-US" sz="1650" b="1" dirty="0"/>
              <a:t>OFFLINE</a:t>
            </a:r>
            <a:r>
              <a:rPr lang="en-US" sz="1650" dirty="0"/>
              <a:t> </a:t>
            </a:r>
            <a:r>
              <a:rPr lang="en-US" sz="1650" b="1" dirty="0"/>
              <a:t>Threats to Information Security: Survey of Industry</a:t>
            </a:r>
            <a:r>
              <a:rPr lang="en-US" sz="1650" dirty="0"/>
              <a:t> section pp277-279.</a:t>
            </a:r>
          </a:p>
        </p:txBody>
      </p:sp>
      <p:pic>
        <p:nvPicPr>
          <p:cNvPr id="9" name="Google Shape;196;p30"/>
          <p:cNvPicPr preferRelativeResize="0"/>
          <p:nvPr/>
        </p:nvPicPr>
        <p:blipFill>
          <a:blip r:embed="rId2">
            <a:alphaModFix/>
          </a:blip>
          <a:stretch>
            <a:fillRect/>
          </a:stretch>
        </p:blipFill>
        <p:spPr>
          <a:xfrm>
            <a:off x="2426521" y="1147225"/>
            <a:ext cx="6001705" cy="3890768"/>
          </a:xfrm>
          <a:prstGeom prst="rect">
            <a:avLst/>
          </a:prstGeom>
          <a:noFill/>
          <a:ln>
            <a:noFill/>
          </a:ln>
        </p:spPr>
      </p:pic>
      <p:sp>
        <p:nvSpPr>
          <p:cNvPr id="10" name="Google Shape;197;p30"/>
          <p:cNvSpPr/>
          <p:nvPr/>
        </p:nvSpPr>
        <p:spPr>
          <a:xfrm>
            <a:off x="3171409" y="2527642"/>
            <a:ext cx="5256800" cy="164999"/>
          </a:xfrm>
          <a:prstGeom prst="rect">
            <a:avLst/>
          </a:prstGeom>
          <a:noFill/>
          <a:ln w="9525" cap="flat" cmpd="sng">
            <a:solidFill>
              <a:srgbClr val="FF0000"/>
            </a:solidFill>
            <a:prstDash val="solid"/>
            <a:round/>
            <a:headEnd type="none" w="sm" len="sm"/>
            <a:tailEnd type="none" w="sm" len="sm"/>
          </a:ln>
        </p:spPr>
        <p:txBody>
          <a:bodyPr spcFirstLastPara="1" wrap="square" lIns="68569" tIns="68569" rIns="68569" bIns="68569" anchor="ctr" anchorCtr="0">
            <a:noAutofit/>
          </a:bodyPr>
          <a:lstStyle/>
          <a:p>
            <a:endParaRPr sz="1050"/>
          </a:p>
        </p:txBody>
      </p:sp>
      <p:sp>
        <p:nvSpPr>
          <p:cNvPr id="11" name="Google Shape;198;p30"/>
          <p:cNvSpPr/>
          <p:nvPr/>
        </p:nvSpPr>
        <p:spPr>
          <a:xfrm>
            <a:off x="3171409" y="3358942"/>
            <a:ext cx="5256800" cy="164999"/>
          </a:xfrm>
          <a:prstGeom prst="rect">
            <a:avLst/>
          </a:prstGeom>
          <a:noFill/>
          <a:ln w="9525" cap="flat" cmpd="sng">
            <a:solidFill>
              <a:srgbClr val="FF0000"/>
            </a:solidFill>
            <a:prstDash val="solid"/>
            <a:round/>
            <a:headEnd type="none" w="sm" len="sm"/>
            <a:tailEnd type="none" w="sm" len="sm"/>
          </a:ln>
        </p:spPr>
        <p:txBody>
          <a:bodyPr spcFirstLastPara="1" wrap="square" lIns="68569" tIns="68569" rIns="68569" bIns="68569" anchor="ctr" anchorCtr="0">
            <a:noAutofit/>
          </a:bodyPr>
          <a:lstStyle/>
          <a:p>
            <a:endParaRPr sz="1050"/>
          </a:p>
        </p:txBody>
      </p:sp>
      <p:sp>
        <p:nvSpPr>
          <p:cNvPr id="12" name="Google Shape;199;p30"/>
          <p:cNvSpPr/>
          <p:nvPr/>
        </p:nvSpPr>
        <p:spPr>
          <a:xfrm>
            <a:off x="3171409" y="2716414"/>
            <a:ext cx="5256800" cy="164999"/>
          </a:xfrm>
          <a:prstGeom prst="rect">
            <a:avLst/>
          </a:prstGeom>
          <a:noFill/>
          <a:ln w="9525" cap="flat" cmpd="sng">
            <a:solidFill>
              <a:srgbClr val="FF0000"/>
            </a:solidFill>
            <a:prstDash val="solid"/>
            <a:round/>
            <a:headEnd type="none" w="sm" len="sm"/>
            <a:tailEnd type="none" w="sm" len="sm"/>
          </a:ln>
        </p:spPr>
        <p:txBody>
          <a:bodyPr spcFirstLastPara="1" wrap="square" lIns="68569" tIns="68569" rIns="68569" bIns="68569" anchor="ctr" anchorCtr="0">
            <a:noAutofit/>
          </a:bodyPr>
          <a:lstStyle/>
          <a:p>
            <a:endParaRPr sz="1050"/>
          </a:p>
        </p:txBody>
      </p:sp>
    </p:spTree>
    <p:extLst>
      <p:ext uri="{BB962C8B-B14F-4D97-AF65-F5344CB8AC3E}">
        <p14:creationId xmlns:p14="http://schemas.microsoft.com/office/powerpoint/2010/main" val="1569699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Risk identification</a:t>
            </a:r>
          </a:p>
        </p:txBody>
      </p:sp>
      <p:pic>
        <p:nvPicPr>
          <p:cNvPr id="4" name="Google Shape;183;p28"/>
          <p:cNvPicPr preferRelativeResize="0"/>
          <p:nvPr/>
        </p:nvPicPr>
        <p:blipFill>
          <a:blip r:embed="rId2">
            <a:alphaModFix/>
          </a:blip>
          <a:stretch>
            <a:fillRect/>
          </a:stretch>
        </p:blipFill>
        <p:spPr>
          <a:xfrm>
            <a:off x="1336488" y="1216507"/>
            <a:ext cx="6411733" cy="3867645"/>
          </a:xfrm>
          <a:prstGeom prst="rect">
            <a:avLst/>
          </a:prstGeom>
          <a:noFill/>
          <a:ln>
            <a:noFill/>
          </a:ln>
        </p:spPr>
      </p:pic>
      <p:sp>
        <p:nvSpPr>
          <p:cNvPr id="5" name="Google Shape;184;p28"/>
          <p:cNvSpPr/>
          <p:nvPr/>
        </p:nvSpPr>
        <p:spPr>
          <a:xfrm>
            <a:off x="3717464" y="2360935"/>
            <a:ext cx="516041" cy="187142"/>
          </a:xfrm>
          <a:prstGeom prst="rect">
            <a:avLst/>
          </a:prstGeom>
          <a:noFill/>
          <a:ln w="9525" cap="flat" cmpd="sng">
            <a:solidFill>
              <a:srgbClr val="FF0000"/>
            </a:solidFill>
            <a:prstDash val="solid"/>
            <a:round/>
            <a:headEnd type="none" w="sm" len="sm"/>
            <a:tailEnd type="none" w="sm" len="sm"/>
          </a:ln>
        </p:spPr>
        <p:txBody>
          <a:bodyPr spcFirstLastPara="1" wrap="square" lIns="68569" tIns="68569" rIns="68569" bIns="68569" anchor="ctr" anchorCtr="0">
            <a:noAutofit/>
          </a:bodyPr>
          <a:lstStyle/>
          <a:p>
            <a:endParaRPr sz="1050"/>
          </a:p>
        </p:txBody>
      </p:sp>
      <p:sp>
        <p:nvSpPr>
          <p:cNvPr id="6" name="Google Shape;185;p28"/>
          <p:cNvSpPr/>
          <p:nvPr/>
        </p:nvSpPr>
        <p:spPr>
          <a:xfrm>
            <a:off x="4614787" y="2976373"/>
            <a:ext cx="516041" cy="187142"/>
          </a:xfrm>
          <a:prstGeom prst="rect">
            <a:avLst/>
          </a:prstGeom>
          <a:noFill/>
          <a:ln w="9525" cap="flat" cmpd="sng">
            <a:solidFill>
              <a:srgbClr val="FF0000"/>
            </a:solidFill>
            <a:prstDash val="solid"/>
            <a:round/>
            <a:headEnd type="none" w="sm" len="sm"/>
            <a:tailEnd type="none" w="sm" len="sm"/>
          </a:ln>
        </p:spPr>
        <p:txBody>
          <a:bodyPr spcFirstLastPara="1" wrap="square" lIns="68569" tIns="68569" rIns="68569" bIns="68569" anchor="ctr" anchorCtr="0">
            <a:noAutofit/>
          </a:bodyPr>
          <a:lstStyle/>
          <a:p>
            <a:endParaRPr sz="1050"/>
          </a:p>
        </p:txBody>
      </p:sp>
      <p:sp>
        <p:nvSpPr>
          <p:cNvPr id="7" name="Google Shape;186;p28"/>
          <p:cNvSpPr/>
          <p:nvPr/>
        </p:nvSpPr>
        <p:spPr>
          <a:xfrm>
            <a:off x="5163799" y="3532530"/>
            <a:ext cx="516041" cy="187142"/>
          </a:xfrm>
          <a:prstGeom prst="rect">
            <a:avLst/>
          </a:prstGeom>
          <a:noFill/>
          <a:ln w="9525" cap="flat" cmpd="sng">
            <a:solidFill>
              <a:srgbClr val="FF0000"/>
            </a:solidFill>
            <a:prstDash val="solid"/>
            <a:round/>
            <a:headEnd type="none" w="sm" len="sm"/>
            <a:tailEnd type="none" w="sm" len="sm"/>
          </a:ln>
        </p:spPr>
        <p:txBody>
          <a:bodyPr spcFirstLastPara="1" wrap="square" lIns="68569" tIns="68569" rIns="68569" bIns="68569" anchor="ctr" anchorCtr="0">
            <a:noAutofit/>
          </a:bodyPr>
          <a:lstStyle/>
          <a:p>
            <a:endParaRPr sz="1050"/>
          </a:p>
        </p:txBody>
      </p:sp>
      <p:sp>
        <p:nvSpPr>
          <p:cNvPr id="8" name="Google Shape;187;p28"/>
          <p:cNvSpPr/>
          <p:nvPr/>
        </p:nvSpPr>
        <p:spPr>
          <a:xfrm>
            <a:off x="6029841" y="3890816"/>
            <a:ext cx="1186329" cy="396016"/>
          </a:xfrm>
          <a:prstGeom prst="rect">
            <a:avLst/>
          </a:prstGeom>
          <a:noFill/>
          <a:ln w="9525" cap="flat" cmpd="sng">
            <a:solidFill>
              <a:srgbClr val="FF0000"/>
            </a:solidFill>
            <a:prstDash val="solid"/>
            <a:round/>
            <a:headEnd type="none" w="sm" len="sm"/>
            <a:tailEnd type="none" w="sm" len="sm"/>
          </a:ln>
        </p:spPr>
        <p:txBody>
          <a:bodyPr spcFirstLastPara="1" wrap="square" lIns="68569" tIns="68569" rIns="68569" bIns="68569" anchor="ctr" anchorCtr="0">
            <a:noAutofit/>
          </a:bodyPr>
          <a:lstStyle/>
          <a:p>
            <a:endParaRPr sz="1050"/>
          </a:p>
        </p:txBody>
      </p:sp>
      <p:sp>
        <p:nvSpPr>
          <p:cNvPr id="9" name="Google Shape;188;p28"/>
          <p:cNvSpPr/>
          <p:nvPr/>
        </p:nvSpPr>
        <p:spPr>
          <a:xfrm>
            <a:off x="2341468" y="1787036"/>
            <a:ext cx="566589" cy="175244"/>
          </a:xfrm>
          <a:prstGeom prst="rect">
            <a:avLst/>
          </a:prstGeom>
          <a:noFill/>
          <a:ln w="9525" cap="flat" cmpd="sng">
            <a:solidFill>
              <a:srgbClr val="FF0000"/>
            </a:solidFill>
            <a:prstDash val="solid"/>
            <a:round/>
            <a:headEnd type="none" w="sm" len="sm"/>
            <a:tailEnd type="none" w="sm" len="sm"/>
          </a:ln>
        </p:spPr>
        <p:txBody>
          <a:bodyPr spcFirstLastPara="1" wrap="square" lIns="68569" tIns="68569" rIns="68569" bIns="68569" anchor="ctr" anchorCtr="0">
            <a:noAutofit/>
          </a:bodyPr>
          <a:lstStyle/>
          <a:p>
            <a:endParaRPr sz="1050"/>
          </a:p>
        </p:txBody>
      </p:sp>
    </p:spTree>
    <p:extLst>
      <p:ext uri="{BB962C8B-B14F-4D97-AF65-F5344CB8AC3E}">
        <p14:creationId xmlns:p14="http://schemas.microsoft.com/office/powerpoint/2010/main" val="42213192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 dirty="0"/>
              <a:t>Specifying Asset Vulnerabilities</a:t>
            </a:r>
            <a:endParaRPr lang="en-US" dirty="0"/>
          </a:p>
        </p:txBody>
      </p:sp>
      <p:sp>
        <p:nvSpPr>
          <p:cNvPr id="3" name="Content Placeholder 2"/>
          <p:cNvSpPr>
            <a:spLocks noGrp="1"/>
          </p:cNvSpPr>
          <p:nvPr>
            <p:ph idx="1"/>
          </p:nvPr>
        </p:nvSpPr>
        <p:spPr/>
        <p:txBody>
          <a:bodyPr/>
          <a:lstStyle/>
          <a:p>
            <a:pPr marL="342900" indent="-257175"/>
            <a:r>
              <a:rPr lang="en-US" i="1" dirty="0">
                <a:solidFill>
                  <a:srgbClr val="0000FF"/>
                </a:solidFill>
              </a:rPr>
              <a:t>Review each information asset for each relevant threat and create a list of vulnerabilities</a:t>
            </a:r>
            <a:r>
              <a:rPr lang="en-US" dirty="0"/>
              <a:t>. </a:t>
            </a:r>
            <a:endParaRPr lang="en-US" dirty="0">
              <a:solidFill>
                <a:srgbClr val="FF0000"/>
              </a:solidFill>
            </a:endParaRPr>
          </a:p>
          <a:p>
            <a:pPr marL="342900" indent="0">
              <a:buNone/>
            </a:pPr>
            <a:endParaRPr lang="en-US" dirty="0"/>
          </a:p>
          <a:p>
            <a:pPr marL="342900" indent="-257175"/>
            <a:r>
              <a:rPr lang="en-US" dirty="0"/>
              <a:t>Vulnerabilities are </a:t>
            </a:r>
            <a:r>
              <a:rPr lang="en-US" i="1" dirty="0">
                <a:solidFill>
                  <a:srgbClr val="0000FF"/>
                </a:solidFill>
              </a:rPr>
              <a:t>specific avenues</a:t>
            </a:r>
            <a:r>
              <a:rPr lang="en-US" dirty="0"/>
              <a:t> that threat agents can exploit to attack an information asset. They are chinks in the armor—a flaw or weakness in an information asset, security procedure, design, or control that could be exploited accidentally or on purpose to breach security. </a:t>
            </a:r>
          </a:p>
          <a:p>
            <a:endParaRPr lang="en-US" dirty="0"/>
          </a:p>
        </p:txBody>
      </p:sp>
    </p:spTree>
    <p:extLst>
      <p:ext uri="{BB962C8B-B14F-4D97-AF65-F5344CB8AC3E}">
        <p14:creationId xmlns:p14="http://schemas.microsoft.com/office/powerpoint/2010/main" val="13131275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 dirty="0"/>
              <a:t>Specifying Asset Vulnerabilities</a:t>
            </a:r>
            <a:endParaRPr lang="en-US" dirty="0"/>
          </a:p>
        </p:txBody>
      </p:sp>
      <p:sp>
        <p:nvSpPr>
          <p:cNvPr id="3" name="Content Placeholder 2"/>
          <p:cNvSpPr>
            <a:spLocks noGrp="1"/>
          </p:cNvSpPr>
          <p:nvPr>
            <p:ph idx="1"/>
          </p:nvPr>
        </p:nvSpPr>
        <p:spPr>
          <a:xfrm>
            <a:off x="421106" y="1147225"/>
            <a:ext cx="7649076" cy="932911"/>
          </a:xfrm>
        </p:spPr>
        <p:txBody>
          <a:bodyPr>
            <a:normAutofit fontScale="92500" lnSpcReduction="20000"/>
          </a:bodyPr>
          <a:lstStyle/>
          <a:p>
            <a:pPr lvl="0"/>
            <a:r>
              <a:rPr lang="en-US" u="sng" dirty="0"/>
              <a:t>Example</a:t>
            </a:r>
            <a:r>
              <a:rPr lang="en-US" dirty="0"/>
              <a:t>: asset → </a:t>
            </a:r>
            <a:r>
              <a:rPr lang="en-US" b="1" dirty="0"/>
              <a:t>edge router</a:t>
            </a:r>
            <a:r>
              <a:rPr lang="en-US" dirty="0"/>
              <a:t> in an organization’s DMZ. The threats to the possible vulnerabilities of this router would be analyzed as shown in Table 5-7.</a:t>
            </a:r>
          </a:p>
        </p:txBody>
      </p:sp>
      <p:pic>
        <p:nvPicPr>
          <p:cNvPr id="4" name="Google Shape;214;p32"/>
          <p:cNvPicPr preferRelativeResize="0"/>
          <p:nvPr/>
        </p:nvPicPr>
        <p:blipFill rotWithShape="1">
          <a:blip r:embed="rId2">
            <a:alphaModFix/>
          </a:blip>
          <a:srcRect b="14646"/>
          <a:stretch/>
        </p:blipFill>
        <p:spPr>
          <a:xfrm>
            <a:off x="311700" y="1978525"/>
            <a:ext cx="8038216" cy="3164974"/>
          </a:xfrm>
          <a:prstGeom prst="rect">
            <a:avLst/>
          </a:prstGeom>
          <a:noFill/>
          <a:ln>
            <a:noFill/>
          </a:ln>
        </p:spPr>
      </p:pic>
    </p:spTree>
    <p:extLst>
      <p:ext uri="{BB962C8B-B14F-4D97-AF65-F5344CB8AC3E}">
        <p14:creationId xmlns:p14="http://schemas.microsoft.com/office/powerpoint/2010/main" val="15896006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 dirty="0"/>
              <a:t>Specifying Asset Vulnerabilities</a:t>
            </a:r>
            <a:endParaRPr lang="en-US" dirty="0"/>
          </a:p>
        </p:txBody>
      </p:sp>
      <p:pic>
        <p:nvPicPr>
          <p:cNvPr id="4" name="Google Shape;221;p33"/>
          <p:cNvPicPr preferRelativeResize="0">
            <a:picLocks noGrp="1"/>
          </p:cNvPicPr>
          <p:nvPr>
            <p:ph idx="1"/>
          </p:nvPr>
        </p:nvPicPr>
        <p:blipFill rotWithShape="1">
          <a:blip r:embed="rId2">
            <a:alphaModFix/>
          </a:blip>
          <a:srcRect l="990"/>
          <a:stretch/>
        </p:blipFill>
        <p:spPr>
          <a:xfrm>
            <a:off x="84222" y="1147225"/>
            <a:ext cx="8878184" cy="3906038"/>
          </a:xfrm>
          <a:prstGeom prst="rect">
            <a:avLst/>
          </a:prstGeom>
          <a:noFill/>
          <a:ln>
            <a:noFill/>
          </a:ln>
        </p:spPr>
      </p:pic>
    </p:spTree>
    <p:extLst>
      <p:ext uri="{BB962C8B-B14F-4D97-AF65-F5344CB8AC3E}">
        <p14:creationId xmlns:p14="http://schemas.microsoft.com/office/powerpoint/2010/main" val="38627911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 dirty="0"/>
              <a:t>Specifying Asset Vulnerabilities</a:t>
            </a:r>
            <a:endParaRPr lang="en-US" dirty="0"/>
          </a:p>
        </p:txBody>
      </p:sp>
      <p:pic>
        <p:nvPicPr>
          <p:cNvPr id="4" name="Google Shape;228;p34"/>
          <p:cNvPicPr preferRelativeResize="0">
            <a:picLocks noGrp="1"/>
          </p:cNvPicPr>
          <p:nvPr>
            <p:ph idx="1"/>
          </p:nvPr>
        </p:nvPicPr>
        <p:blipFill>
          <a:blip r:embed="rId2">
            <a:alphaModFix/>
          </a:blip>
          <a:stretch>
            <a:fillRect/>
          </a:stretch>
        </p:blipFill>
        <p:spPr>
          <a:xfrm>
            <a:off x="311700" y="1275347"/>
            <a:ext cx="8520600" cy="3868153"/>
          </a:xfrm>
          <a:prstGeom prst="rect">
            <a:avLst/>
          </a:prstGeom>
          <a:noFill/>
          <a:ln>
            <a:noFill/>
          </a:ln>
        </p:spPr>
      </p:pic>
    </p:spTree>
    <p:extLst>
      <p:ext uri="{BB962C8B-B14F-4D97-AF65-F5344CB8AC3E}">
        <p14:creationId xmlns:p14="http://schemas.microsoft.com/office/powerpoint/2010/main" val="1952864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F5929E-3070-0E9F-3D18-167BBB1456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17CD25-6D75-9808-5D27-EE4AF82303EF}"/>
              </a:ext>
            </a:extLst>
          </p:cNvPr>
          <p:cNvSpPr>
            <a:spLocks noGrp="1"/>
          </p:cNvSpPr>
          <p:nvPr>
            <p:ph type="title"/>
          </p:nvPr>
        </p:nvSpPr>
        <p:spPr>
          <a:xfrm>
            <a:off x="2889849" y="1595887"/>
            <a:ext cx="2950234" cy="2432649"/>
          </a:xfrm>
        </p:spPr>
        <p:txBody>
          <a:bodyPr>
            <a:normAutofit/>
          </a:bodyPr>
          <a:lstStyle/>
          <a:p>
            <a:r>
              <a:rPr lang="en" sz="8000" b="1" dirty="0"/>
              <a:t>THANKS</a:t>
            </a:r>
            <a:endParaRPr lang="en-US" sz="8000" b="1" dirty="0"/>
          </a:p>
        </p:txBody>
      </p:sp>
    </p:spTree>
    <p:extLst>
      <p:ext uri="{BB962C8B-B14F-4D97-AF65-F5344CB8AC3E}">
        <p14:creationId xmlns:p14="http://schemas.microsoft.com/office/powerpoint/2010/main" val="35616764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 dirty="0"/>
              <a:t>TVA Worksheet</a:t>
            </a:r>
            <a:endParaRPr lang="en-US" dirty="0"/>
          </a:p>
        </p:txBody>
      </p:sp>
      <p:sp>
        <p:nvSpPr>
          <p:cNvPr id="3" name="Content Placeholder 2"/>
          <p:cNvSpPr>
            <a:spLocks noGrp="1"/>
          </p:cNvSpPr>
          <p:nvPr>
            <p:ph idx="1"/>
          </p:nvPr>
        </p:nvSpPr>
        <p:spPr/>
        <p:txBody>
          <a:bodyPr/>
          <a:lstStyle/>
          <a:p>
            <a:pPr marL="0" indent="0">
              <a:buNone/>
            </a:pPr>
            <a:r>
              <a:rPr lang="en-US" dirty="0"/>
              <a:t>At the end of the risk identification process, you should have:</a:t>
            </a:r>
          </a:p>
          <a:p>
            <a:pPr marL="342900" indent="-257175"/>
            <a:r>
              <a:rPr lang="en-US" b="1" dirty="0"/>
              <a:t>A</a:t>
            </a:r>
            <a:r>
              <a:rPr lang="en-US" dirty="0"/>
              <a:t> </a:t>
            </a:r>
            <a:r>
              <a:rPr lang="en-US" b="1" dirty="0"/>
              <a:t>prioritized list of assets and their vulnerabilities</a:t>
            </a:r>
            <a:r>
              <a:rPr lang="en-US" dirty="0"/>
              <a:t>, and </a:t>
            </a:r>
          </a:p>
          <a:p>
            <a:pPr marL="342900" indent="-257175"/>
            <a:r>
              <a:rPr lang="en-US" b="1" dirty="0"/>
              <a:t>A list that prioritizes the threats</a:t>
            </a:r>
            <a:r>
              <a:rPr lang="en-US" dirty="0"/>
              <a:t> facing the organization</a:t>
            </a:r>
          </a:p>
          <a:p>
            <a:pPr marL="0" indent="0">
              <a:buNone/>
            </a:pPr>
            <a:r>
              <a:rPr lang="en-US" dirty="0"/>
              <a:t>These two lists can be combined into a </a:t>
            </a:r>
            <a:r>
              <a:rPr lang="en-US" b="1" dirty="0">
                <a:solidFill>
                  <a:srgbClr val="0000FF"/>
                </a:solidFill>
              </a:rPr>
              <a:t>Threats-Vulnerabilities-Assets (TVA) worksheet</a:t>
            </a:r>
            <a:r>
              <a:rPr lang="en-US" dirty="0"/>
              <a:t> → a document that shows a </a:t>
            </a:r>
            <a:r>
              <a:rPr lang="en-US" i="1" dirty="0">
                <a:solidFill>
                  <a:srgbClr val="0000FF"/>
                </a:solidFill>
              </a:rPr>
              <a:t>comparative ranking of prioritized assets against prioritized threats</a:t>
            </a:r>
            <a:r>
              <a:rPr lang="en-US" dirty="0"/>
              <a:t>, with an </a:t>
            </a:r>
            <a:r>
              <a:rPr lang="en-US" i="1" dirty="0">
                <a:solidFill>
                  <a:srgbClr val="0000FF"/>
                </a:solidFill>
              </a:rPr>
              <a:t>indication of any vulnerabilities in the asset/threat pairings</a:t>
            </a:r>
            <a:r>
              <a:rPr lang="en-US" dirty="0"/>
              <a:t>.</a:t>
            </a:r>
          </a:p>
          <a:p>
            <a:endParaRPr lang="en-US" dirty="0"/>
          </a:p>
        </p:txBody>
      </p:sp>
    </p:spTree>
    <p:extLst>
      <p:ext uri="{BB962C8B-B14F-4D97-AF65-F5344CB8AC3E}">
        <p14:creationId xmlns:p14="http://schemas.microsoft.com/office/powerpoint/2010/main" val="30963017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243;p36"/>
          <p:cNvPicPr preferRelativeResize="0"/>
          <p:nvPr/>
        </p:nvPicPr>
        <p:blipFill>
          <a:blip r:embed="rId2">
            <a:alphaModFix/>
          </a:blip>
          <a:stretch>
            <a:fillRect/>
          </a:stretch>
        </p:blipFill>
        <p:spPr>
          <a:xfrm>
            <a:off x="534133" y="0"/>
            <a:ext cx="7847135" cy="4965456"/>
          </a:xfrm>
          <a:prstGeom prst="rect">
            <a:avLst/>
          </a:prstGeom>
          <a:noFill/>
          <a:ln>
            <a:noFill/>
          </a:ln>
        </p:spPr>
      </p:pic>
      <p:sp>
        <p:nvSpPr>
          <p:cNvPr id="5" name="Google Shape;244;p36"/>
          <p:cNvSpPr/>
          <p:nvPr/>
        </p:nvSpPr>
        <p:spPr>
          <a:xfrm>
            <a:off x="1366865" y="309667"/>
            <a:ext cx="719966" cy="332185"/>
          </a:xfrm>
          <a:prstGeom prst="rect">
            <a:avLst/>
          </a:prstGeom>
          <a:noFill/>
          <a:ln w="9525" cap="flat" cmpd="sng">
            <a:solidFill>
              <a:srgbClr val="FF0000"/>
            </a:solidFill>
            <a:prstDash val="solid"/>
            <a:round/>
            <a:headEnd type="none" w="sm" len="sm"/>
            <a:tailEnd type="none" w="sm" len="sm"/>
          </a:ln>
        </p:spPr>
        <p:txBody>
          <a:bodyPr spcFirstLastPara="1" wrap="square" lIns="68569" tIns="68569" rIns="68569" bIns="68569" anchor="ctr" anchorCtr="0">
            <a:noAutofit/>
          </a:bodyPr>
          <a:lstStyle/>
          <a:p>
            <a:endParaRPr sz="1050"/>
          </a:p>
        </p:txBody>
      </p:sp>
    </p:spTree>
    <p:extLst>
      <p:ext uri="{BB962C8B-B14F-4D97-AF65-F5344CB8AC3E}">
        <p14:creationId xmlns:p14="http://schemas.microsoft.com/office/powerpoint/2010/main" val="10619887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 dirty="0"/>
              <a:t>TVA Worksheet</a:t>
            </a:r>
            <a:endParaRPr lang="en-US" dirty="0"/>
          </a:p>
        </p:txBody>
      </p:sp>
      <p:sp>
        <p:nvSpPr>
          <p:cNvPr id="3" name="Content Placeholder 2"/>
          <p:cNvSpPr>
            <a:spLocks noGrp="1"/>
          </p:cNvSpPr>
          <p:nvPr>
            <p:ph idx="1"/>
          </p:nvPr>
        </p:nvSpPr>
        <p:spPr/>
        <p:txBody>
          <a:bodyPr/>
          <a:lstStyle/>
          <a:p>
            <a:pPr marL="0" indent="0">
              <a:buNone/>
            </a:pPr>
            <a:r>
              <a:rPr lang="en-US" dirty="0"/>
              <a:t>Table 5-8 shows :</a:t>
            </a:r>
          </a:p>
          <a:p>
            <a:pPr marL="342900" indent="-257175"/>
            <a:r>
              <a:rPr lang="en-US" dirty="0"/>
              <a:t>the placement of </a:t>
            </a:r>
            <a:r>
              <a:rPr lang="en-US" b="1" dirty="0"/>
              <a:t>assets </a:t>
            </a:r>
            <a:r>
              <a:rPr lang="en-US" dirty="0"/>
              <a:t>along the </a:t>
            </a:r>
            <a:r>
              <a:rPr lang="en-US" b="1" dirty="0"/>
              <a:t>horizontal </a:t>
            </a:r>
            <a:r>
              <a:rPr lang="en-US" dirty="0"/>
              <a:t>axis, with the most important asset at the </a:t>
            </a:r>
            <a:r>
              <a:rPr lang="en-US" i="1" dirty="0">
                <a:solidFill>
                  <a:srgbClr val="0000FF"/>
                </a:solidFill>
              </a:rPr>
              <a:t>left</a:t>
            </a:r>
            <a:r>
              <a:rPr lang="en-US" dirty="0"/>
              <a:t>. </a:t>
            </a:r>
          </a:p>
          <a:p>
            <a:pPr marL="342900" indent="-257175"/>
            <a:r>
              <a:rPr lang="en-US" dirty="0"/>
              <a:t>prioritized list of </a:t>
            </a:r>
            <a:r>
              <a:rPr lang="en-US" b="1" dirty="0"/>
              <a:t>threats </a:t>
            </a:r>
            <a:r>
              <a:rPr lang="en-US" dirty="0"/>
              <a:t>is placed along the </a:t>
            </a:r>
            <a:r>
              <a:rPr lang="en-US" b="1" dirty="0"/>
              <a:t>vertical </a:t>
            </a:r>
            <a:r>
              <a:rPr lang="en-US" dirty="0"/>
              <a:t>axis, with the most important or most dangerous threat listed at the </a:t>
            </a:r>
            <a:r>
              <a:rPr lang="en-US" i="1" dirty="0">
                <a:solidFill>
                  <a:srgbClr val="0000FF"/>
                </a:solidFill>
              </a:rPr>
              <a:t>top</a:t>
            </a:r>
            <a:r>
              <a:rPr lang="en-US" dirty="0"/>
              <a:t>.</a:t>
            </a:r>
          </a:p>
          <a:p>
            <a:pPr marL="342900" indent="0">
              <a:buNone/>
            </a:pPr>
            <a:endParaRPr lang="en-US" dirty="0"/>
          </a:p>
          <a:p>
            <a:pPr marL="342900" indent="-257175"/>
            <a:r>
              <a:rPr lang="en-US" dirty="0"/>
              <a:t>The resulting grid provides a convenient method of determining the </a:t>
            </a:r>
            <a:r>
              <a:rPr lang="en-US" b="1" dirty="0">
                <a:solidFill>
                  <a:srgbClr val="0000FF"/>
                </a:solidFill>
              </a:rPr>
              <a:t>exposure of assets</a:t>
            </a:r>
            <a:r>
              <a:rPr lang="en-US" dirty="0"/>
              <a:t> and allows a </a:t>
            </a:r>
            <a:r>
              <a:rPr lang="en-US" b="1" dirty="0"/>
              <a:t>simplistic vulnerability assessment</a:t>
            </a:r>
            <a:r>
              <a:rPr lang="en-US" dirty="0"/>
              <a:t>.</a:t>
            </a:r>
          </a:p>
          <a:p>
            <a:endParaRPr lang="en-US" dirty="0"/>
          </a:p>
        </p:txBody>
      </p:sp>
    </p:spTree>
    <p:extLst>
      <p:ext uri="{BB962C8B-B14F-4D97-AF65-F5344CB8AC3E}">
        <p14:creationId xmlns:p14="http://schemas.microsoft.com/office/powerpoint/2010/main" val="26794587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 dirty="0"/>
              <a:t>TVA Worksheet</a:t>
            </a:r>
            <a:endParaRPr lang="en-US" dirty="0"/>
          </a:p>
        </p:txBody>
      </p:sp>
      <p:sp>
        <p:nvSpPr>
          <p:cNvPr id="3" name="Content Placeholder 2"/>
          <p:cNvSpPr>
            <a:spLocks noGrp="1"/>
          </p:cNvSpPr>
          <p:nvPr>
            <p:ph idx="1"/>
          </p:nvPr>
        </p:nvSpPr>
        <p:spPr/>
        <p:txBody>
          <a:bodyPr/>
          <a:lstStyle/>
          <a:p>
            <a:pPr marL="342900" indent="-257175"/>
            <a:r>
              <a:rPr lang="en-US" b="1" dirty="0">
                <a:solidFill>
                  <a:srgbClr val="0000FF"/>
                </a:solidFill>
              </a:rPr>
              <a:t>TVA triples</a:t>
            </a:r>
            <a:r>
              <a:rPr lang="en-US" dirty="0"/>
              <a:t> → A </a:t>
            </a:r>
            <a:r>
              <a:rPr lang="en-US" b="1" dirty="0"/>
              <a:t>pairing </a:t>
            </a:r>
            <a:r>
              <a:rPr lang="en-US" dirty="0"/>
              <a:t>of an </a:t>
            </a:r>
            <a:r>
              <a:rPr lang="en-US" b="1" dirty="0"/>
              <a:t>asset </a:t>
            </a:r>
            <a:r>
              <a:rPr lang="en-US" dirty="0"/>
              <a:t>with a </a:t>
            </a:r>
            <a:r>
              <a:rPr lang="en-US" b="1" dirty="0"/>
              <a:t>threat </a:t>
            </a:r>
            <a:r>
              <a:rPr lang="en-US" dirty="0"/>
              <a:t>and an identification of </a:t>
            </a:r>
            <a:r>
              <a:rPr lang="en-US" b="1" dirty="0"/>
              <a:t>vulnerabilities </a:t>
            </a:r>
            <a:r>
              <a:rPr lang="en-US" dirty="0"/>
              <a:t>that exist between the two. </a:t>
            </a:r>
          </a:p>
          <a:p>
            <a:pPr marL="342900" indent="-257175"/>
            <a:r>
              <a:rPr lang="en-US" dirty="0"/>
              <a:t>This pairing is often expressed in the format </a:t>
            </a:r>
            <a:r>
              <a:rPr lang="en-US" dirty="0" err="1">
                <a:solidFill>
                  <a:srgbClr val="0000FF"/>
                </a:solidFill>
              </a:rPr>
              <a:t>T</a:t>
            </a:r>
            <a:r>
              <a:rPr lang="en-US" baseline="-25000" dirty="0" err="1">
                <a:solidFill>
                  <a:srgbClr val="0000FF"/>
                </a:solidFill>
              </a:rPr>
              <a:t>x</a:t>
            </a:r>
            <a:r>
              <a:rPr lang="en-US" dirty="0" err="1">
                <a:solidFill>
                  <a:srgbClr val="0000FF"/>
                </a:solidFill>
              </a:rPr>
              <a:t>V</a:t>
            </a:r>
            <a:r>
              <a:rPr lang="en-US" baseline="-25000" dirty="0" err="1">
                <a:solidFill>
                  <a:srgbClr val="0000FF"/>
                </a:solidFill>
              </a:rPr>
              <a:t>y</a:t>
            </a:r>
            <a:r>
              <a:rPr lang="en-US" dirty="0" err="1">
                <a:solidFill>
                  <a:srgbClr val="0000FF"/>
                </a:solidFill>
              </a:rPr>
              <a:t>A</a:t>
            </a:r>
            <a:r>
              <a:rPr lang="en-US" baseline="-25000" dirty="0" err="1">
                <a:solidFill>
                  <a:srgbClr val="0000FF"/>
                </a:solidFill>
              </a:rPr>
              <a:t>z</a:t>
            </a:r>
            <a:r>
              <a:rPr lang="en-US" dirty="0"/>
              <a:t>, where there may be one or more vulnerabilities between Threat X and Asset Z. </a:t>
            </a:r>
          </a:p>
          <a:p>
            <a:pPr marL="685800" lvl="1" indent="-238125"/>
            <a:r>
              <a:rPr lang="en-US" u="sng" dirty="0"/>
              <a:t>Example</a:t>
            </a:r>
            <a:r>
              <a:rPr lang="en-US" dirty="0"/>
              <a:t>: T1V1A2 would represent Threat 1 to Vulnerability 1 on Asset 2.</a:t>
            </a:r>
          </a:p>
          <a:p>
            <a:pPr marL="342900" indent="0">
              <a:buNone/>
            </a:pPr>
            <a:endParaRPr lang="en-US" dirty="0"/>
          </a:p>
          <a:p>
            <a:pPr marL="342900" indent="-257175"/>
            <a:r>
              <a:rPr lang="en-US" dirty="0"/>
              <a:t>Because not all threats pose a risk to all assets, there may or may not be a vulnerability between Threat X and Asset Z.</a:t>
            </a:r>
          </a:p>
          <a:p>
            <a:endParaRPr lang="en-US" dirty="0"/>
          </a:p>
        </p:txBody>
      </p:sp>
    </p:spTree>
    <p:extLst>
      <p:ext uri="{BB962C8B-B14F-4D97-AF65-F5344CB8AC3E}">
        <p14:creationId xmlns:p14="http://schemas.microsoft.com/office/powerpoint/2010/main" val="16804082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 dirty="0"/>
              <a:t>TVA Worksheet</a:t>
            </a:r>
            <a:endParaRPr lang="en-US" dirty="0"/>
          </a:p>
        </p:txBody>
      </p:sp>
      <p:sp>
        <p:nvSpPr>
          <p:cNvPr id="3" name="Content Placeholder 2"/>
          <p:cNvSpPr>
            <a:spLocks noGrp="1"/>
          </p:cNvSpPr>
          <p:nvPr>
            <p:ph idx="1"/>
          </p:nvPr>
        </p:nvSpPr>
        <p:spPr/>
        <p:txBody>
          <a:bodyPr/>
          <a:lstStyle/>
          <a:p>
            <a:pPr marL="0" indent="0">
              <a:buNone/>
            </a:pPr>
            <a:r>
              <a:rPr lang="en-US" u="sng" dirty="0"/>
              <a:t>Example</a:t>
            </a:r>
            <a:r>
              <a:rPr lang="en-US" dirty="0"/>
              <a:t>: </a:t>
            </a:r>
          </a:p>
          <a:p>
            <a:pPr marL="342900" indent="-257175"/>
            <a:r>
              <a:rPr lang="en-US" dirty="0"/>
              <a:t>If a pharmaceutical company’s most important asset is its research and development database, which resides on a stand-alone network that is not connected to the Internet, then the database may have no vulnerability to external hackers. </a:t>
            </a:r>
          </a:p>
          <a:p>
            <a:pPr marL="342900" indent="0">
              <a:buNone/>
            </a:pPr>
            <a:endParaRPr lang="en-US" dirty="0"/>
          </a:p>
          <a:p>
            <a:pPr marL="342900" indent="-257175"/>
            <a:r>
              <a:rPr lang="en-US" dirty="0"/>
              <a:t>If the intersection of threat 1 and asset 1 has no vulnerability, then the risk assessment team simply crosses out that box. </a:t>
            </a:r>
          </a:p>
          <a:p>
            <a:endParaRPr lang="en-US" dirty="0"/>
          </a:p>
        </p:txBody>
      </p:sp>
    </p:spTree>
    <p:extLst>
      <p:ext uri="{BB962C8B-B14F-4D97-AF65-F5344CB8AC3E}">
        <p14:creationId xmlns:p14="http://schemas.microsoft.com/office/powerpoint/2010/main" val="24205254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 dirty="0"/>
              <a:t>TVA Worksheet</a:t>
            </a:r>
            <a:endParaRPr lang="en-US" dirty="0"/>
          </a:p>
        </p:txBody>
      </p:sp>
      <p:sp>
        <p:nvSpPr>
          <p:cNvPr id="3" name="Content Placeholder 2"/>
          <p:cNvSpPr>
            <a:spLocks noGrp="1"/>
          </p:cNvSpPr>
          <p:nvPr>
            <p:ph idx="1"/>
          </p:nvPr>
        </p:nvSpPr>
        <p:spPr/>
        <p:txBody>
          <a:bodyPr/>
          <a:lstStyle/>
          <a:p>
            <a:pPr marL="0" indent="0">
              <a:buNone/>
            </a:pPr>
            <a:r>
              <a:rPr lang="en-US" u="sng" dirty="0"/>
              <a:t>Example (cont’d)</a:t>
            </a:r>
            <a:r>
              <a:rPr lang="en-US" dirty="0"/>
              <a:t>: </a:t>
            </a:r>
          </a:p>
          <a:p>
            <a:pPr marL="342900" indent="-257175"/>
            <a:r>
              <a:rPr lang="en-US" dirty="0"/>
              <a:t>It is much more likely, however, that one or more vulnerabilities exist between the two.</a:t>
            </a:r>
          </a:p>
          <a:p>
            <a:pPr marL="685800" lvl="1" indent="-257175">
              <a:buSzPts val="1800"/>
            </a:pPr>
            <a:r>
              <a:rPr lang="en-US" dirty="0"/>
              <a:t>T1V1A1—Vulnerability 1 that exists between Threat 1 and Asset 1</a:t>
            </a:r>
          </a:p>
          <a:p>
            <a:pPr marL="685800" lvl="1" indent="-257175">
              <a:buSzPts val="1800"/>
            </a:pPr>
            <a:r>
              <a:rPr lang="en-US" dirty="0"/>
              <a:t>T1V2A1—Vulnerability 2 that exists between Threat 1 and Asset 1</a:t>
            </a:r>
          </a:p>
          <a:p>
            <a:pPr marL="685800" lvl="1" indent="-257175">
              <a:buSzPts val="1800"/>
            </a:pPr>
            <a:r>
              <a:rPr lang="en-US" dirty="0"/>
              <a:t>T2V1A1—Vulnerability 1 that exists between Threat 2 and Asset 1 and so on…</a:t>
            </a:r>
          </a:p>
          <a:p>
            <a:endParaRPr lang="en-US" dirty="0"/>
          </a:p>
        </p:txBody>
      </p:sp>
    </p:spTree>
    <p:extLst>
      <p:ext uri="{BB962C8B-B14F-4D97-AF65-F5344CB8AC3E}">
        <p14:creationId xmlns:p14="http://schemas.microsoft.com/office/powerpoint/2010/main" val="306388478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Connection between </a:t>
            </a:r>
            <a:r>
              <a:rPr lang="en-US"/>
              <a:t>identification and </a:t>
            </a:r>
            <a:r>
              <a:rPr lang="en-US" dirty="0"/>
              <a:t>assessment</a:t>
            </a:r>
          </a:p>
        </p:txBody>
      </p:sp>
      <p:sp>
        <p:nvSpPr>
          <p:cNvPr id="3" name="Content Placeholder 2"/>
          <p:cNvSpPr>
            <a:spLocks noGrp="1"/>
          </p:cNvSpPr>
          <p:nvPr>
            <p:ph idx="1"/>
          </p:nvPr>
        </p:nvSpPr>
        <p:spPr/>
        <p:txBody>
          <a:bodyPr/>
          <a:lstStyle/>
          <a:p>
            <a:pPr marL="342900" indent="-257175"/>
            <a:r>
              <a:rPr lang="en-US" dirty="0"/>
              <a:t>In the </a:t>
            </a:r>
            <a:r>
              <a:rPr lang="en-US" b="1" dirty="0"/>
              <a:t>risk assessment phase</a:t>
            </a:r>
            <a:r>
              <a:rPr lang="en-US" dirty="0"/>
              <a:t>, the assessment team </a:t>
            </a:r>
            <a:r>
              <a:rPr lang="en-US" b="1" dirty="0"/>
              <a:t>examines </a:t>
            </a:r>
            <a:r>
              <a:rPr lang="en-US" dirty="0"/>
              <a:t>not only vulnerabilities but any</a:t>
            </a:r>
            <a:r>
              <a:rPr lang="en-US" b="1" dirty="0"/>
              <a:t> existing controls</a:t>
            </a:r>
            <a:r>
              <a:rPr lang="en-US" dirty="0"/>
              <a:t> that protect the asset or mitigate possible losses. </a:t>
            </a:r>
          </a:p>
          <a:p>
            <a:pPr marL="342900" indent="0">
              <a:buNone/>
            </a:pPr>
            <a:endParaRPr lang="en-US" dirty="0"/>
          </a:p>
          <a:p>
            <a:pPr marL="342900" indent="-257175"/>
            <a:r>
              <a:rPr lang="en-US" b="1" dirty="0"/>
              <a:t>Cataloging and categorizing these controls</a:t>
            </a:r>
            <a:r>
              <a:rPr lang="en-US" dirty="0"/>
              <a:t> is the next step in the TVA spreadsheet.</a:t>
            </a:r>
          </a:p>
          <a:p>
            <a:endParaRPr lang="en-US" dirty="0"/>
          </a:p>
        </p:txBody>
      </p:sp>
    </p:spTree>
    <p:extLst>
      <p:ext uri="{BB962C8B-B14F-4D97-AF65-F5344CB8AC3E}">
        <p14:creationId xmlns:p14="http://schemas.microsoft.com/office/powerpoint/2010/main" val="3375829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Week 13-Agenda</a:t>
            </a:r>
          </a:p>
        </p:txBody>
      </p:sp>
      <p:sp>
        <p:nvSpPr>
          <p:cNvPr id="3" name="Content Placeholder 2"/>
          <p:cNvSpPr>
            <a:spLocks noGrp="1"/>
          </p:cNvSpPr>
          <p:nvPr>
            <p:ph idx="1"/>
          </p:nvPr>
        </p:nvSpPr>
        <p:spPr>
          <a:xfrm>
            <a:off x="768096" y="1522705"/>
            <a:ext cx="4596384" cy="3017520"/>
          </a:xfrm>
        </p:spPr>
        <p:txBody>
          <a:bodyPr>
            <a:noAutofit/>
          </a:bodyPr>
          <a:lstStyle/>
          <a:p>
            <a:pPr marL="342900">
              <a:buFont typeface="+mj-lt"/>
              <a:buAutoNum type="arabicPeriod"/>
            </a:pPr>
            <a:r>
              <a:rPr lang="en-US" dirty="0"/>
              <a:t>Risk Management</a:t>
            </a:r>
          </a:p>
          <a:p>
            <a:pPr marL="473202" lvl="1" indent="-342900">
              <a:buFont typeface="+mj-lt"/>
              <a:buAutoNum type="alphaLcParenR"/>
            </a:pPr>
            <a:r>
              <a:rPr lang="en-US" sz="1650" dirty="0">
                <a:solidFill>
                  <a:schemeClr val="bg1">
                    <a:lumMod val="95000"/>
                  </a:schemeClr>
                </a:solidFill>
              </a:rPr>
              <a:t>Risk Identification</a:t>
            </a:r>
          </a:p>
          <a:p>
            <a:pPr marL="473202" lvl="1" indent="-342900">
              <a:buFont typeface="+mj-lt"/>
              <a:buAutoNum type="alphaLcParenR"/>
            </a:pPr>
            <a:r>
              <a:rPr lang="en-US" sz="1650" dirty="0"/>
              <a:t>Risk Assessment</a:t>
            </a:r>
          </a:p>
          <a:p>
            <a:pPr marL="473202" lvl="1" indent="-342900">
              <a:buFont typeface="+mj-lt"/>
              <a:buAutoNum type="alphaLcParenR"/>
            </a:pPr>
            <a:r>
              <a:rPr lang="en-US" sz="1650" dirty="0">
                <a:solidFill>
                  <a:schemeClr val="bg1">
                    <a:lumMod val="95000"/>
                  </a:schemeClr>
                </a:solidFill>
              </a:rPr>
              <a:t>Risk Control</a:t>
            </a:r>
          </a:p>
          <a:p>
            <a:pPr marL="342900">
              <a:buFont typeface="+mj-lt"/>
              <a:buAutoNum type="arabicPeriod"/>
            </a:pPr>
            <a:endParaRPr lang="en-US" sz="1650" dirty="0"/>
          </a:p>
        </p:txBody>
      </p:sp>
      <p:pic>
        <p:nvPicPr>
          <p:cNvPr id="5122" name="Picture 2" descr="Agenda List Concept Vector Illustration Stok Vektör Sanatı &amp; Kişisel  Ajanda'nin Daha Fazla Görseli - Kişisel Ajanda, Toplantı, İş Toplantısı -  iStoc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94522" y="1522705"/>
            <a:ext cx="2946559" cy="33769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558959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1" algn="l" rtl="0">
              <a:lnSpc>
                <a:spcPct val="80000"/>
              </a:lnSpc>
              <a:spcBef>
                <a:spcPct val="0"/>
              </a:spcBef>
            </a:pPr>
            <a:r>
              <a:rPr lang="en-US" sz="3750" kern="1200" cap="all" spc="75" dirty="0">
                <a:solidFill>
                  <a:schemeClr val="tx1">
                    <a:lumMod val="95000"/>
                    <a:lumOff val="5000"/>
                  </a:schemeClr>
                </a:solidFill>
                <a:latin typeface="+mj-lt"/>
                <a:ea typeface="+mj-ea"/>
                <a:cs typeface="+mj-cs"/>
              </a:rPr>
              <a:t>Risk Assessment</a:t>
            </a:r>
          </a:p>
        </p:txBody>
      </p:sp>
      <p:sp>
        <p:nvSpPr>
          <p:cNvPr id="3" name="Content Placeholder 2"/>
          <p:cNvSpPr>
            <a:spLocks noGrp="1"/>
          </p:cNvSpPr>
          <p:nvPr>
            <p:ph idx="1"/>
          </p:nvPr>
        </p:nvSpPr>
        <p:spPr/>
        <p:txBody>
          <a:bodyPr/>
          <a:lstStyle/>
          <a:p>
            <a:pPr marL="342900" indent="-257175"/>
            <a:r>
              <a:rPr lang="en-US" dirty="0"/>
              <a:t>In this stage, we </a:t>
            </a:r>
            <a:r>
              <a:rPr lang="en-US" b="1" dirty="0"/>
              <a:t>evaluate the relative risk for each vulnerability</a:t>
            </a:r>
            <a:r>
              <a:rPr lang="en-US" dirty="0"/>
              <a:t>.</a:t>
            </a:r>
            <a:r>
              <a:rPr lang="en-US" dirty="0">
                <a:solidFill>
                  <a:srgbClr val="FF0000"/>
                </a:solidFill>
              </a:rPr>
              <a:t>*</a:t>
            </a:r>
            <a:r>
              <a:rPr lang="en-US" dirty="0"/>
              <a:t> </a:t>
            </a:r>
          </a:p>
          <a:p>
            <a:pPr marL="342900" indent="0">
              <a:buNone/>
            </a:pPr>
            <a:endParaRPr lang="en-US" dirty="0"/>
          </a:p>
          <a:p>
            <a:pPr marL="342900" indent="-257175"/>
            <a:r>
              <a:rPr lang="en-US" dirty="0"/>
              <a:t>Risk assessment </a:t>
            </a:r>
            <a:r>
              <a:rPr lang="en-US" i="1" dirty="0">
                <a:solidFill>
                  <a:srgbClr val="0000FF"/>
                </a:solidFill>
              </a:rPr>
              <a:t>assigns a risk rating or score to each information asset</a:t>
            </a:r>
            <a:r>
              <a:rPr lang="en-US" dirty="0"/>
              <a:t>. </a:t>
            </a:r>
            <a:r>
              <a:rPr lang="en-US" dirty="0">
                <a:solidFill>
                  <a:srgbClr val="FF0000"/>
                </a:solidFill>
              </a:rPr>
              <a:t>*</a:t>
            </a:r>
            <a:endParaRPr lang="en-US" dirty="0"/>
          </a:p>
          <a:p>
            <a:pPr marL="342900" indent="0">
              <a:buNone/>
            </a:pPr>
            <a:endParaRPr lang="en-US" dirty="0"/>
          </a:p>
          <a:p>
            <a:pPr marL="342900" indent="-257175"/>
            <a:r>
              <a:rPr lang="en-US" dirty="0"/>
              <a:t>While this number does not mean anything in absolute terms, it is useful in gauging the relative risk to each vulnerable information asset and it facilitates the development of comparative ratings later in the risk control process.</a:t>
            </a:r>
          </a:p>
          <a:p>
            <a:endParaRPr lang="en-US" dirty="0"/>
          </a:p>
        </p:txBody>
      </p:sp>
    </p:spTree>
    <p:extLst>
      <p:ext uri="{BB962C8B-B14F-4D97-AF65-F5344CB8AC3E}">
        <p14:creationId xmlns:p14="http://schemas.microsoft.com/office/powerpoint/2010/main" val="30658428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311;p45"/>
          <p:cNvPicPr preferRelativeResize="0"/>
          <p:nvPr/>
        </p:nvPicPr>
        <p:blipFill>
          <a:blip r:embed="rId2">
            <a:alphaModFix/>
          </a:blip>
          <a:stretch>
            <a:fillRect/>
          </a:stretch>
        </p:blipFill>
        <p:spPr>
          <a:xfrm>
            <a:off x="1434523" y="1028831"/>
            <a:ext cx="5825315" cy="4131414"/>
          </a:xfrm>
          <a:prstGeom prst="rect">
            <a:avLst/>
          </a:prstGeom>
          <a:noFill/>
          <a:ln>
            <a:noFill/>
          </a:ln>
        </p:spPr>
      </p:pic>
      <p:sp>
        <p:nvSpPr>
          <p:cNvPr id="5" name="Google Shape;312;p45"/>
          <p:cNvSpPr/>
          <p:nvPr/>
        </p:nvSpPr>
        <p:spPr>
          <a:xfrm>
            <a:off x="3328048" y="2275010"/>
            <a:ext cx="794044" cy="212214"/>
          </a:xfrm>
          <a:prstGeom prst="rect">
            <a:avLst/>
          </a:prstGeom>
          <a:noFill/>
          <a:ln w="9525" cap="flat" cmpd="sng">
            <a:solidFill>
              <a:srgbClr val="FF0000"/>
            </a:solidFill>
            <a:prstDash val="solid"/>
            <a:round/>
            <a:headEnd type="none" w="sm" len="sm"/>
            <a:tailEnd type="none" w="sm" len="sm"/>
          </a:ln>
        </p:spPr>
        <p:txBody>
          <a:bodyPr spcFirstLastPara="1" wrap="square" lIns="68569" tIns="68569" rIns="68569" bIns="68569" anchor="ctr" anchorCtr="0">
            <a:noAutofit/>
          </a:bodyPr>
          <a:lstStyle/>
          <a:p>
            <a:endParaRPr sz="1050"/>
          </a:p>
        </p:txBody>
      </p:sp>
      <p:sp>
        <p:nvSpPr>
          <p:cNvPr id="6" name="Google Shape;313;p45"/>
          <p:cNvSpPr/>
          <p:nvPr/>
        </p:nvSpPr>
        <p:spPr>
          <a:xfrm>
            <a:off x="4393342" y="2886711"/>
            <a:ext cx="555587" cy="261553"/>
          </a:xfrm>
          <a:prstGeom prst="rect">
            <a:avLst/>
          </a:prstGeom>
          <a:noFill/>
          <a:ln w="9525" cap="flat" cmpd="sng">
            <a:solidFill>
              <a:srgbClr val="FF0000"/>
            </a:solidFill>
            <a:prstDash val="solid"/>
            <a:round/>
            <a:headEnd type="none" w="sm" len="sm"/>
            <a:tailEnd type="none" w="sm" len="sm"/>
          </a:ln>
        </p:spPr>
        <p:txBody>
          <a:bodyPr spcFirstLastPara="1" wrap="square" lIns="68569" tIns="68569" rIns="68569" bIns="68569" anchor="ctr" anchorCtr="0">
            <a:noAutofit/>
          </a:bodyPr>
          <a:lstStyle/>
          <a:p>
            <a:endParaRPr sz="1050"/>
          </a:p>
        </p:txBody>
      </p:sp>
      <p:sp>
        <p:nvSpPr>
          <p:cNvPr id="7" name="Google Shape;314;p45"/>
          <p:cNvSpPr/>
          <p:nvPr/>
        </p:nvSpPr>
        <p:spPr>
          <a:xfrm>
            <a:off x="4613209" y="3360090"/>
            <a:ext cx="1026425" cy="314248"/>
          </a:xfrm>
          <a:prstGeom prst="rect">
            <a:avLst/>
          </a:prstGeom>
          <a:noFill/>
          <a:ln w="9525" cap="flat" cmpd="sng">
            <a:solidFill>
              <a:srgbClr val="FF0000"/>
            </a:solidFill>
            <a:prstDash val="solid"/>
            <a:round/>
            <a:headEnd type="none" w="sm" len="sm"/>
            <a:tailEnd type="none" w="sm" len="sm"/>
          </a:ln>
        </p:spPr>
        <p:txBody>
          <a:bodyPr spcFirstLastPara="1" wrap="square" lIns="68569" tIns="68569" rIns="68569" bIns="68569" anchor="ctr" anchorCtr="0">
            <a:noAutofit/>
          </a:bodyPr>
          <a:lstStyle/>
          <a:p>
            <a:endParaRPr sz="1050"/>
          </a:p>
        </p:txBody>
      </p:sp>
      <p:sp>
        <p:nvSpPr>
          <p:cNvPr id="8" name="Google Shape;315;p45"/>
          <p:cNvSpPr/>
          <p:nvPr/>
        </p:nvSpPr>
        <p:spPr>
          <a:xfrm>
            <a:off x="5755426" y="3913208"/>
            <a:ext cx="1026425" cy="426804"/>
          </a:xfrm>
          <a:prstGeom prst="rect">
            <a:avLst/>
          </a:prstGeom>
          <a:noFill/>
          <a:ln w="9525" cap="flat" cmpd="sng">
            <a:solidFill>
              <a:srgbClr val="FF0000"/>
            </a:solidFill>
            <a:prstDash val="solid"/>
            <a:round/>
            <a:headEnd type="none" w="sm" len="sm"/>
            <a:tailEnd type="none" w="sm" len="sm"/>
          </a:ln>
        </p:spPr>
        <p:txBody>
          <a:bodyPr spcFirstLastPara="1" wrap="square" lIns="68569" tIns="68569" rIns="68569" bIns="68569" anchor="ctr" anchorCtr="0">
            <a:noAutofit/>
          </a:bodyPr>
          <a:lstStyle/>
          <a:p>
            <a:endParaRPr sz="1050"/>
          </a:p>
        </p:txBody>
      </p:sp>
    </p:spTree>
    <p:extLst>
      <p:ext uri="{BB962C8B-B14F-4D97-AF65-F5344CB8AC3E}">
        <p14:creationId xmlns:p14="http://schemas.microsoft.com/office/powerpoint/2010/main" val="4356401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 dirty="0"/>
              <a:t>Planning and Organizing Risk Assessment</a:t>
            </a:r>
            <a:endParaRPr lang="en-US" dirty="0"/>
          </a:p>
        </p:txBody>
      </p:sp>
      <p:pic>
        <p:nvPicPr>
          <p:cNvPr id="4" name="Google Shape;322;p46"/>
          <p:cNvPicPr preferRelativeResize="0"/>
          <p:nvPr/>
        </p:nvPicPr>
        <p:blipFill>
          <a:blip r:embed="rId2">
            <a:alphaModFix/>
          </a:blip>
          <a:stretch>
            <a:fillRect/>
          </a:stretch>
        </p:blipFill>
        <p:spPr>
          <a:xfrm>
            <a:off x="1464195" y="1635919"/>
            <a:ext cx="5907881" cy="2814638"/>
          </a:xfrm>
          <a:prstGeom prst="rect">
            <a:avLst/>
          </a:prstGeom>
          <a:noFill/>
          <a:ln>
            <a:noFill/>
          </a:ln>
        </p:spPr>
      </p:pic>
      <p:sp>
        <p:nvSpPr>
          <p:cNvPr id="5" name="Google Shape;323;p46"/>
          <p:cNvSpPr/>
          <p:nvPr/>
        </p:nvSpPr>
        <p:spPr>
          <a:xfrm>
            <a:off x="1794053" y="2353538"/>
            <a:ext cx="5360625" cy="295200"/>
          </a:xfrm>
          <a:prstGeom prst="rect">
            <a:avLst/>
          </a:prstGeom>
          <a:noFill/>
          <a:ln w="9525" cap="flat" cmpd="sng">
            <a:solidFill>
              <a:srgbClr val="FF0000"/>
            </a:solidFill>
            <a:prstDash val="solid"/>
            <a:round/>
            <a:headEnd type="none" w="sm" len="sm"/>
            <a:tailEnd type="none" w="sm" len="sm"/>
          </a:ln>
        </p:spPr>
        <p:txBody>
          <a:bodyPr spcFirstLastPara="1" wrap="square" lIns="68569" tIns="68569" rIns="68569" bIns="68569" anchor="ctr" anchorCtr="0">
            <a:noAutofit/>
          </a:bodyPr>
          <a:lstStyle/>
          <a:p>
            <a:endParaRPr sz="1050"/>
          </a:p>
        </p:txBody>
      </p:sp>
    </p:spTree>
    <p:extLst>
      <p:ext uri="{BB962C8B-B14F-4D97-AF65-F5344CB8AC3E}">
        <p14:creationId xmlns:p14="http://schemas.microsoft.com/office/powerpoint/2010/main" val="13822737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311;p45"/>
          <p:cNvPicPr preferRelativeResize="0"/>
          <p:nvPr/>
        </p:nvPicPr>
        <p:blipFill>
          <a:blip r:embed="rId2">
            <a:alphaModFix/>
          </a:blip>
          <a:stretch>
            <a:fillRect/>
          </a:stretch>
        </p:blipFill>
        <p:spPr>
          <a:xfrm>
            <a:off x="1434523" y="1028831"/>
            <a:ext cx="5825315" cy="4131414"/>
          </a:xfrm>
          <a:prstGeom prst="rect">
            <a:avLst/>
          </a:prstGeom>
          <a:noFill/>
          <a:ln>
            <a:noFill/>
          </a:ln>
        </p:spPr>
      </p:pic>
      <p:sp>
        <p:nvSpPr>
          <p:cNvPr id="5" name="Google Shape;312;p45"/>
          <p:cNvSpPr/>
          <p:nvPr/>
        </p:nvSpPr>
        <p:spPr>
          <a:xfrm>
            <a:off x="3328048" y="2275010"/>
            <a:ext cx="794044" cy="212214"/>
          </a:xfrm>
          <a:prstGeom prst="rect">
            <a:avLst/>
          </a:prstGeom>
          <a:noFill/>
          <a:ln w="9525" cap="flat" cmpd="sng">
            <a:solidFill>
              <a:srgbClr val="FF0000"/>
            </a:solidFill>
            <a:prstDash val="solid"/>
            <a:round/>
            <a:headEnd type="none" w="sm" len="sm"/>
            <a:tailEnd type="none" w="sm" len="sm"/>
          </a:ln>
        </p:spPr>
        <p:txBody>
          <a:bodyPr spcFirstLastPara="1" wrap="square" lIns="68569" tIns="68569" rIns="68569" bIns="68569" anchor="ctr" anchorCtr="0">
            <a:noAutofit/>
          </a:bodyPr>
          <a:lstStyle/>
          <a:p>
            <a:endParaRPr sz="1050"/>
          </a:p>
        </p:txBody>
      </p:sp>
      <p:sp>
        <p:nvSpPr>
          <p:cNvPr id="6" name="Google Shape;313;p45"/>
          <p:cNvSpPr/>
          <p:nvPr/>
        </p:nvSpPr>
        <p:spPr>
          <a:xfrm>
            <a:off x="4393342" y="2886711"/>
            <a:ext cx="555587" cy="261553"/>
          </a:xfrm>
          <a:prstGeom prst="rect">
            <a:avLst/>
          </a:prstGeom>
          <a:noFill/>
          <a:ln w="9525" cap="flat" cmpd="sng">
            <a:solidFill>
              <a:srgbClr val="FF0000"/>
            </a:solidFill>
            <a:prstDash val="solid"/>
            <a:round/>
            <a:headEnd type="none" w="sm" len="sm"/>
            <a:tailEnd type="none" w="sm" len="sm"/>
          </a:ln>
        </p:spPr>
        <p:txBody>
          <a:bodyPr spcFirstLastPara="1" wrap="square" lIns="68569" tIns="68569" rIns="68569" bIns="68569" anchor="ctr" anchorCtr="0">
            <a:noAutofit/>
          </a:bodyPr>
          <a:lstStyle/>
          <a:p>
            <a:endParaRPr sz="1050"/>
          </a:p>
        </p:txBody>
      </p:sp>
      <p:sp>
        <p:nvSpPr>
          <p:cNvPr id="7" name="Google Shape;314;p45"/>
          <p:cNvSpPr/>
          <p:nvPr/>
        </p:nvSpPr>
        <p:spPr>
          <a:xfrm>
            <a:off x="4613209" y="3360090"/>
            <a:ext cx="1026425" cy="314248"/>
          </a:xfrm>
          <a:prstGeom prst="rect">
            <a:avLst/>
          </a:prstGeom>
          <a:noFill/>
          <a:ln w="9525" cap="flat" cmpd="sng">
            <a:solidFill>
              <a:srgbClr val="FF0000"/>
            </a:solidFill>
            <a:prstDash val="solid"/>
            <a:round/>
            <a:headEnd type="none" w="sm" len="sm"/>
            <a:tailEnd type="none" w="sm" len="sm"/>
          </a:ln>
        </p:spPr>
        <p:txBody>
          <a:bodyPr spcFirstLastPara="1" wrap="square" lIns="68569" tIns="68569" rIns="68569" bIns="68569" anchor="ctr" anchorCtr="0">
            <a:noAutofit/>
          </a:bodyPr>
          <a:lstStyle/>
          <a:p>
            <a:endParaRPr sz="1050"/>
          </a:p>
        </p:txBody>
      </p:sp>
      <p:sp>
        <p:nvSpPr>
          <p:cNvPr id="8" name="Google Shape;315;p45"/>
          <p:cNvSpPr/>
          <p:nvPr/>
        </p:nvSpPr>
        <p:spPr>
          <a:xfrm>
            <a:off x="5755426" y="3913208"/>
            <a:ext cx="1026425" cy="426804"/>
          </a:xfrm>
          <a:prstGeom prst="rect">
            <a:avLst/>
          </a:prstGeom>
          <a:noFill/>
          <a:ln w="9525" cap="flat" cmpd="sng">
            <a:solidFill>
              <a:srgbClr val="FF0000"/>
            </a:solidFill>
            <a:prstDash val="solid"/>
            <a:round/>
            <a:headEnd type="none" w="sm" len="sm"/>
            <a:tailEnd type="none" w="sm" len="sm"/>
          </a:ln>
        </p:spPr>
        <p:txBody>
          <a:bodyPr spcFirstLastPara="1" wrap="square" lIns="68569" tIns="68569" rIns="68569" bIns="68569" anchor="ctr" anchorCtr="0">
            <a:noAutofit/>
          </a:bodyPr>
          <a:lstStyle/>
          <a:p>
            <a:endParaRPr sz="1050"/>
          </a:p>
        </p:txBody>
      </p:sp>
    </p:spTree>
    <p:extLst>
      <p:ext uri="{BB962C8B-B14F-4D97-AF65-F5344CB8AC3E}">
        <p14:creationId xmlns:p14="http://schemas.microsoft.com/office/powerpoint/2010/main" val="290674251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 dirty="0"/>
              <a:t>Determining the Loss Frequency</a:t>
            </a:r>
            <a:endParaRPr lang="en-US" dirty="0"/>
          </a:p>
        </p:txBody>
      </p:sp>
      <p:sp>
        <p:nvSpPr>
          <p:cNvPr id="3" name="Content Placeholder 2"/>
          <p:cNvSpPr>
            <a:spLocks noGrp="1"/>
          </p:cNvSpPr>
          <p:nvPr>
            <p:ph idx="1"/>
          </p:nvPr>
        </p:nvSpPr>
        <p:spPr/>
        <p:txBody>
          <a:bodyPr/>
          <a:lstStyle/>
          <a:p>
            <a:pPr lvl="0"/>
            <a:r>
              <a:rPr lang="en-US" b="1" dirty="0">
                <a:solidFill>
                  <a:srgbClr val="0000FF"/>
                </a:solidFill>
              </a:rPr>
              <a:t>Likelihood</a:t>
            </a:r>
            <a:r>
              <a:rPr lang="en-US" dirty="0"/>
              <a:t> → the </a:t>
            </a:r>
            <a:r>
              <a:rPr lang="en-US" b="1" dirty="0"/>
              <a:t>probability </a:t>
            </a:r>
            <a:r>
              <a:rPr lang="en-US" dirty="0"/>
              <a:t>that a specific vulnerability within an organization will be the target of an attack.</a:t>
            </a:r>
          </a:p>
          <a:p>
            <a:pPr marL="0" indent="0">
              <a:buNone/>
            </a:pPr>
            <a:r>
              <a:rPr lang="en-US" u="sng" dirty="0"/>
              <a:t>Example</a:t>
            </a:r>
            <a:r>
              <a:rPr lang="en-US" dirty="0"/>
              <a:t>:</a:t>
            </a:r>
          </a:p>
          <a:p>
            <a:pPr marL="342900" indent="-257175"/>
            <a:r>
              <a:rPr lang="en-US" dirty="0"/>
              <a:t>If an organization within a particular industry is targeted by hackers once every five years, the annualized likelihood of attack is 1/5, or 0.2. </a:t>
            </a:r>
          </a:p>
          <a:p>
            <a:pPr marL="342900" indent="0">
              <a:buNone/>
            </a:pPr>
            <a:endParaRPr lang="en-US" dirty="0"/>
          </a:p>
          <a:p>
            <a:pPr marL="342900" indent="-257175"/>
            <a:r>
              <a:rPr lang="en-US" dirty="0"/>
              <a:t>This </a:t>
            </a:r>
            <a:r>
              <a:rPr lang="en-US" b="1" dirty="0"/>
              <a:t>likelihood </a:t>
            </a:r>
            <a:r>
              <a:rPr lang="en-US" dirty="0"/>
              <a:t>is often expressed as a </a:t>
            </a:r>
            <a:r>
              <a:rPr lang="en-US" b="1" dirty="0"/>
              <a:t>20 percent</a:t>
            </a:r>
            <a:r>
              <a:rPr lang="en-US" dirty="0"/>
              <a:t> probability of an attack, given the current control structure. </a:t>
            </a:r>
          </a:p>
          <a:p>
            <a:endParaRPr lang="en-US" dirty="0"/>
          </a:p>
        </p:txBody>
      </p:sp>
    </p:spTree>
    <p:extLst>
      <p:ext uri="{BB962C8B-B14F-4D97-AF65-F5344CB8AC3E}">
        <p14:creationId xmlns:p14="http://schemas.microsoft.com/office/powerpoint/2010/main" val="291016597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 dirty="0"/>
              <a:t>Determining the Loss Frequency</a:t>
            </a:r>
            <a:endParaRPr lang="en-US" dirty="0"/>
          </a:p>
        </p:txBody>
      </p:sp>
      <p:sp>
        <p:nvSpPr>
          <p:cNvPr id="3" name="Content Placeholder 2"/>
          <p:cNvSpPr>
            <a:spLocks noGrp="1"/>
          </p:cNvSpPr>
          <p:nvPr>
            <p:ph idx="1"/>
          </p:nvPr>
        </p:nvSpPr>
        <p:spPr/>
        <p:txBody>
          <a:bodyPr/>
          <a:lstStyle/>
          <a:p>
            <a:pPr marL="342900" indent="-257175"/>
            <a:r>
              <a:rPr lang="en-US" dirty="0"/>
              <a:t>An event with a likelihood of more than once a year obviously has a higher probability of attack. </a:t>
            </a:r>
          </a:p>
          <a:p>
            <a:pPr marL="342900" indent="0">
              <a:buNone/>
            </a:pPr>
            <a:endParaRPr lang="en-US" dirty="0"/>
          </a:p>
          <a:p>
            <a:pPr marL="0" indent="0">
              <a:buNone/>
            </a:pPr>
            <a:r>
              <a:rPr lang="en-US" u="sng" dirty="0"/>
              <a:t>Example 2</a:t>
            </a:r>
            <a:r>
              <a:rPr lang="en-US" dirty="0"/>
              <a:t>:</a:t>
            </a:r>
          </a:p>
          <a:p>
            <a:pPr marL="342900" indent="-257175"/>
            <a:r>
              <a:rPr lang="en-US" dirty="0"/>
              <a:t>If organizations in a particular industry expect to be targeted by a malware attack at least four times per year, then the </a:t>
            </a:r>
            <a:r>
              <a:rPr lang="en-US" b="1" dirty="0"/>
              <a:t>likelihood </a:t>
            </a:r>
            <a:r>
              <a:rPr lang="en-US" dirty="0"/>
              <a:t>is 4/1, or </a:t>
            </a:r>
            <a:r>
              <a:rPr lang="en-US" b="1" dirty="0"/>
              <a:t>400 percent</a:t>
            </a:r>
            <a:r>
              <a:rPr lang="en-US" dirty="0"/>
              <a:t>.</a:t>
            </a:r>
          </a:p>
          <a:p>
            <a:endParaRPr lang="en-US" dirty="0"/>
          </a:p>
        </p:txBody>
      </p:sp>
    </p:spTree>
    <p:extLst>
      <p:ext uri="{BB962C8B-B14F-4D97-AF65-F5344CB8AC3E}">
        <p14:creationId xmlns:p14="http://schemas.microsoft.com/office/powerpoint/2010/main" val="393228538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 dirty="0"/>
              <a:t>Determining the Loss Frequency</a:t>
            </a:r>
            <a:endParaRPr lang="en-US" dirty="0"/>
          </a:p>
        </p:txBody>
      </p:sp>
      <p:sp>
        <p:nvSpPr>
          <p:cNvPr id="3" name="Content Placeholder 2"/>
          <p:cNvSpPr>
            <a:spLocks noGrp="1"/>
          </p:cNvSpPr>
          <p:nvPr>
            <p:ph idx="1"/>
          </p:nvPr>
        </p:nvSpPr>
        <p:spPr/>
        <p:txBody>
          <a:bodyPr/>
          <a:lstStyle/>
          <a:p>
            <a:pPr marL="342900" indent="-257175"/>
            <a:r>
              <a:rPr lang="en-US" dirty="0"/>
              <a:t>NIST recommends assigning a likelihood between 0.1 and 1.0.</a:t>
            </a:r>
          </a:p>
          <a:p>
            <a:pPr marL="342900" indent="0">
              <a:buNone/>
            </a:pPr>
            <a:endParaRPr lang="en-US" dirty="0"/>
          </a:p>
          <a:p>
            <a:pPr marL="0" indent="0">
              <a:buNone/>
            </a:pPr>
            <a:r>
              <a:rPr lang="en-US" u="sng" dirty="0"/>
              <a:t>Example</a:t>
            </a:r>
            <a:r>
              <a:rPr lang="en-US" dirty="0"/>
              <a:t>:</a:t>
            </a:r>
          </a:p>
          <a:p>
            <a:pPr marL="342900" indent="-257175"/>
            <a:r>
              <a:rPr lang="en-US" dirty="0"/>
              <a:t>The likelihood of an indoor asset being struck by a meteorite would be rated as 0.1. </a:t>
            </a:r>
          </a:p>
          <a:p>
            <a:pPr marL="342900" indent="-257175"/>
            <a:r>
              <a:rPr lang="en-US" dirty="0"/>
              <a:t>At the other extreme, the likelihood of receiving at least one e-mail that contains a virus or worm in the next year would be rated as 1.0.</a:t>
            </a:r>
          </a:p>
          <a:p>
            <a:endParaRPr lang="en-US" dirty="0"/>
          </a:p>
        </p:txBody>
      </p:sp>
    </p:spTree>
    <p:extLst>
      <p:ext uri="{BB962C8B-B14F-4D97-AF65-F5344CB8AC3E}">
        <p14:creationId xmlns:p14="http://schemas.microsoft.com/office/powerpoint/2010/main" val="218753760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 dirty="0"/>
              <a:t>Determining the Loss Frequency</a:t>
            </a:r>
            <a:endParaRPr lang="en-US" dirty="0"/>
          </a:p>
        </p:txBody>
      </p:sp>
      <p:sp>
        <p:nvSpPr>
          <p:cNvPr id="3" name="Content Placeholder 2"/>
          <p:cNvSpPr>
            <a:spLocks noGrp="1"/>
          </p:cNvSpPr>
          <p:nvPr>
            <p:ph idx="1"/>
          </p:nvPr>
        </p:nvSpPr>
        <p:spPr/>
        <p:txBody>
          <a:bodyPr/>
          <a:lstStyle/>
          <a:p>
            <a:pPr marL="342900" indent="-257175"/>
            <a:r>
              <a:rPr lang="en-US" b="1" dirty="0">
                <a:solidFill>
                  <a:srgbClr val="0000FF"/>
                </a:solidFill>
              </a:rPr>
              <a:t>Attack success probability</a:t>
            </a:r>
            <a:r>
              <a:rPr lang="en-US" b="1" dirty="0">
                <a:solidFill>
                  <a:srgbClr val="FF0000"/>
                </a:solidFill>
              </a:rPr>
              <a:t>*</a:t>
            </a:r>
            <a:r>
              <a:rPr lang="en-US" dirty="0"/>
              <a:t> → the </a:t>
            </a:r>
            <a:r>
              <a:rPr lang="en-US" b="1" dirty="0"/>
              <a:t>number </a:t>
            </a:r>
            <a:r>
              <a:rPr lang="en-US" dirty="0"/>
              <a:t>of </a:t>
            </a:r>
            <a:r>
              <a:rPr lang="en-US" b="1" dirty="0"/>
              <a:t>successful </a:t>
            </a:r>
            <a:r>
              <a:rPr lang="en-US" dirty="0"/>
              <a:t>attacks that are expected to occur within a </a:t>
            </a:r>
            <a:r>
              <a:rPr lang="en-US" b="1" dirty="0"/>
              <a:t>specified time period</a:t>
            </a:r>
            <a:r>
              <a:rPr lang="en-US" dirty="0"/>
              <a:t>.</a:t>
            </a:r>
          </a:p>
          <a:p>
            <a:pPr marL="342900" indent="0">
              <a:buNone/>
            </a:pPr>
            <a:endParaRPr lang="en-US" dirty="0"/>
          </a:p>
          <a:p>
            <a:pPr marL="342900" indent="-257175"/>
            <a:r>
              <a:rPr lang="en-US" dirty="0"/>
              <a:t>Creating estimates for the probability of a successful attack is very </a:t>
            </a:r>
            <a:r>
              <a:rPr lang="en-US" b="1" dirty="0"/>
              <a:t>difficult</a:t>
            </a:r>
            <a:r>
              <a:rPr lang="en-US" dirty="0"/>
              <a:t>. In general, the accuracy of any estimates in this category is susceptible to a great deal of </a:t>
            </a:r>
            <a:r>
              <a:rPr lang="en-US" b="1" dirty="0"/>
              <a:t>uncertainty</a:t>
            </a:r>
            <a:r>
              <a:rPr lang="en-US" dirty="0"/>
              <a:t>.</a:t>
            </a:r>
          </a:p>
          <a:p>
            <a:endParaRPr lang="en-US" dirty="0"/>
          </a:p>
        </p:txBody>
      </p:sp>
    </p:spTree>
    <p:extLst>
      <p:ext uri="{BB962C8B-B14F-4D97-AF65-F5344CB8AC3E}">
        <p14:creationId xmlns:p14="http://schemas.microsoft.com/office/powerpoint/2010/main" val="228115983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 dirty="0"/>
              <a:t>Determining the Loss Frequency</a:t>
            </a:r>
            <a:endParaRPr lang="en-US" dirty="0"/>
          </a:p>
        </p:txBody>
      </p:sp>
      <p:sp>
        <p:nvSpPr>
          <p:cNvPr id="3" name="Content Placeholder 2"/>
          <p:cNvSpPr>
            <a:spLocks noGrp="1"/>
          </p:cNvSpPr>
          <p:nvPr>
            <p:ph idx="1"/>
          </p:nvPr>
        </p:nvSpPr>
        <p:spPr/>
        <p:txBody>
          <a:bodyPr/>
          <a:lstStyle/>
          <a:p>
            <a:pPr marL="0" indent="0">
              <a:buNone/>
            </a:pPr>
            <a:r>
              <a:rPr lang="en-US" u="sng" dirty="0"/>
              <a:t>Example</a:t>
            </a:r>
            <a:r>
              <a:rPr lang="en-US" dirty="0"/>
              <a:t>:</a:t>
            </a:r>
          </a:p>
          <a:p>
            <a:pPr marL="342900" indent="-257175"/>
            <a:r>
              <a:rPr lang="en-US" dirty="0"/>
              <a:t>For a poorly prepared organization, the probability is </a:t>
            </a:r>
            <a:r>
              <a:rPr lang="en-US" b="1" dirty="0"/>
              <a:t>high </a:t>
            </a:r>
            <a:r>
              <a:rPr lang="en-US" dirty="0"/>
              <a:t>that a professional hacker will successfully access protected information assets, so the organization may assign a quantitative value of 75 percent or a qualitative value of “</a:t>
            </a:r>
            <a:r>
              <a:rPr lang="en-US" b="1" dirty="0"/>
              <a:t>very likely</a:t>
            </a:r>
            <a:r>
              <a:rPr lang="en-US" dirty="0"/>
              <a:t>.” </a:t>
            </a:r>
          </a:p>
          <a:p>
            <a:pPr marL="342900" indent="-257175"/>
            <a:r>
              <a:rPr lang="en-US" dirty="0"/>
              <a:t>For a well-protected organization that has up-to-date malware detection and a well-trained employee force, the probability of a successful malware attack may be </a:t>
            </a:r>
            <a:r>
              <a:rPr lang="en-US" b="1" dirty="0"/>
              <a:t>poor</a:t>
            </a:r>
            <a:r>
              <a:rPr lang="en-US" dirty="0"/>
              <a:t>. Therefore, the organization may assign a quantitative value of 10 percent or a qualitative value of “</a:t>
            </a:r>
            <a:r>
              <a:rPr lang="en-US" b="1" dirty="0"/>
              <a:t>very unlikely</a:t>
            </a:r>
            <a:r>
              <a:rPr lang="en-US" dirty="0"/>
              <a:t>.”</a:t>
            </a:r>
          </a:p>
          <a:p>
            <a:endParaRPr lang="en-US" dirty="0"/>
          </a:p>
        </p:txBody>
      </p:sp>
    </p:spTree>
    <p:extLst>
      <p:ext uri="{BB962C8B-B14F-4D97-AF65-F5344CB8AC3E}">
        <p14:creationId xmlns:p14="http://schemas.microsoft.com/office/powerpoint/2010/main" val="391984685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Event Loss Frequency</a:t>
            </a:r>
          </a:p>
        </p:txBody>
      </p:sp>
      <p:sp>
        <p:nvSpPr>
          <p:cNvPr id="3" name="Content Placeholder 2"/>
          <p:cNvSpPr>
            <a:spLocks noGrp="1"/>
          </p:cNvSpPr>
          <p:nvPr>
            <p:ph idx="1"/>
          </p:nvPr>
        </p:nvSpPr>
        <p:spPr/>
        <p:txBody>
          <a:bodyPr/>
          <a:lstStyle/>
          <a:p>
            <a:pPr lvl="0"/>
            <a:r>
              <a:rPr lang="en-US" b="1" dirty="0">
                <a:solidFill>
                  <a:srgbClr val="0000FF"/>
                </a:solidFill>
              </a:rPr>
              <a:t>Loss (event) frequency</a:t>
            </a:r>
            <a:r>
              <a:rPr lang="en-US" b="1" dirty="0">
                <a:solidFill>
                  <a:srgbClr val="FF0000"/>
                </a:solidFill>
              </a:rPr>
              <a:t>*</a:t>
            </a:r>
            <a:r>
              <a:rPr lang="en-US" dirty="0"/>
              <a:t> → this is the probability that an organization will be the target of an attack, multiplied by the probability that the organization’s information assets will be successfully compromised if attacked.</a:t>
            </a:r>
          </a:p>
          <a:p>
            <a:endParaRPr lang="en-US" dirty="0"/>
          </a:p>
          <a:p>
            <a:r>
              <a:rPr lang="en-US" dirty="0"/>
              <a:t>Likelihood * success probability</a:t>
            </a:r>
          </a:p>
        </p:txBody>
      </p:sp>
    </p:spTree>
    <p:extLst>
      <p:ext uri="{BB962C8B-B14F-4D97-AF65-F5344CB8AC3E}">
        <p14:creationId xmlns:p14="http://schemas.microsoft.com/office/powerpoint/2010/main" val="58329535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379;p54"/>
          <p:cNvPicPr preferRelativeResize="0"/>
          <p:nvPr/>
        </p:nvPicPr>
        <p:blipFill>
          <a:blip r:embed="rId2">
            <a:alphaModFix/>
          </a:blip>
          <a:stretch>
            <a:fillRect/>
          </a:stretch>
        </p:blipFill>
        <p:spPr>
          <a:xfrm>
            <a:off x="1549920" y="1161134"/>
            <a:ext cx="5907881" cy="2814638"/>
          </a:xfrm>
          <a:prstGeom prst="rect">
            <a:avLst/>
          </a:prstGeom>
          <a:noFill/>
          <a:ln>
            <a:noFill/>
          </a:ln>
        </p:spPr>
      </p:pic>
      <p:sp>
        <p:nvSpPr>
          <p:cNvPr id="5" name="Google Shape;380;p54"/>
          <p:cNvSpPr/>
          <p:nvPr/>
        </p:nvSpPr>
        <p:spPr>
          <a:xfrm>
            <a:off x="2260535" y="2610191"/>
            <a:ext cx="4569075" cy="295200"/>
          </a:xfrm>
          <a:prstGeom prst="rect">
            <a:avLst/>
          </a:prstGeom>
          <a:noFill/>
          <a:ln w="9525" cap="flat" cmpd="sng">
            <a:solidFill>
              <a:srgbClr val="FF0000"/>
            </a:solidFill>
            <a:prstDash val="solid"/>
            <a:round/>
            <a:headEnd type="none" w="sm" len="sm"/>
            <a:tailEnd type="none" w="sm" len="sm"/>
          </a:ln>
        </p:spPr>
        <p:txBody>
          <a:bodyPr spcFirstLastPara="1" wrap="square" lIns="68569" tIns="68569" rIns="68569" bIns="68569" anchor="ctr" anchorCtr="0">
            <a:noAutofit/>
          </a:bodyPr>
          <a:lstStyle/>
          <a:p>
            <a:endParaRPr sz="1050"/>
          </a:p>
        </p:txBody>
      </p:sp>
    </p:spTree>
    <p:extLst>
      <p:ext uri="{BB962C8B-B14F-4D97-AF65-F5344CB8AC3E}">
        <p14:creationId xmlns:p14="http://schemas.microsoft.com/office/powerpoint/2010/main" val="216158768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311;p45"/>
          <p:cNvPicPr preferRelativeResize="0"/>
          <p:nvPr/>
        </p:nvPicPr>
        <p:blipFill>
          <a:blip r:embed="rId2">
            <a:alphaModFix/>
          </a:blip>
          <a:stretch>
            <a:fillRect/>
          </a:stretch>
        </p:blipFill>
        <p:spPr>
          <a:xfrm>
            <a:off x="1434523" y="1028831"/>
            <a:ext cx="5825315" cy="4131414"/>
          </a:xfrm>
          <a:prstGeom prst="rect">
            <a:avLst/>
          </a:prstGeom>
          <a:noFill/>
          <a:ln>
            <a:noFill/>
          </a:ln>
        </p:spPr>
      </p:pic>
      <p:sp>
        <p:nvSpPr>
          <p:cNvPr id="5" name="Google Shape;312;p45"/>
          <p:cNvSpPr/>
          <p:nvPr/>
        </p:nvSpPr>
        <p:spPr>
          <a:xfrm>
            <a:off x="3328048" y="2275010"/>
            <a:ext cx="794044" cy="212214"/>
          </a:xfrm>
          <a:prstGeom prst="rect">
            <a:avLst/>
          </a:prstGeom>
          <a:noFill/>
          <a:ln w="9525" cap="flat" cmpd="sng">
            <a:solidFill>
              <a:srgbClr val="FF0000"/>
            </a:solidFill>
            <a:prstDash val="solid"/>
            <a:round/>
            <a:headEnd type="none" w="sm" len="sm"/>
            <a:tailEnd type="none" w="sm" len="sm"/>
          </a:ln>
        </p:spPr>
        <p:txBody>
          <a:bodyPr spcFirstLastPara="1" wrap="square" lIns="68569" tIns="68569" rIns="68569" bIns="68569" anchor="ctr" anchorCtr="0">
            <a:noAutofit/>
          </a:bodyPr>
          <a:lstStyle/>
          <a:p>
            <a:endParaRPr sz="1050"/>
          </a:p>
        </p:txBody>
      </p:sp>
      <p:sp>
        <p:nvSpPr>
          <p:cNvPr id="6" name="Google Shape;313;p45"/>
          <p:cNvSpPr/>
          <p:nvPr/>
        </p:nvSpPr>
        <p:spPr>
          <a:xfrm>
            <a:off x="4393342" y="2886711"/>
            <a:ext cx="555587" cy="261553"/>
          </a:xfrm>
          <a:prstGeom prst="rect">
            <a:avLst/>
          </a:prstGeom>
          <a:noFill/>
          <a:ln w="9525" cap="flat" cmpd="sng">
            <a:solidFill>
              <a:srgbClr val="FF0000"/>
            </a:solidFill>
            <a:prstDash val="solid"/>
            <a:round/>
            <a:headEnd type="none" w="sm" len="sm"/>
            <a:tailEnd type="none" w="sm" len="sm"/>
          </a:ln>
        </p:spPr>
        <p:txBody>
          <a:bodyPr spcFirstLastPara="1" wrap="square" lIns="68569" tIns="68569" rIns="68569" bIns="68569" anchor="ctr" anchorCtr="0">
            <a:noAutofit/>
          </a:bodyPr>
          <a:lstStyle/>
          <a:p>
            <a:endParaRPr sz="1050"/>
          </a:p>
        </p:txBody>
      </p:sp>
      <p:sp>
        <p:nvSpPr>
          <p:cNvPr id="7" name="Google Shape;314;p45"/>
          <p:cNvSpPr/>
          <p:nvPr/>
        </p:nvSpPr>
        <p:spPr>
          <a:xfrm>
            <a:off x="4613209" y="3360090"/>
            <a:ext cx="1026425" cy="314248"/>
          </a:xfrm>
          <a:prstGeom prst="rect">
            <a:avLst/>
          </a:prstGeom>
          <a:noFill/>
          <a:ln w="9525" cap="flat" cmpd="sng">
            <a:solidFill>
              <a:srgbClr val="FF0000"/>
            </a:solidFill>
            <a:prstDash val="solid"/>
            <a:round/>
            <a:headEnd type="none" w="sm" len="sm"/>
            <a:tailEnd type="none" w="sm" len="sm"/>
          </a:ln>
        </p:spPr>
        <p:txBody>
          <a:bodyPr spcFirstLastPara="1" wrap="square" lIns="68569" tIns="68569" rIns="68569" bIns="68569" anchor="ctr" anchorCtr="0">
            <a:noAutofit/>
          </a:bodyPr>
          <a:lstStyle/>
          <a:p>
            <a:endParaRPr sz="1050"/>
          </a:p>
        </p:txBody>
      </p:sp>
      <p:sp>
        <p:nvSpPr>
          <p:cNvPr id="8" name="Google Shape;315;p45"/>
          <p:cNvSpPr/>
          <p:nvPr/>
        </p:nvSpPr>
        <p:spPr>
          <a:xfrm>
            <a:off x="5755426" y="3913208"/>
            <a:ext cx="1026425" cy="426804"/>
          </a:xfrm>
          <a:prstGeom prst="rect">
            <a:avLst/>
          </a:prstGeom>
          <a:noFill/>
          <a:ln w="9525" cap="flat" cmpd="sng">
            <a:solidFill>
              <a:srgbClr val="FF0000"/>
            </a:solidFill>
            <a:prstDash val="solid"/>
            <a:round/>
            <a:headEnd type="none" w="sm" len="sm"/>
            <a:tailEnd type="none" w="sm" len="sm"/>
          </a:ln>
        </p:spPr>
        <p:txBody>
          <a:bodyPr spcFirstLastPara="1" wrap="square" lIns="68569" tIns="68569" rIns="68569" bIns="68569" anchor="ctr" anchorCtr="0">
            <a:noAutofit/>
          </a:bodyPr>
          <a:lstStyle/>
          <a:p>
            <a:endParaRPr sz="1050"/>
          </a:p>
        </p:txBody>
      </p:sp>
    </p:spTree>
    <p:extLst>
      <p:ext uri="{BB962C8B-B14F-4D97-AF65-F5344CB8AC3E}">
        <p14:creationId xmlns:p14="http://schemas.microsoft.com/office/powerpoint/2010/main" val="30465318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dirty="0"/>
              <a:t>evaluating loss magnitude</a:t>
            </a:r>
          </a:p>
        </p:txBody>
      </p:sp>
      <p:sp>
        <p:nvSpPr>
          <p:cNvPr id="3" name="Content Placeholder 2"/>
          <p:cNvSpPr>
            <a:spLocks noGrp="1"/>
          </p:cNvSpPr>
          <p:nvPr>
            <p:ph idx="1"/>
          </p:nvPr>
        </p:nvSpPr>
        <p:spPr/>
        <p:txBody>
          <a:bodyPr/>
          <a:lstStyle/>
          <a:p>
            <a:pPr marL="342900" indent="-257175"/>
            <a:r>
              <a:rPr lang="en-US" b="1" dirty="0">
                <a:solidFill>
                  <a:srgbClr val="0000FF"/>
                </a:solidFill>
              </a:rPr>
              <a:t>(Event) loss magnitude / asset exposure</a:t>
            </a:r>
            <a:r>
              <a:rPr lang="en-US" dirty="0">
                <a:solidFill>
                  <a:srgbClr val="0000FF"/>
                </a:solidFill>
              </a:rPr>
              <a:t> </a:t>
            </a:r>
            <a:r>
              <a:rPr lang="en-US" dirty="0"/>
              <a:t>→ the combination of an </a:t>
            </a:r>
            <a:r>
              <a:rPr lang="en-US" b="1" dirty="0"/>
              <a:t>asset’s value</a:t>
            </a:r>
            <a:r>
              <a:rPr lang="en-US" dirty="0"/>
              <a:t> and the </a:t>
            </a:r>
            <a:r>
              <a:rPr lang="en-US" b="1" dirty="0"/>
              <a:t>percentage </a:t>
            </a:r>
            <a:r>
              <a:rPr lang="en-US" dirty="0"/>
              <a:t>of it that might be </a:t>
            </a:r>
            <a:r>
              <a:rPr lang="en-US" b="1" dirty="0"/>
              <a:t>lost </a:t>
            </a:r>
            <a:r>
              <a:rPr lang="en-US" dirty="0"/>
              <a:t>in an attack.</a:t>
            </a:r>
          </a:p>
          <a:p>
            <a:pPr marL="342900" indent="0">
              <a:buNone/>
            </a:pPr>
            <a:endParaRPr lang="en-US" dirty="0"/>
          </a:p>
          <a:p>
            <a:pPr marL="342900" indent="-257175"/>
            <a:r>
              <a:rPr lang="en-US" dirty="0"/>
              <a:t>evaluation can be </a:t>
            </a:r>
            <a:r>
              <a:rPr lang="en-US" i="1" dirty="0"/>
              <a:t>quantitative </a:t>
            </a:r>
            <a:r>
              <a:rPr lang="en-US" dirty="0"/>
              <a:t>or </a:t>
            </a:r>
            <a:r>
              <a:rPr lang="en-US" i="1" dirty="0"/>
              <a:t>qualitative </a:t>
            </a:r>
            <a:r>
              <a:rPr lang="en-US" dirty="0"/>
              <a:t>(e.g. percentage lost in best-case, worst-case, and most likely outcomes for various scenarios).</a:t>
            </a:r>
          </a:p>
          <a:p>
            <a:endParaRPr lang="en-US" dirty="0"/>
          </a:p>
        </p:txBody>
      </p:sp>
    </p:spTree>
    <p:extLst>
      <p:ext uri="{BB962C8B-B14F-4D97-AF65-F5344CB8AC3E}">
        <p14:creationId xmlns:p14="http://schemas.microsoft.com/office/powerpoint/2010/main" val="319102082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311;p45"/>
          <p:cNvPicPr preferRelativeResize="0"/>
          <p:nvPr/>
        </p:nvPicPr>
        <p:blipFill>
          <a:blip r:embed="rId2">
            <a:alphaModFix/>
          </a:blip>
          <a:stretch>
            <a:fillRect/>
          </a:stretch>
        </p:blipFill>
        <p:spPr>
          <a:xfrm>
            <a:off x="1434523" y="1028831"/>
            <a:ext cx="5825315" cy="4131414"/>
          </a:xfrm>
          <a:prstGeom prst="rect">
            <a:avLst/>
          </a:prstGeom>
          <a:noFill/>
          <a:ln>
            <a:noFill/>
          </a:ln>
        </p:spPr>
      </p:pic>
      <p:sp>
        <p:nvSpPr>
          <p:cNvPr id="5" name="Google Shape;312;p45"/>
          <p:cNvSpPr/>
          <p:nvPr/>
        </p:nvSpPr>
        <p:spPr>
          <a:xfrm>
            <a:off x="3328048" y="2275010"/>
            <a:ext cx="794044" cy="212214"/>
          </a:xfrm>
          <a:prstGeom prst="rect">
            <a:avLst/>
          </a:prstGeom>
          <a:noFill/>
          <a:ln w="9525" cap="flat" cmpd="sng">
            <a:solidFill>
              <a:srgbClr val="FF0000"/>
            </a:solidFill>
            <a:prstDash val="solid"/>
            <a:round/>
            <a:headEnd type="none" w="sm" len="sm"/>
            <a:tailEnd type="none" w="sm" len="sm"/>
          </a:ln>
        </p:spPr>
        <p:txBody>
          <a:bodyPr spcFirstLastPara="1" wrap="square" lIns="68569" tIns="68569" rIns="68569" bIns="68569" anchor="ctr" anchorCtr="0">
            <a:noAutofit/>
          </a:bodyPr>
          <a:lstStyle/>
          <a:p>
            <a:endParaRPr sz="1050"/>
          </a:p>
        </p:txBody>
      </p:sp>
      <p:sp>
        <p:nvSpPr>
          <p:cNvPr id="6" name="Google Shape;313;p45"/>
          <p:cNvSpPr/>
          <p:nvPr/>
        </p:nvSpPr>
        <p:spPr>
          <a:xfrm>
            <a:off x="4393342" y="2886711"/>
            <a:ext cx="555587" cy="261553"/>
          </a:xfrm>
          <a:prstGeom prst="rect">
            <a:avLst/>
          </a:prstGeom>
          <a:noFill/>
          <a:ln w="9525" cap="flat" cmpd="sng">
            <a:solidFill>
              <a:srgbClr val="FF0000"/>
            </a:solidFill>
            <a:prstDash val="solid"/>
            <a:round/>
            <a:headEnd type="none" w="sm" len="sm"/>
            <a:tailEnd type="none" w="sm" len="sm"/>
          </a:ln>
        </p:spPr>
        <p:txBody>
          <a:bodyPr spcFirstLastPara="1" wrap="square" lIns="68569" tIns="68569" rIns="68569" bIns="68569" anchor="ctr" anchorCtr="0">
            <a:noAutofit/>
          </a:bodyPr>
          <a:lstStyle/>
          <a:p>
            <a:endParaRPr sz="1050"/>
          </a:p>
        </p:txBody>
      </p:sp>
      <p:sp>
        <p:nvSpPr>
          <p:cNvPr id="7" name="Google Shape;314;p45"/>
          <p:cNvSpPr/>
          <p:nvPr/>
        </p:nvSpPr>
        <p:spPr>
          <a:xfrm>
            <a:off x="4613209" y="3360090"/>
            <a:ext cx="1026425" cy="314248"/>
          </a:xfrm>
          <a:prstGeom prst="rect">
            <a:avLst/>
          </a:prstGeom>
          <a:noFill/>
          <a:ln w="9525" cap="flat" cmpd="sng">
            <a:solidFill>
              <a:srgbClr val="FF0000"/>
            </a:solidFill>
            <a:prstDash val="solid"/>
            <a:round/>
            <a:headEnd type="none" w="sm" len="sm"/>
            <a:tailEnd type="none" w="sm" len="sm"/>
          </a:ln>
        </p:spPr>
        <p:txBody>
          <a:bodyPr spcFirstLastPara="1" wrap="square" lIns="68569" tIns="68569" rIns="68569" bIns="68569" anchor="ctr" anchorCtr="0">
            <a:noAutofit/>
          </a:bodyPr>
          <a:lstStyle/>
          <a:p>
            <a:endParaRPr sz="1050"/>
          </a:p>
        </p:txBody>
      </p:sp>
      <p:sp>
        <p:nvSpPr>
          <p:cNvPr id="8" name="Google Shape;315;p45"/>
          <p:cNvSpPr/>
          <p:nvPr/>
        </p:nvSpPr>
        <p:spPr>
          <a:xfrm>
            <a:off x="5755426" y="3913208"/>
            <a:ext cx="1026425" cy="426804"/>
          </a:xfrm>
          <a:prstGeom prst="rect">
            <a:avLst/>
          </a:prstGeom>
          <a:noFill/>
          <a:ln w="9525" cap="flat" cmpd="sng">
            <a:solidFill>
              <a:srgbClr val="FF0000"/>
            </a:solidFill>
            <a:prstDash val="solid"/>
            <a:round/>
            <a:headEnd type="none" w="sm" len="sm"/>
            <a:tailEnd type="none" w="sm" len="sm"/>
          </a:ln>
        </p:spPr>
        <p:txBody>
          <a:bodyPr spcFirstLastPara="1" wrap="square" lIns="68569" tIns="68569" rIns="68569" bIns="68569" anchor="ctr" anchorCtr="0">
            <a:noAutofit/>
          </a:bodyPr>
          <a:lstStyle/>
          <a:p>
            <a:endParaRPr sz="1050"/>
          </a:p>
        </p:txBody>
      </p:sp>
    </p:spTree>
    <p:extLst>
      <p:ext uri="{BB962C8B-B14F-4D97-AF65-F5344CB8AC3E}">
        <p14:creationId xmlns:p14="http://schemas.microsoft.com/office/powerpoint/2010/main" val="92120913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 dirty="0"/>
              <a:t>Calculating Risk</a:t>
            </a:r>
            <a:endParaRPr lang="en-US" dirty="0"/>
          </a:p>
        </p:txBody>
      </p:sp>
      <p:sp>
        <p:nvSpPr>
          <p:cNvPr id="3" name="Content Placeholder 2"/>
          <p:cNvSpPr>
            <a:spLocks noGrp="1"/>
          </p:cNvSpPr>
          <p:nvPr>
            <p:ph idx="1"/>
          </p:nvPr>
        </p:nvSpPr>
        <p:spPr/>
        <p:txBody>
          <a:bodyPr/>
          <a:lstStyle/>
          <a:p>
            <a:pPr lvl="0"/>
            <a:r>
              <a:rPr lang="en-US" dirty="0"/>
              <a:t>For the purpose of relative and simplistic risk determination, </a:t>
            </a:r>
            <a:r>
              <a:rPr lang="en-US" b="1" dirty="0">
                <a:solidFill>
                  <a:srgbClr val="0000FF"/>
                </a:solidFill>
              </a:rPr>
              <a:t>risk</a:t>
            </a:r>
            <a:r>
              <a:rPr lang="en-US" b="1" dirty="0">
                <a:solidFill>
                  <a:srgbClr val="FF0000"/>
                </a:solidFill>
              </a:rPr>
              <a:t>*</a:t>
            </a:r>
            <a:r>
              <a:rPr lang="en-US" b="1" dirty="0">
                <a:solidFill>
                  <a:srgbClr val="0000FF"/>
                </a:solidFill>
              </a:rPr>
              <a:t> </a:t>
            </a:r>
            <a:r>
              <a:rPr lang="en-US" b="1" dirty="0"/>
              <a:t>→ </a:t>
            </a:r>
            <a:r>
              <a:rPr lang="en-US" dirty="0"/>
              <a:t>equals </a:t>
            </a:r>
            <a:r>
              <a:rPr lang="en-US" b="1" dirty="0"/>
              <a:t>loss frequency</a:t>
            </a:r>
            <a:r>
              <a:rPr lang="en-US" dirty="0"/>
              <a:t> times </a:t>
            </a:r>
            <a:r>
              <a:rPr lang="en-US" b="1" dirty="0"/>
              <a:t>loss magnitude</a:t>
            </a:r>
            <a:r>
              <a:rPr lang="en-US" dirty="0"/>
              <a:t> plus an </a:t>
            </a:r>
            <a:r>
              <a:rPr lang="en-US" b="1" dirty="0"/>
              <a:t>element of uncertainty</a:t>
            </a:r>
            <a:endParaRPr lang="en-US" dirty="0"/>
          </a:p>
          <a:p>
            <a:endParaRPr lang="en-US" dirty="0"/>
          </a:p>
        </p:txBody>
      </p:sp>
      <p:pic>
        <p:nvPicPr>
          <p:cNvPr id="4" name="Google Shape;394;p56"/>
          <p:cNvPicPr preferRelativeResize="0"/>
          <p:nvPr/>
        </p:nvPicPr>
        <p:blipFill>
          <a:blip r:embed="rId2">
            <a:alphaModFix/>
          </a:blip>
          <a:stretch>
            <a:fillRect/>
          </a:stretch>
        </p:blipFill>
        <p:spPr>
          <a:xfrm>
            <a:off x="1397977" y="2239643"/>
            <a:ext cx="5921620" cy="2703635"/>
          </a:xfrm>
          <a:prstGeom prst="rect">
            <a:avLst/>
          </a:prstGeom>
          <a:noFill/>
          <a:ln>
            <a:noFill/>
          </a:ln>
        </p:spPr>
      </p:pic>
      <p:sp>
        <p:nvSpPr>
          <p:cNvPr id="5" name="Google Shape;395;p56"/>
          <p:cNvSpPr/>
          <p:nvPr/>
        </p:nvSpPr>
        <p:spPr>
          <a:xfrm>
            <a:off x="1627023" y="2375255"/>
            <a:ext cx="5463526" cy="1953784"/>
          </a:xfrm>
          <a:prstGeom prst="rect">
            <a:avLst/>
          </a:prstGeom>
          <a:noFill/>
          <a:ln w="9525" cap="flat" cmpd="sng">
            <a:solidFill>
              <a:srgbClr val="FF0000"/>
            </a:solidFill>
            <a:prstDash val="solid"/>
            <a:round/>
            <a:headEnd type="none" w="sm" len="sm"/>
            <a:tailEnd type="none" w="sm" len="sm"/>
          </a:ln>
        </p:spPr>
        <p:txBody>
          <a:bodyPr spcFirstLastPara="1" wrap="square" lIns="68569" tIns="68569" rIns="68569" bIns="68569" anchor="ctr" anchorCtr="0">
            <a:noAutofit/>
          </a:bodyPr>
          <a:lstStyle/>
          <a:p>
            <a:endParaRPr sz="1050"/>
          </a:p>
        </p:txBody>
      </p:sp>
    </p:spTree>
    <p:extLst>
      <p:ext uri="{BB962C8B-B14F-4D97-AF65-F5344CB8AC3E}">
        <p14:creationId xmlns:p14="http://schemas.microsoft.com/office/powerpoint/2010/main" val="266679059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 dirty="0"/>
              <a:t>Calculating Risk</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en-US" u="sng" dirty="0"/>
              <a:t>Example</a:t>
            </a:r>
            <a:r>
              <a:rPr lang="en-US" dirty="0"/>
              <a:t>: </a:t>
            </a:r>
          </a:p>
          <a:p>
            <a:pPr marL="342900" indent="-257175"/>
            <a:r>
              <a:rPr lang="en-US" dirty="0"/>
              <a:t>Information asset </a:t>
            </a:r>
            <a:r>
              <a:rPr lang="en-US" b="1" dirty="0"/>
              <a:t>A</a:t>
            </a:r>
            <a:r>
              <a:rPr lang="en-US" dirty="0"/>
              <a:t> is an online e-commerce database. </a:t>
            </a:r>
          </a:p>
          <a:p>
            <a:pPr marL="342900" indent="-257175"/>
            <a:r>
              <a:rPr lang="en-US" dirty="0"/>
              <a:t>Industry reports indicate a </a:t>
            </a:r>
            <a:r>
              <a:rPr lang="en-US" b="1" dirty="0"/>
              <a:t>10 percent chance of an attack this year</a:t>
            </a:r>
            <a:r>
              <a:rPr lang="en-US" dirty="0"/>
              <a:t>, based on an estimate of one attack every 10 years. The information security and IT departments report that if the organization is attacked, the </a:t>
            </a:r>
            <a:r>
              <a:rPr lang="en-US" b="1" dirty="0"/>
              <a:t>attack has a 50 percent chance of success </a:t>
            </a:r>
            <a:r>
              <a:rPr lang="en-US" dirty="0"/>
              <a:t>based on current asset vulnerabilities and protection mechanisms. </a:t>
            </a:r>
          </a:p>
          <a:p>
            <a:pPr marL="342900" indent="-257175"/>
            <a:r>
              <a:rPr lang="en-US" dirty="0"/>
              <a:t>The </a:t>
            </a:r>
            <a:r>
              <a:rPr lang="en-US" b="1" dirty="0"/>
              <a:t>asset is valued at a score of 50</a:t>
            </a:r>
            <a:r>
              <a:rPr lang="en-US" dirty="0"/>
              <a:t> on a scale of 0 to 100, and information security and IT staff expect that </a:t>
            </a:r>
            <a:r>
              <a:rPr lang="en-US" b="1" dirty="0"/>
              <a:t>100 percent of the asset would be lost</a:t>
            </a:r>
            <a:r>
              <a:rPr lang="en-US" dirty="0"/>
              <a:t> or compromised by a successful attack. </a:t>
            </a:r>
          </a:p>
          <a:p>
            <a:pPr marL="342900" indent="-257175"/>
            <a:r>
              <a:rPr lang="en-US" dirty="0"/>
              <a:t>You estimate that the assumptions and data are </a:t>
            </a:r>
            <a:r>
              <a:rPr lang="en-US" b="1" dirty="0"/>
              <a:t>90 percent accurate</a:t>
            </a:r>
            <a:r>
              <a:rPr lang="en-US" dirty="0"/>
              <a:t>.</a:t>
            </a:r>
          </a:p>
          <a:p>
            <a:endParaRPr lang="en-US" dirty="0"/>
          </a:p>
        </p:txBody>
      </p:sp>
    </p:spTree>
    <p:extLst>
      <p:ext uri="{BB962C8B-B14F-4D97-AF65-F5344CB8AC3E}">
        <p14:creationId xmlns:p14="http://schemas.microsoft.com/office/powerpoint/2010/main" val="278618473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 dirty="0"/>
              <a:t>Calculating Risk</a:t>
            </a:r>
            <a:endParaRPr lang="en-US" dirty="0"/>
          </a:p>
        </p:txBody>
      </p:sp>
      <p:sp>
        <p:nvSpPr>
          <p:cNvPr id="3" name="Content Placeholder 2"/>
          <p:cNvSpPr>
            <a:spLocks noGrp="1"/>
          </p:cNvSpPr>
          <p:nvPr>
            <p:ph idx="1"/>
          </p:nvPr>
        </p:nvSpPr>
        <p:spPr/>
        <p:txBody>
          <a:bodyPr/>
          <a:lstStyle/>
          <a:p>
            <a:pPr marL="0" indent="0">
              <a:buNone/>
            </a:pPr>
            <a:r>
              <a:rPr lang="en-US" b="1" dirty="0"/>
              <a:t>Calculating Risk rating</a:t>
            </a:r>
            <a:r>
              <a:rPr lang="en-US" dirty="0"/>
              <a:t>:</a:t>
            </a:r>
          </a:p>
          <a:p>
            <a:pPr marL="342900" indent="-257175"/>
            <a:r>
              <a:rPr lang="en-US" dirty="0"/>
              <a:t>Loss Frequency = Likelihood x Attack Success Probability  = 10% x 50%</a:t>
            </a:r>
          </a:p>
          <a:p>
            <a:pPr marL="342900" indent="-257175"/>
            <a:r>
              <a:rPr lang="en-US" dirty="0"/>
              <a:t>Loss Magnitude = Asset Value x Probable Loss = 50 x 100%</a:t>
            </a:r>
          </a:p>
          <a:p>
            <a:pPr marL="0" indent="0">
              <a:buNone/>
            </a:pPr>
            <a:endParaRPr lang="en-US" dirty="0"/>
          </a:p>
          <a:p>
            <a:pPr marL="0" indent="0">
              <a:buNone/>
            </a:pPr>
            <a:r>
              <a:rPr lang="en-US" dirty="0"/>
              <a:t>Risk = Loss Frequency x Loss Magnitude + Uncertainty of estimates</a:t>
            </a:r>
          </a:p>
          <a:p>
            <a:pPr marL="0" indent="0">
              <a:buNone/>
            </a:pPr>
            <a:r>
              <a:rPr lang="en-US" dirty="0"/>
              <a:t>Risk = (5% x 50) + Uncertainty of estimates</a:t>
            </a:r>
          </a:p>
          <a:p>
            <a:pPr marL="0" indent="0">
              <a:buNone/>
            </a:pPr>
            <a:r>
              <a:rPr lang="en-US" dirty="0"/>
              <a:t>Risk = 2.5 + (10% x 2.5)</a:t>
            </a:r>
          </a:p>
          <a:p>
            <a:pPr marL="0" indent="0">
              <a:spcAft>
                <a:spcPts val="900"/>
              </a:spcAft>
              <a:buNone/>
            </a:pPr>
            <a:r>
              <a:rPr lang="en-US" dirty="0"/>
              <a:t>Risk = 2.75</a:t>
            </a:r>
          </a:p>
          <a:p>
            <a:endParaRPr lang="en-US" dirty="0"/>
          </a:p>
        </p:txBody>
      </p:sp>
    </p:spTree>
    <p:extLst>
      <p:ext uri="{BB962C8B-B14F-4D97-AF65-F5344CB8AC3E}">
        <p14:creationId xmlns:p14="http://schemas.microsoft.com/office/powerpoint/2010/main" val="285025814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 dirty="0"/>
              <a:t>Calculating Risk</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en-US" u="sng" dirty="0"/>
              <a:t>Example:</a:t>
            </a:r>
            <a:r>
              <a:rPr lang="en-US" dirty="0"/>
              <a:t> </a:t>
            </a:r>
          </a:p>
          <a:p>
            <a:pPr marL="342900" indent="-257175"/>
            <a:r>
              <a:rPr lang="en-US" dirty="0"/>
              <a:t>Information asset </a:t>
            </a:r>
            <a:r>
              <a:rPr lang="en-US" b="1" dirty="0"/>
              <a:t>B</a:t>
            </a:r>
            <a:r>
              <a:rPr lang="en-US" dirty="0"/>
              <a:t> is an internal personnel database behind a firewall. </a:t>
            </a:r>
          </a:p>
          <a:p>
            <a:pPr marL="342900" indent="-257175"/>
            <a:r>
              <a:rPr lang="en-US" dirty="0"/>
              <a:t>Industry reports indicate a </a:t>
            </a:r>
            <a:r>
              <a:rPr lang="en-US" b="1" dirty="0"/>
              <a:t>1 percent chance of an attack</a:t>
            </a:r>
            <a:r>
              <a:rPr lang="en-US" dirty="0"/>
              <a:t>. The information security and IT departments report that if the organization is attacked, the </a:t>
            </a:r>
            <a:r>
              <a:rPr lang="en-US" b="1" dirty="0"/>
              <a:t>attack has a 10 percent chance of success</a:t>
            </a:r>
            <a:r>
              <a:rPr lang="en-US" dirty="0"/>
              <a:t> based on current asset vulnerabilities and protection mechanisms.</a:t>
            </a:r>
          </a:p>
          <a:p>
            <a:pPr marL="342900" indent="-257175"/>
            <a:r>
              <a:rPr lang="en-US" dirty="0"/>
              <a:t>The </a:t>
            </a:r>
            <a:r>
              <a:rPr lang="en-US" b="1" dirty="0"/>
              <a:t>asset is valued at a score of 25</a:t>
            </a:r>
            <a:r>
              <a:rPr lang="en-US" dirty="0"/>
              <a:t> on a scale of 0 to 100, and information security and IT staff expect that </a:t>
            </a:r>
            <a:r>
              <a:rPr lang="en-US" b="1" dirty="0"/>
              <a:t>50 percent of the asset would be lost</a:t>
            </a:r>
            <a:r>
              <a:rPr lang="en-US" dirty="0"/>
              <a:t> or compromised by a successful attack, because not all of the asset is stored in a single location. </a:t>
            </a:r>
          </a:p>
          <a:p>
            <a:pPr marL="342900" indent="-257175"/>
            <a:r>
              <a:rPr lang="en-US" dirty="0"/>
              <a:t>You estimate that the assumptions and data are </a:t>
            </a:r>
            <a:r>
              <a:rPr lang="en-US" b="1" dirty="0"/>
              <a:t>90 percent accurate</a:t>
            </a:r>
            <a:r>
              <a:rPr lang="en-US" dirty="0"/>
              <a:t>.</a:t>
            </a:r>
          </a:p>
          <a:p>
            <a:endParaRPr lang="en-US" dirty="0"/>
          </a:p>
        </p:txBody>
      </p:sp>
    </p:spTree>
    <p:extLst>
      <p:ext uri="{BB962C8B-B14F-4D97-AF65-F5344CB8AC3E}">
        <p14:creationId xmlns:p14="http://schemas.microsoft.com/office/powerpoint/2010/main" val="196573771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 dirty="0"/>
              <a:t>Calculating Risk</a:t>
            </a:r>
            <a:endParaRPr lang="en-US" dirty="0"/>
          </a:p>
        </p:txBody>
      </p:sp>
      <p:sp>
        <p:nvSpPr>
          <p:cNvPr id="3" name="Content Placeholder 2"/>
          <p:cNvSpPr>
            <a:spLocks noGrp="1"/>
          </p:cNvSpPr>
          <p:nvPr>
            <p:ph idx="1"/>
          </p:nvPr>
        </p:nvSpPr>
        <p:spPr/>
        <p:txBody>
          <a:bodyPr/>
          <a:lstStyle/>
          <a:p>
            <a:pPr marL="0" indent="0">
              <a:buNone/>
            </a:pPr>
            <a:r>
              <a:rPr lang="en-US" b="1" dirty="0"/>
              <a:t>Calculating Risk rating</a:t>
            </a:r>
            <a:r>
              <a:rPr lang="en-US" dirty="0"/>
              <a:t>:</a:t>
            </a:r>
          </a:p>
          <a:p>
            <a:pPr marL="342900" indent="-257175"/>
            <a:r>
              <a:rPr lang="en-US" dirty="0"/>
              <a:t>Loss Frequency = Likelihood x Attack Success Probability  = 1% x 10%</a:t>
            </a:r>
          </a:p>
          <a:p>
            <a:pPr marL="342900" indent="-257175"/>
            <a:r>
              <a:rPr lang="en-US" dirty="0"/>
              <a:t>Loss Magnitude = Asset Value x Probable Loss = 25 x 50%</a:t>
            </a:r>
          </a:p>
          <a:p>
            <a:pPr marL="0" indent="0">
              <a:buNone/>
            </a:pPr>
            <a:endParaRPr lang="en-US" dirty="0"/>
          </a:p>
          <a:p>
            <a:pPr marL="0" indent="0">
              <a:buNone/>
            </a:pPr>
            <a:r>
              <a:rPr lang="en-US" dirty="0"/>
              <a:t>Risk = Loss Frequency x Loss Magnitude + Uncertainty of estimates</a:t>
            </a:r>
          </a:p>
          <a:p>
            <a:pPr marL="0" indent="0">
              <a:buNone/>
            </a:pPr>
            <a:r>
              <a:rPr lang="en-US" dirty="0"/>
              <a:t>Risk = (0.1% x 12.5) + Uncertainty of estimates</a:t>
            </a:r>
          </a:p>
          <a:p>
            <a:pPr marL="0" indent="0">
              <a:buNone/>
            </a:pPr>
            <a:r>
              <a:rPr lang="en-US" dirty="0"/>
              <a:t>Risk = 0.0125 + (10% x 0.0125)</a:t>
            </a:r>
          </a:p>
          <a:p>
            <a:pPr marL="0" indent="0">
              <a:spcAft>
                <a:spcPts val="900"/>
              </a:spcAft>
              <a:buNone/>
            </a:pPr>
            <a:r>
              <a:rPr lang="en-US" dirty="0"/>
              <a:t>Risk = 0.01375</a:t>
            </a:r>
          </a:p>
          <a:p>
            <a:endParaRPr lang="en-US" dirty="0"/>
          </a:p>
        </p:txBody>
      </p:sp>
      <p:sp>
        <p:nvSpPr>
          <p:cNvPr id="4" name="Rectangle 3"/>
          <p:cNvSpPr/>
          <p:nvPr/>
        </p:nvSpPr>
        <p:spPr>
          <a:xfrm rot="19758017">
            <a:off x="2047061" y="2534797"/>
            <a:ext cx="5671038" cy="8572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257175">
              <a:buSzPts val="1800"/>
              <a:buChar char="●"/>
            </a:pPr>
            <a:r>
              <a:rPr lang="en-US" sz="1500" dirty="0">
                <a:solidFill>
                  <a:schemeClr val="tx1"/>
                </a:solidFill>
              </a:rPr>
              <a:t>Based on these calculations, the organization’s asset </a:t>
            </a:r>
            <a:r>
              <a:rPr lang="en-US" sz="1500" b="1" dirty="0">
                <a:solidFill>
                  <a:schemeClr val="tx1"/>
                </a:solidFill>
              </a:rPr>
              <a:t>A</a:t>
            </a:r>
            <a:r>
              <a:rPr lang="en-US" sz="1500" dirty="0">
                <a:solidFill>
                  <a:schemeClr val="tx1"/>
                </a:solidFill>
              </a:rPr>
              <a:t> has a much higher level of risk than asset </a:t>
            </a:r>
            <a:r>
              <a:rPr lang="en-US" sz="1500" b="1" dirty="0">
                <a:solidFill>
                  <a:schemeClr val="tx1"/>
                </a:solidFill>
              </a:rPr>
              <a:t>B</a:t>
            </a:r>
            <a:r>
              <a:rPr lang="en-US" sz="1500" dirty="0">
                <a:solidFill>
                  <a:schemeClr val="tx1"/>
                </a:solidFill>
              </a:rPr>
              <a:t>.</a:t>
            </a:r>
          </a:p>
          <a:p>
            <a:pPr marL="342900" indent="-257175">
              <a:buSzPts val="1800"/>
              <a:buChar char="●"/>
            </a:pPr>
            <a:r>
              <a:rPr lang="en-US" sz="1500" dirty="0">
                <a:solidFill>
                  <a:schemeClr val="tx1"/>
                </a:solidFill>
              </a:rPr>
              <a:t>2.75 &gt; 0.01375</a:t>
            </a:r>
          </a:p>
        </p:txBody>
      </p:sp>
    </p:spTree>
    <p:extLst>
      <p:ext uri="{BB962C8B-B14F-4D97-AF65-F5344CB8AC3E}">
        <p14:creationId xmlns:p14="http://schemas.microsoft.com/office/powerpoint/2010/main" val="2191851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311;p45"/>
          <p:cNvPicPr preferRelativeResize="0"/>
          <p:nvPr/>
        </p:nvPicPr>
        <p:blipFill>
          <a:blip r:embed="rId2">
            <a:alphaModFix/>
          </a:blip>
          <a:stretch>
            <a:fillRect/>
          </a:stretch>
        </p:blipFill>
        <p:spPr>
          <a:xfrm>
            <a:off x="1434523" y="1028831"/>
            <a:ext cx="5825315" cy="4131414"/>
          </a:xfrm>
          <a:prstGeom prst="rect">
            <a:avLst/>
          </a:prstGeom>
          <a:noFill/>
          <a:ln>
            <a:noFill/>
          </a:ln>
        </p:spPr>
      </p:pic>
      <p:sp>
        <p:nvSpPr>
          <p:cNvPr id="5" name="Google Shape;312;p45"/>
          <p:cNvSpPr/>
          <p:nvPr/>
        </p:nvSpPr>
        <p:spPr>
          <a:xfrm>
            <a:off x="3328048" y="2275010"/>
            <a:ext cx="794044" cy="212214"/>
          </a:xfrm>
          <a:prstGeom prst="rect">
            <a:avLst/>
          </a:prstGeom>
          <a:noFill/>
          <a:ln w="9525" cap="flat" cmpd="sng">
            <a:solidFill>
              <a:srgbClr val="FF0000"/>
            </a:solidFill>
            <a:prstDash val="solid"/>
            <a:round/>
            <a:headEnd type="none" w="sm" len="sm"/>
            <a:tailEnd type="none" w="sm" len="sm"/>
          </a:ln>
        </p:spPr>
        <p:txBody>
          <a:bodyPr spcFirstLastPara="1" wrap="square" lIns="68569" tIns="68569" rIns="68569" bIns="68569" anchor="ctr" anchorCtr="0">
            <a:noAutofit/>
          </a:bodyPr>
          <a:lstStyle/>
          <a:p>
            <a:endParaRPr sz="1050"/>
          </a:p>
        </p:txBody>
      </p:sp>
      <p:sp>
        <p:nvSpPr>
          <p:cNvPr id="6" name="Google Shape;313;p45"/>
          <p:cNvSpPr/>
          <p:nvPr/>
        </p:nvSpPr>
        <p:spPr>
          <a:xfrm>
            <a:off x="4393342" y="2886711"/>
            <a:ext cx="555587" cy="261553"/>
          </a:xfrm>
          <a:prstGeom prst="rect">
            <a:avLst/>
          </a:prstGeom>
          <a:noFill/>
          <a:ln w="9525" cap="flat" cmpd="sng">
            <a:solidFill>
              <a:srgbClr val="FF0000"/>
            </a:solidFill>
            <a:prstDash val="solid"/>
            <a:round/>
            <a:headEnd type="none" w="sm" len="sm"/>
            <a:tailEnd type="none" w="sm" len="sm"/>
          </a:ln>
        </p:spPr>
        <p:txBody>
          <a:bodyPr spcFirstLastPara="1" wrap="square" lIns="68569" tIns="68569" rIns="68569" bIns="68569" anchor="ctr" anchorCtr="0">
            <a:noAutofit/>
          </a:bodyPr>
          <a:lstStyle/>
          <a:p>
            <a:endParaRPr sz="1050"/>
          </a:p>
        </p:txBody>
      </p:sp>
      <p:sp>
        <p:nvSpPr>
          <p:cNvPr id="7" name="Google Shape;314;p45"/>
          <p:cNvSpPr/>
          <p:nvPr/>
        </p:nvSpPr>
        <p:spPr>
          <a:xfrm>
            <a:off x="4613209" y="3360090"/>
            <a:ext cx="1026425" cy="314248"/>
          </a:xfrm>
          <a:prstGeom prst="rect">
            <a:avLst/>
          </a:prstGeom>
          <a:noFill/>
          <a:ln w="9525" cap="flat" cmpd="sng">
            <a:solidFill>
              <a:srgbClr val="FF0000"/>
            </a:solidFill>
            <a:prstDash val="solid"/>
            <a:round/>
            <a:headEnd type="none" w="sm" len="sm"/>
            <a:tailEnd type="none" w="sm" len="sm"/>
          </a:ln>
        </p:spPr>
        <p:txBody>
          <a:bodyPr spcFirstLastPara="1" wrap="square" lIns="68569" tIns="68569" rIns="68569" bIns="68569" anchor="ctr" anchorCtr="0">
            <a:noAutofit/>
          </a:bodyPr>
          <a:lstStyle/>
          <a:p>
            <a:endParaRPr sz="1050"/>
          </a:p>
        </p:txBody>
      </p:sp>
      <p:sp>
        <p:nvSpPr>
          <p:cNvPr id="8" name="Google Shape;315;p45"/>
          <p:cNvSpPr/>
          <p:nvPr/>
        </p:nvSpPr>
        <p:spPr>
          <a:xfrm>
            <a:off x="5755426" y="3913208"/>
            <a:ext cx="1026425" cy="426804"/>
          </a:xfrm>
          <a:prstGeom prst="rect">
            <a:avLst/>
          </a:prstGeom>
          <a:noFill/>
          <a:ln w="9525" cap="flat" cmpd="sng">
            <a:solidFill>
              <a:srgbClr val="FF0000"/>
            </a:solidFill>
            <a:prstDash val="solid"/>
            <a:round/>
            <a:headEnd type="none" w="sm" len="sm"/>
            <a:tailEnd type="none" w="sm" len="sm"/>
          </a:ln>
        </p:spPr>
        <p:txBody>
          <a:bodyPr spcFirstLastPara="1" wrap="square" lIns="68569" tIns="68569" rIns="68569" bIns="68569" anchor="ctr" anchorCtr="0">
            <a:noAutofit/>
          </a:bodyPr>
          <a:lstStyle/>
          <a:p>
            <a:endParaRPr sz="1050"/>
          </a:p>
        </p:txBody>
      </p:sp>
    </p:spTree>
    <p:extLst>
      <p:ext uri="{BB962C8B-B14F-4D97-AF65-F5344CB8AC3E}">
        <p14:creationId xmlns:p14="http://schemas.microsoft.com/office/powerpoint/2010/main" val="414656762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dirty="0"/>
              <a:t>Assessing Risk Acceptability</a:t>
            </a:r>
          </a:p>
        </p:txBody>
      </p:sp>
      <p:sp>
        <p:nvSpPr>
          <p:cNvPr id="3" name="Content Placeholder 2"/>
          <p:cNvSpPr>
            <a:spLocks noGrp="1"/>
          </p:cNvSpPr>
          <p:nvPr>
            <p:ph idx="1"/>
          </p:nvPr>
        </p:nvSpPr>
        <p:spPr/>
        <p:txBody>
          <a:bodyPr/>
          <a:lstStyle/>
          <a:p>
            <a:pPr marL="342900" indent="-257175"/>
            <a:r>
              <a:rPr lang="en-US" dirty="0"/>
              <a:t>For each threat and its associated vulnerabilities that have residual risk, you must create a </a:t>
            </a:r>
            <a:r>
              <a:rPr lang="en-US" b="1" dirty="0"/>
              <a:t>ranking of their relative risk levels</a:t>
            </a:r>
            <a:r>
              <a:rPr lang="en-US" dirty="0"/>
              <a:t>. </a:t>
            </a:r>
          </a:p>
          <a:p>
            <a:pPr marL="342900" indent="0">
              <a:buNone/>
            </a:pPr>
            <a:endParaRPr lang="en-US" dirty="0"/>
          </a:p>
          <a:p>
            <a:pPr marL="342900" indent="-257175"/>
            <a:r>
              <a:rPr lang="en-US" dirty="0"/>
              <a:t>These rankings provide a simplistic approach to </a:t>
            </a:r>
            <a:r>
              <a:rPr lang="en-US" b="1" dirty="0"/>
              <a:t>documenting residual risk</a:t>
            </a:r>
            <a:r>
              <a:rPr lang="en-US" dirty="0"/>
              <a:t>—the left-over risk after the organization has done everything feasible to protect its assets. </a:t>
            </a:r>
          </a:p>
          <a:p>
            <a:endParaRPr lang="en-US" dirty="0"/>
          </a:p>
        </p:txBody>
      </p:sp>
    </p:spTree>
    <p:extLst>
      <p:ext uri="{BB962C8B-B14F-4D97-AF65-F5344CB8AC3E}">
        <p14:creationId xmlns:p14="http://schemas.microsoft.com/office/powerpoint/2010/main" val="322196990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Assessing Risk Acceptability</a:t>
            </a:r>
          </a:p>
        </p:txBody>
      </p:sp>
      <p:sp>
        <p:nvSpPr>
          <p:cNvPr id="3" name="Content Placeholder 2"/>
          <p:cNvSpPr>
            <a:spLocks noGrp="1"/>
          </p:cNvSpPr>
          <p:nvPr>
            <p:ph idx="1"/>
          </p:nvPr>
        </p:nvSpPr>
        <p:spPr/>
        <p:txBody>
          <a:bodyPr/>
          <a:lstStyle/>
          <a:p>
            <a:pPr marL="342900" indent="-257175"/>
            <a:r>
              <a:rPr lang="en-US" b="1" dirty="0"/>
              <a:t>Next, the organization must compare the residual risk to its risk appetite</a:t>
            </a:r>
            <a:r>
              <a:rPr lang="en-US" dirty="0"/>
              <a:t>—the amount of risk the organization is willing to tolerate.</a:t>
            </a:r>
          </a:p>
          <a:p>
            <a:pPr marL="342900" indent="0">
              <a:buNone/>
            </a:pPr>
            <a:endParaRPr lang="en-US" dirty="0"/>
          </a:p>
          <a:p>
            <a:pPr marL="342900" indent="-257175"/>
            <a:r>
              <a:rPr lang="en-US" b="1" dirty="0"/>
              <a:t>If</a:t>
            </a:r>
            <a:r>
              <a:rPr lang="en-US" dirty="0"/>
              <a:t> an organization’s </a:t>
            </a:r>
            <a:r>
              <a:rPr lang="en-US" i="1" dirty="0">
                <a:solidFill>
                  <a:srgbClr val="0000FF"/>
                </a:solidFill>
              </a:rPr>
              <a:t>risk appetite &lt;</a:t>
            </a:r>
            <a:r>
              <a:rPr lang="en-US" dirty="0"/>
              <a:t> an asset’s </a:t>
            </a:r>
            <a:r>
              <a:rPr lang="en-US" i="1" dirty="0">
                <a:solidFill>
                  <a:srgbClr val="0000FF"/>
                </a:solidFill>
              </a:rPr>
              <a:t>residual risk</a:t>
            </a:r>
            <a:r>
              <a:rPr lang="en-US" dirty="0"/>
              <a:t>, it must </a:t>
            </a:r>
            <a:r>
              <a:rPr lang="en-US" i="1" dirty="0">
                <a:solidFill>
                  <a:srgbClr val="0000FF"/>
                </a:solidFill>
              </a:rPr>
              <a:t>move to the next stage of risk control</a:t>
            </a:r>
            <a:r>
              <a:rPr lang="en-US" dirty="0"/>
              <a:t> and look for additional strategies to further reduce the risk.</a:t>
            </a:r>
          </a:p>
          <a:p>
            <a:pPr marL="342900" indent="-257175"/>
            <a:r>
              <a:rPr lang="en-US" b="1" dirty="0"/>
              <a:t>Else</a:t>
            </a:r>
            <a:r>
              <a:rPr lang="en-US" dirty="0"/>
              <a:t> should </a:t>
            </a:r>
            <a:r>
              <a:rPr lang="en-US" i="1" dirty="0">
                <a:solidFill>
                  <a:srgbClr val="0000FF"/>
                </a:solidFill>
              </a:rPr>
              <a:t>move to the later stages of risk control</a:t>
            </a:r>
            <a:r>
              <a:rPr lang="en-US" dirty="0"/>
              <a:t> and continue to monitor and assess its controls and assets.</a:t>
            </a:r>
          </a:p>
          <a:p>
            <a:endParaRPr lang="en-US" dirty="0"/>
          </a:p>
        </p:txBody>
      </p:sp>
    </p:spTree>
    <p:extLst>
      <p:ext uri="{BB962C8B-B14F-4D97-AF65-F5344CB8AC3E}">
        <p14:creationId xmlns:p14="http://schemas.microsoft.com/office/powerpoint/2010/main" val="87556763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Assessing Risk Acceptability</a:t>
            </a:r>
          </a:p>
        </p:txBody>
      </p:sp>
      <p:sp>
        <p:nvSpPr>
          <p:cNvPr id="4" name="Google Shape;456;p65"/>
          <p:cNvSpPr txBox="1">
            <a:spLocks/>
          </p:cNvSpPr>
          <p:nvPr/>
        </p:nvSpPr>
        <p:spPr>
          <a:xfrm>
            <a:off x="543704" y="1615708"/>
            <a:ext cx="8986256" cy="640475"/>
          </a:xfrm>
          <a:prstGeom prst="rect">
            <a:avLst/>
          </a:prstGeom>
        </p:spPr>
        <p:txBody>
          <a:bodyPr spcFirstLastPara="1" vert="horz" wrap="square" lIns="68569" tIns="68569" rIns="68569" bIns="68569" rtlCol="0" anchor="t" anchorCtr="0">
            <a:normAutofit/>
          </a:bodyPr>
          <a:lstStyle>
            <a:lvl1pPr marL="91440" indent="-91440" algn="l" defTabSz="914400" rtl="0" eaLnBrk="1" latinLnBrk="0" hangingPunct="1">
              <a:lnSpc>
                <a:spcPct val="90000"/>
              </a:lnSpc>
              <a:spcBef>
                <a:spcPts val="1200"/>
              </a:spcBef>
              <a:spcAft>
                <a:spcPts val="200"/>
              </a:spcAft>
              <a:buClr>
                <a:schemeClr val="accent3"/>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3"/>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3"/>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3"/>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3"/>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3"/>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3"/>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3"/>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3"/>
              </a:buClr>
              <a:buFont typeface="Wingdings 3" pitchFamily="18" charset="2"/>
              <a:buChar char=""/>
              <a:defRPr sz="1400" kern="1200">
                <a:solidFill>
                  <a:schemeClr val="tx1"/>
                </a:solidFill>
                <a:latin typeface="+mn-lt"/>
                <a:ea typeface="+mn-ea"/>
                <a:cs typeface="+mn-cs"/>
              </a:defRPr>
            </a:lvl9pPr>
          </a:lstStyle>
          <a:p>
            <a:pPr marL="342900" indent="-257175">
              <a:spcBef>
                <a:spcPts val="0"/>
              </a:spcBef>
              <a:spcAft>
                <a:spcPts val="0"/>
              </a:spcAft>
              <a:buSzPts val="1800"/>
              <a:buFont typeface="Tw Cen MT" panose="020B0602020104020603" pitchFamily="34" charset="0"/>
              <a:buChar char="●"/>
            </a:pPr>
            <a:r>
              <a:rPr lang="en-US" sz="1650" b="1"/>
              <a:t>Documenting the Results of Risk Assessment</a:t>
            </a:r>
            <a:endParaRPr lang="en-US" sz="1650" dirty="0"/>
          </a:p>
        </p:txBody>
      </p:sp>
      <p:pic>
        <p:nvPicPr>
          <p:cNvPr id="5" name="Google Shape;459;p65"/>
          <p:cNvPicPr preferRelativeResize="0"/>
          <p:nvPr/>
        </p:nvPicPr>
        <p:blipFill>
          <a:blip r:embed="rId2">
            <a:alphaModFix/>
          </a:blip>
          <a:stretch>
            <a:fillRect/>
          </a:stretch>
        </p:blipFill>
        <p:spPr>
          <a:xfrm>
            <a:off x="2227792" y="1936127"/>
            <a:ext cx="6384274" cy="3068894"/>
          </a:xfrm>
          <a:prstGeom prst="rect">
            <a:avLst/>
          </a:prstGeom>
          <a:noFill/>
          <a:ln>
            <a:noFill/>
          </a:ln>
        </p:spPr>
      </p:pic>
      <p:sp>
        <p:nvSpPr>
          <p:cNvPr id="6" name="Google Shape;460;p65"/>
          <p:cNvSpPr txBox="1">
            <a:spLocks/>
          </p:cNvSpPr>
          <p:nvPr/>
        </p:nvSpPr>
        <p:spPr>
          <a:xfrm>
            <a:off x="-6359" y="2208280"/>
            <a:ext cx="2286905" cy="2524588"/>
          </a:xfrm>
          <a:prstGeom prst="rect">
            <a:avLst/>
          </a:prstGeom>
        </p:spPr>
        <p:txBody>
          <a:bodyPr spcFirstLastPara="1" vert="horz" wrap="square" lIns="68569" tIns="68569" rIns="68569" bIns="68569" rtlCol="0" anchor="t" anchorCtr="0">
            <a:normAutofit/>
          </a:bodyPr>
          <a:lstStyle>
            <a:lvl1pPr marL="91440" indent="-91440" algn="l" defTabSz="914400" rtl="0" eaLnBrk="1" latinLnBrk="0" hangingPunct="1">
              <a:lnSpc>
                <a:spcPct val="90000"/>
              </a:lnSpc>
              <a:spcBef>
                <a:spcPts val="1200"/>
              </a:spcBef>
              <a:spcAft>
                <a:spcPts val="200"/>
              </a:spcAft>
              <a:buClr>
                <a:schemeClr val="accent3"/>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3"/>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3"/>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3"/>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3"/>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3"/>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3"/>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3"/>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3"/>
              </a:buClr>
              <a:buFont typeface="Wingdings 3" pitchFamily="18" charset="2"/>
              <a:buChar char=""/>
              <a:defRPr sz="1400" kern="1200">
                <a:solidFill>
                  <a:schemeClr val="tx1"/>
                </a:solidFill>
                <a:latin typeface="+mn-lt"/>
                <a:ea typeface="+mn-ea"/>
                <a:cs typeface="+mn-cs"/>
              </a:defRPr>
            </a:lvl9pPr>
          </a:lstStyle>
          <a:p>
            <a:pPr marL="342900" indent="-244316">
              <a:spcBef>
                <a:spcPts val="0"/>
              </a:spcBef>
              <a:spcAft>
                <a:spcPts val="0"/>
              </a:spcAft>
              <a:buFont typeface="Tw Cen MT" panose="020B0602020104020603" pitchFamily="34" charset="0"/>
              <a:buChar char="●"/>
            </a:pPr>
            <a:r>
              <a:rPr lang="en-US" sz="1650" dirty="0"/>
              <a:t>The final summarized document is the </a:t>
            </a:r>
            <a:r>
              <a:rPr lang="en-US" sz="1650" b="1" dirty="0"/>
              <a:t>ranked vulnerability risk worksheet</a:t>
            </a:r>
            <a:r>
              <a:rPr lang="en-US" sz="1650" dirty="0"/>
              <a:t>, a sample of which is shown in Table 5-9.</a:t>
            </a:r>
          </a:p>
        </p:txBody>
      </p:sp>
      <p:sp>
        <p:nvSpPr>
          <p:cNvPr id="7" name="Google Shape;461;p65"/>
          <p:cNvSpPr/>
          <p:nvPr/>
        </p:nvSpPr>
        <p:spPr>
          <a:xfrm>
            <a:off x="2280546" y="2338555"/>
            <a:ext cx="6425037" cy="385460"/>
          </a:xfrm>
          <a:prstGeom prst="rect">
            <a:avLst/>
          </a:prstGeom>
          <a:noFill/>
          <a:ln w="9525" cap="flat" cmpd="sng">
            <a:solidFill>
              <a:srgbClr val="FF0000"/>
            </a:solidFill>
            <a:prstDash val="solid"/>
            <a:round/>
            <a:headEnd type="none" w="sm" len="sm"/>
            <a:tailEnd type="none" w="sm" len="sm"/>
          </a:ln>
        </p:spPr>
        <p:txBody>
          <a:bodyPr spcFirstLastPara="1" wrap="square" lIns="68569" tIns="68569" rIns="68569" bIns="68569" anchor="ctr" anchorCtr="0">
            <a:noAutofit/>
          </a:bodyPr>
          <a:lstStyle/>
          <a:p>
            <a:endParaRPr sz="1050"/>
          </a:p>
        </p:txBody>
      </p:sp>
    </p:spTree>
    <p:extLst>
      <p:ext uri="{BB962C8B-B14F-4D97-AF65-F5344CB8AC3E}">
        <p14:creationId xmlns:p14="http://schemas.microsoft.com/office/powerpoint/2010/main" val="28997380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Assessing Risk Acceptability</a:t>
            </a:r>
          </a:p>
        </p:txBody>
      </p:sp>
      <p:sp>
        <p:nvSpPr>
          <p:cNvPr id="3" name="Content Placeholder 2"/>
          <p:cNvSpPr>
            <a:spLocks noGrp="1"/>
          </p:cNvSpPr>
          <p:nvPr>
            <p:ph idx="1"/>
          </p:nvPr>
        </p:nvSpPr>
        <p:spPr/>
        <p:txBody>
          <a:bodyPr/>
          <a:lstStyle/>
          <a:p>
            <a:pPr marL="0" indent="0">
              <a:buNone/>
            </a:pPr>
            <a:r>
              <a:rPr lang="en-US" dirty="0"/>
              <a:t>The worksheet shown in Table 5-9 is organized as follows:</a:t>
            </a:r>
          </a:p>
          <a:p>
            <a:pPr marL="342900" indent="-257175"/>
            <a:r>
              <a:rPr lang="en-US" b="1" dirty="0"/>
              <a:t>Asset</a:t>
            </a:r>
            <a:r>
              <a:rPr lang="en-US" dirty="0"/>
              <a:t>: List each vulnerable asset.</a:t>
            </a:r>
          </a:p>
          <a:p>
            <a:pPr marL="342900" indent="-257175"/>
            <a:r>
              <a:rPr lang="en-US" b="1" dirty="0"/>
              <a:t>Asset relative value</a:t>
            </a:r>
            <a:r>
              <a:rPr lang="en-US" dirty="0"/>
              <a:t>: Show the results for the asset from the weighted factor analysis worksheet. In Table 5-9, this is a number from 1 to 100.</a:t>
            </a:r>
          </a:p>
          <a:p>
            <a:pPr marL="342900" indent="-257175"/>
            <a:r>
              <a:rPr lang="en-US" b="1" dirty="0"/>
              <a:t>Vulnerability</a:t>
            </a:r>
            <a:r>
              <a:rPr lang="en-US" dirty="0"/>
              <a:t>: List each uncontrolled vulnerability. Some assets might be listed more than once.</a:t>
            </a:r>
          </a:p>
          <a:p>
            <a:endParaRPr lang="en-US" dirty="0"/>
          </a:p>
        </p:txBody>
      </p:sp>
    </p:spTree>
    <p:extLst>
      <p:ext uri="{BB962C8B-B14F-4D97-AF65-F5344CB8AC3E}">
        <p14:creationId xmlns:p14="http://schemas.microsoft.com/office/powerpoint/2010/main" val="43650196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Transition from Risk assessment –Risk Control</a:t>
            </a:r>
          </a:p>
        </p:txBody>
      </p:sp>
      <p:sp>
        <p:nvSpPr>
          <p:cNvPr id="3" name="Content Placeholder 2"/>
          <p:cNvSpPr>
            <a:spLocks noGrp="1"/>
          </p:cNvSpPr>
          <p:nvPr>
            <p:ph idx="1"/>
          </p:nvPr>
        </p:nvSpPr>
        <p:spPr>
          <a:xfrm>
            <a:off x="768097" y="1714500"/>
            <a:ext cx="7290053" cy="804497"/>
          </a:xfrm>
        </p:spPr>
        <p:txBody>
          <a:bodyPr>
            <a:normAutofit fontScale="85000" lnSpcReduction="10000"/>
          </a:bodyPr>
          <a:lstStyle/>
          <a:p>
            <a:pPr lvl="0"/>
            <a:r>
              <a:rPr lang="en-US" dirty="0"/>
              <a:t>The ranked vulnerability risk worksheet is the initial working document for the next step in the risk management process: controlling risk.</a:t>
            </a:r>
          </a:p>
          <a:p>
            <a:endParaRPr lang="en-US" dirty="0"/>
          </a:p>
        </p:txBody>
      </p:sp>
      <p:pic>
        <p:nvPicPr>
          <p:cNvPr id="4" name="Google Shape;476;p67"/>
          <p:cNvPicPr preferRelativeResize="0"/>
          <p:nvPr/>
        </p:nvPicPr>
        <p:blipFill>
          <a:blip r:embed="rId2">
            <a:alphaModFix/>
          </a:blip>
          <a:stretch>
            <a:fillRect/>
          </a:stretch>
        </p:blipFill>
        <p:spPr>
          <a:xfrm>
            <a:off x="866121" y="2518997"/>
            <a:ext cx="7422827" cy="1978269"/>
          </a:xfrm>
          <a:prstGeom prst="rect">
            <a:avLst/>
          </a:prstGeom>
          <a:noFill/>
          <a:ln>
            <a:noFill/>
          </a:ln>
        </p:spPr>
      </p:pic>
    </p:spTree>
    <p:extLst>
      <p:ext uri="{BB962C8B-B14F-4D97-AF65-F5344CB8AC3E}">
        <p14:creationId xmlns:p14="http://schemas.microsoft.com/office/powerpoint/2010/main" val="193776519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Week 13-Agenda</a:t>
            </a:r>
          </a:p>
        </p:txBody>
      </p:sp>
      <p:sp>
        <p:nvSpPr>
          <p:cNvPr id="3" name="Content Placeholder 2"/>
          <p:cNvSpPr>
            <a:spLocks noGrp="1"/>
          </p:cNvSpPr>
          <p:nvPr>
            <p:ph idx="1"/>
          </p:nvPr>
        </p:nvSpPr>
        <p:spPr>
          <a:xfrm>
            <a:off x="768096" y="1522705"/>
            <a:ext cx="4596384" cy="3017520"/>
          </a:xfrm>
        </p:spPr>
        <p:txBody>
          <a:bodyPr>
            <a:noAutofit/>
          </a:bodyPr>
          <a:lstStyle/>
          <a:p>
            <a:pPr marL="342900">
              <a:buFont typeface="+mj-lt"/>
              <a:buAutoNum type="arabicPeriod"/>
            </a:pPr>
            <a:r>
              <a:rPr lang="en-US" dirty="0"/>
              <a:t>Risk Management</a:t>
            </a:r>
          </a:p>
          <a:p>
            <a:pPr marL="473202" lvl="1" indent="-342900">
              <a:buFont typeface="+mj-lt"/>
              <a:buAutoNum type="alphaLcParenR"/>
            </a:pPr>
            <a:r>
              <a:rPr lang="en-US" sz="1650" dirty="0">
                <a:solidFill>
                  <a:schemeClr val="bg1">
                    <a:lumMod val="95000"/>
                  </a:schemeClr>
                </a:solidFill>
              </a:rPr>
              <a:t>Risk Identification</a:t>
            </a:r>
          </a:p>
          <a:p>
            <a:pPr marL="473202" lvl="1" indent="-342900">
              <a:buFont typeface="+mj-lt"/>
              <a:buAutoNum type="alphaLcParenR"/>
            </a:pPr>
            <a:r>
              <a:rPr lang="en-US" sz="1650" dirty="0">
                <a:solidFill>
                  <a:schemeClr val="bg1">
                    <a:lumMod val="95000"/>
                  </a:schemeClr>
                </a:solidFill>
              </a:rPr>
              <a:t>Risk Assessment</a:t>
            </a:r>
          </a:p>
          <a:p>
            <a:pPr marL="473202" lvl="1" indent="-342900">
              <a:buFont typeface="+mj-lt"/>
              <a:buAutoNum type="alphaLcParenR"/>
            </a:pPr>
            <a:r>
              <a:rPr lang="en-US" sz="1650" dirty="0"/>
              <a:t>Risk Control</a:t>
            </a:r>
          </a:p>
          <a:p>
            <a:pPr marL="342900">
              <a:buFont typeface="+mj-lt"/>
              <a:buAutoNum type="arabicPeriod"/>
            </a:pPr>
            <a:endParaRPr lang="en-US" sz="1650" dirty="0"/>
          </a:p>
        </p:txBody>
      </p:sp>
      <p:pic>
        <p:nvPicPr>
          <p:cNvPr id="5122" name="Picture 2" descr="Agenda List Concept Vector Illustration Stok Vektör Sanatı &amp; Kişisel  Ajanda'nin Daha Fazla Görseli - Kişisel Ajanda, Toplantı, İş Toplantısı -  iStoc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94522" y="1522705"/>
            <a:ext cx="2946559" cy="33769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772403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499;p70"/>
          <p:cNvSpPr txBox="1">
            <a:spLocks/>
          </p:cNvSpPr>
          <p:nvPr/>
        </p:nvSpPr>
        <p:spPr>
          <a:xfrm>
            <a:off x="939358" y="1757408"/>
            <a:ext cx="2013975" cy="2173950"/>
          </a:xfrm>
          <a:prstGeom prst="rect">
            <a:avLst/>
          </a:prstGeom>
        </p:spPr>
        <p:txBody>
          <a:bodyPr spcFirstLastPara="1" vert="horz" wrap="square" lIns="68569" tIns="68569" rIns="68569" bIns="68569" rtlCol="0" anchor="t" anchorCtr="0">
            <a:normAutofit fontScale="92500" lnSpcReduction="10000"/>
          </a:bodyPr>
          <a:lstStyle>
            <a:lvl1pPr marL="91440" indent="-91440" algn="l" defTabSz="914400" rtl="0" eaLnBrk="1" latinLnBrk="0" hangingPunct="1">
              <a:lnSpc>
                <a:spcPct val="90000"/>
              </a:lnSpc>
              <a:spcBef>
                <a:spcPts val="1200"/>
              </a:spcBef>
              <a:spcAft>
                <a:spcPts val="200"/>
              </a:spcAft>
              <a:buClr>
                <a:schemeClr val="accent3"/>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3"/>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3"/>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3"/>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3"/>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3"/>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3"/>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3"/>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3"/>
              </a:buClr>
              <a:buFont typeface="Wingdings 3" pitchFamily="18" charset="2"/>
              <a:buChar char=""/>
              <a:defRPr sz="1400" kern="1200">
                <a:solidFill>
                  <a:schemeClr val="tx1"/>
                </a:solidFill>
                <a:latin typeface="+mn-lt"/>
                <a:ea typeface="+mn-ea"/>
                <a:cs typeface="+mn-cs"/>
              </a:defRPr>
            </a:lvl9pPr>
          </a:lstStyle>
          <a:p>
            <a:pPr marL="342900" indent="-257175">
              <a:spcBef>
                <a:spcPts val="0"/>
              </a:spcBef>
              <a:spcAft>
                <a:spcPts val="0"/>
              </a:spcAft>
              <a:buSzPts val="1800"/>
              <a:buFont typeface="Tw Cen MT" panose="020B0602020104020603" pitchFamily="34" charset="0"/>
              <a:buChar char="●"/>
            </a:pPr>
            <a:r>
              <a:rPr lang="en-US" sz="1650"/>
              <a:t>Figure 5-13 illustrates how risk should be considered in relationship to threats, assets, and </a:t>
            </a:r>
            <a:r>
              <a:rPr lang="en-US" sz="1650" b="1"/>
              <a:t>countermeasures used to reduce that risk</a:t>
            </a:r>
            <a:r>
              <a:rPr lang="en-US" sz="1650"/>
              <a:t>.</a:t>
            </a:r>
          </a:p>
        </p:txBody>
      </p:sp>
      <p:pic>
        <p:nvPicPr>
          <p:cNvPr id="5" name="Google Shape;500;p70"/>
          <p:cNvPicPr preferRelativeResize="0"/>
          <p:nvPr/>
        </p:nvPicPr>
        <p:blipFill>
          <a:blip r:embed="rId2">
            <a:alphaModFix/>
          </a:blip>
          <a:stretch>
            <a:fillRect/>
          </a:stretch>
        </p:blipFill>
        <p:spPr>
          <a:xfrm>
            <a:off x="3157840" y="659423"/>
            <a:ext cx="5658647" cy="4224264"/>
          </a:xfrm>
          <a:prstGeom prst="rect">
            <a:avLst/>
          </a:prstGeom>
          <a:noFill/>
          <a:ln>
            <a:noFill/>
          </a:ln>
        </p:spPr>
      </p:pic>
      <p:sp>
        <p:nvSpPr>
          <p:cNvPr id="6" name="Google Shape;501;p70"/>
          <p:cNvSpPr/>
          <p:nvPr/>
        </p:nvSpPr>
        <p:spPr>
          <a:xfrm>
            <a:off x="4955101" y="1643646"/>
            <a:ext cx="1147950" cy="227523"/>
          </a:xfrm>
          <a:prstGeom prst="rect">
            <a:avLst/>
          </a:prstGeom>
          <a:noFill/>
          <a:ln w="9525" cap="flat" cmpd="sng">
            <a:solidFill>
              <a:srgbClr val="FF0000"/>
            </a:solidFill>
            <a:prstDash val="solid"/>
            <a:round/>
            <a:headEnd type="none" w="sm" len="sm"/>
            <a:tailEnd type="none" w="sm" len="sm"/>
          </a:ln>
        </p:spPr>
        <p:txBody>
          <a:bodyPr spcFirstLastPara="1" wrap="square" lIns="68569" tIns="68569" rIns="68569" bIns="68569" anchor="ctr" anchorCtr="0">
            <a:noAutofit/>
          </a:bodyPr>
          <a:lstStyle/>
          <a:p>
            <a:endParaRPr sz="1050"/>
          </a:p>
        </p:txBody>
      </p:sp>
    </p:spTree>
    <p:extLst>
      <p:ext uri="{BB962C8B-B14F-4D97-AF65-F5344CB8AC3E}">
        <p14:creationId xmlns:p14="http://schemas.microsoft.com/office/powerpoint/2010/main" val="375664555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Risk control</a:t>
            </a:r>
          </a:p>
        </p:txBody>
      </p:sp>
      <p:sp>
        <p:nvSpPr>
          <p:cNvPr id="3" name="Content Placeholder 2"/>
          <p:cNvSpPr>
            <a:spLocks noGrp="1"/>
          </p:cNvSpPr>
          <p:nvPr>
            <p:ph idx="1"/>
          </p:nvPr>
        </p:nvSpPr>
        <p:spPr/>
        <p:txBody>
          <a:bodyPr/>
          <a:lstStyle/>
          <a:p>
            <a:pPr marL="0" indent="0">
              <a:buNone/>
            </a:pPr>
            <a:r>
              <a:rPr lang="en-US" dirty="0"/>
              <a:t>Risk control involves three basic steps: </a:t>
            </a:r>
          </a:p>
          <a:p>
            <a:pPr marL="342900" indent="-257175"/>
            <a:r>
              <a:rPr lang="en-US" b="1" dirty="0"/>
              <a:t>selection </a:t>
            </a:r>
            <a:r>
              <a:rPr lang="en-US" dirty="0"/>
              <a:t>of control strategies</a:t>
            </a:r>
            <a:r>
              <a:rPr lang="en-US" dirty="0">
                <a:solidFill>
                  <a:srgbClr val="FF0000"/>
                </a:solidFill>
              </a:rPr>
              <a:t>*</a:t>
            </a:r>
            <a:r>
              <a:rPr lang="en-US" dirty="0"/>
              <a:t>, </a:t>
            </a:r>
          </a:p>
          <a:p>
            <a:pPr marL="342900" indent="-257175"/>
            <a:r>
              <a:rPr lang="en-US" b="1" dirty="0"/>
              <a:t>justification </a:t>
            </a:r>
            <a:r>
              <a:rPr lang="en-US" dirty="0"/>
              <a:t>of these strategies to upper management, and </a:t>
            </a:r>
          </a:p>
          <a:p>
            <a:pPr marL="342900" indent="-257175"/>
            <a:r>
              <a:rPr lang="en-US" dirty="0"/>
              <a:t>the </a:t>
            </a:r>
            <a:r>
              <a:rPr lang="en-US" b="1" dirty="0"/>
              <a:t>implementation, monitoring, and ongoing assessment</a:t>
            </a:r>
            <a:r>
              <a:rPr lang="en-US" dirty="0"/>
              <a:t> of the adopted controls.</a:t>
            </a:r>
          </a:p>
          <a:p>
            <a:endParaRPr lang="en-US" dirty="0"/>
          </a:p>
        </p:txBody>
      </p:sp>
    </p:spTree>
    <p:extLst>
      <p:ext uri="{BB962C8B-B14F-4D97-AF65-F5344CB8AC3E}">
        <p14:creationId xmlns:p14="http://schemas.microsoft.com/office/powerpoint/2010/main" val="69919182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Selecting Control strategies</a:t>
            </a:r>
          </a:p>
        </p:txBody>
      </p:sp>
      <p:sp>
        <p:nvSpPr>
          <p:cNvPr id="3" name="Content Placeholder 2"/>
          <p:cNvSpPr>
            <a:spLocks noGrp="1"/>
          </p:cNvSpPr>
          <p:nvPr>
            <p:ph idx="1"/>
          </p:nvPr>
        </p:nvSpPr>
        <p:spPr/>
        <p:txBody>
          <a:bodyPr/>
          <a:lstStyle/>
          <a:p>
            <a:pPr marL="0" indent="0">
              <a:buNone/>
            </a:pPr>
            <a:r>
              <a:rPr lang="en-US" b="1" dirty="0"/>
              <a:t>Selecting Control Strategies</a:t>
            </a:r>
            <a:r>
              <a:rPr lang="en-US" dirty="0"/>
              <a:t>:</a:t>
            </a:r>
          </a:p>
          <a:p>
            <a:pPr marL="342900" indent="-257175"/>
            <a:r>
              <a:rPr lang="en-US" dirty="0"/>
              <a:t>the team must </a:t>
            </a:r>
            <a:r>
              <a:rPr lang="en-US" b="1" dirty="0">
                <a:solidFill>
                  <a:srgbClr val="0000FF"/>
                </a:solidFill>
              </a:rPr>
              <a:t>choose a strategy</a:t>
            </a:r>
            <a:r>
              <a:rPr lang="en-US" dirty="0"/>
              <a:t> for controlling each risk that results from these vulnerabilities. </a:t>
            </a:r>
          </a:p>
          <a:p>
            <a:pPr marL="342900" indent="-257175"/>
            <a:r>
              <a:rPr lang="en-US" dirty="0"/>
              <a:t>The five strategies are:</a:t>
            </a:r>
          </a:p>
          <a:p>
            <a:pPr marL="685800" lvl="1" indent="-257175">
              <a:buSzPts val="1800"/>
            </a:pPr>
            <a:r>
              <a:rPr lang="en-US" sz="1650" b="1" dirty="0"/>
              <a:t>defense</a:t>
            </a:r>
            <a:r>
              <a:rPr lang="en-US" sz="1650" dirty="0"/>
              <a:t>, </a:t>
            </a:r>
          </a:p>
          <a:p>
            <a:pPr marL="685800" lvl="1" indent="-257175">
              <a:buSzPts val="1800"/>
            </a:pPr>
            <a:r>
              <a:rPr lang="en-US" sz="1650" b="1" dirty="0"/>
              <a:t>transference</a:t>
            </a:r>
            <a:r>
              <a:rPr lang="en-US" sz="1650" dirty="0"/>
              <a:t>, </a:t>
            </a:r>
          </a:p>
          <a:p>
            <a:pPr marL="685800" lvl="1" indent="-257175">
              <a:buSzPts val="1800"/>
            </a:pPr>
            <a:r>
              <a:rPr lang="en-US" sz="1650" b="1" dirty="0"/>
              <a:t>mitigation</a:t>
            </a:r>
            <a:r>
              <a:rPr lang="en-US" sz="1650" dirty="0"/>
              <a:t>, </a:t>
            </a:r>
          </a:p>
          <a:p>
            <a:pPr marL="685800" lvl="1" indent="-257175">
              <a:buSzPts val="1800"/>
            </a:pPr>
            <a:r>
              <a:rPr lang="en-US" sz="1650" b="1" dirty="0"/>
              <a:t>acceptance</a:t>
            </a:r>
            <a:r>
              <a:rPr lang="en-US" sz="1650" dirty="0"/>
              <a:t>, and </a:t>
            </a:r>
          </a:p>
          <a:p>
            <a:pPr marL="685800" lvl="1" indent="-257175">
              <a:buSzPts val="1800"/>
            </a:pPr>
            <a:r>
              <a:rPr lang="en-US" sz="1650" b="1" dirty="0"/>
              <a:t>termination</a:t>
            </a:r>
            <a:r>
              <a:rPr lang="en-US" sz="1650" dirty="0"/>
              <a:t>.</a:t>
            </a:r>
          </a:p>
          <a:p>
            <a:endParaRPr lang="en-US" dirty="0"/>
          </a:p>
        </p:txBody>
      </p:sp>
    </p:spTree>
    <p:extLst>
      <p:ext uri="{BB962C8B-B14F-4D97-AF65-F5344CB8AC3E}">
        <p14:creationId xmlns:p14="http://schemas.microsoft.com/office/powerpoint/2010/main" val="274257270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defense</a:t>
            </a:r>
          </a:p>
        </p:txBody>
      </p:sp>
      <p:sp>
        <p:nvSpPr>
          <p:cNvPr id="3" name="Content Placeholder 2"/>
          <p:cNvSpPr>
            <a:spLocks noGrp="1"/>
          </p:cNvSpPr>
          <p:nvPr>
            <p:ph idx="1"/>
          </p:nvPr>
        </p:nvSpPr>
        <p:spPr/>
        <p:txBody>
          <a:bodyPr/>
          <a:lstStyle/>
          <a:p>
            <a:pPr marL="342900" indent="-257175"/>
            <a:r>
              <a:rPr lang="en-US" u="sng" dirty="0"/>
              <a:t>STRATEGY A</a:t>
            </a:r>
            <a:r>
              <a:rPr lang="en-US" dirty="0"/>
              <a:t>: </a:t>
            </a:r>
            <a:r>
              <a:rPr lang="en-US" b="1" dirty="0">
                <a:solidFill>
                  <a:srgbClr val="0000FF"/>
                </a:solidFill>
              </a:rPr>
              <a:t>defense risk control strategy</a:t>
            </a:r>
            <a:r>
              <a:rPr lang="en-US" b="1" dirty="0">
                <a:solidFill>
                  <a:srgbClr val="FF0000"/>
                </a:solidFill>
              </a:rPr>
              <a:t>*</a:t>
            </a:r>
            <a:r>
              <a:rPr lang="en-US" dirty="0"/>
              <a:t> → The risk control strategy that attempts to </a:t>
            </a:r>
            <a:r>
              <a:rPr lang="en-US" b="1" dirty="0"/>
              <a:t>eliminate </a:t>
            </a:r>
            <a:r>
              <a:rPr lang="en-US" dirty="0"/>
              <a:t>or </a:t>
            </a:r>
            <a:r>
              <a:rPr lang="en-US" b="1" dirty="0"/>
              <a:t>reduce </a:t>
            </a:r>
            <a:r>
              <a:rPr lang="en-US" dirty="0"/>
              <a:t>any remaining uncontrolled risk through the </a:t>
            </a:r>
            <a:r>
              <a:rPr lang="en-US" i="1" dirty="0">
                <a:solidFill>
                  <a:srgbClr val="0000FF"/>
                </a:solidFill>
              </a:rPr>
              <a:t>application of additional controls and safeguards</a:t>
            </a:r>
            <a:r>
              <a:rPr lang="en-US" dirty="0"/>
              <a:t>. Also known as the </a:t>
            </a:r>
            <a:r>
              <a:rPr lang="en-US" b="1" dirty="0"/>
              <a:t>avoidance strategy</a:t>
            </a:r>
            <a:r>
              <a:rPr lang="en-US" dirty="0"/>
              <a:t>.</a:t>
            </a:r>
          </a:p>
          <a:p>
            <a:pPr marL="342900" indent="0">
              <a:buNone/>
            </a:pPr>
            <a:endParaRPr lang="en-US" dirty="0"/>
          </a:p>
          <a:p>
            <a:pPr marL="342900" indent="-257175"/>
            <a:r>
              <a:rPr lang="en-US" dirty="0"/>
              <a:t>Preferred approach to controlling risk.</a:t>
            </a:r>
          </a:p>
          <a:p>
            <a:pPr marL="342900" indent="-257175"/>
            <a:r>
              <a:rPr lang="en-US" u="sng" dirty="0"/>
              <a:t>Common methods</a:t>
            </a:r>
            <a:r>
              <a:rPr lang="en-US" dirty="0"/>
              <a:t>: application of policy, education and training, application of technology</a:t>
            </a:r>
          </a:p>
          <a:p>
            <a:endParaRPr lang="en-US" dirty="0"/>
          </a:p>
        </p:txBody>
      </p:sp>
    </p:spTree>
    <p:extLst>
      <p:ext uri="{BB962C8B-B14F-4D97-AF65-F5344CB8AC3E}">
        <p14:creationId xmlns:p14="http://schemas.microsoft.com/office/powerpoint/2010/main" val="108889274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transference</a:t>
            </a:r>
          </a:p>
        </p:txBody>
      </p:sp>
      <p:sp>
        <p:nvSpPr>
          <p:cNvPr id="3" name="Content Placeholder 2"/>
          <p:cNvSpPr>
            <a:spLocks noGrp="1"/>
          </p:cNvSpPr>
          <p:nvPr>
            <p:ph idx="1"/>
          </p:nvPr>
        </p:nvSpPr>
        <p:spPr/>
        <p:txBody>
          <a:bodyPr/>
          <a:lstStyle/>
          <a:p>
            <a:pPr marL="342900" indent="-257175"/>
            <a:r>
              <a:rPr lang="en-US" b="1" dirty="0">
                <a:solidFill>
                  <a:srgbClr val="0000FF"/>
                </a:solidFill>
              </a:rPr>
              <a:t>transference risk control strategy</a:t>
            </a:r>
            <a:r>
              <a:rPr lang="en-US" b="1" dirty="0">
                <a:solidFill>
                  <a:srgbClr val="FF0000"/>
                </a:solidFill>
              </a:rPr>
              <a:t>*</a:t>
            </a:r>
            <a:r>
              <a:rPr lang="en-US" dirty="0"/>
              <a:t> → The risk control strategy that attempts to </a:t>
            </a:r>
            <a:r>
              <a:rPr lang="en-US" b="1" dirty="0"/>
              <a:t>shift risk to other assets, other processes, or other organizations</a:t>
            </a:r>
            <a:r>
              <a:rPr lang="en-US" dirty="0"/>
              <a:t>.</a:t>
            </a:r>
          </a:p>
          <a:p>
            <a:pPr marL="342900" indent="0">
              <a:buNone/>
            </a:pPr>
            <a:endParaRPr lang="en-US" dirty="0"/>
          </a:p>
          <a:p>
            <a:pPr marL="342900" indent="-257175"/>
            <a:r>
              <a:rPr lang="en-US" u="sng" dirty="0"/>
              <a:t>Common methods</a:t>
            </a:r>
            <a:r>
              <a:rPr lang="en-US" dirty="0"/>
              <a:t>: rethinking how services are offered, revising deployment models, outsourcing to other organizations, purchasing insurance, or implementing service contracts with providers.</a:t>
            </a:r>
          </a:p>
          <a:p>
            <a:endParaRPr lang="en-US" dirty="0"/>
          </a:p>
        </p:txBody>
      </p:sp>
      <p:sp>
        <p:nvSpPr>
          <p:cNvPr id="4" name="Rectangle 3"/>
          <p:cNvSpPr/>
          <p:nvPr/>
        </p:nvSpPr>
        <p:spPr>
          <a:xfrm>
            <a:off x="2921245" y="3831248"/>
            <a:ext cx="3283927" cy="3494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solidFill>
                  <a:schemeClr val="tx1"/>
                </a:solidFill>
              </a:rPr>
              <a:t>Stick to your own knitting</a:t>
            </a:r>
          </a:p>
        </p:txBody>
      </p:sp>
    </p:spTree>
    <p:extLst>
      <p:ext uri="{BB962C8B-B14F-4D97-AF65-F5344CB8AC3E}">
        <p14:creationId xmlns:p14="http://schemas.microsoft.com/office/powerpoint/2010/main" val="1479491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Mitigation (Continuity strategy)</a:t>
            </a:r>
          </a:p>
        </p:txBody>
      </p:sp>
      <p:sp>
        <p:nvSpPr>
          <p:cNvPr id="3" name="Content Placeholder 2"/>
          <p:cNvSpPr>
            <a:spLocks noGrp="1"/>
          </p:cNvSpPr>
          <p:nvPr>
            <p:ph idx="1"/>
          </p:nvPr>
        </p:nvSpPr>
        <p:spPr/>
        <p:txBody>
          <a:bodyPr/>
          <a:lstStyle/>
          <a:p>
            <a:pPr marL="342900" indent="-257175"/>
            <a:r>
              <a:rPr lang="en-US" b="1" dirty="0">
                <a:solidFill>
                  <a:srgbClr val="0000FF"/>
                </a:solidFill>
              </a:rPr>
              <a:t>mitigation risk control strategy</a:t>
            </a:r>
            <a:r>
              <a:rPr lang="en-US" dirty="0"/>
              <a:t> → The risk control strategy that attempts to </a:t>
            </a:r>
            <a:r>
              <a:rPr lang="en-US" b="1" dirty="0"/>
              <a:t>reduce the impact of the loss</a:t>
            </a:r>
            <a:r>
              <a:rPr lang="en-US" dirty="0"/>
              <a:t> caused by a realized incident, disaster, or attack </a:t>
            </a:r>
            <a:r>
              <a:rPr lang="en-US" i="1" dirty="0">
                <a:solidFill>
                  <a:srgbClr val="0000FF"/>
                </a:solidFill>
              </a:rPr>
              <a:t>through effective contingency planning and preparation</a:t>
            </a:r>
            <a:r>
              <a:rPr lang="en-US" dirty="0"/>
              <a:t>.</a:t>
            </a:r>
          </a:p>
          <a:p>
            <a:pPr marL="0" indent="0">
              <a:buNone/>
            </a:pPr>
            <a:endParaRPr lang="en-US" dirty="0"/>
          </a:p>
          <a:p>
            <a:pPr marL="342900" indent="-257175"/>
            <a:r>
              <a:rPr lang="en-US" u="sng" dirty="0"/>
              <a:t>Common methods</a:t>
            </a:r>
            <a:r>
              <a:rPr lang="en-US" dirty="0"/>
              <a:t>: the incident response plan, the disaster recovery plan, and the business continuity plan.</a:t>
            </a:r>
          </a:p>
          <a:p>
            <a:endParaRPr lang="en-US" dirty="0"/>
          </a:p>
        </p:txBody>
      </p:sp>
    </p:spTree>
    <p:extLst>
      <p:ext uri="{BB962C8B-B14F-4D97-AF65-F5344CB8AC3E}">
        <p14:creationId xmlns:p14="http://schemas.microsoft.com/office/powerpoint/2010/main" val="108781806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acceptance</a:t>
            </a:r>
          </a:p>
        </p:txBody>
      </p:sp>
      <p:sp>
        <p:nvSpPr>
          <p:cNvPr id="3" name="Content Placeholder 2"/>
          <p:cNvSpPr>
            <a:spLocks noGrp="1"/>
          </p:cNvSpPr>
          <p:nvPr>
            <p:ph idx="1"/>
          </p:nvPr>
        </p:nvSpPr>
        <p:spPr/>
        <p:txBody>
          <a:bodyPr/>
          <a:lstStyle/>
          <a:p>
            <a:pPr marL="342900" indent="-257175"/>
            <a:r>
              <a:rPr lang="en-US" u="sng" dirty="0"/>
              <a:t>STRATEGY D</a:t>
            </a:r>
            <a:r>
              <a:rPr lang="en-US" dirty="0"/>
              <a:t>: </a:t>
            </a:r>
            <a:r>
              <a:rPr lang="en-US" b="1" dirty="0">
                <a:solidFill>
                  <a:srgbClr val="0000FF"/>
                </a:solidFill>
              </a:rPr>
              <a:t>acceptance risk control strategy</a:t>
            </a:r>
            <a:r>
              <a:rPr lang="en-US" b="1" dirty="0">
                <a:solidFill>
                  <a:srgbClr val="FF0000"/>
                </a:solidFill>
              </a:rPr>
              <a:t>*</a:t>
            </a:r>
            <a:r>
              <a:rPr lang="en-US" dirty="0"/>
              <a:t> → The risk control strategy that indicates the organization is willing to </a:t>
            </a:r>
            <a:r>
              <a:rPr lang="en-US" b="1" dirty="0"/>
              <a:t>accept the current level of risk</a:t>
            </a:r>
            <a:r>
              <a:rPr lang="en-US" dirty="0"/>
              <a:t>. As a result, the organization makes a conscious decision to </a:t>
            </a:r>
            <a:r>
              <a:rPr lang="en-US" i="1" dirty="0">
                <a:solidFill>
                  <a:srgbClr val="0000FF"/>
                </a:solidFill>
              </a:rPr>
              <a:t>do nothing</a:t>
            </a:r>
            <a:r>
              <a:rPr lang="en-US" dirty="0"/>
              <a:t> to protect an information asset from risk and to </a:t>
            </a:r>
            <a:r>
              <a:rPr lang="en-US" i="1" dirty="0">
                <a:solidFill>
                  <a:srgbClr val="0000FF"/>
                </a:solidFill>
              </a:rPr>
              <a:t>accept the outcome</a:t>
            </a:r>
            <a:r>
              <a:rPr lang="en-US" dirty="0"/>
              <a:t> from any resulting exploitation.</a:t>
            </a:r>
          </a:p>
          <a:p>
            <a:pPr marL="342900" indent="0">
              <a:buNone/>
            </a:pPr>
            <a:endParaRPr lang="en-US" dirty="0"/>
          </a:p>
          <a:p>
            <a:pPr marL="342900" indent="-257175"/>
            <a:r>
              <a:rPr lang="en-US" dirty="0"/>
              <a:t>This strategy may or may not be a conscious business decision (“</a:t>
            </a:r>
            <a:r>
              <a:rPr lang="en-US" b="1" u="sng" dirty="0"/>
              <a:t>safety in numbers</a:t>
            </a:r>
            <a:r>
              <a:rPr lang="en-US" dirty="0"/>
              <a:t>”).</a:t>
            </a:r>
          </a:p>
          <a:p>
            <a:pPr marL="342900" indent="-257175"/>
            <a:r>
              <a:rPr lang="en-US" dirty="0"/>
              <a:t>Based on the current </a:t>
            </a:r>
            <a:r>
              <a:rPr lang="en-US" i="1" dirty="0"/>
              <a:t>residual risk</a:t>
            </a:r>
            <a:r>
              <a:rPr lang="en-US" dirty="0"/>
              <a:t> and the organization’s </a:t>
            </a:r>
            <a:r>
              <a:rPr lang="en-US" i="1" dirty="0"/>
              <a:t>risk appetite</a:t>
            </a:r>
            <a:r>
              <a:rPr lang="en-US" dirty="0"/>
              <a:t>.</a:t>
            </a:r>
          </a:p>
          <a:p>
            <a:endParaRPr lang="en-US" dirty="0"/>
          </a:p>
        </p:txBody>
      </p:sp>
    </p:spTree>
    <p:extLst>
      <p:ext uri="{BB962C8B-B14F-4D97-AF65-F5344CB8AC3E}">
        <p14:creationId xmlns:p14="http://schemas.microsoft.com/office/powerpoint/2010/main" val="171254925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termination</a:t>
            </a:r>
          </a:p>
        </p:txBody>
      </p:sp>
      <p:sp>
        <p:nvSpPr>
          <p:cNvPr id="3" name="Content Placeholder 2"/>
          <p:cNvSpPr>
            <a:spLocks noGrp="1"/>
          </p:cNvSpPr>
          <p:nvPr>
            <p:ph idx="1"/>
          </p:nvPr>
        </p:nvSpPr>
        <p:spPr/>
        <p:txBody>
          <a:bodyPr/>
          <a:lstStyle/>
          <a:p>
            <a:pPr marL="342900" indent="-257175"/>
            <a:r>
              <a:rPr lang="en-US" b="1" dirty="0">
                <a:solidFill>
                  <a:srgbClr val="0000FF"/>
                </a:solidFill>
              </a:rPr>
              <a:t>termination risk control strategy</a:t>
            </a:r>
            <a:r>
              <a:rPr lang="en-US" b="1" dirty="0">
                <a:solidFill>
                  <a:srgbClr val="FF0000"/>
                </a:solidFill>
              </a:rPr>
              <a:t>*</a:t>
            </a:r>
            <a:r>
              <a:rPr lang="en-US" dirty="0"/>
              <a:t> → the risk control strategy that </a:t>
            </a:r>
            <a:r>
              <a:rPr lang="en-US" b="1" dirty="0"/>
              <a:t>eliminates all risk</a:t>
            </a:r>
            <a:r>
              <a:rPr lang="en-US" dirty="0"/>
              <a:t> associated with an information asset by </a:t>
            </a:r>
            <a:r>
              <a:rPr lang="en-US" i="1" dirty="0">
                <a:solidFill>
                  <a:srgbClr val="0000FF"/>
                </a:solidFill>
              </a:rPr>
              <a:t>removing it from service</a:t>
            </a:r>
            <a:r>
              <a:rPr lang="en-US" dirty="0"/>
              <a:t>.</a:t>
            </a:r>
          </a:p>
          <a:p>
            <a:pPr marL="342900" indent="0">
              <a:buNone/>
            </a:pPr>
            <a:endParaRPr lang="en-US" dirty="0"/>
          </a:p>
          <a:p>
            <a:pPr marL="342900" indent="-257175"/>
            <a:r>
              <a:rPr lang="en-US" u="sng" dirty="0"/>
              <a:t>Example</a:t>
            </a:r>
            <a:r>
              <a:rPr lang="en-US" dirty="0"/>
              <a:t>: if an organization studies the risks of implementing business-to-consumer e-commerce operations and determines that the risks are not sufficiently offset by the potential benefits, the </a:t>
            </a:r>
            <a:r>
              <a:rPr lang="en-US" u="sng" dirty="0"/>
              <a:t>organization may seek an alternate mechanism </a:t>
            </a:r>
            <a:r>
              <a:rPr lang="en-US" dirty="0"/>
              <a:t>to meet customer needs. </a:t>
            </a:r>
          </a:p>
          <a:p>
            <a:endParaRPr lang="en-US" dirty="0"/>
          </a:p>
        </p:txBody>
      </p:sp>
    </p:spTree>
    <p:extLst>
      <p:ext uri="{BB962C8B-B14F-4D97-AF65-F5344CB8AC3E}">
        <p14:creationId xmlns:p14="http://schemas.microsoft.com/office/powerpoint/2010/main" val="164819608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Questions &amp; Feedback</a:t>
            </a:r>
          </a:p>
        </p:txBody>
      </p:sp>
      <p:pic>
        <p:nvPicPr>
          <p:cNvPr id="1026" name="Picture 2" descr="imgur.com | Risk management, Work humor, Hum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07502" y="3466643"/>
            <a:ext cx="3214688" cy="15716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7258731"/>
      </p:ext>
    </p:extLst>
  </p:cSld>
  <p:clrMapOvr>
    <a:masterClrMapping/>
  </p:clrMapOvr>
</p:sld>
</file>

<file path=ppt/theme/theme1.xml><?xml version="1.0" encoding="utf-8"?>
<a:theme xmlns:a="http://schemas.openxmlformats.org/drawingml/2006/main" name="Luxe">
  <a:themeElements>
    <a:clrScheme name="Luxe">
      <a:dk1>
        <a:srgbClr val="000000"/>
      </a:dk1>
      <a:lt1>
        <a:srgbClr val="FFFFFF"/>
      </a:lt1>
      <a:dk2>
        <a:srgbClr val="B7B7B7"/>
      </a:dk2>
      <a:lt2>
        <a:srgbClr val="273B5F"/>
      </a:lt2>
      <a:accent1>
        <a:srgbClr val="5D4037"/>
      </a:accent1>
      <a:accent2>
        <a:srgbClr val="455A64"/>
      </a:accent2>
      <a:accent3>
        <a:srgbClr val="57BB8A"/>
      </a:accent3>
      <a:accent4>
        <a:srgbClr val="78909C"/>
      </a:accent4>
      <a:accent5>
        <a:srgbClr val="607D8B"/>
      </a:accent5>
      <a:accent6>
        <a:srgbClr val="DCE755"/>
      </a:accent6>
      <a:hlink>
        <a:srgbClr val="607D8B"/>
      </a:hlink>
      <a:folHlink>
        <a:srgbClr val="607D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270</TotalTime>
  <Words>3396</Words>
  <Application>Microsoft Office PowerPoint</Application>
  <PresentationFormat>On-screen Show (16:9)</PresentationFormat>
  <Paragraphs>283</Paragraphs>
  <Slides>76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76</vt:i4>
      </vt:variant>
    </vt:vector>
  </HeadingPairs>
  <TitlesOfParts>
    <vt:vector size="82" baseType="lpstr">
      <vt:lpstr>Comic Sans MS</vt:lpstr>
      <vt:lpstr>Tw Cen MT</vt:lpstr>
      <vt:lpstr>Open Sans</vt:lpstr>
      <vt:lpstr>Arial</vt:lpstr>
      <vt:lpstr>Economica</vt:lpstr>
      <vt:lpstr>Luxe</vt:lpstr>
      <vt:lpstr>Information Security CS-353</vt:lpstr>
      <vt:lpstr>Week 14-Agenda</vt:lpstr>
      <vt:lpstr>Introduction</vt:lpstr>
      <vt:lpstr>Overview of Risk Management</vt:lpstr>
      <vt:lpstr>PowerPoint Presentation</vt:lpstr>
      <vt:lpstr>Risk management</vt:lpstr>
      <vt:lpstr>Principle of risk management</vt:lpstr>
      <vt:lpstr>Risk appetite</vt:lpstr>
      <vt:lpstr>Residue risk</vt:lpstr>
      <vt:lpstr>PowerPoint Presentation</vt:lpstr>
      <vt:lpstr>Risk Identification</vt:lpstr>
      <vt:lpstr>Planning and Organizing the Process</vt:lpstr>
      <vt:lpstr>Risk Identification</vt:lpstr>
      <vt:lpstr>Identifying, Inventorying, and Categorizing Assets</vt:lpstr>
      <vt:lpstr>PowerPoint Presentation</vt:lpstr>
      <vt:lpstr>Risk Identification</vt:lpstr>
      <vt:lpstr>Classifying, Valuing, and Prioritizing Information Assets</vt:lpstr>
      <vt:lpstr>Classifying, Valuing, and Prioritizing Information Assets</vt:lpstr>
      <vt:lpstr>Classifying, Valuing, and Prioritizing Information Assets</vt:lpstr>
      <vt:lpstr>Classifying, Valuing, and Prioritizing Information Assets</vt:lpstr>
      <vt:lpstr>PowerPoint Presentation</vt:lpstr>
      <vt:lpstr>Classifying, Valuing, and Prioritizing Information Assets</vt:lpstr>
      <vt:lpstr>PowerPoint Presentation</vt:lpstr>
      <vt:lpstr>Risk identification</vt:lpstr>
      <vt:lpstr>Identifying and Prioritizing Threats</vt:lpstr>
      <vt:lpstr>Identifying Threats along with examples</vt:lpstr>
      <vt:lpstr>Prioritizing Threats</vt:lpstr>
      <vt:lpstr>Risk identification</vt:lpstr>
      <vt:lpstr>Specifying Asset Vulnerabilities</vt:lpstr>
      <vt:lpstr>Specifying Asset Vulnerabilities</vt:lpstr>
      <vt:lpstr>Specifying Asset Vulnerabilities</vt:lpstr>
      <vt:lpstr>Specifying Asset Vulnerabilities</vt:lpstr>
      <vt:lpstr>THANKS</vt:lpstr>
      <vt:lpstr>TVA Worksheet</vt:lpstr>
      <vt:lpstr>PowerPoint Presentation</vt:lpstr>
      <vt:lpstr>TVA Worksheet</vt:lpstr>
      <vt:lpstr>TVA Worksheet</vt:lpstr>
      <vt:lpstr>TVA Worksheet</vt:lpstr>
      <vt:lpstr>TVA Worksheet</vt:lpstr>
      <vt:lpstr>Connection between identification and assessment</vt:lpstr>
      <vt:lpstr>Week 13-Agenda</vt:lpstr>
      <vt:lpstr>Risk Assessment</vt:lpstr>
      <vt:lpstr>PowerPoint Presentation</vt:lpstr>
      <vt:lpstr>Planning and Organizing Risk Assessment</vt:lpstr>
      <vt:lpstr>PowerPoint Presentation</vt:lpstr>
      <vt:lpstr>Determining the Loss Frequency</vt:lpstr>
      <vt:lpstr>Determining the Loss Frequency</vt:lpstr>
      <vt:lpstr>Determining the Loss Frequency</vt:lpstr>
      <vt:lpstr>Determining the Loss Frequency</vt:lpstr>
      <vt:lpstr>Determining the Loss Frequency</vt:lpstr>
      <vt:lpstr>Event Loss Frequency</vt:lpstr>
      <vt:lpstr>PowerPoint Presentation</vt:lpstr>
      <vt:lpstr>PowerPoint Presentation</vt:lpstr>
      <vt:lpstr>evaluating loss magnitude</vt:lpstr>
      <vt:lpstr>PowerPoint Presentation</vt:lpstr>
      <vt:lpstr>Calculating Risk</vt:lpstr>
      <vt:lpstr>Calculating Risk</vt:lpstr>
      <vt:lpstr>Calculating Risk</vt:lpstr>
      <vt:lpstr>Calculating Risk</vt:lpstr>
      <vt:lpstr>Calculating Risk</vt:lpstr>
      <vt:lpstr>PowerPoint Presentation</vt:lpstr>
      <vt:lpstr>Assessing Risk Acceptability</vt:lpstr>
      <vt:lpstr>Assessing Risk Acceptability</vt:lpstr>
      <vt:lpstr>Assessing Risk Acceptability</vt:lpstr>
      <vt:lpstr>Assessing Risk Acceptability</vt:lpstr>
      <vt:lpstr>Transition from Risk assessment –Risk Control</vt:lpstr>
      <vt:lpstr>Week 13-Agenda</vt:lpstr>
      <vt:lpstr>PowerPoint Presentation</vt:lpstr>
      <vt:lpstr>Risk control</vt:lpstr>
      <vt:lpstr>Selecting Control strategies</vt:lpstr>
      <vt:lpstr>defense</vt:lpstr>
      <vt:lpstr>transference</vt:lpstr>
      <vt:lpstr>Mitigation (Continuity strategy)</vt:lpstr>
      <vt:lpstr>acceptance</vt:lpstr>
      <vt:lpstr>termination</vt:lpstr>
      <vt:lpstr>Questions &amp; Feedback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Security Policy, Standards, and Practices</dc:title>
  <cp:lastModifiedBy>Hanan Zia</cp:lastModifiedBy>
  <cp:revision>36</cp:revision>
  <dcterms:modified xsi:type="dcterms:W3CDTF">2025-12-22T18:39:35Z</dcterms:modified>
</cp:coreProperties>
</file>