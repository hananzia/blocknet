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4" r:id="rId1"/>
  </p:sldMasterIdLst>
  <p:notesMasterIdLst>
    <p:notesMasterId r:id="rId73"/>
  </p:notesMasterIdLst>
  <p:sldIdLst>
    <p:sldId id="256" r:id="rId2"/>
    <p:sldId id="326" r:id="rId3"/>
    <p:sldId id="422" r:id="rId4"/>
    <p:sldId id="438" r:id="rId5"/>
    <p:sldId id="424" r:id="rId6"/>
    <p:sldId id="425" r:id="rId7"/>
    <p:sldId id="426" r:id="rId8"/>
    <p:sldId id="427" r:id="rId9"/>
    <p:sldId id="439" r:id="rId10"/>
    <p:sldId id="429" r:id="rId11"/>
    <p:sldId id="430" r:id="rId12"/>
    <p:sldId id="440" r:id="rId13"/>
    <p:sldId id="431" r:id="rId14"/>
    <p:sldId id="432" r:id="rId15"/>
    <p:sldId id="433" r:id="rId16"/>
    <p:sldId id="441" r:id="rId17"/>
    <p:sldId id="434" r:id="rId18"/>
    <p:sldId id="435" r:id="rId19"/>
    <p:sldId id="442" r:id="rId20"/>
    <p:sldId id="436" r:id="rId21"/>
    <p:sldId id="443" r:id="rId22"/>
    <p:sldId id="502" r:id="rId23"/>
    <p:sldId id="513" r:id="rId24"/>
    <p:sldId id="444" r:id="rId25"/>
    <p:sldId id="511" r:id="rId26"/>
    <p:sldId id="445" r:id="rId27"/>
    <p:sldId id="446" r:id="rId28"/>
    <p:sldId id="510" r:id="rId29"/>
    <p:sldId id="448" r:id="rId30"/>
    <p:sldId id="512" r:id="rId31"/>
    <p:sldId id="501" r:id="rId32"/>
    <p:sldId id="458" r:id="rId33"/>
    <p:sldId id="459" r:id="rId34"/>
    <p:sldId id="460" r:id="rId35"/>
    <p:sldId id="461" r:id="rId36"/>
    <p:sldId id="462" r:id="rId37"/>
    <p:sldId id="463" r:id="rId38"/>
    <p:sldId id="464" r:id="rId39"/>
    <p:sldId id="503" r:id="rId40"/>
    <p:sldId id="465" r:id="rId41"/>
    <p:sldId id="466" r:id="rId42"/>
    <p:sldId id="467" r:id="rId43"/>
    <p:sldId id="468" r:id="rId44"/>
    <p:sldId id="469" r:id="rId45"/>
    <p:sldId id="470" r:id="rId46"/>
    <p:sldId id="474" r:id="rId47"/>
    <p:sldId id="475" r:id="rId48"/>
    <p:sldId id="477" r:id="rId49"/>
    <p:sldId id="478" r:id="rId50"/>
    <p:sldId id="480" r:id="rId51"/>
    <p:sldId id="481" r:id="rId52"/>
    <p:sldId id="482" r:id="rId53"/>
    <p:sldId id="483" r:id="rId54"/>
    <p:sldId id="484" r:id="rId55"/>
    <p:sldId id="485" r:id="rId56"/>
    <p:sldId id="486" r:id="rId57"/>
    <p:sldId id="487" r:id="rId58"/>
    <p:sldId id="504" r:id="rId59"/>
    <p:sldId id="505" r:id="rId60"/>
    <p:sldId id="490" r:id="rId61"/>
    <p:sldId id="506" r:id="rId62"/>
    <p:sldId id="492" r:id="rId63"/>
    <p:sldId id="493" r:id="rId64"/>
    <p:sldId id="494" r:id="rId65"/>
    <p:sldId id="495" r:id="rId66"/>
    <p:sldId id="496" r:id="rId67"/>
    <p:sldId id="507" r:id="rId68"/>
    <p:sldId id="508" r:id="rId69"/>
    <p:sldId id="499" r:id="rId70"/>
    <p:sldId id="500" r:id="rId71"/>
    <p:sldId id="341" r:id="rId7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47" autoAdjust="0"/>
    <p:restoredTop sz="91242" autoAdjust="0"/>
  </p:normalViewPr>
  <p:slideViewPr>
    <p:cSldViewPr>
      <p:cViewPr varScale="1">
        <p:scale>
          <a:sx n="75" d="100"/>
          <a:sy n="75" d="100"/>
        </p:scale>
        <p:origin x="936" y="5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4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584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4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4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45C1C40-39DB-4BFC-B4BA-B8FAADDB518F}" type="slidenum">
              <a:rPr lang="en-US"/>
              <a:pPr>
                <a:defRPr/>
              </a:pPr>
              <a:t>‹#›</a:t>
            </a:fld>
            <a:endParaRPr lang="en-US"/>
          </a:p>
        </p:txBody>
      </p:sp>
    </p:spTree>
    <p:extLst>
      <p:ext uri="{BB962C8B-B14F-4D97-AF65-F5344CB8AC3E}">
        <p14:creationId xmlns:p14="http://schemas.microsoft.com/office/powerpoint/2010/main" val="24646208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381000" y="685800"/>
            <a:ext cx="6096000" cy="3429000"/>
          </a:xfrm>
          <a:ln/>
        </p:spPr>
      </p:sp>
      <p:sp>
        <p:nvSpPr>
          <p:cNvPr id="36867" name="Notes Placeholder 2"/>
          <p:cNvSpPr>
            <a:spLocks noGrp="1"/>
          </p:cNvSpPr>
          <p:nvPr>
            <p:ph type="body" idx="1"/>
          </p:nvPr>
        </p:nvSpPr>
        <p:spPr>
          <a:noFill/>
          <a:ln/>
        </p:spPr>
        <p:txBody>
          <a:bodyPr/>
          <a:lstStyle/>
          <a:p>
            <a:pPr eaLnBrk="1" hangingPunct="1"/>
            <a:endParaRPr lang="en-US" dirty="0"/>
          </a:p>
        </p:txBody>
      </p:sp>
      <p:sp>
        <p:nvSpPr>
          <p:cNvPr id="36868" name="Slide Number Placeholder 3"/>
          <p:cNvSpPr>
            <a:spLocks noGrp="1"/>
          </p:cNvSpPr>
          <p:nvPr>
            <p:ph type="sldNum" sz="quarter" idx="5"/>
          </p:nvPr>
        </p:nvSpPr>
        <p:spPr>
          <a:noFill/>
        </p:spPr>
        <p:txBody>
          <a:bodyPr/>
          <a:lstStyle/>
          <a:p>
            <a:fld id="{72A94D45-6B00-4B8A-83A5-7AE89772CDCE}" type="slidenum">
              <a:rPr lang="en-US" smtClean="0"/>
              <a:pPr/>
              <a:t>1</a:t>
            </a:fld>
            <a:endParaRPr lang="en-US"/>
          </a:p>
        </p:txBody>
      </p:sp>
    </p:spTree>
    <p:extLst>
      <p:ext uri="{BB962C8B-B14F-4D97-AF65-F5344CB8AC3E}">
        <p14:creationId xmlns:p14="http://schemas.microsoft.com/office/powerpoint/2010/main" val="1863493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Infix: </a:t>
            </a:r>
          </a:p>
          <a:p>
            <a:r>
              <a:rPr lang="en-GB" dirty="0"/>
              <a:t>A + B</a:t>
            </a:r>
          </a:p>
          <a:p>
            <a:r>
              <a:rPr lang="en-GB" dirty="0"/>
              <a:t>(A + B) * C</a:t>
            </a:r>
          </a:p>
          <a:p>
            <a:endParaRPr lang="en-GB" dirty="0"/>
          </a:p>
          <a:p>
            <a:r>
              <a:rPr lang="en-PK" dirty="0"/>
              <a:t>Prefix: </a:t>
            </a:r>
          </a:p>
          <a:p>
            <a:r>
              <a:rPr lang="en-GB" dirty="0"/>
              <a:t>+ A B</a:t>
            </a:r>
          </a:p>
          <a:p>
            <a:pPr marL="171450" indent="-171450">
              <a:buFont typeface="Arial" panose="020B0604020202020204" pitchFamily="34" charset="0"/>
              <a:buChar char="•"/>
            </a:pPr>
            <a:r>
              <a:rPr lang="en-GB" dirty="0"/>
              <a:t>+ A B C</a:t>
            </a:r>
          </a:p>
          <a:p>
            <a:pPr marL="171450" indent="-171450">
              <a:buFont typeface="Arial" panose="020B0604020202020204" pitchFamily="34" charset="0"/>
              <a:buChar char="•"/>
            </a:pPr>
            <a:endParaRPr lang="en-GB" dirty="0"/>
          </a:p>
          <a:p>
            <a:r>
              <a:rPr lang="en-PK" dirty="0"/>
              <a:t>Postfix: </a:t>
            </a:r>
          </a:p>
          <a:p>
            <a:r>
              <a:rPr lang="en-GB" dirty="0"/>
              <a:t>A B +</a:t>
            </a:r>
          </a:p>
          <a:p>
            <a:r>
              <a:rPr lang="en-GB" dirty="0"/>
              <a:t>A B + C *</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a:t>
            </a:fld>
            <a:endParaRPr lang="en-US"/>
          </a:p>
        </p:txBody>
      </p:sp>
    </p:spTree>
    <p:extLst>
      <p:ext uri="{BB962C8B-B14F-4D97-AF65-F5344CB8AC3E}">
        <p14:creationId xmlns:p14="http://schemas.microsoft.com/office/powerpoint/2010/main" val="2271837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stack[top--] = -1; is just for </a:t>
            </a:r>
            <a:r>
              <a:rPr lang="en-GB" b="1" dirty="0"/>
              <a:t>clarity and debugging convenience</a:t>
            </a:r>
            <a:r>
              <a:rPr lang="en-GB" dirty="0"/>
              <a:t>.</a:t>
            </a:r>
            <a:br>
              <a:rPr lang="en-GB" dirty="0"/>
            </a:br>
            <a:r>
              <a:rPr lang="en-GB" dirty="0"/>
              <a:t>It’s </a:t>
            </a:r>
            <a:r>
              <a:rPr lang="en-GB" b="1" dirty="0"/>
              <a:t>not required</a:t>
            </a:r>
            <a:r>
              <a:rPr lang="en-GB" dirty="0"/>
              <a:t> for correctness — the top pointer alone manages which elements are valid.</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15</a:t>
            </a:fld>
            <a:endParaRPr lang="en-US"/>
          </a:p>
        </p:txBody>
      </p:sp>
    </p:spTree>
    <p:extLst>
      <p:ext uri="{BB962C8B-B14F-4D97-AF65-F5344CB8AC3E}">
        <p14:creationId xmlns:p14="http://schemas.microsoft.com/office/powerpoint/2010/main" val="4193233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Push Sequence:</a:t>
            </a:r>
          </a:p>
          <a:p>
            <a:r>
              <a:rPr lang="en-GB" dirty="0"/>
              <a:t>Initially: top = NULL</a:t>
            </a:r>
          </a:p>
          <a:p>
            <a:endParaRPr lang="en-GB" dirty="0"/>
          </a:p>
          <a:p>
            <a:r>
              <a:rPr lang="en-GB" dirty="0"/>
              <a:t>Push(10):</a:t>
            </a:r>
          </a:p>
          <a:p>
            <a:r>
              <a:rPr lang="en-GB" dirty="0"/>
              <a:t>top → [10 | next = NULL]</a:t>
            </a:r>
          </a:p>
          <a:p>
            <a:endParaRPr lang="en-GB" dirty="0"/>
          </a:p>
          <a:p>
            <a:r>
              <a:rPr lang="en-GB" dirty="0"/>
              <a:t>Push(20):</a:t>
            </a:r>
          </a:p>
          <a:p>
            <a:r>
              <a:rPr lang="en-GB" dirty="0"/>
              <a:t>top → [20 | next → 10]</a:t>
            </a:r>
          </a:p>
          <a:p>
            <a:endParaRPr lang="en-GB" dirty="0"/>
          </a:p>
          <a:p>
            <a:r>
              <a:rPr lang="en-GB" dirty="0"/>
              <a:t>Push(30):</a:t>
            </a:r>
          </a:p>
          <a:p>
            <a:r>
              <a:rPr lang="en-GB" dirty="0"/>
              <a:t>top → [30 | next → 20 → 10]</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19</a:t>
            </a:fld>
            <a:endParaRPr lang="en-US"/>
          </a:p>
        </p:txBody>
      </p:sp>
    </p:spTree>
    <p:extLst>
      <p:ext uri="{BB962C8B-B14F-4D97-AF65-F5344CB8AC3E}">
        <p14:creationId xmlns:p14="http://schemas.microsoft.com/office/powerpoint/2010/main" val="1184958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diagram is showing the </a:t>
            </a:r>
            <a:r>
              <a:rPr lang="en-GB" b="1" dirty="0"/>
              <a:t>actual memory layout</a:t>
            </a:r>
            <a:r>
              <a:rPr lang="en-GB" dirty="0"/>
              <a:t>:</a:t>
            </a:r>
          </a:p>
          <a:p>
            <a:pPr>
              <a:buFont typeface="Arial" panose="020B0604020202020204" pitchFamily="34" charset="0"/>
              <a:buChar char="•"/>
            </a:pPr>
            <a:r>
              <a:rPr lang="en-GB" dirty="0"/>
              <a:t>main() at the top (highest address).</a:t>
            </a:r>
          </a:p>
          <a:p>
            <a:pPr>
              <a:buFont typeface="Arial" panose="020B0604020202020204" pitchFamily="34" charset="0"/>
              <a:buChar char="•"/>
            </a:pPr>
            <a:r>
              <a:rPr lang="en-GB" dirty="0"/>
              <a:t>When foo() is called → new frame is created </a:t>
            </a:r>
            <a:r>
              <a:rPr lang="en-GB" b="1" dirty="0"/>
              <a:t>below</a:t>
            </a:r>
            <a:r>
              <a:rPr lang="en-GB" dirty="0"/>
              <a:t> main’s frame (lower address).</a:t>
            </a:r>
          </a:p>
          <a:p>
            <a:pPr>
              <a:buFont typeface="Arial" panose="020B0604020202020204" pitchFamily="34" charset="0"/>
              <a:buChar char="•"/>
            </a:pPr>
            <a:r>
              <a:rPr lang="en-GB" dirty="0"/>
              <a:t>When bar() is called → another frame below foo.</a:t>
            </a:r>
          </a:p>
          <a:p>
            <a:pPr>
              <a:buFont typeface="Arial" panose="020B0604020202020204" pitchFamily="34" charset="0"/>
              <a:buChar char="•"/>
            </a:pPr>
            <a:r>
              <a:rPr lang="en-GB" dirty="0"/>
              <a:t>When functions return, frames are popped off in reverse order.</a:t>
            </a:r>
          </a:p>
          <a:p>
            <a:r>
              <a:rPr lang="en-GB" dirty="0"/>
              <a:t>So “downward” here reflects the </a:t>
            </a:r>
            <a:r>
              <a:rPr lang="en-GB" b="1" dirty="0"/>
              <a:t>hardware reality</a:t>
            </a:r>
            <a:r>
              <a:rPr lang="en-GB" dirty="0"/>
              <a:t>: stack frames are allocated at </a:t>
            </a:r>
            <a:r>
              <a:rPr lang="en-GB" b="1" dirty="0"/>
              <a:t>lower memory addresses</a:t>
            </a:r>
            <a:r>
              <a:rPr lang="en-GB" dirty="0"/>
              <a:t> as calls are nested.</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GB" dirty="0"/>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On </a:t>
            </a:r>
            <a:r>
              <a:rPr lang="en-GB" b="1" dirty="0"/>
              <a:t>Windows</a:t>
            </a:r>
            <a:r>
              <a:rPr lang="en-GB" dirty="0"/>
              <a:t>, the equivalent of Linux’s </a:t>
            </a:r>
            <a:r>
              <a:rPr lang="en-GB" b="1" dirty="0"/>
              <a:t>ELF (Executable and Linkable Format)</a:t>
            </a:r>
            <a:r>
              <a:rPr lang="en-GB" dirty="0"/>
              <a:t> </a:t>
            </a:r>
            <a:r>
              <a:rPr lang="en-GB" dirty="0" err="1"/>
              <a:t>is:</a:t>
            </a:r>
            <a:r>
              <a:rPr lang="en-GB" b="1" dirty="0" err="1"/>
              <a:t>PE</a:t>
            </a:r>
            <a:r>
              <a:rPr lang="en-GB" b="1" dirty="0"/>
              <a:t> (Portable Executable) Format. </a:t>
            </a:r>
            <a:r>
              <a:rPr lang="en-GB" dirty="0"/>
              <a:t>Used for executables (.exe), object code, DLLs (.</a:t>
            </a:r>
            <a:r>
              <a:rPr lang="en-GB" dirty="0" err="1"/>
              <a:t>dll</a:t>
            </a:r>
            <a:r>
              <a:rPr lang="en-GB" dirty="0"/>
              <a:t>), and system files (.sys).</a:t>
            </a:r>
          </a:p>
          <a:p>
            <a:pPr>
              <a:buFont typeface="Arial" panose="020B0604020202020204" pitchFamily="34" charset="0"/>
              <a:buChar char="•"/>
            </a:pPr>
            <a:endParaRPr lang="en-GB" b="1" dirty="0"/>
          </a:p>
          <a:p>
            <a:pPr>
              <a:buFont typeface="Arial" panose="020B0604020202020204" pitchFamily="34" charset="0"/>
              <a:buChar char="•"/>
            </a:pPr>
            <a:r>
              <a:rPr lang="en-GB" b="1" dirty="0"/>
              <a:t>ELF</a:t>
            </a:r>
            <a:r>
              <a:rPr lang="en-GB" dirty="0"/>
              <a:t> = </a:t>
            </a:r>
            <a:r>
              <a:rPr lang="en-GB" b="1" dirty="0"/>
              <a:t>Executable and Linkable Format</a:t>
            </a:r>
            <a:r>
              <a:rPr lang="en-GB" dirty="0"/>
              <a:t>. </a:t>
            </a:r>
          </a:p>
          <a:p>
            <a:pPr>
              <a:buFont typeface="Arial" panose="020B0604020202020204" pitchFamily="34" charset="0"/>
              <a:buChar char="•"/>
            </a:pPr>
            <a:r>
              <a:rPr lang="en-GB" dirty="0"/>
              <a:t>It’s the </a:t>
            </a:r>
            <a:r>
              <a:rPr lang="en-GB" b="1" dirty="0"/>
              <a:t>standard binary format</a:t>
            </a:r>
            <a:r>
              <a:rPr lang="en-GB" dirty="0"/>
              <a:t> used on Linux/Unix systems for:</a:t>
            </a:r>
          </a:p>
          <a:p>
            <a:pPr marL="742950" lvl="1" indent="-285750">
              <a:buFont typeface="Arial" panose="020B0604020202020204" pitchFamily="34" charset="0"/>
              <a:buChar char="•"/>
            </a:pPr>
            <a:r>
              <a:rPr lang="en-GB" dirty="0"/>
              <a:t>Executable programs (</a:t>
            </a:r>
            <a:r>
              <a:rPr lang="en-GB" dirty="0" err="1"/>
              <a:t>a.out</a:t>
            </a:r>
            <a:r>
              <a:rPr lang="en-GB" dirty="0"/>
              <a:t>, compiled binaries)</a:t>
            </a:r>
          </a:p>
          <a:p>
            <a:pPr marL="742950" lvl="1" indent="-285750">
              <a:buFont typeface="Arial" panose="020B0604020202020204" pitchFamily="34" charset="0"/>
              <a:buChar char="•"/>
            </a:pPr>
            <a:r>
              <a:rPr lang="en-GB" dirty="0"/>
              <a:t>Object code (.o files)</a:t>
            </a:r>
          </a:p>
          <a:p>
            <a:pPr marL="742950" lvl="1" indent="-285750">
              <a:buFont typeface="Arial" panose="020B0604020202020204" pitchFamily="34" charset="0"/>
              <a:buChar char="•"/>
            </a:pPr>
            <a:r>
              <a:rPr lang="en-GB" dirty="0"/>
              <a:t>Shared libraries (.so files)</a:t>
            </a:r>
          </a:p>
          <a:p>
            <a:pPr marL="742950" lvl="1" indent="-285750">
              <a:buFont typeface="Arial" panose="020B0604020202020204" pitchFamily="34" charset="0"/>
              <a:buChar char="•"/>
            </a:pPr>
            <a:r>
              <a:rPr lang="en-GB" dirty="0"/>
              <a:t>Core dumps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Think of ELF as the </a:t>
            </a:r>
            <a:r>
              <a:rPr lang="en-GB" b="1" dirty="0"/>
              <a:t>packaging format</a:t>
            </a:r>
            <a:r>
              <a:rPr lang="en-GB" dirty="0"/>
              <a:t> that the compiler and linker use to wrap up your program so the operating system can run it.</a:t>
            </a:r>
            <a:br>
              <a:rPr lang="en-GB" dirty="0"/>
            </a:br>
            <a:br>
              <a:rPr lang="en-GB" dirty="0"/>
            </a:br>
            <a:r>
              <a:rPr lang="en-GB" dirty="0"/>
              <a:t>When you compile your C++ program:</a:t>
            </a:r>
          </a:p>
          <a:p>
            <a:r>
              <a:rPr lang="en-GB" dirty="0"/>
              <a:t>g++ </a:t>
            </a:r>
            <a:r>
              <a:rPr lang="en-GB" dirty="0" err="1"/>
              <a:t>program.cpp</a:t>
            </a:r>
            <a:r>
              <a:rPr lang="en-GB" dirty="0"/>
              <a:t> -o program</a:t>
            </a:r>
          </a:p>
          <a:p>
            <a:pPr>
              <a:buFont typeface="Arial" panose="020B0604020202020204" pitchFamily="34" charset="0"/>
              <a:buChar char="•"/>
            </a:pPr>
            <a:r>
              <a:rPr lang="en-GB" dirty="0"/>
              <a:t>The compiler produces an </a:t>
            </a:r>
            <a:r>
              <a:rPr lang="en-GB" b="1" dirty="0"/>
              <a:t>ELF executable</a:t>
            </a:r>
            <a:r>
              <a:rPr lang="en-GB" dirty="0"/>
              <a:t> (on Linux).</a:t>
            </a:r>
          </a:p>
          <a:p>
            <a:pPr>
              <a:buFont typeface="Arial" panose="020B0604020202020204" pitchFamily="34" charset="0"/>
              <a:buChar char="•"/>
            </a:pPr>
            <a:r>
              <a:rPr lang="en-GB" dirty="0"/>
              <a:t>When you run it (./program), the </a:t>
            </a:r>
            <a:r>
              <a:rPr lang="en-GB" b="1" dirty="0"/>
              <a:t>operating system loader</a:t>
            </a:r>
            <a:r>
              <a:rPr lang="en-GB" dirty="0"/>
              <a:t> (part of the kernel) loads this ELF file into memory.</a:t>
            </a:r>
          </a:p>
          <a:p>
            <a:pPr>
              <a:buFont typeface="Arial" panose="020B0604020202020204" pitchFamily="34" charset="0"/>
              <a:buChar char="•"/>
            </a:pPr>
            <a:r>
              <a:rPr lang="en-GB" dirty="0"/>
              <a:t>The ELF file contains information about:</a:t>
            </a:r>
          </a:p>
          <a:p>
            <a:pPr marL="742950" lvl="1" indent="-285750">
              <a:buFont typeface="Arial" panose="020B0604020202020204" pitchFamily="34" charset="0"/>
              <a:buChar char="•"/>
            </a:pPr>
            <a:r>
              <a:rPr lang="en-GB" dirty="0"/>
              <a:t>Program entry point (where execution starts).</a:t>
            </a:r>
          </a:p>
          <a:p>
            <a:pPr marL="742950" lvl="1" indent="-285750">
              <a:buFont typeface="Arial" panose="020B0604020202020204" pitchFamily="34" charset="0"/>
              <a:buChar char="•"/>
            </a:pPr>
            <a:r>
              <a:rPr lang="en-GB" dirty="0"/>
              <a:t>Code segments (machine instructions).</a:t>
            </a:r>
          </a:p>
          <a:p>
            <a:pPr marL="742950" lvl="1" indent="-285750">
              <a:buFont typeface="Arial" panose="020B0604020202020204" pitchFamily="34" charset="0"/>
              <a:buChar char="•"/>
            </a:pPr>
            <a:r>
              <a:rPr lang="en-GB" dirty="0"/>
              <a:t>Data segments (variables, constants).</a:t>
            </a:r>
          </a:p>
          <a:p>
            <a:pPr marL="742950" lvl="1" indent="-285750">
              <a:buFont typeface="Arial" panose="020B0604020202020204" pitchFamily="34" charset="0"/>
              <a:buChar char="•"/>
            </a:pPr>
            <a:r>
              <a:rPr lang="en-GB" dirty="0"/>
              <a:t>Libraries to link.</a:t>
            </a:r>
          </a:p>
          <a:p>
            <a:endParaRPr lang="en-GB" dirty="0"/>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24</a:t>
            </a:fld>
            <a:endParaRPr lang="en-US"/>
          </a:p>
        </p:txBody>
      </p:sp>
    </p:spTree>
    <p:extLst>
      <p:ext uri="{BB962C8B-B14F-4D97-AF65-F5344CB8AC3E}">
        <p14:creationId xmlns:p14="http://schemas.microsoft.com/office/powerpoint/2010/main" val="4177344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Saved Registers</a:t>
            </a:r>
          </a:p>
          <a:p>
            <a:pPr>
              <a:buFont typeface="Arial" panose="020B0604020202020204" pitchFamily="34" charset="0"/>
              <a:buChar char="•"/>
            </a:pPr>
            <a:r>
              <a:rPr lang="en-GB" b="1" dirty="0"/>
              <a:t>What</a:t>
            </a:r>
            <a:r>
              <a:rPr lang="en-GB" dirty="0"/>
              <a:t>: Copies of CPU registers (general-purpose or special-purpose) saved onto the stack.</a:t>
            </a:r>
          </a:p>
          <a:p>
            <a:pPr>
              <a:buFont typeface="Arial" panose="020B0604020202020204" pitchFamily="34" charset="0"/>
              <a:buChar char="•"/>
            </a:pPr>
            <a:r>
              <a:rPr lang="en-GB" b="1" dirty="0"/>
              <a:t>Why</a:t>
            </a:r>
            <a:r>
              <a:rPr lang="en-GB" dirty="0"/>
              <a:t>: To preserve the </a:t>
            </a:r>
            <a:r>
              <a:rPr lang="en-GB" b="1" dirty="0"/>
              <a:t>CPU state</a:t>
            </a:r>
            <a:r>
              <a:rPr lang="en-GB" dirty="0"/>
              <a:t> of the caller function.</a:t>
            </a:r>
          </a:p>
          <a:p>
            <a:pPr>
              <a:buFont typeface="Arial" panose="020B0604020202020204" pitchFamily="34" charset="0"/>
              <a:buChar char="•"/>
            </a:pPr>
            <a:r>
              <a:rPr lang="en-GB" b="1" dirty="0"/>
              <a:t>Example</a:t>
            </a:r>
            <a:r>
              <a:rPr lang="en-GB" dirty="0"/>
              <a:t>: If a function (foo) wants to use EBX but the caller (main) was also using it, foo saves EBX to the stack at entry, and restores it at exit.</a:t>
            </a:r>
          </a:p>
          <a:p>
            <a:pPr>
              <a:buFont typeface="Arial" panose="020B0604020202020204" pitchFamily="34" charset="0"/>
              <a:buChar char="•"/>
            </a:pPr>
            <a:r>
              <a:rPr lang="en-GB" b="1" dirty="0"/>
              <a:t>Focus</a:t>
            </a:r>
            <a:r>
              <a:rPr lang="en-GB" dirty="0"/>
              <a:t>: Protects </a:t>
            </a:r>
            <a:r>
              <a:rPr lang="en-GB" b="1" dirty="0"/>
              <a:t>hardware-level values</a:t>
            </a:r>
            <a:r>
              <a:rPr lang="en-GB" dirty="0"/>
              <a:t> (register contents).</a:t>
            </a:r>
          </a:p>
          <a:p>
            <a:r>
              <a:rPr lang="en-PK" b="1" dirty="0"/>
              <a:t>🔹 </a:t>
            </a:r>
            <a:r>
              <a:rPr lang="en-GB" b="1" dirty="0"/>
              <a:t>Dynamic Link</a:t>
            </a:r>
          </a:p>
          <a:p>
            <a:pPr>
              <a:buFont typeface="Arial" panose="020B0604020202020204" pitchFamily="34" charset="0"/>
              <a:buChar char="•"/>
            </a:pPr>
            <a:r>
              <a:rPr lang="en-GB" b="1" dirty="0"/>
              <a:t>What</a:t>
            </a:r>
            <a:r>
              <a:rPr lang="en-GB" dirty="0"/>
              <a:t>: A pointer (usually the saved </a:t>
            </a:r>
            <a:r>
              <a:rPr lang="en-GB" b="1" dirty="0"/>
              <a:t>base pointer</a:t>
            </a:r>
            <a:r>
              <a:rPr lang="en-GB" dirty="0"/>
              <a:t> EBP/RBP) to the </a:t>
            </a:r>
            <a:r>
              <a:rPr lang="en-GB" b="1" dirty="0"/>
              <a:t>previous (caller’s) stack frame</a:t>
            </a:r>
            <a:r>
              <a:rPr lang="en-GB" dirty="0"/>
              <a:t>.</a:t>
            </a:r>
          </a:p>
          <a:p>
            <a:pPr>
              <a:buFont typeface="Arial" panose="020B0604020202020204" pitchFamily="34" charset="0"/>
              <a:buChar char="•"/>
            </a:pPr>
            <a:r>
              <a:rPr lang="en-GB" b="1" dirty="0"/>
              <a:t>Why</a:t>
            </a:r>
            <a:r>
              <a:rPr lang="en-GB" dirty="0"/>
              <a:t>: To allow navigation between stack frames. It links the current frame to the caller’s frame.</a:t>
            </a:r>
          </a:p>
          <a:p>
            <a:pPr>
              <a:buFont typeface="Arial" panose="020B0604020202020204" pitchFamily="34" charset="0"/>
              <a:buChar char="•"/>
            </a:pPr>
            <a:r>
              <a:rPr lang="en-GB" b="1" dirty="0"/>
              <a:t>Example</a:t>
            </a:r>
            <a:r>
              <a:rPr lang="en-GB" dirty="0"/>
              <a:t>: If you are inside bar(), the dynamic link points back to the frame of foo() that called it.</a:t>
            </a:r>
          </a:p>
          <a:p>
            <a:pPr>
              <a:buFont typeface="Arial" panose="020B0604020202020204" pitchFamily="34" charset="0"/>
              <a:buChar char="•"/>
            </a:pPr>
            <a:r>
              <a:rPr lang="en-GB" b="1" dirty="0"/>
              <a:t>Focus</a:t>
            </a:r>
            <a:r>
              <a:rPr lang="en-GB" dirty="0"/>
              <a:t>: Maintains the </a:t>
            </a:r>
            <a:r>
              <a:rPr lang="en-GB" b="1" dirty="0"/>
              <a:t>chain of function calls</a:t>
            </a:r>
            <a:r>
              <a:rPr lang="en-GB" dirty="0"/>
              <a:t> (logical linkage).</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25</a:t>
            </a:fld>
            <a:endParaRPr lang="en-US"/>
          </a:p>
        </p:txBody>
      </p:sp>
    </p:spTree>
    <p:extLst>
      <p:ext uri="{BB962C8B-B14F-4D97-AF65-F5344CB8AC3E}">
        <p14:creationId xmlns:p14="http://schemas.microsoft.com/office/powerpoint/2010/main" val="1938933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ocw.mit.edu</a:t>
            </a:r>
            <a:r>
              <a:rPr lang="en-GB" dirty="0"/>
              <a:t>/courses/6-004-computation-structures-spring-2017/pages/c12/c12s1/</a:t>
            </a:r>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30</a:t>
            </a:fld>
            <a:endParaRPr lang="en-US"/>
          </a:p>
        </p:txBody>
      </p:sp>
    </p:spTree>
    <p:extLst>
      <p:ext uri="{BB962C8B-B14F-4D97-AF65-F5344CB8AC3E}">
        <p14:creationId xmlns:p14="http://schemas.microsoft.com/office/powerpoint/2010/main" val="1717641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b="1" dirty="0"/>
              <a:t>Prefix notation</a:t>
            </a:r>
            <a:r>
              <a:rPr lang="en-GB" dirty="0"/>
              <a:t> is called </a:t>
            </a:r>
            <a:r>
              <a:rPr lang="en-GB" b="1" dirty="0"/>
              <a:t>Polish Notation (PN)</a:t>
            </a:r>
            <a:r>
              <a:rPr lang="en-GB" dirty="0"/>
              <a:t> because it was </a:t>
            </a:r>
            <a:r>
              <a:rPr lang="en-GB" b="1" dirty="0"/>
              <a:t>invented by the Polish mathematician Jan </a:t>
            </a:r>
            <a:r>
              <a:rPr lang="en-GB" b="1" dirty="0" err="1"/>
              <a:t>Łukasiewicz</a:t>
            </a:r>
            <a:r>
              <a:rPr lang="en-GB" dirty="0"/>
              <a:t> in the 1920s.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b="1" dirty="0"/>
              <a:t>Postfix Notation (Reverse Polish Notation, RPN)</a:t>
            </a:r>
            <a:r>
              <a:rPr lang="en-GB" dirty="0"/>
              <a:t> was later popularized by Charles Hamblin (Australian philosopher) in the 1950s. It’s called </a:t>
            </a:r>
            <a:r>
              <a:rPr lang="en-GB" i="1" dirty="0"/>
              <a:t>reverse</a:t>
            </a:r>
            <a:r>
              <a:rPr lang="en-GB" dirty="0"/>
              <a:t> because operators come </a:t>
            </a:r>
            <a:r>
              <a:rPr lang="en-GB" b="1" dirty="0"/>
              <a:t>after</a:t>
            </a:r>
            <a:r>
              <a:rPr lang="en-GB" dirty="0"/>
              <a:t> operands.</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42</a:t>
            </a:fld>
            <a:endParaRPr lang="en-US"/>
          </a:p>
        </p:txBody>
      </p:sp>
    </p:spTree>
    <p:extLst>
      <p:ext uri="{BB962C8B-B14F-4D97-AF65-F5344CB8AC3E}">
        <p14:creationId xmlns:p14="http://schemas.microsoft.com/office/powerpoint/2010/main" val="4052465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effectLst/>
                <a:latin typeface="Helvetica Neue" panose="02000503000000020004" pitchFamily="2" charset="0"/>
              </a:rPr>
              <a:t>A-B/(C*DE^)</a:t>
            </a:r>
            <a:endParaRPr lang="en-GB" dirty="0">
              <a:effectLst/>
              <a:latin typeface="Helvetica Neue" panose="02000503000000020004" pitchFamily="2" charset="0"/>
            </a:endParaRPr>
          </a:p>
          <a:p>
            <a:r>
              <a:rPr lang="en-GB" dirty="0">
                <a:effectLst/>
                <a:latin typeface="Helvetica Neue" panose="02000503000000020004" pitchFamily="2" charset="0"/>
              </a:rPr>
              <a:t>A-B/CDE^*</a:t>
            </a:r>
          </a:p>
          <a:p>
            <a:r>
              <a:rPr lang="en-GB" dirty="0">
                <a:effectLst/>
                <a:latin typeface="Helvetica Neue" panose="02000503000000020004" pitchFamily="2" charset="0"/>
              </a:rPr>
              <a:t>CDE^*=M</a:t>
            </a:r>
          </a:p>
          <a:p>
            <a:r>
              <a:rPr lang="en-GB" dirty="0">
                <a:effectLst/>
                <a:latin typeface="Helvetica Neue" panose="02000503000000020004" pitchFamily="2" charset="0"/>
              </a:rPr>
              <a:t>A-B/M</a:t>
            </a:r>
          </a:p>
          <a:p>
            <a:r>
              <a:rPr lang="en-GB" dirty="0">
                <a:effectLst/>
                <a:latin typeface="Helvetica Neue" panose="02000503000000020004" pitchFamily="2" charset="0"/>
              </a:rPr>
              <a:t>A-BM/</a:t>
            </a:r>
          </a:p>
          <a:p>
            <a:r>
              <a:rPr lang="en-GB" dirty="0">
                <a:effectLst/>
                <a:latin typeface="Helvetica Neue" panose="02000503000000020004" pitchFamily="2" charset="0"/>
              </a:rPr>
              <a:t>ABM/-</a:t>
            </a:r>
          </a:p>
          <a:p>
            <a:r>
              <a:rPr lang="en-GB" dirty="0">
                <a:effectLst/>
                <a:latin typeface="Helvetica Neue" panose="02000503000000020004" pitchFamily="2" charset="0"/>
              </a:rPr>
              <a:t>ABCDE^*/-</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47</a:t>
            </a:fld>
            <a:endParaRPr lang="en-US"/>
          </a:p>
        </p:txBody>
      </p:sp>
    </p:spTree>
    <p:extLst>
      <p:ext uri="{BB962C8B-B14F-4D97-AF65-F5344CB8AC3E}">
        <p14:creationId xmlns:p14="http://schemas.microsoft.com/office/powerpoint/2010/main" val="3940362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Expression: 6 2 3 + - 3 8 2 / + * 2 ^ 3 +</a:t>
            </a:r>
          </a:p>
          <a:p>
            <a:pPr>
              <a:buFont typeface="+mj-lt"/>
              <a:buAutoNum type="arabicPeriod"/>
            </a:pPr>
            <a:r>
              <a:rPr lang="en-GB" dirty="0"/>
              <a:t>Push 6 → [6]</a:t>
            </a:r>
          </a:p>
          <a:p>
            <a:pPr>
              <a:buFont typeface="+mj-lt"/>
              <a:buAutoNum type="arabicPeriod"/>
            </a:pPr>
            <a:r>
              <a:rPr lang="en-GB" dirty="0"/>
              <a:t>Push 2 → [6, 2]</a:t>
            </a:r>
          </a:p>
          <a:p>
            <a:pPr>
              <a:buFont typeface="+mj-lt"/>
              <a:buAutoNum type="arabicPeriod"/>
            </a:pPr>
            <a:r>
              <a:rPr lang="en-GB" dirty="0"/>
              <a:t>Push 3 → [6, 2, 3]</a:t>
            </a:r>
          </a:p>
          <a:p>
            <a:pPr>
              <a:buFont typeface="+mj-lt"/>
              <a:buAutoNum type="arabicPeriod"/>
            </a:pPr>
            <a:r>
              <a:rPr lang="en-GB" dirty="0"/>
              <a:t>+ → 2 + 3 = 5 → [6, 5]</a:t>
            </a:r>
          </a:p>
          <a:p>
            <a:pPr>
              <a:buFont typeface="+mj-lt"/>
              <a:buAutoNum type="arabicPeriod"/>
            </a:pPr>
            <a:r>
              <a:rPr lang="en-GB" dirty="0"/>
              <a:t>- → 6 - 5 = 1 → [1]</a:t>
            </a:r>
          </a:p>
          <a:p>
            <a:pPr>
              <a:buFont typeface="+mj-lt"/>
              <a:buAutoNum type="arabicPeriod"/>
            </a:pPr>
            <a:r>
              <a:rPr lang="en-GB" dirty="0"/>
              <a:t>Push 3 → [1, 3]</a:t>
            </a:r>
          </a:p>
          <a:p>
            <a:pPr>
              <a:buFont typeface="+mj-lt"/>
              <a:buAutoNum type="arabicPeriod"/>
            </a:pPr>
            <a:r>
              <a:rPr lang="en-GB" dirty="0"/>
              <a:t>Push 8 → [1, 3, 8]</a:t>
            </a:r>
          </a:p>
          <a:p>
            <a:pPr>
              <a:buFont typeface="+mj-lt"/>
              <a:buAutoNum type="arabicPeriod"/>
            </a:pPr>
            <a:r>
              <a:rPr lang="en-GB" dirty="0"/>
              <a:t>Push 2 → [1, 3, 8, 2]</a:t>
            </a:r>
          </a:p>
          <a:p>
            <a:pPr>
              <a:buFont typeface="+mj-lt"/>
              <a:buAutoNum type="arabicPeriod"/>
            </a:pPr>
            <a:r>
              <a:rPr lang="en-GB" dirty="0"/>
              <a:t>/ → 8 / 2 = 4 → [1, 3, 4]</a:t>
            </a:r>
          </a:p>
          <a:p>
            <a:pPr>
              <a:buFont typeface="+mj-lt"/>
              <a:buAutoNum type="arabicPeriod"/>
            </a:pPr>
            <a:r>
              <a:rPr lang="en-GB" dirty="0"/>
              <a:t>+ → 3 + 4 = 7 → [1, 7]</a:t>
            </a:r>
          </a:p>
          <a:p>
            <a:pPr>
              <a:buFont typeface="+mj-lt"/>
              <a:buAutoNum type="arabicPeriod"/>
            </a:pPr>
            <a:r>
              <a:rPr lang="en-GB" dirty="0"/>
              <a:t>* → 1 * 7 = 7 → [7]</a:t>
            </a:r>
          </a:p>
          <a:p>
            <a:pPr>
              <a:buFont typeface="+mj-lt"/>
              <a:buAutoNum type="arabicPeriod"/>
            </a:pPr>
            <a:r>
              <a:rPr lang="en-GB" dirty="0"/>
              <a:t>Push 2 → [7, 2]</a:t>
            </a:r>
          </a:p>
          <a:p>
            <a:pPr>
              <a:buFont typeface="+mj-lt"/>
              <a:buAutoNum type="arabicPeriod"/>
            </a:pPr>
            <a:r>
              <a:rPr lang="en-GB" dirty="0"/>
              <a:t>^ → 7 ^ 2 = 49 → [49]</a:t>
            </a:r>
          </a:p>
          <a:p>
            <a:pPr>
              <a:buFont typeface="+mj-lt"/>
              <a:buAutoNum type="arabicPeriod"/>
            </a:pPr>
            <a:r>
              <a:rPr lang="en-GB" dirty="0"/>
              <a:t>Push 3 → [49, 3]</a:t>
            </a:r>
          </a:p>
          <a:p>
            <a:pPr>
              <a:buFont typeface="+mj-lt"/>
              <a:buAutoNum type="arabicPeriod"/>
            </a:pPr>
            <a:r>
              <a:rPr lang="en-GB" dirty="0"/>
              <a:t>+ → 49 + 3 = 52 → [52]</a:t>
            </a:r>
          </a:p>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66</a:t>
            </a:fld>
            <a:endParaRPr lang="en-US"/>
          </a:p>
        </p:txBody>
      </p:sp>
    </p:spTree>
    <p:extLst>
      <p:ext uri="{BB962C8B-B14F-4D97-AF65-F5344CB8AC3E}">
        <p14:creationId xmlns:p14="http://schemas.microsoft.com/office/powerpoint/2010/main" val="1453926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3F295802-8A26-4CFA-BFDC-9C932154AAFF}" type="datetime1">
              <a:rPr lang="en-US" smtClean="0"/>
              <a:t>10/13/2025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21E9D4E-9830-4095-8CC8-183203491CBB}" type="slidenum">
              <a:rPr lang="en-US" smtClean="0"/>
              <a:t>‹#›</a:t>
            </a:fld>
            <a:endParaRPr lang="en-US"/>
          </a:p>
        </p:txBody>
      </p:sp>
      <p:sp>
        <p:nvSpPr>
          <p:cNvPr id="7" name="Rectangle 6"/>
          <p:cNvSpPr/>
          <p:nvPr userDrawn="1"/>
        </p:nvSpPr>
        <p:spPr>
          <a:xfrm>
            <a:off x="0" y="228600"/>
            <a:ext cx="12192000" cy="12192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THE NUST BRAND | NUST"/>
          <p:cNvPicPr>
            <a:picLocks noChangeArrowheads="1"/>
          </p:cNvPicPr>
          <p:nvPr userDrawn="1"/>
        </p:nvPicPr>
        <p:blipFill>
          <a:blip r:embed="rId2"/>
          <a:srcRect/>
          <a:stretch>
            <a:fillRect/>
          </a:stretch>
        </p:blipFill>
        <p:spPr bwMode="auto">
          <a:xfrm>
            <a:off x="10668000" y="123825"/>
            <a:ext cx="1428750" cy="1428750"/>
          </a:xfrm>
          <a:prstGeom prst="rect">
            <a:avLst/>
          </a:prstGeom>
          <a:noFill/>
        </p:spPr>
      </p:pic>
      <p:sp>
        <p:nvSpPr>
          <p:cNvPr id="9" name="Rectangle 8"/>
          <p:cNvSpPr/>
          <p:nvPr userDrawn="1"/>
        </p:nvSpPr>
        <p:spPr>
          <a:xfrm>
            <a:off x="1524001" y="553106"/>
            <a:ext cx="6459845" cy="523220"/>
          </a:xfrm>
          <a:prstGeom prst="rect">
            <a:avLst/>
          </a:prstGeom>
        </p:spPr>
        <p:txBody>
          <a:bodyPr wrap="none">
            <a:spAutoFit/>
          </a:bodyPr>
          <a:lstStyle/>
          <a:p>
            <a:r>
              <a:rPr lang="en-US" sz="2800" dirty="0">
                <a:solidFill>
                  <a:schemeClr val="bg1"/>
                </a:solidFill>
              </a:rPr>
              <a:t>CS250: Data Structures and Algorithms</a:t>
            </a:r>
          </a:p>
        </p:txBody>
      </p:sp>
    </p:spTree>
    <p:extLst>
      <p:ext uri="{BB962C8B-B14F-4D97-AF65-F5344CB8AC3E}">
        <p14:creationId xmlns:p14="http://schemas.microsoft.com/office/powerpoint/2010/main" val="3356486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D45C4EB-74FF-445A-9E23-21D35540A4C4}" type="datetime1">
              <a:rPr lang="en-US" smtClean="0"/>
              <a:t>10/13/2025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F350D435-2DCA-4D63-B007-D33EC4F44F07}" type="slidenum">
              <a:rPr lang="en-US" altLang="en-US" smtClean="0"/>
              <a:pPr>
                <a:defRPr/>
              </a:pPr>
              <a:t>‹#›</a:t>
            </a:fld>
            <a:endParaRPr lang="en-US" altLang="en-US"/>
          </a:p>
        </p:txBody>
      </p:sp>
      <p:sp>
        <p:nvSpPr>
          <p:cNvPr id="7" name="Rectangle 6"/>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4816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FC189E4-E062-42CD-A846-EADE84E4B6C6}" type="datetime1">
              <a:rPr lang="en-US" smtClean="0"/>
              <a:t>10/13/2025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9D9EF8D-1A3F-4770-88DF-5CE0BAFACB14}" type="slidenum">
              <a:rPr lang="en-US" altLang="en-US" smtClean="0"/>
              <a:pPr>
                <a:defRPr/>
              </a:pPr>
              <a:t>‹#›</a:t>
            </a:fld>
            <a:endParaRPr lang="en-US" altLang="en-US"/>
          </a:p>
        </p:txBody>
      </p:sp>
    </p:spTree>
    <p:extLst>
      <p:ext uri="{BB962C8B-B14F-4D97-AF65-F5344CB8AC3E}">
        <p14:creationId xmlns:p14="http://schemas.microsoft.com/office/powerpoint/2010/main" val="388534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973A5148-F574-424B-94C5-ADC49E56D758}" type="datetime1">
              <a:rPr lang="en-US" smtClean="0"/>
              <a:t>10/13/2025</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07574BD9-A853-4283-85D1-C9F1BF83FE24}" type="slidenum">
              <a:rPr lang="en-US" altLang="en-US" smtClean="0"/>
              <a:pPr>
                <a:defRPr/>
              </a:pPr>
              <a:t>‹#›</a:t>
            </a:fld>
            <a:endParaRPr lang="en-US" altLang="en-US"/>
          </a:p>
        </p:txBody>
      </p:sp>
      <p:sp>
        <p:nvSpPr>
          <p:cNvPr id="8" name="Rectangle 7"/>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2368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CFCAF7AB-04B4-4D56-85FF-AE0CF5C15F8E}" type="datetime1">
              <a:rPr lang="en-US" smtClean="0"/>
              <a:t>10/13/2025</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82F2B752-C656-46CC-8972-8BB8BB868CC9}" type="slidenum">
              <a:rPr lang="en-US" altLang="en-US" smtClean="0"/>
              <a:pPr>
                <a:defRPr/>
              </a:pPr>
              <a:t>‹#›</a:t>
            </a:fld>
            <a:endParaRPr lang="en-US" altLang="en-US"/>
          </a:p>
        </p:txBody>
      </p:sp>
      <p:sp>
        <p:nvSpPr>
          <p:cNvPr id="10" name="Rectangle 9"/>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306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D4CBC04D-5312-4AA8-8588-DD39C21640A6}" type="datetime1">
              <a:rPr lang="en-US" smtClean="0"/>
              <a:t>10/13/2025</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C71BD5D2-A63C-4CF3-9B33-EDAB3DA9185D}" type="slidenum">
              <a:rPr lang="en-US" altLang="en-US" smtClean="0"/>
              <a:pPr>
                <a:defRPr/>
              </a:pPr>
              <a:t>‹#›</a:t>
            </a:fld>
            <a:endParaRPr lang="en-US" altLang="en-US"/>
          </a:p>
        </p:txBody>
      </p:sp>
      <p:sp>
        <p:nvSpPr>
          <p:cNvPr id="6" name="Rectangle 5"/>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4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F8679E3-2DF2-4CC7-9CD0-3D8FEA45B6C3}" type="datetime1">
              <a:rPr lang="en-US" smtClean="0"/>
              <a:t>10/13/2025</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DDA4240F-2E2F-4F70-AB00-EAE709958E8F}" type="slidenum">
              <a:rPr lang="en-US" altLang="en-US" smtClean="0"/>
              <a:pPr>
                <a:defRPr/>
              </a:pPr>
              <a:t>‹#›</a:t>
            </a:fld>
            <a:endParaRPr lang="en-US" altLang="en-US"/>
          </a:p>
        </p:txBody>
      </p:sp>
    </p:spTree>
    <p:extLst>
      <p:ext uri="{BB962C8B-B14F-4D97-AF65-F5344CB8AC3E}">
        <p14:creationId xmlns:p14="http://schemas.microsoft.com/office/powerpoint/2010/main" val="300288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DC08DEB-906C-4EE7-859F-AE4EEEAA7335}" type="datetime1">
              <a:rPr lang="en-US" smtClean="0"/>
              <a:t>10/13/2025</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A66EA107-19E7-413B-9DC1-F1B3865A107D}" type="slidenum">
              <a:rPr lang="en-US" altLang="en-US" smtClean="0"/>
              <a:pPr>
                <a:defRPr/>
              </a:pPr>
              <a:t>‹#›</a:t>
            </a:fld>
            <a:endParaRPr lang="en-US" altLang="en-US"/>
          </a:p>
        </p:txBody>
      </p:sp>
    </p:spTree>
    <p:extLst>
      <p:ext uri="{BB962C8B-B14F-4D97-AF65-F5344CB8AC3E}">
        <p14:creationId xmlns:p14="http://schemas.microsoft.com/office/powerpoint/2010/main" val="2425627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CC50B1A-12B9-4797-AF98-CB3524BBD77F}" type="datetime1">
              <a:rPr lang="en-US" smtClean="0"/>
              <a:t>10/13/2025</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B7A1BE0D-10C3-46E0-9416-79CBE844C178}" type="slidenum">
              <a:rPr lang="en-US" altLang="en-US" smtClean="0"/>
              <a:pPr>
                <a:defRPr/>
              </a:pPr>
              <a:t>‹#›</a:t>
            </a:fld>
            <a:endParaRPr lang="en-US" altLang="en-US"/>
          </a:p>
        </p:txBody>
      </p:sp>
    </p:spTree>
    <p:extLst>
      <p:ext uri="{BB962C8B-B14F-4D97-AF65-F5344CB8AC3E}">
        <p14:creationId xmlns:p14="http://schemas.microsoft.com/office/powerpoint/2010/main" val="3936576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3CCE9CB-C877-457A-8EEB-0B65AA64589A}" type="datetime1">
              <a:rPr lang="en-US" smtClean="0"/>
              <a:t>10/13/2025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4F2DF1FA-8075-4240-BFC5-19BEB0AFB84B}" type="slidenum">
              <a:rPr lang="en-US" altLang="en-US" smtClean="0"/>
              <a:pPr>
                <a:defRPr/>
              </a:pPr>
              <a:t>‹#›</a:t>
            </a:fld>
            <a:endParaRPr lang="en-US" altLang="en-US"/>
          </a:p>
        </p:txBody>
      </p:sp>
    </p:spTree>
    <p:extLst>
      <p:ext uri="{BB962C8B-B14F-4D97-AF65-F5344CB8AC3E}">
        <p14:creationId xmlns:p14="http://schemas.microsoft.com/office/powerpoint/2010/main" val="1013970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6D5A9CE-63EA-4C03-9F95-F27CD0DFEE2A}" type="datetime1">
              <a:rPr lang="en-US" smtClean="0"/>
              <a:t>10/13/2025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DE6C57D7-E5D1-44B3-8387-E5D3AD2AEC00}" type="slidenum">
              <a:rPr lang="en-US" altLang="en-US" smtClean="0"/>
              <a:pPr>
                <a:defRPr/>
              </a:pPr>
              <a:t>‹#›</a:t>
            </a:fld>
            <a:endParaRPr lang="en-US" altLang="en-US"/>
          </a:p>
        </p:txBody>
      </p:sp>
    </p:spTree>
    <p:extLst>
      <p:ext uri="{BB962C8B-B14F-4D97-AF65-F5344CB8AC3E}">
        <p14:creationId xmlns:p14="http://schemas.microsoft.com/office/powerpoint/2010/main" val="239635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745B6D9-E824-47F8-B811-359F7452F06A}" type="datetime1">
              <a:rPr lang="en-US" smtClean="0"/>
              <a:t>10/13/2025</a:t>
            </a:fld>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095B6C2-FB1D-4F5B-AD54-894E892FEA0F}" type="slidenum">
              <a:rPr lang="en-US" altLang="en-US" smtClean="0"/>
              <a:pPr>
                <a:defRPr/>
              </a:pPr>
              <a:t>‹#›</a:t>
            </a:fld>
            <a:endParaRPr lang="en-US" altLang="en-US" dirty="0"/>
          </a:p>
        </p:txBody>
      </p:sp>
    </p:spTree>
    <p:extLst>
      <p:ext uri="{BB962C8B-B14F-4D97-AF65-F5344CB8AC3E}">
        <p14:creationId xmlns:p14="http://schemas.microsoft.com/office/powerpoint/2010/main" val="66713941"/>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normAutofit/>
          </a:bodyPr>
          <a:lstStyle/>
          <a:p>
            <a:pPr>
              <a:defRPr/>
            </a:pPr>
            <a:r>
              <a:rPr lang="en-US" dirty="0"/>
              <a:t>All about Stacks!</a:t>
            </a:r>
          </a:p>
        </p:txBody>
      </p:sp>
      <p:sp>
        <p:nvSpPr>
          <p:cNvPr id="5123" name="Rectangle 3"/>
          <p:cNvSpPr>
            <a:spLocks noGrp="1" noChangeArrowheads="1"/>
          </p:cNvSpPr>
          <p:nvPr>
            <p:ph type="subTitle" idx="1"/>
          </p:nvPr>
        </p:nvSpPr>
        <p:spPr/>
        <p:txBody>
          <a:bodyPr>
            <a:normAutofit/>
          </a:bodyPr>
          <a:lstStyle/>
          <a:p>
            <a:r>
              <a:rPr lang="en-US" sz="2400" i="1" dirty="0"/>
              <a:t>Fall 2025</a:t>
            </a:r>
          </a:p>
          <a:p>
            <a:r>
              <a:rPr lang="en-US" sz="2400" i="1" dirty="0"/>
              <a:t>BSCS-3ABC</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19EC-9B68-CB44-822E-FCC82E872EB4}"/>
              </a:ext>
            </a:extLst>
          </p:cNvPr>
          <p:cNvSpPr>
            <a:spLocks noGrp="1"/>
          </p:cNvSpPr>
          <p:nvPr>
            <p:ph type="title"/>
          </p:nvPr>
        </p:nvSpPr>
        <p:spPr/>
        <p:txBody>
          <a:bodyPr/>
          <a:lstStyle/>
          <a:p>
            <a:r>
              <a:rPr lang="en-US"/>
              <a:t>Lecture Outline</a:t>
            </a:r>
            <a:endParaRPr lang="en-US" dirty="0"/>
          </a:p>
        </p:txBody>
      </p:sp>
      <p:sp>
        <p:nvSpPr>
          <p:cNvPr id="3" name="Content Placeholder 2">
            <a:extLst>
              <a:ext uri="{FF2B5EF4-FFF2-40B4-BE49-F238E27FC236}">
                <a16:creationId xmlns:a16="http://schemas.microsoft.com/office/drawing/2014/main" id="{947B2A51-8C0C-4A4E-A2C0-42860462A6EA}"/>
              </a:ext>
            </a:extLst>
          </p:cNvPr>
          <p:cNvSpPr>
            <a:spLocks noGrp="1"/>
          </p:cNvSpPr>
          <p:nvPr>
            <p:ph idx="1"/>
          </p:nvPr>
        </p:nvSpPr>
        <p:spPr/>
        <p:txBody>
          <a:bodyPr>
            <a:normAutofit fontScale="62500" lnSpcReduction="20000"/>
          </a:bodyPr>
          <a:lstStyle/>
          <a:p>
            <a:r>
              <a:rPr lang="en-US" altLang="en-US" dirty="0"/>
              <a:t>What is a Stack?</a:t>
            </a:r>
          </a:p>
          <a:p>
            <a:r>
              <a:rPr lang="en-US" altLang="en-US" dirty="0"/>
              <a:t>Operations on a Stack</a:t>
            </a:r>
          </a:p>
          <a:p>
            <a:pPr lvl="1"/>
            <a:r>
              <a:rPr lang="en-US" altLang="en-US" dirty="0"/>
              <a:t>Initialize a stack</a:t>
            </a:r>
          </a:p>
          <a:p>
            <a:pPr lvl="1"/>
            <a:r>
              <a:rPr lang="en-US" altLang="en-US" dirty="0"/>
              <a:t>Push (insert) an element</a:t>
            </a:r>
          </a:p>
          <a:p>
            <a:pPr lvl="1"/>
            <a:r>
              <a:rPr lang="en-US" altLang="en-US" dirty="0"/>
              <a:t>Pop (delete) an element</a:t>
            </a:r>
          </a:p>
          <a:p>
            <a:pPr lvl="1"/>
            <a:r>
              <a:rPr lang="en-US" altLang="en-US" dirty="0"/>
              <a:t>Read the top element</a:t>
            </a:r>
          </a:p>
          <a:p>
            <a:pPr lvl="1"/>
            <a:r>
              <a:rPr lang="en-US" altLang="en-US" dirty="0"/>
              <a:t>status: empty, full</a:t>
            </a:r>
          </a:p>
          <a:p>
            <a:endParaRPr lang="en-US" altLang="en-US" dirty="0"/>
          </a:p>
          <a:p>
            <a:r>
              <a:rPr lang="en-US" altLang="en-US" dirty="0"/>
              <a:t>Array-based and linked-list based Implementation.</a:t>
            </a:r>
          </a:p>
          <a:p>
            <a:endParaRPr lang="en-US" altLang="en-US" dirty="0"/>
          </a:p>
          <a:p>
            <a:r>
              <a:rPr lang="en-US" altLang="en-US" dirty="0"/>
              <a:t>Applications of Stack</a:t>
            </a:r>
          </a:p>
          <a:p>
            <a:pPr lvl="1"/>
            <a:r>
              <a:rPr lang="en-US" altLang="en-US" dirty="0"/>
              <a:t>Reverse a sequence of number using stack</a:t>
            </a:r>
          </a:p>
          <a:p>
            <a:pPr lvl="1"/>
            <a:r>
              <a:rPr lang="en-US" altLang="en-US" dirty="0"/>
              <a:t>Keep track of function calls in a program</a:t>
            </a:r>
          </a:p>
          <a:p>
            <a:pPr lvl="1"/>
            <a:r>
              <a:rPr lang="en-US" altLang="en-US" dirty="0"/>
              <a:t>Testing the correctness of a mathematical expression</a:t>
            </a:r>
          </a:p>
          <a:p>
            <a:pPr lvl="1"/>
            <a:r>
              <a:rPr lang="en-US" altLang="en-US" dirty="0"/>
              <a:t>Converting a mathematical expression from infix to postfix and prefix notations</a:t>
            </a:r>
          </a:p>
          <a:p>
            <a:pPr lvl="1"/>
            <a:r>
              <a:rPr lang="en-US" altLang="en-US" dirty="0"/>
              <a:t>Solving a mathematical expression in postfix form</a:t>
            </a:r>
          </a:p>
        </p:txBody>
      </p:sp>
      <p:sp>
        <p:nvSpPr>
          <p:cNvPr id="5" name="Slide Number Placeholder 4">
            <a:extLst>
              <a:ext uri="{FF2B5EF4-FFF2-40B4-BE49-F238E27FC236}">
                <a16:creationId xmlns:a16="http://schemas.microsoft.com/office/drawing/2014/main" id="{05DDF3EA-E539-5242-AB21-ED64450F398B}"/>
              </a:ext>
            </a:extLst>
          </p:cNvPr>
          <p:cNvSpPr>
            <a:spLocks noGrp="1"/>
          </p:cNvSpPr>
          <p:nvPr>
            <p:ph type="sldNum" sz="quarter" idx="12"/>
          </p:nvPr>
        </p:nvSpPr>
        <p:spPr/>
        <p:txBody>
          <a:bodyPr/>
          <a:lstStyle/>
          <a:p>
            <a:fld id="{F350D435-2DCA-4D63-B007-D33EC4F44F07}" type="slidenum">
              <a:rPr lang="en-US" altLang="en-US" smtClean="0"/>
              <a:pPr/>
              <a:t>2</a:t>
            </a:fld>
            <a:endParaRPr lang="en-US" altLang="en-US" dirty="0"/>
          </a:p>
        </p:txBody>
      </p:sp>
    </p:spTree>
    <p:extLst>
      <p:ext uri="{BB962C8B-B14F-4D97-AF65-F5344CB8AC3E}">
        <p14:creationId xmlns:p14="http://schemas.microsoft.com/office/powerpoint/2010/main" val="3350787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Stack?</a:t>
            </a:r>
          </a:p>
        </p:txBody>
      </p:sp>
      <p:sp>
        <p:nvSpPr>
          <p:cNvPr id="3" name="Content Placeholder 2"/>
          <p:cNvSpPr>
            <a:spLocks noGrp="1"/>
          </p:cNvSpPr>
          <p:nvPr>
            <p:ph idx="1"/>
          </p:nvPr>
        </p:nvSpPr>
        <p:spPr/>
        <p:txBody>
          <a:bodyPr/>
          <a:lstStyle/>
          <a:p>
            <a:r>
              <a:rPr lang="de-DE"/>
              <a:t>Definition:</a:t>
            </a:r>
          </a:p>
          <a:p>
            <a:r>
              <a:rPr lang="en-US" altLang="en-US"/>
              <a:t>Conceptually, a stack is a data structure that allows adding and removing elements in a particular order</a:t>
            </a:r>
          </a:p>
          <a:p>
            <a:pPr lvl="1"/>
            <a:endParaRPr lang="de-DE" altLang="en-US"/>
          </a:p>
          <a:p>
            <a:pPr lvl="1"/>
            <a:r>
              <a:rPr lang="de-DE" altLang="en-US"/>
              <a:t>More specifically, in a</a:t>
            </a:r>
            <a:r>
              <a:rPr lang="en-US" altLang="en-US"/>
              <a:t>n order such that items can be inserted or deleted to the collection of already inserted items from one end only, called the top of the stack</a:t>
            </a:r>
            <a:endParaRPr lang="en-US" altLang="en-US" dirty="0"/>
          </a:p>
        </p:txBody>
      </p:sp>
      <p:sp>
        <p:nvSpPr>
          <p:cNvPr id="4" name="Slide Number Placeholder 3"/>
          <p:cNvSpPr>
            <a:spLocks noGrp="1"/>
          </p:cNvSpPr>
          <p:nvPr>
            <p:ph type="sldNum" sz="quarter" idx="12"/>
          </p:nvPr>
        </p:nvSpPr>
        <p:spPr/>
        <p:txBody>
          <a:bodyPr/>
          <a:lstStyle/>
          <a:p>
            <a:fld id="{F350D435-2DCA-4D63-B007-D33EC4F44F07}" type="slidenum">
              <a:rPr lang="en-US" altLang="en-US" smtClean="0"/>
              <a:pPr/>
              <a:t>3</a:t>
            </a:fld>
            <a:endParaRPr lang="en-US" altLang="en-US"/>
          </a:p>
        </p:txBody>
      </p:sp>
      <p:pic>
        <p:nvPicPr>
          <p:cNvPr id="5" name="Picture 4" descr="Diagram&#10;&#10;Description automatically generated">
            <a:extLst>
              <a:ext uri="{FF2B5EF4-FFF2-40B4-BE49-F238E27FC236}">
                <a16:creationId xmlns:a16="http://schemas.microsoft.com/office/drawing/2014/main" id="{769E1C09-88AC-48E7-A4D7-5705BE6E1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575" y="4681220"/>
            <a:ext cx="6800850" cy="204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792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Stack</a:t>
            </a:r>
          </a:p>
        </p:txBody>
      </p:sp>
      <p:sp>
        <p:nvSpPr>
          <p:cNvPr id="3" name="Content Placeholder 2"/>
          <p:cNvSpPr>
            <a:spLocks noGrp="1"/>
          </p:cNvSpPr>
          <p:nvPr>
            <p:ph idx="1"/>
          </p:nvPr>
        </p:nvSpPr>
        <p:spPr/>
        <p:txBody>
          <a:bodyPr/>
          <a:lstStyle/>
          <a:p>
            <a:r>
              <a:rPr lang="en-US"/>
              <a:t>Stack is a linear data structure in which input and output operations are constrained at only at the top end.</a:t>
            </a:r>
          </a:p>
          <a:p>
            <a:pPr lvl="1"/>
            <a:r>
              <a:rPr lang="en-US"/>
              <a:t>Insertion or removal of an item is allowed only at the top end.</a:t>
            </a:r>
          </a:p>
          <a:p>
            <a:pPr lvl="1"/>
            <a:r>
              <a:rPr lang="en-US"/>
              <a:t>Only the element at the top end can be accessed</a:t>
            </a:r>
          </a:p>
          <a:p>
            <a:endParaRPr lang="en-US" dirty="0"/>
          </a:p>
        </p:txBody>
      </p:sp>
      <p:sp>
        <p:nvSpPr>
          <p:cNvPr id="4" name="Slide Number Placeholder 3"/>
          <p:cNvSpPr>
            <a:spLocks noGrp="1"/>
          </p:cNvSpPr>
          <p:nvPr>
            <p:ph type="sldNum" sz="quarter" idx="12"/>
          </p:nvPr>
        </p:nvSpPr>
        <p:spPr/>
        <p:txBody>
          <a:bodyPr/>
          <a:lstStyle/>
          <a:p>
            <a:fld id="{F350D435-2DCA-4D63-B007-D33EC4F44F07}" type="slidenum">
              <a:rPr lang="en-US" altLang="en-US" smtClean="0"/>
              <a:pPr/>
              <a:t>4</a:t>
            </a:fld>
            <a:endParaRPr lang="en-US" altLang="en-US"/>
          </a:p>
        </p:txBody>
      </p:sp>
      <p:pic>
        <p:nvPicPr>
          <p:cNvPr id="5" name="Picture 4" descr="Data Structure in Java - A Complete Guide for Linear &amp;amp; Non-Linear Data  Structures - TechVidvan">
            <a:extLst>
              <a:ext uri="{FF2B5EF4-FFF2-40B4-BE49-F238E27FC236}">
                <a16:creationId xmlns:a16="http://schemas.microsoft.com/office/drawing/2014/main" id="{FF337FDA-4A24-45E8-8174-69D387311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188438"/>
            <a:ext cx="3730752" cy="214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Diagram&#10;&#10;Description automatically generated">
            <a:extLst>
              <a:ext uri="{FF2B5EF4-FFF2-40B4-BE49-F238E27FC236}">
                <a16:creationId xmlns:a16="http://schemas.microsoft.com/office/drawing/2014/main" id="{93CF7315-6060-4198-9521-6A313FA8F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1612" y="3648075"/>
            <a:ext cx="4117975"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2830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a:t>
            </a:r>
            <a:endParaRPr lang="en-US" b="1" dirty="0"/>
          </a:p>
        </p:txBody>
      </p:sp>
      <p:sp>
        <p:nvSpPr>
          <p:cNvPr id="3" name="Content Placeholder 2"/>
          <p:cNvSpPr>
            <a:spLocks noGrp="1"/>
          </p:cNvSpPr>
          <p:nvPr>
            <p:ph idx="1"/>
          </p:nvPr>
        </p:nvSpPr>
        <p:spPr/>
        <p:txBody>
          <a:bodyPr/>
          <a:lstStyle/>
          <a:p>
            <a:r>
              <a:rPr lang="de-DE" dirty="0"/>
              <a:t>Stack </a:t>
            </a:r>
            <a:r>
              <a:rPr lang="de-DE" dirty="0" err="1"/>
              <a:t>is</a:t>
            </a:r>
            <a:r>
              <a:rPr lang="de-DE" dirty="0"/>
              <a:t> </a:t>
            </a:r>
            <a:r>
              <a:rPr lang="en-GB" dirty="0"/>
              <a:t>said to have “First In, Last Out" (FILO) or “Last In, First Out” (LIFO) behaviour meaning that the first item added to a stack will be the last item removed from a stack</a:t>
            </a:r>
            <a:endParaRPr lang="de-DE" dirty="0"/>
          </a:p>
          <a:p>
            <a:endParaRPr lang="de-DE" dirty="0"/>
          </a:p>
          <a:p>
            <a:r>
              <a:rPr lang="de-DE" dirty="0" err="1"/>
              <a:t>Example</a:t>
            </a:r>
            <a:r>
              <a:rPr lang="de-DE" dirty="0"/>
              <a:t>:</a:t>
            </a:r>
          </a:p>
          <a:p>
            <a:pPr lvl="1"/>
            <a:r>
              <a:rPr lang="en-GB" dirty="0"/>
              <a:t>Which is the first coin to pick up from the stack of gold coins? </a:t>
            </a:r>
          </a:p>
          <a:p>
            <a:endParaRPr lang="en-GB" dirty="0"/>
          </a:p>
          <a:p>
            <a:endParaRPr lang="de-DE" dirty="0"/>
          </a:p>
          <a:p>
            <a:endParaRPr lang="en-US" dirty="0"/>
          </a:p>
        </p:txBody>
      </p:sp>
      <p:sp>
        <p:nvSpPr>
          <p:cNvPr id="4" name="Slide Number Placeholder 3"/>
          <p:cNvSpPr>
            <a:spLocks noGrp="1"/>
          </p:cNvSpPr>
          <p:nvPr>
            <p:ph type="sldNum" sz="quarter" idx="12"/>
          </p:nvPr>
        </p:nvSpPr>
        <p:spPr/>
        <p:txBody>
          <a:bodyPr/>
          <a:lstStyle/>
          <a:p>
            <a:fld id="{1F4BC561-BCEA-4F0B-95C2-8CA863EDD649}" type="slidenum">
              <a:rPr lang="de-DE" altLang="zh-CN" smtClean="0"/>
              <a:pPr/>
              <a:t>5</a:t>
            </a:fld>
            <a:endParaRPr lang="de-DE" altLang="zh-C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0" y="3276600"/>
            <a:ext cx="1521995"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5460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Basics </a:t>
            </a:r>
            <a:r>
              <a:rPr lang="de-DE" b="1" dirty="0" err="1"/>
              <a:t>of</a:t>
            </a:r>
            <a:r>
              <a:rPr lang="de-DE" b="1" dirty="0"/>
              <a:t> </a:t>
            </a:r>
            <a:r>
              <a:rPr lang="de-DE" b="1" dirty="0" err="1"/>
              <a:t>stack</a:t>
            </a:r>
            <a:endParaRPr lang="en-US" b="1" dirty="0"/>
          </a:p>
        </p:txBody>
      </p:sp>
      <p:sp>
        <p:nvSpPr>
          <p:cNvPr id="3" name="Content Placeholder 2"/>
          <p:cNvSpPr>
            <a:spLocks noGrp="1"/>
          </p:cNvSpPr>
          <p:nvPr>
            <p:ph idx="1"/>
          </p:nvPr>
        </p:nvSpPr>
        <p:spPr/>
        <p:txBody>
          <a:bodyPr/>
          <a:lstStyle/>
          <a:p>
            <a:r>
              <a:rPr lang="en-GB" dirty="0"/>
              <a:t>Size: The number of elements on the stack </a:t>
            </a:r>
          </a:p>
          <a:p>
            <a:endParaRPr lang="en-GB" dirty="0"/>
          </a:p>
          <a:p>
            <a:r>
              <a:rPr lang="en-GB" dirty="0"/>
              <a:t>Top: Points to the top-most element on the stack. This refers to NULL if stack is empty or size = 0 </a:t>
            </a:r>
          </a:p>
          <a:p>
            <a:endParaRPr lang="en-US" dirty="0"/>
          </a:p>
        </p:txBody>
      </p:sp>
      <p:sp>
        <p:nvSpPr>
          <p:cNvPr id="4" name="Slide Number Placeholder 3"/>
          <p:cNvSpPr>
            <a:spLocks noGrp="1"/>
          </p:cNvSpPr>
          <p:nvPr>
            <p:ph type="sldNum" sz="quarter" idx="12"/>
          </p:nvPr>
        </p:nvSpPr>
        <p:spPr/>
        <p:txBody>
          <a:bodyPr/>
          <a:lstStyle/>
          <a:p>
            <a:fld id="{1F4BC561-BCEA-4F0B-95C2-8CA863EDD649}" type="slidenum">
              <a:rPr lang="de-DE" altLang="zh-CN" smtClean="0"/>
              <a:pPr/>
              <a:t>6</a:t>
            </a:fld>
            <a:endParaRPr lang="de-DE" altLang="zh-CN" dirty="0"/>
          </a:p>
        </p:txBody>
      </p:sp>
      <p:sp>
        <p:nvSpPr>
          <p:cNvPr id="5" name="Rectangle 4"/>
          <p:cNvSpPr/>
          <p:nvPr/>
        </p:nvSpPr>
        <p:spPr>
          <a:xfrm>
            <a:off x="1066800" y="4495800"/>
            <a:ext cx="9201150" cy="769441"/>
          </a:xfrm>
          <a:prstGeom prst="rect">
            <a:avLst/>
          </a:prstGeom>
        </p:spPr>
        <p:txBody>
          <a:bodyPr wrap="square">
            <a:spAutoFit/>
          </a:bodyPr>
          <a:lstStyle/>
          <a:p>
            <a:pPr defTabSz="457200" fontAlgn="auto">
              <a:spcBef>
                <a:spcPts val="0"/>
              </a:spcBef>
              <a:spcAft>
                <a:spcPts val="0"/>
              </a:spcAft>
            </a:pPr>
            <a:r>
              <a:rPr lang="en-GB" sz="2200" dirty="0">
                <a:solidFill>
                  <a:prstClr val="black"/>
                </a:solidFill>
                <a:cs typeface="Arial" panose="020B0604020202020204" pitchFamily="34" charset="0"/>
              </a:rPr>
              <a:t>Because we think of stacks in terms of the physical analogy, we usually draw them vertically (so the top is really on top) </a:t>
            </a:r>
          </a:p>
        </p:txBody>
      </p:sp>
    </p:spTree>
    <p:extLst>
      <p:ext uri="{BB962C8B-B14F-4D97-AF65-F5344CB8AC3E}">
        <p14:creationId xmlns:p14="http://schemas.microsoft.com/office/powerpoint/2010/main" val="3964282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 </a:t>
            </a:r>
            <a:r>
              <a:rPr lang="de-DE" b="1" dirty="0" err="1"/>
              <a:t>Operations</a:t>
            </a:r>
            <a:endParaRPr lang="en-US" b="1" dirty="0"/>
          </a:p>
        </p:txBody>
      </p:sp>
      <p:sp>
        <p:nvSpPr>
          <p:cNvPr id="3" name="Content Placeholder 2"/>
          <p:cNvSpPr>
            <a:spLocks noGrp="1"/>
          </p:cNvSpPr>
          <p:nvPr>
            <p:ph idx="1"/>
          </p:nvPr>
        </p:nvSpPr>
        <p:spPr/>
        <p:txBody>
          <a:bodyPr/>
          <a:lstStyle/>
          <a:p>
            <a:r>
              <a:rPr lang="en-GB"/>
              <a:t>Primarily two operations performed on </a:t>
            </a:r>
            <a:r>
              <a:rPr lang="en-GB">
                <a:solidFill>
                  <a:schemeClr val="accent1">
                    <a:lumMod val="75000"/>
                  </a:schemeClr>
                </a:solidFill>
              </a:rPr>
              <a:t>one end only </a:t>
            </a:r>
          </a:p>
          <a:p>
            <a:endParaRPr lang="en-GB"/>
          </a:p>
          <a:p>
            <a:pPr lvl="1"/>
            <a:r>
              <a:rPr lang="en-GB" b="1"/>
              <a:t>Push:</a:t>
            </a:r>
            <a:r>
              <a:rPr lang="en-GB"/>
              <a:t> Add an item on the top of stack </a:t>
            </a:r>
          </a:p>
          <a:p>
            <a:endParaRPr lang="en-GB"/>
          </a:p>
          <a:p>
            <a:pPr lvl="1"/>
            <a:r>
              <a:rPr lang="en-GB" b="1"/>
              <a:t>Pop:</a:t>
            </a:r>
            <a:r>
              <a:rPr lang="en-GB"/>
              <a:t> Remove an item at the top of stack </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7</a:t>
            </a:fld>
            <a:endParaRPr lang="de-DE" altLang="zh-CN" dirty="0">
              <a:solidFill>
                <a:srgbClr val="E7E6E6">
                  <a:lumMod val="50000"/>
                </a:srgbClr>
              </a:solidFill>
            </a:endParaRPr>
          </a:p>
        </p:txBody>
      </p:sp>
      <p:pic>
        <p:nvPicPr>
          <p:cNvPr id="5" name="Picture 4"/>
          <p:cNvPicPr>
            <a:picLocks noChangeAspect="1"/>
          </p:cNvPicPr>
          <p:nvPr/>
        </p:nvPicPr>
        <p:blipFill>
          <a:blip r:embed="rId2"/>
          <a:stretch>
            <a:fillRect/>
          </a:stretch>
        </p:blipFill>
        <p:spPr>
          <a:xfrm>
            <a:off x="2414587" y="4508500"/>
            <a:ext cx="7362825" cy="1847850"/>
          </a:xfrm>
          <a:prstGeom prst="rect">
            <a:avLst/>
          </a:prstGeom>
        </p:spPr>
      </p:pic>
    </p:spTree>
    <p:extLst>
      <p:ext uri="{BB962C8B-B14F-4D97-AF65-F5344CB8AC3E}">
        <p14:creationId xmlns:p14="http://schemas.microsoft.com/office/powerpoint/2010/main" val="362308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 </a:t>
            </a:r>
            <a:r>
              <a:rPr lang="de-DE" b="1" dirty="0" err="1"/>
              <a:t>Operations</a:t>
            </a:r>
            <a:endParaRPr lang="en-US" b="1" dirty="0"/>
          </a:p>
        </p:txBody>
      </p:sp>
      <p:sp>
        <p:nvSpPr>
          <p:cNvPr id="10" name="Content Placeholder 9"/>
          <p:cNvSpPr>
            <a:spLocks noGrp="1"/>
          </p:cNvSpPr>
          <p:nvPr>
            <p:ph idx="1"/>
          </p:nvPr>
        </p:nvSpPr>
        <p:spPr/>
        <p:txBody>
          <a:bodyPr>
            <a:normAutofit fontScale="85000" lnSpcReduction="10000"/>
          </a:bodyPr>
          <a:lstStyle/>
          <a:p>
            <a:r>
              <a:rPr lang="en-GB" dirty="0"/>
              <a:t>Push Concerns</a:t>
            </a:r>
          </a:p>
          <a:p>
            <a:pPr lvl="1"/>
            <a:r>
              <a:rPr lang="en-GB" dirty="0"/>
              <a:t>What if when the stack is full?</a:t>
            </a:r>
          </a:p>
          <a:p>
            <a:pPr lvl="2"/>
            <a:r>
              <a:rPr lang="en-GB" dirty="0"/>
              <a:t>If the </a:t>
            </a:r>
            <a:r>
              <a:rPr lang="en-GB" dirty="0">
                <a:solidFill>
                  <a:schemeClr val="accent1">
                    <a:lumMod val="75000"/>
                  </a:schemeClr>
                </a:solidFill>
              </a:rPr>
              <a:t>push </a:t>
            </a:r>
            <a:r>
              <a:rPr lang="en-GB" dirty="0"/>
              <a:t>operation is called when a </a:t>
            </a:r>
            <a:r>
              <a:rPr lang="en-GB" dirty="0">
                <a:solidFill>
                  <a:schemeClr val="accent1">
                    <a:lumMod val="75000"/>
                  </a:schemeClr>
                </a:solidFill>
              </a:rPr>
              <a:t>stack is already full</a:t>
            </a:r>
            <a:r>
              <a:rPr lang="en-GB" dirty="0"/>
              <a:t>, the condition is called “</a:t>
            </a:r>
            <a:r>
              <a:rPr lang="en-GB" dirty="0">
                <a:solidFill>
                  <a:schemeClr val="accent1">
                    <a:lumMod val="75000"/>
                  </a:schemeClr>
                </a:solidFill>
              </a:rPr>
              <a:t>stack overflow</a:t>
            </a:r>
            <a:r>
              <a:rPr lang="en-GB" dirty="0"/>
              <a:t>”</a:t>
            </a:r>
          </a:p>
          <a:p>
            <a:r>
              <a:rPr lang="en-GB" dirty="0"/>
              <a:t>Pop Concerns</a:t>
            </a:r>
          </a:p>
          <a:p>
            <a:pPr lvl="1"/>
            <a:r>
              <a:rPr lang="en-GB" dirty="0"/>
              <a:t>What if the stack is empty</a:t>
            </a:r>
          </a:p>
          <a:p>
            <a:pPr lvl="2"/>
            <a:r>
              <a:rPr lang="en-GB" dirty="0"/>
              <a:t>If the </a:t>
            </a:r>
            <a:r>
              <a:rPr lang="en-GB" dirty="0">
                <a:solidFill>
                  <a:schemeClr val="accent1">
                    <a:lumMod val="75000"/>
                  </a:schemeClr>
                </a:solidFill>
              </a:rPr>
              <a:t>pop</a:t>
            </a:r>
            <a:r>
              <a:rPr lang="en-GB" dirty="0"/>
              <a:t> operation is called when a stack is </a:t>
            </a:r>
            <a:r>
              <a:rPr lang="en-GB" dirty="0">
                <a:solidFill>
                  <a:schemeClr val="accent1">
                    <a:lumMod val="75000"/>
                  </a:schemeClr>
                </a:solidFill>
              </a:rPr>
              <a:t>already empty</a:t>
            </a:r>
            <a:r>
              <a:rPr lang="en-GB" dirty="0"/>
              <a:t>, the condition is called “</a:t>
            </a:r>
            <a:r>
              <a:rPr lang="en-GB" dirty="0">
                <a:solidFill>
                  <a:schemeClr val="accent1">
                    <a:lumMod val="75000"/>
                  </a:schemeClr>
                </a:solidFill>
              </a:rPr>
              <a:t>stack underflow</a:t>
            </a:r>
            <a:r>
              <a:rPr lang="en-GB" dirty="0"/>
              <a:t>”</a:t>
            </a:r>
          </a:p>
          <a:p>
            <a:endParaRPr lang="en-GB" dirty="0"/>
          </a:p>
          <a:p>
            <a:pPr marL="0" indent="0">
              <a:buNone/>
            </a:pPr>
            <a:r>
              <a:rPr lang="en-GB" b="1" dirty="0"/>
              <a:t>Solution:</a:t>
            </a:r>
          </a:p>
          <a:p>
            <a:r>
              <a:rPr lang="en-GB" dirty="0"/>
              <a:t>Before any push, check if the stack is already filled or not</a:t>
            </a:r>
          </a:p>
          <a:p>
            <a:pPr lvl="1"/>
            <a:r>
              <a:rPr lang="en-GB" dirty="0"/>
              <a:t>If it is filled then generate error message e.g., Stack Overflow</a:t>
            </a:r>
          </a:p>
          <a:p>
            <a:r>
              <a:rPr lang="en-GB" dirty="0"/>
              <a:t>Before pop, check if stack is not already empty</a:t>
            </a:r>
          </a:p>
          <a:p>
            <a:pPr lvl="1"/>
            <a:r>
              <a:rPr lang="en-GB" dirty="0"/>
              <a:t>If it is empty then generate error message e.g., Stack Underflow</a:t>
            </a:r>
            <a:endParaRPr lang="en-US" dirty="0"/>
          </a:p>
        </p:txBody>
      </p:sp>
      <p:sp>
        <p:nvSpPr>
          <p:cNvPr id="4" name="Slide Number Placeholder 3"/>
          <p:cNvSpPr>
            <a:spLocks noGrp="1"/>
          </p:cNvSpPr>
          <p:nvPr>
            <p:ph type="sldNum" sz="quarter" idx="12"/>
          </p:nvPr>
        </p:nvSpPr>
        <p:spPr/>
        <p:txBody>
          <a:bodyPr/>
          <a:lstStyle/>
          <a:p>
            <a:fld id="{1F4BC561-BCEA-4F0B-95C2-8CA863EDD649}" type="slidenum">
              <a:rPr lang="de-DE" altLang="zh-CN" smtClean="0"/>
              <a:pPr/>
              <a:t>8</a:t>
            </a:fld>
            <a:endParaRPr lang="de-DE" altLang="zh-CN" dirty="0"/>
          </a:p>
        </p:txBody>
      </p:sp>
    </p:spTree>
    <p:extLst>
      <p:ext uri="{BB962C8B-B14F-4D97-AF65-F5344CB8AC3E}">
        <p14:creationId xmlns:p14="http://schemas.microsoft.com/office/powerpoint/2010/main" val="374916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 Operations</a:t>
            </a:r>
            <a:endParaRPr lang="en-US" b="1" dirty="0"/>
          </a:p>
        </p:txBody>
      </p:sp>
      <p:sp>
        <p:nvSpPr>
          <p:cNvPr id="3" name="Content Placeholder 2"/>
          <p:cNvSpPr>
            <a:spLocks noGrp="1"/>
          </p:cNvSpPr>
          <p:nvPr>
            <p:ph idx="1"/>
          </p:nvPr>
        </p:nvSpPr>
        <p:spPr/>
        <p:txBody>
          <a:bodyPr>
            <a:normAutofit lnSpcReduction="10000"/>
          </a:bodyPr>
          <a:lstStyle/>
          <a:p>
            <a:pPr marL="0" indent="0">
              <a:buNone/>
            </a:pPr>
            <a:r>
              <a:rPr lang="en-GB" dirty="0"/>
              <a:t>push(item)		</a:t>
            </a:r>
            <a:r>
              <a:rPr lang="en-GB" dirty="0">
                <a:solidFill>
                  <a:srgbClr val="00B050"/>
                </a:solidFill>
              </a:rPr>
              <a:t>// Push an item onto the stack</a:t>
            </a:r>
          </a:p>
          <a:p>
            <a:pPr marL="0" indent="0">
              <a:buNone/>
            </a:pPr>
            <a:endParaRPr lang="en-GB" dirty="0"/>
          </a:p>
          <a:p>
            <a:pPr marL="0" indent="0">
              <a:buNone/>
            </a:pPr>
            <a:r>
              <a:rPr lang="en-GB" dirty="0"/>
              <a:t>pop( )			</a:t>
            </a:r>
            <a:r>
              <a:rPr lang="en-GB" dirty="0">
                <a:solidFill>
                  <a:srgbClr val="00B050"/>
                </a:solidFill>
              </a:rPr>
              <a:t>// Pop the top item off the stack</a:t>
            </a:r>
          </a:p>
          <a:p>
            <a:pPr marL="0" indent="0">
              <a:buNone/>
            </a:pPr>
            <a:endParaRPr lang="en-GB" dirty="0"/>
          </a:p>
          <a:p>
            <a:pPr marL="0" indent="0">
              <a:buNone/>
            </a:pPr>
            <a:r>
              <a:rPr lang="en-GB" dirty="0" err="1"/>
              <a:t>isEmpty</a:t>
            </a:r>
            <a:r>
              <a:rPr lang="en-GB" dirty="0"/>
              <a:t>()		</a:t>
            </a:r>
            <a:r>
              <a:rPr lang="en-GB" dirty="0">
                <a:solidFill>
                  <a:srgbClr val="00B050"/>
                </a:solidFill>
              </a:rPr>
              <a:t>// Return true if stack is empty</a:t>
            </a:r>
          </a:p>
          <a:p>
            <a:pPr marL="0" indent="0">
              <a:buNone/>
            </a:pPr>
            <a:endParaRPr lang="en-GB" dirty="0"/>
          </a:p>
          <a:p>
            <a:pPr marL="0" indent="0">
              <a:buNone/>
            </a:pPr>
            <a:r>
              <a:rPr lang="en-GB" dirty="0" err="1"/>
              <a:t>isFull</a:t>
            </a:r>
            <a:r>
              <a:rPr lang="en-GB" dirty="0"/>
              <a:t>()		</a:t>
            </a:r>
            <a:r>
              <a:rPr lang="en-GB" dirty="0">
                <a:solidFill>
                  <a:srgbClr val="00B050"/>
                </a:solidFill>
              </a:rPr>
              <a:t>// Return true if stack is full</a:t>
            </a:r>
          </a:p>
          <a:p>
            <a:pPr marL="0" indent="0">
              <a:buNone/>
            </a:pPr>
            <a:endParaRPr lang="en-GB" dirty="0"/>
          </a:p>
          <a:p>
            <a:pPr marL="0" indent="0">
              <a:buNone/>
            </a:pPr>
            <a:r>
              <a:rPr lang="en-GB" dirty="0"/>
              <a:t>top( ) or peek()	</a:t>
            </a:r>
            <a:r>
              <a:rPr lang="en-GB" dirty="0">
                <a:solidFill>
                  <a:srgbClr val="00B050"/>
                </a:solidFill>
              </a:rPr>
              <a:t>// Return value of top item without removing it</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9</a:t>
            </a:fld>
            <a:endParaRPr lang="en-US" altLang="en-US"/>
          </a:p>
        </p:txBody>
      </p:sp>
    </p:spTree>
    <p:extLst>
      <p:ext uri="{BB962C8B-B14F-4D97-AF65-F5344CB8AC3E}">
        <p14:creationId xmlns:p14="http://schemas.microsoft.com/office/powerpoint/2010/main" val="1397347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err="1"/>
              <a:t>Applications</a:t>
            </a:r>
            <a:endParaRPr lang="en-US" b="1" dirty="0"/>
          </a:p>
        </p:txBody>
      </p:sp>
      <p:sp>
        <p:nvSpPr>
          <p:cNvPr id="3" name="Content Placeholder 2"/>
          <p:cNvSpPr>
            <a:spLocks noGrp="1"/>
          </p:cNvSpPr>
          <p:nvPr>
            <p:ph idx="1"/>
          </p:nvPr>
        </p:nvSpPr>
        <p:spPr/>
        <p:txBody>
          <a:bodyPr>
            <a:normAutofit fontScale="92500" lnSpcReduction="10000"/>
          </a:bodyPr>
          <a:lstStyle/>
          <a:p>
            <a:r>
              <a:rPr lang="en-GB" dirty="0"/>
              <a:t>Real life</a:t>
            </a:r>
          </a:p>
          <a:p>
            <a:pPr lvl="1"/>
            <a:r>
              <a:rPr lang="en-GB" dirty="0"/>
              <a:t>Stack of trays in cafeteria </a:t>
            </a:r>
          </a:p>
          <a:p>
            <a:pPr lvl="1"/>
            <a:r>
              <a:rPr lang="en-GB" dirty="0"/>
              <a:t>Piles of books in library </a:t>
            </a:r>
          </a:p>
          <a:p>
            <a:endParaRPr lang="en-GB" dirty="0"/>
          </a:p>
          <a:p>
            <a:r>
              <a:rPr lang="en-GB" dirty="0"/>
              <a:t>Computer Science </a:t>
            </a:r>
          </a:p>
          <a:p>
            <a:pPr lvl="1"/>
            <a:r>
              <a:rPr lang="en-GB" dirty="0"/>
              <a:t>Compilers use stacks to evaluate expressions</a:t>
            </a:r>
            <a:r>
              <a:rPr lang="de-DE" dirty="0"/>
              <a:t> &amp; </a:t>
            </a:r>
            <a:r>
              <a:rPr lang="en-US" dirty="0"/>
              <a:t>syntax parsing </a:t>
            </a:r>
          </a:p>
          <a:p>
            <a:pPr lvl="1"/>
            <a:r>
              <a:rPr lang="de-DE" dirty="0" err="1"/>
              <a:t>Program</a:t>
            </a:r>
            <a:r>
              <a:rPr lang="de-DE" dirty="0"/>
              <a:t> </a:t>
            </a:r>
            <a:r>
              <a:rPr lang="de-DE" dirty="0" err="1"/>
              <a:t>execution</a:t>
            </a:r>
            <a:r>
              <a:rPr lang="de-DE" dirty="0"/>
              <a:t> </a:t>
            </a:r>
            <a:r>
              <a:rPr lang="de-DE" dirty="0" err="1"/>
              <a:t>stack</a:t>
            </a:r>
            <a:endParaRPr lang="en-GB" dirty="0"/>
          </a:p>
          <a:p>
            <a:pPr lvl="1"/>
            <a:r>
              <a:rPr lang="en-GB" dirty="0"/>
              <a:t>Undo operations </a:t>
            </a:r>
          </a:p>
          <a:p>
            <a:pPr lvl="1"/>
            <a:r>
              <a:rPr lang="en-GB" dirty="0"/>
              <a:t>Expression conversion</a:t>
            </a:r>
          </a:p>
          <a:p>
            <a:pPr lvl="1"/>
            <a:r>
              <a:rPr lang="en-GB" dirty="0"/>
              <a:t>Infix to post-, pre-fix and vice versa</a:t>
            </a:r>
          </a:p>
          <a:p>
            <a:pPr lvl="1"/>
            <a:r>
              <a:rPr lang="en-GB" dirty="0"/>
              <a:t>Tower of Hanoi</a:t>
            </a:r>
          </a:p>
          <a:p>
            <a:pPr lvl="1"/>
            <a:r>
              <a:rPr lang="en-GB" dirty="0"/>
              <a:t>And many more …</a:t>
            </a:r>
          </a:p>
          <a:p>
            <a:pPr lvl="1"/>
            <a:endParaRPr lang="en-GB" dirty="0"/>
          </a:p>
          <a:p>
            <a:endParaRPr lang="en-US" dirty="0"/>
          </a:p>
        </p:txBody>
      </p:sp>
      <p:sp>
        <p:nvSpPr>
          <p:cNvPr id="4" name="Slide Number Placeholder 3"/>
          <p:cNvSpPr>
            <a:spLocks noGrp="1"/>
          </p:cNvSpPr>
          <p:nvPr>
            <p:ph type="sldNum" sz="quarter" idx="12"/>
          </p:nvPr>
        </p:nvSpPr>
        <p:spPr/>
        <p:txBody>
          <a:bodyPr/>
          <a:lstStyle/>
          <a:p>
            <a:fld id="{1F4BC561-BCEA-4F0B-95C2-8CA863EDD649}" type="slidenum">
              <a:rPr lang="de-DE" altLang="zh-CN" smtClean="0"/>
              <a:pPr/>
              <a:t>10</a:t>
            </a:fld>
            <a:endParaRPr lang="de-DE" altLang="zh-CN" dirty="0"/>
          </a:p>
        </p:txBody>
      </p:sp>
    </p:spTree>
    <p:extLst>
      <p:ext uri="{BB962C8B-B14F-4D97-AF65-F5344CB8AC3E}">
        <p14:creationId xmlns:p14="http://schemas.microsoft.com/office/powerpoint/2010/main" val="105917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Choice of implementation</a:t>
            </a:r>
            <a:endParaRPr lang="en-US" b="1" dirty="0"/>
          </a:p>
        </p:txBody>
      </p:sp>
      <p:sp>
        <p:nvSpPr>
          <p:cNvPr id="3" name="Content Placeholder 2"/>
          <p:cNvSpPr>
            <a:spLocks noGrp="1"/>
          </p:cNvSpPr>
          <p:nvPr>
            <p:ph idx="1"/>
          </p:nvPr>
        </p:nvSpPr>
        <p:spPr/>
        <p:txBody>
          <a:bodyPr/>
          <a:lstStyle/>
          <a:p>
            <a:r>
              <a:rPr lang="en-US" dirty="0">
                <a:solidFill>
                  <a:schemeClr val="accent1">
                    <a:lumMod val="75000"/>
                  </a:schemeClr>
                </a:solidFill>
              </a:rPr>
              <a:t>Array based: </a:t>
            </a:r>
            <a:r>
              <a:rPr lang="en-US" dirty="0"/>
              <a:t>Stack Maximum stack size is </a:t>
            </a:r>
            <a:r>
              <a:rPr lang="en-US" b="1" dirty="0"/>
              <a:t>known </a:t>
            </a:r>
            <a:r>
              <a:rPr lang="en-US" dirty="0"/>
              <a:t>ahead of time </a:t>
            </a:r>
          </a:p>
          <a:p>
            <a:endParaRPr lang="en-US" dirty="0"/>
          </a:p>
          <a:p>
            <a:r>
              <a:rPr lang="en-US" dirty="0">
                <a:solidFill>
                  <a:schemeClr val="accent1">
                    <a:lumMod val="75000"/>
                  </a:schemeClr>
                </a:solidFill>
              </a:rPr>
              <a:t>Linked List based: </a:t>
            </a:r>
            <a:r>
              <a:rPr lang="en-US" dirty="0"/>
              <a:t>Stack Maximum stack size </a:t>
            </a:r>
            <a:r>
              <a:rPr lang="en-US" b="1" dirty="0"/>
              <a:t>unknown </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11</a:t>
            </a:fld>
            <a:endParaRPr lang="de-DE" altLang="zh-CN" dirty="0">
              <a:solidFill>
                <a:srgbClr val="E7E6E6">
                  <a:lumMod val="50000"/>
                </a:srgbClr>
              </a:solidFill>
            </a:endParaRPr>
          </a:p>
        </p:txBody>
      </p:sp>
    </p:spTree>
    <p:extLst>
      <p:ext uri="{BB962C8B-B14F-4D97-AF65-F5344CB8AC3E}">
        <p14:creationId xmlns:p14="http://schemas.microsoft.com/office/powerpoint/2010/main" val="4178740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b="1" dirty="0"/>
              <a:t>Array based Stack</a:t>
            </a:r>
            <a:endParaRPr lang="en-US" b="1"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12</a:t>
            </a:fld>
            <a:endParaRPr lang="en-US" altLang="en-US"/>
          </a:p>
        </p:txBody>
      </p:sp>
    </p:spTree>
    <p:extLst>
      <p:ext uri="{BB962C8B-B14F-4D97-AF65-F5344CB8AC3E}">
        <p14:creationId xmlns:p14="http://schemas.microsoft.com/office/powerpoint/2010/main" val="846698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Array based Stack</a:t>
            </a:r>
            <a:endParaRPr lang="en-US" b="1" dirty="0"/>
          </a:p>
        </p:txBody>
      </p:sp>
      <p:sp>
        <p:nvSpPr>
          <p:cNvPr id="3" name="Content Placeholder 2"/>
          <p:cNvSpPr>
            <a:spLocks noGrp="1"/>
          </p:cNvSpPr>
          <p:nvPr>
            <p:ph idx="1"/>
          </p:nvPr>
        </p:nvSpPr>
        <p:spPr/>
        <p:txBody>
          <a:bodyPr/>
          <a:lstStyle/>
          <a:p>
            <a:r>
              <a:rPr lang="en-GB" dirty="0"/>
              <a:t>When using an array to implement a stack </a:t>
            </a:r>
          </a:p>
          <a:p>
            <a:pPr lvl="1"/>
            <a:endParaRPr lang="en-GB" dirty="0"/>
          </a:p>
          <a:p>
            <a:pPr lvl="1"/>
            <a:r>
              <a:rPr lang="en-GB" dirty="0">
                <a:solidFill>
                  <a:srgbClr val="FF0000"/>
                </a:solidFill>
              </a:rPr>
              <a:t>The array’s first element should represent the bottom of the stack </a:t>
            </a:r>
          </a:p>
          <a:p>
            <a:pPr lvl="1"/>
            <a:endParaRPr lang="en-GB" dirty="0">
              <a:solidFill>
                <a:srgbClr val="FF0000"/>
              </a:solidFill>
            </a:endParaRPr>
          </a:p>
          <a:p>
            <a:pPr lvl="1"/>
            <a:r>
              <a:rPr lang="en-GB" dirty="0"/>
              <a:t>The last occupied location in the array represents the </a:t>
            </a:r>
            <a:r>
              <a:rPr lang="en-GB" dirty="0">
                <a:solidFill>
                  <a:schemeClr val="accent1">
                    <a:lumMod val="75000"/>
                  </a:schemeClr>
                </a:solidFill>
              </a:rPr>
              <a:t>stack's top </a:t>
            </a:r>
          </a:p>
          <a:p>
            <a:endParaRPr lang="en-GB" dirty="0"/>
          </a:p>
          <a:p>
            <a:r>
              <a:rPr lang="en-GB" dirty="0"/>
              <a:t>This avoids shifting of elements of the array when we push or remove elements from stack </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13</a:t>
            </a:fld>
            <a:endParaRPr lang="de-DE" altLang="zh-CN" dirty="0">
              <a:solidFill>
                <a:srgbClr val="E7E6E6">
                  <a:lumMod val="50000"/>
                </a:srgbClr>
              </a:solidFill>
            </a:endParaRPr>
          </a:p>
        </p:txBody>
      </p:sp>
    </p:spTree>
    <p:extLst>
      <p:ext uri="{BB962C8B-B14F-4D97-AF65-F5344CB8AC3E}">
        <p14:creationId xmlns:p14="http://schemas.microsoft.com/office/powerpoint/2010/main" val="3568195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Array based stack</a:t>
            </a:r>
            <a:endParaRPr lang="en-US" b="1" dirty="0"/>
          </a:p>
        </p:txBody>
      </p:sp>
      <p:sp>
        <p:nvSpPr>
          <p:cNvPr id="3" name="Content Placeholder 2"/>
          <p:cNvSpPr>
            <a:spLocks noGrp="1"/>
          </p:cNvSpPr>
          <p:nvPr>
            <p:ph idx="1"/>
          </p:nvPr>
        </p:nvSpPr>
        <p:spPr/>
        <p:txBody>
          <a:bodyPr/>
          <a:lstStyle/>
          <a:p>
            <a:r>
              <a:rPr lang="en-GB" dirty="0"/>
              <a:t>Allocate an array of some size (pre-defined) </a:t>
            </a:r>
          </a:p>
          <a:p>
            <a:pPr lvl="1"/>
            <a:r>
              <a:rPr lang="en-GB" dirty="0"/>
              <a:t>Maximum N elements in stack </a:t>
            </a:r>
          </a:p>
          <a:p>
            <a:endParaRPr lang="en-GB" dirty="0"/>
          </a:p>
          <a:p>
            <a:r>
              <a:rPr lang="en-GB" dirty="0"/>
              <a:t>Bottom stack element stored at element 0 </a:t>
            </a:r>
          </a:p>
          <a:p>
            <a:endParaRPr lang="en-GB" dirty="0"/>
          </a:p>
          <a:p>
            <a:r>
              <a:rPr lang="en-GB" dirty="0"/>
              <a:t>Last index in the array is the </a:t>
            </a:r>
            <a:r>
              <a:rPr lang="en-GB" dirty="0">
                <a:solidFill>
                  <a:schemeClr val="accent1">
                    <a:lumMod val="75000"/>
                  </a:schemeClr>
                </a:solidFill>
              </a:rPr>
              <a:t>top</a:t>
            </a:r>
            <a:r>
              <a:rPr lang="en-GB" dirty="0"/>
              <a:t> </a:t>
            </a:r>
          </a:p>
          <a:p>
            <a:endParaRPr lang="en-GB" dirty="0"/>
          </a:p>
          <a:p>
            <a:r>
              <a:rPr lang="en-GB" dirty="0"/>
              <a:t>Increment top when one element is pushed, similarly decrement after each pop </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14</a:t>
            </a:fld>
            <a:endParaRPr lang="de-DE" altLang="zh-CN" dirty="0">
              <a:solidFill>
                <a:srgbClr val="E7E6E6">
                  <a:lumMod val="50000"/>
                </a:srgbClr>
              </a:solidFill>
            </a:endParaRPr>
          </a:p>
        </p:txBody>
      </p:sp>
    </p:spTree>
    <p:extLst>
      <p:ext uri="{BB962C8B-B14F-4D97-AF65-F5344CB8AC3E}">
        <p14:creationId xmlns:p14="http://schemas.microsoft.com/office/powerpoint/2010/main" val="2382575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Array </a:t>
            </a:r>
            <a:r>
              <a:rPr lang="de-DE" b="1" dirty="0" err="1"/>
              <a:t>based</a:t>
            </a:r>
            <a:r>
              <a:rPr lang="de-DE" b="1" dirty="0"/>
              <a:t> </a:t>
            </a:r>
            <a:r>
              <a:rPr lang="de-DE" b="1" dirty="0" err="1"/>
              <a:t>stack</a:t>
            </a:r>
            <a:r>
              <a:rPr lang="de-DE" b="1" dirty="0"/>
              <a:t> </a:t>
            </a:r>
            <a:r>
              <a:rPr lang="de-DE" b="1" dirty="0" err="1"/>
              <a:t>operations</a:t>
            </a:r>
            <a:endParaRPr lang="en-US" b="1" dirty="0"/>
          </a:p>
        </p:txBody>
      </p:sp>
      <p:sp>
        <p:nvSpPr>
          <p:cNvPr id="3" name="Content Placeholder 2"/>
          <p:cNvSpPr>
            <a:spLocks noGrp="1"/>
          </p:cNvSpPr>
          <p:nvPr>
            <p:ph sz="half" idx="1"/>
          </p:nvPr>
        </p:nvSpPr>
        <p:spPr>
          <a:xfrm>
            <a:off x="838200" y="1825625"/>
            <a:ext cx="5200650" cy="4530726"/>
          </a:xfrm>
          <a:solidFill>
            <a:schemeClr val="accent1">
              <a:lumMod val="20000"/>
              <a:lumOff val="80000"/>
            </a:schemeClr>
          </a:solidFill>
        </p:spPr>
        <p:txBody>
          <a:bodyPr>
            <a:noAutofit/>
          </a:bodyPr>
          <a:lstStyle/>
          <a:p>
            <a:pPr marL="0" indent="0">
              <a:buNone/>
            </a:pPr>
            <a:r>
              <a:rPr lang="en-GB" sz="2000" dirty="0" err="1"/>
              <a:t>int</a:t>
            </a:r>
            <a:r>
              <a:rPr lang="en-GB" sz="2000" dirty="0"/>
              <a:t> stack[size]; </a:t>
            </a:r>
          </a:p>
          <a:p>
            <a:pPr marL="0" indent="0">
              <a:buNone/>
            </a:pPr>
            <a:r>
              <a:rPr lang="en-GB" sz="2000" dirty="0" err="1"/>
              <a:t>int</a:t>
            </a:r>
            <a:r>
              <a:rPr lang="en-GB" sz="2000" dirty="0"/>
              <a:t> top = -1; </a:t>
            </a:r>
          </a:p>
          <a:p>
            <a:pPr marL="0" indent="0">
              <a:buNone/>
            </a:pPr>
            <a:r>
              <a:rPr lang="en-GB" sz="2000" dirty="0"/>
              <a:t>void Push(</a:t>
            </a:r>
            <a:r>
              <a:rPr lang="en-GB" sz="2000" dirty="0" err="1"/>
              <a:t>int</a:t>
            </a:r>
            <a:r>
              <a:rPr lang="en-GB" sz="2000" dirty="0"/>
              <a:t> element) { </a:t>
            </a:r>
          </a:p>
          <a:p>
            <a:pPr marL="0" indent="0">
              <a:buNone/>
            </a:pPr>
            <a:r>
              <a:rPr lang="en-GB" sz="2000" dirty="0"/>
              <a:t>	if (!</a:t>
            </a:r>
            <a:r>
              <a:rPr lang="en-GB" sz="2000" dirty="0" err="1"/>
              <a:t>isFull</a:t>
            </a:r>
            <a:r>
              <a:rPr lang="en-GB" sz="2000" dirty="0"/>
              <a:t>()) { </a:t>
            </a:r>
          </a:p>
          <a:p>
            <a:pPr marL="0" indent="0">
              <a:buNone/>
            </a:pPr>
            <a:r>
              <a:rPr lang="en-GB" sz="2000" dirty="0"/>
              <a:t>	       stack[++top] = element; </a:t>
            </a:r>
          </a:p>
          <a:p>
            <a:pPr marL="0" indent="0">
              <a:buNone/>
            </a:pPr>
            <a:r>
              <a:rPr lang="en-GB" sz="2000" dirty="0"/>
              <a:t>	} </a:t>
            </a:r>
          </a:p>
          <a:p>
            <a:pPr marL="0" indent="0">
              <a:buNone/>
            </a:pPr>
            <a:r>
              <a:rPr lang="en-GB" sz="2000" dirty="0"/>
              <a:t>} </a:t>
            </a:r>
          </a:p>
          <a:p>
            <a:pPr marL="0" indent="0">
              <a:buNone/>
            </a:pPr>
            <a:r>
              <a:rPr lang="en-GB" sz="2000" dirty="0"/>
              <a:t>bool </a:t>
            </a:r>
            <a:r>
              <a:rPr lang="en-GB" sz="2000" dirty="0" err="1"/>
              <a:t>isFull</a:t>
            </a:r>
            <a:r>
              <a:rPr lang="en-GB" sz="2000" dirty="0"/>
              <a:t>() { </a:t>
            </a:r>
          </a:p>
          <a:p>
            <a:pPr marL="0" indent="0">
              <a:buNone/>
            </a:pPr>
            <a:r>
              <a:rPr lang="en-GB" sz="2000" dirty="0"/>
              <a:t>	return top==size-1; </a:t>
            </a:r>
          </a:p>
          <a:p>
            <a:pPr marL="0" indent="0">
              <a:buNone/>
            </a:pPr>
            <a:r>
              <a:rPr lang="en-GB" sz="2000" dirty="0"/>
              <a:t>} </a:t>
            </a:r>
          </a:p>
          <a:p>
            <a:pPr marL="0" indent="0">
              <a:buNone/>
            </a:pPr>
            <a:endParaRPr lang="en-US" sz="2000" dirty="0"/>
          </a:p>
        </p:txBody>
      </p:sp>
      <p:sp>
        <p:nvSpPr>
          <p:cNvPr id="10" name="Content Placeholder 2"/>
          <p:cNvSpPr txBox="1">
            <a:spLocks noGrp="1"/>
          </p:cNvSpPr>
          <p:nvPr>
            <p:ph sz="half" idx="2"/>
          </p:nvPr>
        </p:nvSpPr>
        <p:spPr>
          <a:xfrm>
            <a:off x="6153150" y="1825625"/>
            <a:ext cx="5200650" cy="4530726"/>
          </a:xfrm>
          <a:prstGeom prst="rect">
            <a:avLst/>
          </a:prstGeom>
          <a:solidFill>
            <a:schemeClr val="accent2">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SzPct val="6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alibri" panose="020F050202020403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alibri" panose="020F050202020403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err="1">
                <a:solidFill>
                  <a:prstClr val="black"/>
                </a:solidFill>
              </a:rPr>
              <a:t>int</a:t>
            </a:r>
            <a:r>
              <a:rPr lang="en-US" sz="2000" dirty="0">
                <a:solidFill>
                  <a:prstClr val="black"/>
                </a:solidFill>
              </a:rPr>
              <a:t> Pop() { </a:t>
            </a:r>
          </a:p>
          <a:p>
            <a:pPr marL="457200" lvl="2" indent="0">
              <a:spcBef>
                <a:spcPts val="1000"/>
              </a:spcBef>
              <a:buNone/>
            </a:pPr>
            <a:r>
              <a:rPr lang="en-US" sz="1800" dirty="0" err="1">
                <a:solidFill>
                  <a:prstClr val="black"/>
                </a:solidFill>
              </a:rPr>
              <a:t>int</a:t>
            </a:r>
            <a:r>
              <a:rPr lang="en-US" sz="1800" dirty="0">
                <a:solidFill>
                  <a:prstClr val="black"/>
                </a:solidFill>
              </a:rPr>
              <a:t> element = -1; </a:t>
            </a:r>
          </a:p>
          <a:p>
            <a:pPr marL="457200" lvl="2" indent="0">
              <a:spcBef>
                <a:spcPts val="1000"/>
              </a:spcBef>
              <a:buNone/>
            </a:pPr>
            <a:r>
              <a:rPr lang="en-US" sz="1800" dirty="0">
                <a:solidFill>
                  <a:prstClr val="black"/>
                </a:solidFill>
              </a:rPr>
              <a:t>If (!</a:t>
            </a:r>
            <a:r>
              <a:rPr lang="en-US" sz="1800" dirty="0" err="1">
                <a:solidFill>
                  <a:prstClr val="black"/>
                </a:solidFill>
              </a:rPr>
              <a:t>isEmpty</a:t>
            </a:r>
            <a:r>
              <a:rPr lang="en-US" sz="1800" dirty="0">
                <a:solidFill>
                  <a:prstClr val="black"/>
                </a:solidFill>
              </a:rPr>
              <a:t>()) { </a:t>
            </a:r>
          </a:p>
          <a:p>
            <a:pPr marL="457200" lvl="2" indent="0">
              <a:spcBef>
                <a:spcPts val="1000"/>
              </a:spcBef>
              <a:buNone/>
            </a:pPr>
            <a:r>
              <a:rPr lang="en-US" sz="1800" dirty="0">
                <a:solidFill>
                  <a:prstClr val="black"/>
                </a:solidFill>
              </a:rPr>
              <a:t>	element = stack[top]; </a:t>
            </a:r>
          </a:p>
          <a:p>
            <a:pPr marL="457200" lvl="2" indent="0">
              <a:spcBef>
                <a:spcPts val="1000"/>
              </a:spcBef>
              <a:buNone/>
            </a:pPr>
            <a:r>
              <a:rPr lang="en-US" sz="1800" dirty="0">
                <a:solidFill>
                  <a:prstClr val="black"/>
                </a:solidFill>
              </a:rPr>
              <a:t>	stack[top--] = -1; </a:t>
            </a:r>
          </a:p>
          <a:p>
            <a:pPr marL="457200" lvl="2" indent="0">
              <a:spcBef>
                <a:spcPts val="1000"/>
              </a:spcBef>
              <a:buNone/>
            </a:pPr>
            <a:r>
              <a:rPr lang="en-US" sz="1800" dirty="0">
                <a:solidFill>
                  <a:prstClr val="black"/>
                </a:solidFill>
              </a:rPr>
              <a:t>} </a:t>
            </a:r>
          </a:p>
          <a:p>
            <a:pPr marL="457200" lvl="2" indent="0">
              <a:spcBef>
                <a:spcPts val="1000"/>
              </a:spcBef>
              <a:buNone/>
            </a:pPr>
            <a:r>
              <a:rPr lang="en-US" sz="1800" dirty="0">
                <a:solidFill>
                  <a:prstClr val="black"/>
                </a:solidFill>
              </a:rPr>
              <a:t>return element; </a:t>
            </a:r>
          </a:p>
          <a:p>
            <a:pPr marL="0" indent="0">
              <a:buNone/>
            </a:pPr>
            <a:r>
              <a:rPr lang="en-US" sz="2000" dirty="0">
                <a:solidFill>
                  <a:prstClr val="black"/>
                </a:solidFill>
              </a:rPr>
              <a:t>} </a:t>
            </a:r>
          </a:p>
          <a:p>
            <a:pPr marL="0" indent="0">
              <a:buNone/>
            </a:pPr>
            <a:r>
              <a:rPr lang="en-US" sz="2000" dirty="0">
                <a:solidFill>
                  <a:prstClr val="black"/>
                </a:solidFill>
              </a:rPr>
              <a:t>bool </a:t>
            </a:r>
            <a:r>
              <a:rPr lang="en-US" sz="2000" dirty="0" err="1">
                <a:solidFill>
                  <a:prstClr val="black"/>
                </a:solidFill>
              </a:rPr>
              <a:t>isEmpty</a:t>
            </a:r>
            <a:r>
              <a:rPr lang="en-US" sz="2000" dirty="0">
                <a:solidFill>
                  <a:prstClr val="black"/>
                </a:solidFill>
              </a:rPr>
              <a:t>() { </a:t>
            </a:r>
          </a:p>
          <a:p>
            <a:pPr marL="0" indent="0">
              <a:buNone/>
            </a:pPr>
            <a:r>
              <a:rPr lang="en-US" sz="2000" dirty="0">
                <a:solidFill>
                  <a:prstClr val="black"/>
                </a:solidFill>
              </a:rPr>
              <a:t>	return top&lt;0; </a:t>
            </a:r>
          </a:p>
          <a:p>
            <a:pPr marL="0" indent="0">
              <a:buNone/>
            </a:pPr>
            <a:r>
              <a:rPr lang="en-US" sz="2000" dirty="0">
                <a:solidFill>
                  <a:prstClr val="black"/>
                </a:solidFill>
              </a:rPr>
              <a:t>} </a:t>
            </a:r>
          </a:p>
          <a:p>
            <a:pPr marL="0" indent="0">
              <a:buNone/>
            </a:pPr>
            <a:endParaRPr lang="en-US" sz="2000" dirty="0">
              <a:solidFill>
                <a:prstClr val="black"/>
              </a:solidFill>
            </a:endParaRPr>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15</a:t>
            </a:fld>
            <a:endParaRPr lang="de-DE" altLang="zh-CN" dirty="0">
              <a:solidFill>
                <a:srgbClr val="E7E6E6">
                  <a:lumMod val="50000"/>
                </a:srgbClr>
              </a:solidFill>
            </a:endParaRPr>
          </a:p>
        </p:txBody>
      </p:sp>
    </p:spTree>
    <p:extLst>
      <p:ext uri="{BB962C8B-B14F-4D97-AF65-F5344CB8AC3E}">
        <p14:creationId xmlns:p14="http://schemas.microsoft.com/office/powerpoint/2010/main" val="2991171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b="1" dirty="0"/>
              <a:t>Linked List based Stack</a:t>
            </a:r>
            <a:endParaRPr lang="en-US" b="1"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16</a:t>
            </a:fld>
            <a:endParaRPr lang="en-US" altLang="en-US"/>
          </a:p>
        </p:txBody>
      </p:sp>
    </p:spTree>
    <p:extLst>
      <p:ext uri="{BB962C8B-B14F-4D97-AF65-F5344CB8AC3E}">
        <p14:creationId xmlns:p14="http://schemas.microsoft.com/office/powerpoint/2010/main" val="307293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a:solidFill>
                  <a:srgbClr val="FF0000"/>
                </a:solidFill>
                <a:cs typeface="Arial" panose="020B0604020202020204" pitchFamily="34" charset="0"/>
              </a:rPr>
              <a:t>How can we implement Stack using linked lists?</a:t>
            </a:r>
          </a:p>
          <a:p>
            <a:endParaRPr lang="en-GB" sz="2000" dirty="0"/>
          </a:p>
          <a:p>
            <a:endParaRPr lang="en-GB" sz="2000" dirty="0"/>
          </a:p>
          <a:p>
            <a:endParaRPr lang="en-GB" sz="2000" dirty="0"/>
          </a:p>
          <a:p>
            <a:r>
              <a:rPr lang="en-GB" sz="3200" dirty="0"/>
              <a:t>LIFO</a:t>
            </a:r>
          </a:p>
          <a:p>
            <a:pPr lvl="1"/>
            <a:r>
              <a:rPr lang="en-GB" dirty="0"/>
              <a:t>Push = Insert at head</a:t>
            </a:r>
          </a:p>
          <a:p>
            <a:pPr lvl="1"/>
            <a:r>
              <a:rPr lang="en-GB" dirty="0"/>
              <a:t>Pop = Remove at head</a:t>
            </a:r>
          </a:p>
          <a:p>
            <a:pPr lvl="1"/>
            <a:r>
              <a:rPr lang="en-GB" dirty="0" err="1"/>
              <a:t>IsEmpty</a:t>
            </a:r>
            <a:r>
              <a:rPr lang="en-GB" dirty="0"/>
              <a:t> = Empty List</a:t>
            </a:r>
          </a:p>
          <a:p>
            <a:pPr lvl="1"/>
            <a:r>
              <a:rPr lang="en-GB" dirty="0"/>
              <a:t>Peek()/Top() = reading element at the top without popping it out.</a:t>
            </a:r>
          </a:p>
          <a:p>
            <a:pPr lvl="1"/>
            <a:r>
              <a:rPr lang="en-GB" dirty="0"/>
              <a:t>Clear = Destroy List</a:t>
            </a:r>
          </a:p>
          <a:p>
            <a:endParaRPr lang="en-US" sz="2000" dirty="0"/>
          </a:p>
        </p:txBody>
      </p:sp>
      <p:pic>
        <p:nvPicPr>
          <p:cNvPr id="7" name="Picture 6">
            <a:extLst>
              <a:ext uri="{FF2B5EF4-FFF2-40B4-BE49-F238E27FC236}">
                <a16:creationId xmlns:a16="http://schemas.microsoft.com/office/drawing/2014/main" id="{F9713935-E73E-4809-976D-0726327B32AF}"/>
              </a:ext>
            </a:extLst>
          </p:cNvPr>
          <p:cNvPicPr>
            <a:picLocks noChangeAspect="1"/>
          </p:cNvPicPr>
          <p:nvPr/>
        </p:nvPicPr>
        <p:blipFill>
          <a:blip r:embed="rId2"/>
          <a:stretch>
            <a:fillRect/>
          </a:stretch>
        </p:blipFill>
        <p:spPr>
          <a:xfrm>
            <a:off x="8737509" y="2438400"/>
            <a:ext cx="2624312" cy="2782604"/>
          </a:xfrm>
          <a:prstGeom prst="rect">
            <a:avLst/>
          </a:prstGeom>
        </p:spPr>
      </p:pic>
      <p:sp>
        <p:nvSpPr>
          <p:cNvPr id="2" name="Title 1"/>
          <p:cNvSpPr>
            <a:spLocks noGrp="1"/>
          </p:cNvSpPr>
          <p:nvPr>
            <p:ph type="title"/>
          </p:nvPr>
        </p:nvSpPr>
        <p:spPr/>
        <p:txBody>
          <a:bodyPr/>
          <a:lstStyle/>
          <a:p>
            <a:r>
              <a:rPr lang="de-DE" b="1" dirty="0"/>
              <a:t>Linked List based implementation</a:t>
            </a:r>
            <a:endParaRPr lang="en-US" b="1"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17</a:t>
            </a:fld>
            <a:endParaRPr lang="de-DE" altLang="zh-CN" dirty="0">
              <a:solidFill>
                <a:srgbClr val="E7E6E6">
                  <a:lumMod val="50000"/>
                </a:srgbClr>
              </a:solidFill>
            </a:endParaRPr>
          </a:p>
        </p:txBody>
      </p:sp>
    </p:spTree>
    <p:extLst>
      <p:ext uri="{BB962C8B-B14F-4D97-AF65-F5344CB8AC3E}">
        <p14:creationId xmlns:p14="http://schemas.microsoft.com/office/powerpoint/2010/main" val="274922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Linked List based implementation</a:t>
            </a:r>
            <a:endParaRPr lang="en-US" b="1"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18</a:t>
            </a:fld>
            <a:endParaRPr lang="de-DE" altLang="zh-CN" dirty="0">
              <a:solidFill>
                <a:srgbClr val="E7E6E6">
                  <a:lumMod val="50000"/>
                </a:srgbClr>
              </a:solidFill>
            </a:endParaRPr>
          </a:p>
        </p:txBody>
      </p:sp>
      <p:sp>
        <p:nvSpPr>
          <p:cNvPr id="10" name="Content Placeholder 9"/>
          <p:cNvSpPr>
            <a:spLocks noGrp="1"/>
          </p:cNvSpPr>
          <p:nvPr>
            <p:ph sz="half" idx="2"/>
          </p:nvPr>
        </p:nvSpPr>
        <p:spPr/>
        <p:txBody>
          <a:bodyPr>
            <a:normAutofit fontScale="77500" lnSpcReduction="20000"/>
          </a:bodyPr>
          <a:lstStyle/>
          <a:p>
            <a:pPr marL="273050" indent="-273050">
              <a:lnSpc>
                <a:spcPct val="80000"/>
              </a:lnSpc>
              <a:buNone/>
            </a:pPr>
            <a:r>
              <a:rPr lang="en-US" dirty="0">
                <a:ea typeface="ＭＳ Ｐゴシック" pitchFamily="34" charset="-128"/>
              </a:rPr>
              <a:t>class stack </a:t>
            </a:r>
          </a:p>
          <a:p>
            <a:pPr marL="273050" indent="-273050">
              <a:lnSpc>
                <a:spcPct val="80000"/>
              </a:lnSpc>
              <a:buNone/>
            </a:pPr>
            <a:r>
              <a:rPr lang="en-US" dirty="0">
                <a:ea typeface="ＭＳ Ｐゴシック" pitchFamily="34" charset="-128"/>
              </a:rPr>
              <a:t>{</a:t>
            </a:r>
          </a:p>
          <a:p>
            <a:pPr marL="273050" indent="-273050">
              <a:lnSpc>
                <a:spcPct val="80000"/>
              </a:lnSpc>
              <a:buNone/>
            </a:pPr>
            <a:r>
              <a:rPr lang="en-US" dirty="0">
                <a:ea typeface="ＭＳ Ｐゴシック" pitchFamily="34" charset="-128"/>
              </a:rPr>
              <a:t>	</a:t>
            </a:r>
            <a:r>
              <a:rPr lang="en-US" dirty="0" err="1">
                <a:ea typeface="ＭＳ Ｐゴシック" pitchFamily="34" charset="-128"/>
              </a:rPr>
              <a:t>int</a:t>
            </a:r>
            <a:r>
              <a:rPr lang="en-US" dirty="0">
                <a:ea typeface="ＭＳ Ｐゴシック" pitchFamily="34" charset="-128"/>
              </a:rPr>
              <a:t> size;</a:t>
            </a:r>
          </a:p>
          <a:p>
            <a:pPr marL="273050" indent="-273050">
              <a:lnSpc>
                <a:spcPct val="80000"/>
              </a:lnSpc>
              <a:buNone/>
            </a:pPr>
            <a:r>
              <a:rPr lang="en-US" dirty="0">
                <a:ea typeface="ＭＳ Ｐゴシック" pitchFamily="34" charset="-128"/>
              </a:rPr>
              <a:t>	node* top;</a:t>
            </a:r>
          </a:p>
          <a:p>
            <a:pPr marL="273050" indent="-273050">
              <a:lnSpc>
                <a:spcPct val="80000"/>
              </a:lnSpc>
              <a:buNone/>
            </a:pPr>
            <a:r>
              <a:rPr lang="en-US" dirty="0">
                <a:ea typeface="ＭＳ Ｐゴシック" pitchFamily="34" charset="-128"/>
              </a:rPr>
              <a:t>public:</a:t>
            </a:r>
          </a:p>
          <a:p>
            <a:pPr marL="273050" indent="-273050">
              <a:lnSpc>
                <a:spcPct val="80000"/>
              </a:lnSpc>
              <a:buNone/>
            </a:pPr>
            <a:r>
              <a:rPr lang="en-US" dirty="0">
                <a:ea typeface="ＭＳ Ｐゴシック" pitchFamily="34" charset="-128"/>
              </a:rPr>
              <a:t>    stack() {</a:t>
            </a:r>
          </a:p>
          <a:p>
            <a:pPr marL="273050" indent="-273050">
              <a:lnSpc>
                <a:spcPct val="80000"/>
              </a:lnSpc>
              <a:buNone/>
            </a:pPr>
            <a:r>
              <a:rPr lang="en-US" dirty="0">
                <a:ea typeface="ＭＳ Ｐゴシック" pitchFamily="34" charset="-128"/>
              </a:rPr>
              <a:t>        size=0;</a:t>
            </a:r>
          </a:p>
          <a:p>
            <a:pPr marL="273050" indent="-273050">
              <a:lnSpc>
                <a:spcPct val="80000"/>
              </a:lnSpc>
              <a:buNone/>
            </a:pPr>
            <a:r>
              <a:rPr lang="en-US" dirty="0">
                <a:ea typeface="ＭＳ Ｐゴシック" pitchFamily="34" charset="-128"/>
              </a:rPr>
              <a:t>        top=NULL;</a:t>
            </a:r>
          </a:p>
          <a:p>
            <a:pPr marL="273050" indent="-273050">
              <a:lnSpc>
                <a:spcPct val="80000"/>
              </a:lnSpc>
              <a:buNone/>
            </a:pPr>
            <a:r>
              <a:rPr lang="en-US" dirty="0">
                <a:ea typeface="ＭＳ Ｐゴシック" pitchFamily="34" charset="-128"/>
              </a:rPr>
              <a:t>     } </a:t>
            </a:r>
            <a:r>
              <a:rPr lang="en-US" dirty="0">
                <a:solidFill>
                  <a:srgbClr val="00B050"/>
                </a:solidFill>
                <a:ea typeface="ＭＳ Ｐゴシック" pitchFamily="34" charset="-128"/>
              </a:rPr>
              <a:t>//default constructor</a:t>
            </a:r>
          </a:p>
          <a:p>
            <a:pPr marL="273050" indent="-273050">
              <a:lnSpc>
                <a:spcPct val="80000"/>
              </a:lnSpc>
              <a:buNone/>
            </a:pPr>
            <a:r>
              <a:rPr lang="en-US" dirty="0">
                <a:ea typeface="ＭＳ Ｐゴシック" pitchFamily="34" charset="-128"/>
              </a:rPr>
              <a:t>     void push(</a:t>
            </a:r>
            <a:r>
              <a:rPr lang="en-US" dirty="0" err="1">
                <a:ea typeface="ＭＳ Ｐゴシック" pitchFamily="34" charset="-128"/>
              </a:rPr>
              <a:t>int</a:t>
            </a:r>
            <a:r>
              <a:rPr lang="en-US" dirty="0">
                <a:ea typeface="ＭＳ Ｐゴシック" pitchFamily="34" charset="-128"/>
              </a:rPr>
              <a:t>);</a:t>
            </a:r>
          </a:p>
          <a:p>
            <a:pPr marL="273050" indent="-273050">
              <a:lnSpc>
                <a:spcPct val="80000"/>
              </a:lnSpc>
              <a:buNone/>
            </a:pPr>
            <a:r>
              <a:rPr lang="en-US" dirty="0">
                <a:ea typeface="ＭＳ Ｐゴシック" pitchFamily="34" charset="-128"/>
              </a:rPr>
              <a:t>	  bool pop();</a:t>
            </a:r>
          </a:p>
          <a:p>
            <a:pPr marL="273050" indent="-273050">
              <a:lnSpc>
                <a:spcPct val="80000"/>
              </a:lnSpc>
              <a:buNone/>
            </a:pPr>
            <a:r>
              <a:rPr lang="en-US" dirty="0">
                <a:ea typeface="ＭＳ Ｐゴシック" pitchFamily="34" charset="-128"/>
              </a:rPr>
              <a:t>	  bool </a:t>
            </a:r>
            <a:r>
              <a:rPr lang="en-US" dirty="0" err="1">
                <a:ea typeface="ＭＳ Ｐゴシック" pitchFamily="34" charset="-128"/>
              </a:rPr>
              <a:t>isEmpty</a:t>
            </a:r>
            <a:r>
              <a:rPr lang="en-US" dirty="0">
                <a:ea typeface="ＭＳ Ｐゴシック" pitchFamily="34" charset="-128"/>
              </a:rPr>
              <a:t>(); </a:t>
            </a:r>
          </a:p>
          <a:p>
            <a:pPr marL="273050" indent="-273050">
              <a:lnSpc>
                <a:spcPct val="80000"/>
              </a:lnSpc>
              <a:buNone/>
            </a:pPr>
            <a:r>
              <a:rPr lang="en-US" dirty="0">
                <a:ea typeface="ＭＳ Ｐゴシック" pitchFamily="34" charset="-128"/>
              </a:rPr>
              <a:t>};</a:t>
            </a:r>
          </a:p>
        </p:txBody>
      </p:sp>
      <p:sp>
        <p:nvSpPr>
          <p:cNvPr id="12" name="Content Placeholder 6"/>
          <p:cNvSpPr>
            <a:spLocks noGrp="1"/>
          </p:cNvSpPr>
          <p:nvPr/>
        </p:nvSpPr>
        <p:spPr>
          <a:xfrm>
            <a:off x="5760027" y="1167607"/>
            <a:ext cx="4267200" cy="45259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3050" indent="-273050">
              <a:lnSpc>
                <a:spcPct val="80000"/>
              </a:lnSpc>
              <a:buNone/>
            </a:pPr>
            <a:endParaRPr lang="en-US" dirty="0">
              <a:ea typeface="ＭＳ Ｐゴシック" pitchFamily="34" charset="-128"/>
            </a:endParaRPr>
          </a:p>
        </p:txBody>
      </p:sp>
      <p:sp>
        <p:nvSpPr>
          <p:cNvPr id="15" name="Content Placeholder 5"/>
          <p:cNvSpPr txBox="1">
            <a:spLocks noGrp="1"/>
          </p:cNvSpPr>
          <p:nvPr>
            <p:ph sz="half" idx="1"/>
          </p:nvPr>
        </p:nvSpPr>
        <p:spPr>
          <a:prstGeom prst="rect">
            <a:avLst/>
          </a:prstGeom>
        </p:spPr>
        <p:txBody>
          <a:bodyPr vert="horz" lIns="91440" tIns="45720" rIns="91440" bIns="45720" rtlCol="0">
            <a:normAutofit fontScale="77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defTabSz="914400">
              <a:lnSpc>
                <a:spcPct val="80000"/>
              </a:lnSpc>
              <a:spcBef>
                <a:spcPct val="20000"/>
              </a:spcBef>
              <a:buNone/>
              <a:defRPr/>
            </a:pPr>
            <a:r>
              <a:rPr lang="en-US" sz="2400" dirty="0">
                <a:latin typeface="Arial" panose="020B0604020202020204" pitchFamily="34" charset="0"/>
                <a:ea typeface="ＭＳ Ｐゴシック" pitchFamily="34" charset="-128"/>
                <a:cs typeface="Arial" panose="020B0604020202020204" pitchFamily="34" charset="0"/>
              </a:rPr>
              <a:t>class node   </a:t>
            </a:r>
          </a:p>
          <a:p>
            <a:pPr indent="0" defTabSz="914400">
              <a:lnSpc>
                <a:spcPct val="80000"/>
              </a:lnSpc>
              <a:spcBef>
                <a:spcPct val="20000"/>
              </a:spcBef>
              <a:buNone/>
              <a:defRPr/>
            </a:pPr>
            <a:r>
              <a:rPr lang="en-US" sz="2400" dirty="0">
                <a:latin typeface="Arial" panose="020B0604020202020204" pitchFamily="34" charset="0"/>
                <a:ea typeface="ＭＳ Ｐゴシック" pitchFamily="34" charset="-128"/>
                <a:cs typeface="Arial" panose="020B0604020202020204" pitchFamily="34" charset="0"/>
              </a:rPr>
              <a:t>{</a:t>
            </a:r>
          </a:p>
          <a:p>
            <a:pPr indent="0" defTabSz="914400">
              <a:lnSpc>
                <a:spcPct val="80000"/>
              </a:lnSpc>
              <a:spcBef>
                <a:spcPct val="20000"/>
              </a:spcBef>
              <a:buNone/>
              <a:defRPr/>
            </a:pPr>
            <a:r>
              <a:rPr lang="en-US" sz="2400" dirty="0">
                <a:latin typeface="Arial" panose="020B0604020202020204" pitchFamily="34" charset="0"/>
                <a:ea typeface="ＭＳ Ｐゴシック" pitchFamily="34" charset="-128"/>
                <a:cs typeface="Arial" panose="020B0604020202020204" pitchFamily="34" charset="0"/>
              </a:rPr>
              <a:t>public:</a:t>
            </a:r>
          </a:p>
          <a:p>
            <a:pPr indent="0" defTabSz="914400">
              <a:lnSpc>
                <a:spcPct val="80000"/>
              </a:lnSpc>
              <a:spcBef>
                <a:spcPct val="20000"/>
              </a:spcBef>
              <a:buNone/>
              <a:defRPr/>
            </a:pPr>
            <a:r>
              <a:rPr lang="en-US" sz="2400" dirty="0">
                <a:latin typeface="Arial" panose="020B0604020202020204" pitchFamily="34" charset="0"/>
                <a:ea typeface="ＭＳ Ｐゴシック" pitchFamily="34" charset="-128"/>
                <a:cs typeface="Arial" panose="020B0604020202020204" pitchFamily="34" charset="0"/>
              </a:rPr>
              <a:t>	</a:t>
            </a:r>
            <a:r>
              <a:rPr lang="en-US" sz="2400" dirty="0" err="1">
                <a:latin typeface="Arial" panose="020B0604020202020204" pitchFamily="34" charset="0"/>
                <a:ea typeface="ＭＳ Ｐゴシック" pitchFamily="34" charset="-128"/>
                <a:cs typeface="Arial" panose="020B0604020202020204" pitchFamily="34" charset="0"/>
              </a:rPr>
              <a:t>int</a:t>
            </a:r>
            <a:r>
              <a:rPr lang="en-US" sz="2400" dirty="0">
                <a:latin typeface="Arial" panose="020B0604020202020204" pitchFamily="34" charset="0"/>
                <a:ea typeface="ＭＳ Ｐゴシック" pitchFamily="34" charset="-128"/>
                <a:cs typeface="Arial" panose="020B0604020202020204" pitchFamily="34" charset="0"/>
              </a:rPr>
              <a:t> value;</a:t>
            </a:r>
          </a:p>
          <a:p>
            <a:pPr indent="0" defTabSz="914400">
              <a:lnSpc>
                <a:spcPct val="80000"/>
              </a:lnSpc>
              <a:spcBef>
                <a:spcPct val="20000"/>
              </a:spcBef>
              <a:buNone/>
              <a:defRPr/>
            </a:pPr>
            <a:r>
              <a:rPr lang="en-US" sz="2400" dirty="0">
                <a:latin typeface="Arial" panose="020B0604020202020204" pitchFamily="34" charset="0"/>
                <a:ea typeface="ＭＳ Ｐゴシック" pitchFamily="34" charset="-128"/>
                <a:cs typeface="Arial" panose="020B0604020202020204" pitchFamily="34" charset="0"/>
              </a:rPr>
              <a:t>	node* next;</a:t>
            </a:r>
          </a:p>
          <a:p>
            <a:pPr indent="0" defTabSz="914400">
              <a:lnSpc>
                <a:spcPct val="80000"/>
              </a:lnSpc>
              <a:spcBef>
                <a:spcPct val="20000"/>
              </a:spcBef>
              <a:buNone/>
              <a:defRPr/>
            </a:pPr>
            <a:r>
              <a:rPr lang="en-US" sz="2400" dirty="0">
                <a:latin typeface="Arial" panose="020B0604020202020204" pitchFamily="34" charset="0"/>
                <a:ea typeface="ＭＳ Ｐゴシック" pitchFamily="34" charset="-128"/>
                <a:cs typeface="Arial" panose="020B0604020202020204" pitchFamily="34" charset="0"/>
              </a:rPr>
              <a:t>}; </a:t>
            </a:r>
            <a:r>
              <a:rPr lang="en-US" sz="2400" dirty="0">
                <a:solidFill>
                  <a:srgbClr val="00B050"/>
                </a:solidFill>
                <a:latin typeface="Arial" panose="020B0604020202020204" pitchFamily="34" charset="0"/>
                <a:ea typeface="ＭＳ Ｐゴシック" pitchFamily="34" charset="-128"/>
                <a:cs typeface="Arial" panose="020B0604020202020204" pitchFamily="34" charset="0"/>
              </a:rPr>
              <a:t>//class node</a:t>
            </a:r>
          </a:p>
          <a:p>
            <a:pPr indent="0" defTabSz="914400">
              <a:lnSpc>
                <a:spcPct val="80000"/>
              </a:lnSpc>
              <a:spcBef>
                <a:spcPct val="20000"/>
              </a:spcBef>
              <a:buNone/>
              <a:defRPr/>
            </a:pPr>
            <a:r>
              <a:rPr lang="en-US" sz="2400" dirty="0">
                <a:ea typeface="ＭＳ Ｐゴシック" pitchFamily="34" charset="-128"/>
              </a:rPr>
              <a:t> </a:t>
            </a:r>
          </a:p>
          <a:p>
            <a:pPr marL="273050" indent="-273050" defTabSz="914400">
              <a:lnSpc>
                <a:spcPct val="80000"/>
              </a:lnSpc>
              <a:spcBef>
                <a:spcPct val="20000"/>
              </a:spcBef>
              <a:defRPr/>
            </a:pPr>
            <a:endParaRPr lang="en-US" sz="2400" dirty="0">
              <a:ea typeface="ＭＳ Ｐゴシック" pitchFamily="34" charset="-128"/>
            </a:endParaRPr>
          </a:p>
        </p:txBody>
      </p:sp>
    </p:spTree>
    <p:extLst>
      <p:ext uri="{BB962C8B-B14F-4D97-AF65-F5344CB8AC3E}">
        <p14:creationId xmlns:p14="http://schemas.microsoft.com/office/powerpoint/2010/main" val="2782277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Linked List based implementation</a:t>
            </a:r>
            <a:endParaRPr lang="en-US" b="1" dirty="0"/>
          </a:p>
        </p:txBody>
      </p:sp>
      <p:sp>
        <p:nvSpPr>
          <p:cNvPr id="5" name="Content Placeholder 4"/>
          <p:cNvSpPr>
            <a:spLocks noGrp="1"/>
          </p:cNvSpPr>
          <p:nvPr>
            <p:ph sz="half" idx="1"/>
          </p:nvPr>
        </p:nvSpPr>
        <p:spPr>
          <a:xfrm>
            <a:off x="264854" y="1825625"/>
            <a:ext cx="5714999" cy="4895850"/>
          </a:xfrm>
        </p:spPr>
        <p:txBody>
          <a:bodyPr>
            <a:normAutofit fontScale="55000" lnSpcReduction="20000"/>
          </a:bodyPr>
          <a:lstStyle/>
          <a:p>
            <a:pPr>
              <a:lnSpc>
                <a:spcPct val="110000"/>
              </a:lnSpc>
              <a:spcBef>
                <a:spcPts val="600"/>
              </a:spcBef>
              <a:buNone/>
              <a:defRPr/>
            </a:pPr>
            <a:r>
              <a:rPr lang="en-US" sz="3300" dirty="0">
                <a:ea typeface="ＭＳ Ｐゴシック" pitchFamily="34" charset="-128"/>
              </a:rPr>
              <a:t>void stack::push(</a:t>
            </a:r>
            <a:r>
              <a:rPr lang="en-US" sz="3300" dirty="0" err="1">
                <a:ea typeface="ＭＳ Ｐゴシック" pitchFamily="34" charset="-128"/>
              </a:rPr>
              <a:t>int</a:t>
            </a:r>
            <a:r>
              <a:rPr lang="en-US" sz="3300" dirty="0">
                <a:ea typeface="ＭＳ Ｐゴシック" pitchFamily="34" charset="-128"/>
              </a:rPr>
              <a:t> el)</a:t>
            </a:r>
          </a:p>
          <a:p>
            <a:pPr>
              <a:lnSpc>
                <a:spcPct val="110000"/>
              </a:lnSpc>
              <a:spcBef>
                <a:spcPts val="600"/>
              </a:spcBef>
              <a:buNone/>
              <a:defRPr/>
            </a:pPr>
            <a:r>
              <a:rPr lang="en-US" sz="3300" dirty="0">
                <a:ea typeface="ＭＳ Ｐゴシック" pitchFamily="34" charset="-128"/>
              </a:rPr>
              <a:t>{</a:t>
            </a:r>
          </a:p>
          <a:p>
            <a:pPr>
              <a:lnSpc>
                <a:spcPct val="110000"/>
              </a:lnSpc>
              <a:spcBef>
                <a:spcPts val="600"/>
              </a:spcBef>
              <a:buNone/>
              <a:defRPr/>
            </a:pPr>
            <a:r>
              <a:rPr lang="en-US" sz="3300" dirty="0">
                <a:ea typeface="ＭＳ Ｐゴシック" pitchFamily="34" charset="-128"/>
              </a:rPr>
              <a:t>   node *temp; </a:t>
            </a:r>
          </a:p>
          <a:p>
            <a:pPr>
              <a:lnSpc>
                <a:spcPct val="110000"/>
              </a:lnSpc>
              <a:spcBef>
                <a:spcPts val="600"/>
              </a:spcBef>
              <a:buNone/>
              <a:defRPr/>
            </a:pPr>
            <a:r>
              <a:rPr lang="en-US" sz="3300" dirty="0">
                <a:ea typeface="ＭＳ Ｐゴシック" pitchFamily="34" charset="-128"/>
              </a:rPr>
              <a:t>   temp =new node;</a:t>
            </a:r>
          </a:p>
          <a:p>
            <a:pPr>
              <a:lnSpc>
                <a:spcPct val="110000"/>
              </a:lnSpc>
              <a:spcBef>
                <a:spcPts val="600"/>
              </a:spcBef>
              <a:buNone/>
              <a:defRPr/>
            </a:pPr>
            <a:r>
              <a:rPr lang="en-US" sz="3300" dirty="0">
                <a:ea typeface="ＭＳ Ｐゴシック" pitchFamily="34" charset="-128"/>
              </a:rPr>
              <a:t>	if (top==NULL) {</a:t>
            </a:r>
          </a:p>
          <a:p>
            <a:pPr>
              <a:lnSpc>
                <a:spcPct val="110000"/>
              </a:lnSpc>
              <a:spcBef>
                <a:spcPts val="600"/>
              </a:spcBef>
              <a:buNone/>
              <a:defRPr/>
            </a:pPr>
            <a:r>
              <a:rPr lang="en-US" sz="3300" dirty="0">
                <a:ea typeface="ＭＳ Ｐゴシック" pitchFamily="34" charset="-128"/>
              </a:rPr>
              <a:t>		temp-&gt;next =NULL; </a:t>
            </a:r>
            <a:r>
              <a:rPr lang="en-US" sz="3300" dirty="0">
                <a:solidFill>
                  <a:srgbClr val="00B050"/>
                </a:solidFill>
                <a:ea typeface="ＭＳ Ｐゴシック" pitchFamily="34" charset="-128"/>
              </a:rPr>
              <a:t>//Stack Empty, new node is the only node</a:t>
            </a:r>
          </a:p>
          <a:p>
            <a:pPr>
              <a:lnSpc>
                <a:spcPct val="110000"/>
              </a:lnSpc>
              <a:spcBef>
                <a:spcPts val="600"/>
              </a:spcBef>
              <a:buNone/>
              <a:defRPr/>
            </a:pPr>
            <a:r>
              <a:rPr lang="en-US" sz="3300" dirty="0">
                <a:ea typeface="ＭＳ Ｐゴシック" pitchFamily="34" charset="-128"/>
              </a:rPr>
              <a:t>	}</a:t>
            </a:r>
          </a:p>
          <a:p>
            <a:pPr>
              <a:lnSpc>
                <a:spcPct val="110000"/>
              </a:lnSpc>
              <a:spcBef>
                <a:spcPts val="600"/>
              </a:spcBef>
              <a:buNone/>
              <a:defRPr/>
            </a:pPr>
            <a:r>
              <a:rPr lang="en-US" sz="3300" dirty="0">
                <a:ea typeface="ＭＳ Ｐゴシック" pitchFamily="34" charset="-128"/>
              </a:rPr>
              <a:t>	else {</a:t>
            </a:r>
          </a:p>
          <a:p>
            <a:pPr>
              <a:lnSpc>
                <a:spcPct val="110000"/>
              </a:lnSpc>
              <a:spcBef>
                <a:spcPts val="600"/>
              </a:spcBef>
              <a:buNone/>
              <a:defRPr/>
            </a:pPr>
            <a:r>
              <a:rPr lang="en-US" sz="3300" dirty="0">
                <a:ea typeface="ＭＳ Ｐゴシック" pitchFamily="34" charset="-128"/>
              </a:rPr>
              <a:t>		temp-&gt;next =top; </a:t>
            </a:r>
            <a:r>
              <a:rPr lang="en-US" sz="3300" dirty="0">
                <a:solidFill>
                  <a:srgbClr val="00B050"/>
                </a:solidFill>
                <a:ea typeface="ＭＳ Ｐゴシック" pitchFamily="34" charset="-128"/>
              </a:rPr>
              <a:t>//link new node to current top</a:t>
            </a:r>
          </a:p>
          <a:p>
            <a:pPr>
              <a:lnSpc>
                <a:spcPct val="110000"/>
              </a:lnSpc>
              <a:spcBef>
                <a:spcPts val="600"/>
              </a:spcBef>
              <a:buNone/>
              <a:defRPr/>
            </a:pPr>
            <a:r>
              <a:rPr lang="en-US" sz="3300" dirty="0">
                <a:ea typeface="ＭＳ Ｐゴシック" pitchFamily="34" charset="-128"/>
              </a:rPr>
              <a:t>	}</a:t>
            </a:r>
          </a:p>
          <a:p>
            <a:pPr>
              <a:lnSpc>
                <a:spcPct val="110000"/>
              </a:lnSpc>
              <a:spcBef>
                <a:spcPts val="600"/>
              </a:spcBef>
              <a:buNone/>
              <a:defRPr/>
            </a:pPr>
            <a:r>
              <a:rPr lang="en-US" sz="3300" dirty="0">
                <a:ea typeface="ＭＳ Ｐゴシック" pitchFamily="34" charset="-128"/>
              </a:rPr>
              <a:t>	temp-&gt;value=</a:t>
            </a:r>
            <a:r>
              <a:rPr lang="en-US" sz="3300" dirty="0" err="1">
                <a:ea typeface="ＭＳ Ｐゴシック" pitchFamily="34" charset="-128"/>
              </a:rPr>
              <a:t>el</a:t>
            </a:r>
            <a:r>
              <a:rPr lang="en-US" sz="3300" dirty="0">
                <a:ea typeface="ＭＳ Ｐゴシック" pitchFamily="34" charset="-128"/>
              </a:rPr>
              <a:t>; </a:t>
            </a:r>
            <a:r>
              <a:rPr lang="en-US" sz="3300" dirty="0">
                <a:solidFill>
                  <a:srgbClr val="00B050"/>
                </a:solidFill>
                <a:ea typeface="ＭＳ Ｐゴシック" pitchFamily="34" charset="-128"/>
              </a:rPr>
              <a:t>//assign data</a:t>
            </a:r>
          </a:p>
          <a:p>
            <a:pPr>
              <a:lnSpc>
                <a:spcPct val="110000"/>
              </a:lnSpc>
              <a:spcBef>
                <a:spcPts val="600"/>
              </a:spcBef>
              <a:buNone/>
              <a:defRPr/>
            </a:pPr>
            <a:r>
              <a:rPr lang="en-US" sz="3300" dirty="0">
                <a:ea typeface="ＭＳ Ｐゴシック" pitchFamily="34" charset="-128"/>
              </a:rPr>
              <a:t>	top=temp;	</a:t>
            </a:r>
            <a:r>
              <a:rPr lang="en-US" sz="3300" dirty="0">
                <a:solidFill>
                  <a:srgbClr val="00B050"/>
                </a:solidFill>
                <a:ea typeface="ＭＳ Ｐゴシック" pitchFamily="34" charset="-128"/>
              </a:rPr>
              <a:t>//update top to point to new node</a:t>
            </a:r>
          </a:p>
          <a:p>
            <a:pPr>
              <a:lnSpc>
                <a:spcPct val="110000"/>
              </a:lnSpc>
              <a:spcBef>
                <a:spcPts val="600"/>
              </a:spcBef>
              <a:buNone/>
              <a:defRPr/>
            </a:pPr>
            <a:r>
              <a:rPr lang="en-US" sz="3300" dirty="0">
                <a:ea typeface="ＭＳ Ｐゴシック" pitchFamily="34" charset="-128"/>
              </a:rPr>
              <a:t>	size++; </a:t>
            </a:r>
          </a:p>
          <a:p>
            <a:pPr>
              <a:lnSpc>
                <a:spcPct val="110000"/>
              </a:lnSpc>
              <a:spcBef>
                <a:spcPts val="600"/>
              </a:spcBef>
              <a:buNone/>
              <a:defRPr/>
            </a:pPr>
            <a:r>
              <a:rPr lang="en-US" sz="3300" dirty="0">
                <a:ea typeface="ＭＳ Ｐゴシック" pitchFamily="34" charset="-128"/>
              </a:rPr>
              <a:t>}</a:t>
            </a:r>
          </a:p>
          <a:p>
            <a:endParaRPr lang="en-US" dirty="0"/>
          </a:p>
        </p:txBody>
      </p:sp>
      <p:sp>
        <p:nvSpPr>
          <p:cNvPr id="9" name="Content Placeholder 8"/>
          <p:cNvSpPr>
            <a:spLocks noGrp="1"/>
          </p:cNvSpPr>
          <p:nvPr>
            <p:ph sz="half" idx="2"/>
          </p:nvPr>
        </p:nvSpPr>
        <p:spPr>
          <a:xfrm>
            <a:off x="6172200" y="1825625"/>
            <a:ext cx="5715000" cy="4351338"/>
          </a:xfrm>
        </p:spPr>
        <p:txBody>
          <a:bodyPr>
            <a:noAutofit/>
          </a:bodyPr>
          <a:lstStyle/>
          <a:p>
            <a:pPr>
              <a:spcBef>
                <a:spcPts val="600"/>
              </a:spcBef>
              <a:buNone/>
            </a:pPr>
            <a:r>
              <a:rPr lang="en-US" sz="1800" dirty="0" err="1">
                <a:ea typeface="ＭＳ Ｐゴシック" pitchFamily="34" charset="-128"/>
              </a:rPr>
              <a:t>int</a:t>
            </a:r>
            <a:r>
              <a:rPr lang="en-US" sz="1800" dirty="0">
                <a:ea typeface="ＭＳ Ｐゴシック" pitchFamily="34" charset="-128"/>
              </a:rPr>
              <a:t> stack::pop()</a:t>
            </a:r>
          </a:p>
          <a:p>
            <a:pPr>
              <a:spcBef>
                <a:spcPts val="600"/>
              </a:spcBef>
              <a:buNone/>
            </a:pPr>
            <a:r>
              <a:rPr lang="en-US" sz="1800" dirty="0">
                <a:ea typeface="ＭＳ Ｐゴシック" pitchFamily="34" charset="-128"/>
              </a:rPr>
              <a:t>{    </a:t>
            </a:r>
            <a:r>
              <a:rPr lang="en-US" sz="1800" dirty="0" err="1">
                <a:ea typeface="ＭＳ Ｐゴシック" pitchFamily="34" charset="-128"/>
              </a:rPr>
              <a:t>int</a:t>
            </a:r>
            <a:r>
              <a:rPr lang="en-US" sz="1800" dirty="0">
                <a:ea typeface="ＭＳ Ｐゴシック" pitchFamily="34" charset="-128"/>
              </a:rPr>
              <a:t> d;</a:t>
            </a:r>
          </a:p>
          <a:p>
            <a:pPr>
              <a:spcBef>
                <a:spcPts val="600"/>
              </a:spcBef>
              <a:buNone/>
            </a:pPr>
            <a:r>
              <a:rPr lang="en-US" sz="1800" dirty="0">
                <a:ea typeface="ＭＳ Ｐゴシック" pitchFamily="34" charset="-128"/>
              </a:rPr>
              <a:t>	if(</a:t>
            </a:r>
            <a:r>
              <a:rPr lang="en-US" sz="1800" dirty="0" err="1">
                <a:ea typeface="ＭＳ Ｐゴシック" pitchFamily="34" charset="-128"/>
              </a:rPr>
              <a:t>isEmpty</a:t>
            </a:r>
            <a:r>
              <a:rPr lang="en-US" sz="1800" dirty="0">
                <a:ea typeface="ＭＳ Ｐゴシック" pitchFamily="34" charset="-128"/>
              </a:rPr>
              <a:t>()) {</a:t>
            </a:r>
          </a:p>
          <a:p>
            <a:pPr>
              <a:spcBef>
                <a:spcPts val="600"/>
              </a:spcBef>
              <a:buNone/>
            </a:pPr>
            <a:r>
              <a:rPr lang="en-US" sz="1800" dirty="0">
                <a:ea typeface="ＭＳ Ｐゴシック" pitchFamily="34" charset="-128"/>
              </a:rPr>
              <a:t>		</a:t>
            </a:r>
            <a:r>
              <a:rPr lang="en-US" sz="1800" dirty="0" err="1">
                <a:ea typeface="ＭＳ Ｐゴシック" pitchFamily="34" charset="-128"/>
              </a:rPr>
              <a:t>cout</a:t>
            </a:r>
            <a:r>
              <a:rPr lang="en-US" sz="1800" dirty="0">
                <a:ea typeface="ＭＳ Ｐゴシック" pitchFamily="34" charset="-128"/>
              </a:rPr>
              <a:t>&lt;&lt;"\</a:t>
            </a:r>
            <a:r>
              <a:rPr lang="en-US" sz="1800" dirty="0" err="1">
                <a:ea typeface="ＭＳ Ｐゴシック" pitchFamily="34" charset="-128"/>
              </a:rPr>
              <a:t>nStack</a:t>
            </a:r>
            <a:r>
              <a:rPr lang="en-US" sz="1800" dirty="0">
                <a:ea typeface="ＭＳ Ｐゴシック" pitchFamily="34" charset="-128"/>
              </a:rPr>
              <a:t> is Empty\n";      </a:t>
            </a:r>
          </a:p>
          <a:p>
            <a:pPr>
              <a:spcBef>
                <a:spcPts val="600"/>
              </a:spcBef>
              <a:buNone/>
            </a:pPr>
            <a:r>
              <a:rPr lang="en-US" sz="1800" dirty="0">
                <a:ea typeface="ＭＳ Ｐゴシック" pitchFamily="34" charset="-128"/>
              </a:rPr>
              <a:t>		return -9999;</a:t>
            </a:r>
          </a:p>
          <a:p>
            <a:pPr>
              <a:spcBef>
                <a:spcPts val="600"/>
              </a:spcBef>
              <a:buNone/>
            </a:pPr>
            <a:r>
              <a:rPr lang="en-US" sz="1800" dirty="0">
                <a:ea typeface="ＭＳ Ｐゴシック" pitchFamily="34" charset="-128"/>
              </a:rPr>
              <a:t>	}</a:t>
            </a:r>
          </a:p>
          <a:p>
            <a:pPr>
              <a:spcBef>
                <a:spcPts val="600"/>
              </a:spcBef>
              <a:buNone/>
            </a:pPr>
            <a:r>
              <a:rPr lang="en-US" sz="1800" dirty="0">
                <a:ea typeface="ＭＳ Ｐゴシック" pitchFamily="34" charset="-128"/>
              </a:rPr>
              <a:t>	else {</a:t>
            </a:r>
          </a:p>
          <a:p>
            <a:pPr>
              <a:spcBef>
                <a:spcPts val="600"/>
              </a:spcBef>
              <a:buNone/>
            </a:pPr>
            <a:r>
              <a:rPr lang="en-US" sz="1800" dirty="0">
                <a:ea typeface="ＭＳ Ｐゴシック" pitchFamily="34" charset="-128"/>
              </a:rPr>
              <a:t>	  Node *temp = top; </a:t>
            </a:r>
            <a:r>
              <a:rPr lang="en-US" sz="1800" dirty="0">
                <a:solidFill>
                  <a:srgbClr val="00B050"/>
                </a:solidFill>
                <a:ea typeface="ＭＳ Ｐゴシック" pitchFamily="34" charset="-128"/>
              </a:rPr>
              <a:t>// hold current top</a:t>
            </a:r>
          </a:p>
          <a:p>
            <a:pPr>
              <a:spcBef>
                <a:spcPts val="600"/>
              </a:spcBef>
              <a:buNone/>
            </a:pPr>
            <a:r>
              <a:rPr lang="en-US" sz="1800" dirty="0">
                <a:ea typeface="ＭＳ Ｐゴシック" pitchFamily="34" charset="-128"/>
              </a:rPr>
              <a:t>	  top=top-&gt;next;	     </a:t>
            </a:r>
            <a:r>
              <a:rPr lang="en-US" sz="1800" dirty="0">
                <a:solidFill>
                  <a:srgbClr val="00B050"/>
                </a:solidFill>
                <a:ea typeface="ＭＳ Ｐゴシック" pitchFamily="34" charset="-128"/>
              </a:rPr>
              <a:t>// move top to next node</a:t>
            </a:r>
          </a:p>
          <a:p>
            <a:pPr>
              <a:spcBef>
                <a:spcPts val="600"/>
              </a:spcBef>
              <a:buNone/>
            </a:pPr>
            <a:r>
              <a:rPr lang="en-US" sz="1800" dirty="0">
                <a:ea typeface="ＭＳ Ｐゴシック" pitchFamily="34" charset="-128"/>
              </a:rPr>
              <a:t> 	  d=temp-&gt;value;</a:t>
            </a:r>
            <a:r>
              <a:rPr lang="en-US" sz="1800" dirty="0">
                <a:solidFill>
                  <a:srgbClr val="00B050"/>
                </a:solidFill>
                <a:ea typeface="ＭＳ Ｐゴシック" pitchFamily="34" charset="-128"/>
              </a:rPr>
              <a:t>    // get data from the old top</a:t>
            </a:r>
          </a:p>
          <a:p>
            <a:pPr>
              <a:spcBef>
                <a:spcPts val="600"/>
              </a:spcBef>
              <a:buNone/>
            </a:pPr>
            <a:r>
              <a:rPr lang="en-US" sz="1800" dirty="0">
                <a:solidFill>
                  <a:srgbClr val="00B050"/>
                </a:solidFill>
                <a:ea typeface="ＭＳ Ｐゴシック" pitchFamily="34" charset="-128"/>
              </a:rPr>
              <a:t>	  </a:t>
            </a:r>
            <a:r>
              <a:rPr lang="en-US" sz="1800" dirty="0">
                <a:ea typeface="ＭＳ Ｐゴシック" pitchFamily="34" charset="-128"/>
              </a:rPr>
              <a:t>delete temp; 	   </a:t>
            </a:r>
            <a:r>
              <a:rPr lang="en-US" sz="1800" dirty="0">
                <a:solidFill>
                  <a:srgbClr val="00B050"/>
                </a:solidFill>
                <a:ea typeface="ＭＳ Ｐゴシック" pitchFamily="34" charset="-128"/>
              </a:rPr>
              <a:t>// free memory</a:t>
            </a:r>
            <a:endParaRPr lang="en-US" sz="1800" dirty="0">
              <a:ea typeface="ＭＳ Ｐゴシック" pitchFamily="34" charset="-128"/>
            </a:endParaRPr>
          </a:p>
          <a:p>
            <a:pPr>
              <a:spcBef>
                <a:spcPts val="600"/>
              </a:spcBef>
              <a:buNone/>
            </a:pPr>
            <a:r>
              <a:rPr lang="en-US" sz="1800" dirty="0">
                <a:ea typeface="ＭＳ Ｐゴシック" pitchFamily="34" charset="-128"/>
              </a:rPr>
              <a:t>	  size--; 	 </a:t>
            </a:r>
            <a:r>
              <a:rPr lang="en-US" sz="1800" dirty="0">
                <a:solidFill>
                  <a:srgbClr val="00B050"/>
                </a:solidFill>
                <a:ea typeface="ＭＳ Ｐゴシック" pitchFamily="34" charset="-128"/>
              </a:rPr>
              <a:t> // decrease size</a:t>
            </a:r>
            <a:endParaRPr lang="en-US" sz="1800" dirty="0">
              <a:ea typeface="ＭＳ Ｐゴシック" pitchFamily="34" charset="-128"/>
            </a:endParaRPr>
          </a:p>
          <a:p>
            <a:pPr>
              <a:spcBef>
                <a:spcPts val="600"/>
              </a:spcBef>
              <a:buNone/>
            </a:pPr>
            <a:r>
              <a:rPr lang="en-US" sz="1800" dirty="0">
                <a:ea typeface="ＭＳ Ｐゴシック" pitchFamily="34" charset="-128"/>
              </a:rPr>
              <a:t>      }</a:t>
            </a:r>
          </a:p>
          <a:p>
            <a:pPr>
              <a:spcBef>
                <a:spcPts val="600"/>
              </a:spcBef>
              <a:buNone/>
            </a:pPr>
            <a:r>
              <a:rPr lang="en-US" sz="1800" dirty="0">
                <a:ea typeface="ＭＳ Ｐゴシック" pitchFamily="34" charset="-128"/>
              </a:rPr>
              <a:t>	return d; 	</a:t>
            </a:r>
            <a:r>
              <a:rPr lang="en-US" sz="1800" dirty="0">
                <a:solidFill>
                  <a:srgbClr val="00B050"/>
                </a:solidFill>
                <a:ea typeface="ＭＳ Ｐゴシック" pitchFamily="34" charset="-128"/>
              </a:rPr>
              <a:t>// return the popped value</a:t>
            </a:r>
            <a:endParaRPr lang="en-US" sz="1800" dirty="0">
              <a:ea typeface="ＭＳ Ｐゴシック" pitchFamily="34" charset="-128"/>
            </a:endParaRPr>
          </a:p>
          <a:p>
            <a:pPr>
              <a:spcBef>
                <a:spcPts val="600"/>
              </a:spcBef>
              <a:buNone/>
            </a:pPr>
            <a:r>
              <a:rPr lang="en-US" sz="1800" dirty="0">
                <a:ea typeface="ＭＳ Ｐゴシック" pitchFamily="34" charset="-128"/>
              </a:rPr>
              <a:t>}</a:t>
            </a:r>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19</a:t>
            </a:fld>
            <a:endParaRPr lang="de-DE" altLang="zh-CN" dirty="0">
              <a:solidFill>
                <a:srgbClr val="E7E6E6">
                  <a:lumMod val="50000"/>
                </a:srgbClr>
              </a:solidFill>
            </a:endParaRPr>
          </a:p>
        </p:txBody>
      </p:sp>
      <p:sp>
        <p:nvSpPr>
          <p:cNvPr id="6" name="Content Placeholder 5"/>
          <p:cNvSpPr txBox="1">
            <a:spLocks/>
          </p:cNvSpPr>
          <p:nvPr/>
        </p:nvSpPr>
        <p:spPr>
          <a:xfrm>
            <a:off x="6587837" y="1981201"/>
            <a:ext cx="3664527" cy="3762375"/>
          </a:xfrm>
          <a:prstGeom prst="rect">
            <a:avLst/>
          </a:prstGeom>
        </p:spPr>
        <p:txBody>
          <a:bodyPr vert="horz" lIns="91440" tIns="45720" rIns="91440" bIns="45720" rtlCol="0">
            <a:noAutofit/>
          </a:bodyPr>
          <a:lstStyle/>
          <a:p>
            <a:pPr marL="342900" indent="-342900" fontAlgn="auto">
              <a:spcBef>
                <a:spcPct val="20000"/>
              </a:spcBef>
              <a:spcAft>
                <a:spcPts val="0"/>
              </a:spcAft>
              <a:defRPr/>
            </a:pPr>
            <a:endParaRPr lang="en-US" sz="2200" dirty="0">
              <a:solidFill>
                <a:prstClr val="black"/>
              </a:solidFill>
              <a:ea typeface="ＭＳ Ｐゴシック" pitchFamily="34" charset="-128"/>
              <a:cs typeface="Arial" panose="020B0604020202020204" pitchFamily="34" charset="0"/>
            </a:endParaRPr>
          </a:p>
        </p:txBody>
      </p:sp>
      <p:pic>
        <p:nvPicPr>
          <p:cNvPr id="8" name="Picture 7">
            <a:extLst>
              <a:ext uri="{FF2B5EF4-FFF2-40B4-BE49-F238E27FC236}">
                <a16:creationId xmlns:a16="http://schemas.microsoft.com/office/drawing/2014/main" id="{6CD71E40-364B-437B-9EA7-D783470D54ED}"/>
              </a:ext>
            </a:extLst>
          </p:cNvPr>
          <p:cNvPicPr>
            <a:picLocks noChangeAspect="1"/>
          </p:cNvPicPr>
          <p:nvPr/>
        </p:nvPicPr>
        <p:blipFill>
          <a:blip r:embed="rId3"/>
          <a:stretch>
            <a:fillRect/>
          </a:stretch>
        </p:blipFill>
        <p:spPr>
          <a:xfrm>
            <a:off x="2773566" y="1913891"/>
            <a:ext cx="3190816" cy="1145928"/>
          </a:xfrm>
          <a:prstGeom prst="rect">
            <a:avLst/>
          </a:prstGeom>
        </p:spPr>
      </p:pic>
    </p:spTree>
    <p:extLst>
      <p:ext uri="{BB962C8B-B14F-4D97-AF65-F5344CB8AC3E}">
        <p14:creationId xmlns:p14="http://schemas.microsoft.com/office/powerpoint/2010/main" val="3578619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Linked List based implementation</a:t>
            </a:r>
            <a:endParaRPr lang="en-US" b="1" dirty="0"/>
          </a:p>
        </p:txBody>
      </p:sp>
      <p:sp>
        <p:nvSpPr>
          <p:cNvPr id="5" name="Content Placeholder 4"/>
          <p:cNvSpPr>
            <a:spLocks noGrp="1"/>
          </p:cNvSpPr>
          <p:nvPr>
            <p:ph sz="half" idx="1"/>
          </p:nvPr>
        </p:nvSpPr>
        <p:spPr>
          <a:xfrm>
            <a:off x="264855" y="1825625"/>
            <a:ext cx="5181600" cy="4351338"/>
          </a:xfrm>
        </p:spPr>
        <p:txBody>
          <a:bodyPr>
            <a:normAutofit/>
          </a:bodyPr>
          <a:lstStyle/>
          <a:p>
            <a:pPr marL="0" indent="0">
              <a:buNone/>
            </a:pPr>
            <a:r>
              <a:rPr lang="en-GB" dirty="0"/>
              <a:t>bool stack::</a:t>
            </a:r>
            <a:r>
              <a:rPr lang="en-GB" dirty="0" err="1"/>
              <a:t>isEmpty</a:t>
            </a:r>
            <a:r>
              <a:rPr lang="en-GB" dirty="0"/>
              <a:t>()</a:t>
            </a:r>
          </a:p>
          <a:p>
            <a:pPr marL="0" indent="0">
              <a:buNone/>
            </a:pPr>
            <a:r>
              <a:rPr lang="en-GB" dirty="0"/>
              <a:t>{</a:t>
            </a:r>
          </a:p>
          <a:p>
            <a:pPr marL="0" indent="0">
              <a:buNone/>
            </a:pPr>
            <a:r>
              <a:rPr lang="en-GB" dirty="0"/>
              <a:t>	return (top==NULL);</a:t>
            </a:r>
          </a:p>
          <a:p>
            <a:pPr marL="0" indent="0">
              <a:buNone/>
            </a:pPr>
            <a:r>
              <a:rPr lang="en-GB" dirty="0"/>
              <a:t>}</a:t>
            </a:r>
          </a:p>
        </p:txBody>
      </p:sp>
      <p:sp>
        <p:nvSpPr>
          <p:cNvPr id="9" name="Content Placeholder 8"/>
          <p:cNvSpPr>
            <a:spLocks noGrp="1"/>
          </p:cNvSpPr>
          <p:nvPr>
            <p:ph sz="half" idx="2"/>
          </p:nvPr>
        </p:nvSpPr>
        <p:spPr/>
        <p:txBody>
          <a:bodyPr>
            <a:normAutofit/>
          </a:bodyPr>
          <a:lstStyle/>
          <a:p>
            <a:pPr marL="0" indent="0" fontAlgn="auto">
              <a:spcBef>
                <a:spcPct val="20000"/>
              </a:spcBef>
              <a:spcAft>
                <a:spcPts val="0"/>
              </a:spcAft>
              <a:buNone/>
              <a:defRPr/>
            </a:pPr>
            <a:r>
              <a:rPr lang="en-US" dirty="0">
                <a:solidFill>
                  <a:prstClr val="black"/>
                </a:solidFill>
                <a:ea typeface="ＭＳ Ｐゴシック" pitchFamily="34" charset="-128"/>
                <a:cs typeface="Arial" panose="020B0604020202020204" pitchFamily="34" charset="0"/>
              </a:rPr>
              <a:t>void main ()</a:t>
            </a:r>
          </a:p>
          <a:p>
            <a:pPr marL="0" indent="0" fontAlgn="auto">
              <a:spcBef>
                <a:spcPct val="20000"/>
              </a:spcBef>
              <a:spcAft>
                <a:spcPts val="0"/>
              </a:spcAft>
              <a:buNone/>
              <a:defRPr/>
            </a:pPr>
            <a:r>
              <a:rPr lang="en-US" dirty="0">
                <a:solidFill>
                  <a:prstClr val="black"/>
                </a:solidFill>
                <a:ea typeface="ＭＳ Ｐゴシック" pitchFamily="34" charset="-128"/>
                <a:cs typeface="Arial" panose="020B0604020202020204" pitchFamily="34" charset="0"/>
              </a:rPr>
              <a:t>{</a:t>
            </a:r>
          </a:p>
          <a:p>
            <a:pPr marL="0" indent="0" fontAlgn="auto">
              <a:spcBef>
                <a:spcPct val="20000"/>
              </a:spcBef>
              <a:spcAft>
                <a:spcPts val="0"/>
              </a:spcAft>
              <a:buNone/>
              <a:defRPr/>
            </a:pPr>
            <a:r>
              <a:rPr lang="de-DE" dirty="0">
                <a:solidFill>
                  <a:prstClr val="black"/>
                </a:solidFill>
                <a:ea typeface="ＭＳ Ｐゴシック" pitchFamily="34" charset="-128"/>
                <a:cs typeface="Arial" panose="020B0604020202020204" pitchFamily="34" charset="0"/>
              </a:rPr>
              <a:t>	...</a:t>
            </a:r>
          </a:p>
          <a:p>
            <a:pPr marL="0" indent="0" fontAlgn="auto">
              <a:spcBef>
                <a:spcPct val="20000"/>
              </a:spcBef>
              <a:spcAft>
                <a:spcPts val="0"/>
              </a:spcAft>
              <a:buNone/>
              <a:defRPr/>
            </a:pPr>
            <a:r>
              <a:rPr lang="de-DE" dirty="0">
                <a:solidFill>
                  <a:prstClr val="black"/>
                </a:solidFill>
                <a:ea typeface="ＭＳ Ｐゴシック" pitchFamily="34" charset="-128"/>
                <a:cs typeface="Arial" panose="020B0604020202020204" pitchFamily="34" charset="0"/>
              </a:rPr>
              <a:t>	stack();</a:t>
            </a:r>
          </a:p>
          <a:p>
            <a:pPr marL="0" indent="0" fontAlgn="auto">
              <a:spcBef>
                <a:spcPct val="20000"/>
              </a:spcBef>
              <a:spcAft>
                <a:spcPts val="0"/>
              </a:spcAft>
              <a:buNone/>
              <a:defRPr/>
            </a:pPr>
            <a:r>
              <a:rPr lang="de-DE" dirty="0">
                <a:solidFill>
                  <a:prstClr val="black"/>
                </a:solidFill>
                <a:ea typeface="ＭＳ Ｐゴシック" pitchFamily="34" charset="-128"/>
                <a:cs typeface="Arial" panose="020B0604020202020204" pitchFamily="34" charset="0"/>
              </a:rPr>
              <a:t>	stack.push(5);</a:t>
            </a:r>
          </a:p>
          <a:p>
            <a:pPr marL="0" indent="0" fontAlgn="auto">
              <a:spcBef>
                <a:spcPct val="20000"/>
              </a:spcBef>
              <a:spcAft>
                <a:spcPts val="0"/>
              </a:spcAft>
              <a:buNone/>
              <a:defRPr/>
            </a:pPr>
            <a:r>
              <a:rPr lang="de-DE" dirty="0">
                <a:solidFill>
                  <a:prstClr val="black"/>
                </a:solidFill>
                <a:ea typeface="ＭＳ Ｐゴシック" pitchFamily="34" charset="-128"/>
                <a:cs typeface="Arial" panose="020B0604020202020204" pitchFamily="34" charset="0"/>
              </a:rPr>
              <a:t>	...</a:t>
            </a:r>
            <a:endParaRPr lang="en-US" dirty="0">
              <a:solidFill>
                <a:prstClr val="black"/>
              </a:solidFill>
              <a:ea typeface="ＭＳ Ｐゴシック" pitchFamily="34" charset="-128"/>
              <a:cs typeface="Arial" panose="020B0604020202020204" pitchFamily="34" charset="0"/>
            </a:endParaRPr>
          </a:p>
          <a:p>
            <a:pPr marL="0" indent="0" fontAlgn="auto">
              <a:spcBef>
                <a:spcPct val="20000"/>
              </a:spcBef>
              <a:spcAft>
                <a:spcPts val="0"/>
              </a:spcAft>
              <a:buNone/>
              <a:defRPr/>
            </a:pPr>
            <a:r>
              <a:rPr lang="en-US" dirty="0">
                <a:solidFill>
                  <a:prstClr val="black"/>
                </a:solidFill>
                <a:ea typeface="ＭＳ Ｐゴシック" pitchFamily="34" charset="-128"/>
                <a:cs typeface="Arial" panose="020B0604020202020204" pitchFamily="34" charset="0"/>
              </a:rPr>
              <a:t>}</a:t>
            </a:r>
          </a:p>
          <a:p>
            <a:pPr marL="0" indent="0" fontAlgn="auto">
              <a:spcBef>
                <a:spcPct val="20000"/>
              </a:spcBef>
              <a:spcAft>
                <a:spcPts val="0"/>
              </a:spcAft>
              <a:buNone/>
              <a:defRPr/>
            </a:pPr>
            <a:endParaRPr lang="en-US" dirty="0">
              <a:solidFill>
                <a:prstClr val="black"/>
              </a:solidFill>
              <a:ea typeface="ＭＳ Ｐゴシック" pitchFamily="34" charset="-128"/>
              <a:cs typeface="Arial" panose="020B0604020202020204" pitchFamily="34" charset="0"/>
            </a:endParaRP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solidFill>
                  <a:srgbClr val="E7E6E6">
                    <a:lumMod val="50000"/>
                  </a:srgbClr>
                </a:solidFill>
              </a:rPr>
              <a:pPr>
                <a:defRPr/>
              </a:pPr>
              <a:t>20</a:t>
            </a:fld>
            <a:endParaRPr lang="de-DE" altLang="zh-CN" dirty="0">
              <a:solidFill>
                <a:srgbClr val="E7E6E6">
                  <a:lumMod val="50000"/>
                </a:srgbClr>
              </a:solidFill>
            </a:endParaRPr>
          </a:p>
        </p:txBody>
      </p:sp>
      <p:sp>
        <p:nvSpPr>
          <p:cNvPr id="6" name="Content Placeholder 5"/>
          <p:cNvSpPr txBox="1">
            <a:spLocks/>
          </p:cNvSpPr>
          <p:nvPr/>
        </p:nvSpPr>
        <p:spPr>
          <a:xfrm>
            <a:off x="6587837" y="1981201"/>
            <a:ext cx="3664527" cy="3762375"/>
          </a:xfrm>
          <a:prstGeom prst="rect">
            <a:avLst/>
          </a:prstGeom>
        </p:spPr>
        <p:txBody>
          <a:bodyPr vert="horz" lIns="91440" tIns="45720" rIns="91440" bIns="45720" rtlCol="0">
            <a:noAutofit/>
          </a:bodyPr>
          <a:lstStyle/>
          <a:p>
            <a:pPr marL="342900" indent="-342900" fontAlgn="auto">
              <a:spcBef>
                <a:spcPct val="20000"/>
              </a:spcBef>
              <a:spcAft>
                <a:spcPts val="0"/>
              </a:spcAft>
              <a:defRPr/>
            </a:pPr>
            <a:endParaRPr lang="en-US" sz="2200" dirty="0">
              <a:solidFill>
                <a:prstClr val="black"/>
              </a:solidFill>
              <a:ea typeface="ＭＳ Ｐゴシック" pitchFamily="34" charset="-128"/>
              <a:cs typeface="Arial" panose="020B0604020202020204" pitchFamily="34" charset="0"/>
            </a:endParaRPr>
          </a:p>
        </p:txBody>
      </p:sp>
      <p:pic>
        <p:nvPicPr>
          <p:cNvPr id="8" name="Picture 7">
            <a:extLst>
              <a:ext uri="{FF2B5EF4-FFF2-40B4-BE49-F238E27FC236}">
                <a16:creationId xmlns:a16="http://schemas.microsoft.com/office/drawing/2014/main" id="{6CD71E40-364B-437B-9EA7-D783470D54ED}"/>
              </a:ext>
            </a:extLst>
          </p:cNvPr>
          <p:cNvPicPr>
            <a:picLocks noChangeAspect="1"/>
          </p:cNvPicPr>
          <p:nvPr/>
        </p:nvPicPr>
        <p:blipFill>
          <a:blip r:embed="rId2"/>
          <a:stretch>
            <a:fillRect/>
          </a:stretch>
        </p:blipFill>
        <p:spPr>
          <a:xfrm>
            <a:off x="3815309" y="5108783"/>
            <a:ext cx="3577710" cy="1284874"/>
          </a:xfrm>
          <a:prstGeom prst="rect">
            <a:avLst/>
          </a:prstGeom>
        </p:spPr>
      </p:pic>
    </p:spTree>
    <p:extLst>
      <p:ext uri="{BB962C8B-B14F-4D97-AF65-F5344CB8AC3E}">
        <p14:creationId xmlns:p14="http://schemas.microsoft.com/office/powerpoint/2010/main" val="2815068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b="1" dirty="0"/>
              <a:t>Applications of Stacks</a:t>
            </a:r>
            <a:endParaRPr lang="en-US" b="1"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21</a:t>
            </a:fld>
            <a:endParaRPr lang="en-US" altLang="en-US"/>
          </a:p>
        </p:txBody>
      </p:sp>
    </p:spTree>
    <p:extLst>
      <p:ext uri="{BB962C8B-B14F-4D97-AF65-F5344CB8AC3E}">
        <p14:creationId xmlns:p14="http://schemas.microsoft.com/office/powerpoint/2010/main" val="1826394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Function Calls and Stacks</a:t>
            </a:r>
          </a:p>
        </p:txBody>
      </p:sp>
      <p:sp>
        <p:nvSpPr>
          <p:cNvPr id="3" name="Text Placeholder 2"/>
          <p:cNvSpPr>
            <a:spLocks noGrp="1"/>
          </p:cNvSpPr>
          <p:nvPr>
            <p:ph type="body" idx="1"/>
          </p:nvPr>
        </p:nvSpPr>
        <p:spPr/>
        <p:txBody>
          <a:bodyPr>
            <a:normAutofit/>
          </a:bodyPr>
          <a:lstStyle/>
          <a:p>
            <a:r>
              <a:rPr lang="de-DE" sz="3600" b="1" dirty="0" err="1"/>
              <a:t>Recursive</a:t>
            </a:r>
            <a:r>
              <a:rPr lang="de-DE" sz="3600" b="1" dirty="0"/>
              <a:t> </a:t>
            </a:r>
            <a:r>
              <a:rPr lang="de-DE" sz="3600" b="1" dirty="0" err="1"/>
              <a:t>Function</a:t>
            </a:r>
            <a:r>
              <a:rPr lang="de-DE" sz="3600" b="1" dirty="0"/>
              <a:t> Implementation</a:t>
            </a:r>
            <a:endParaRPr lang="en-US" sz="3600" dirty="0"/>
          </a:p>
        </p:txBody>
      </p:sp>
      <p:sp>
        <p:nvSpPr>
          <p:cNvPr id="4" name="Slide Number Placeholder 3"/>
          <p:cNvSpPr>
            <a:spLocks noGrp="1"/>
          </p:cNvSpPr>
          <p:nvPr>
            <p:ph type="sldNum" sz="quarter" idx="12"/>
          </p:nvPr>
        </p:nvSpPr>
        <p:spPr/>
        <p:txBody>
          <a:bodyPr/>
          <a:lstStyle/>
          <a:p>
            <a:pPr>
              <a:defRPr/>
            </a:pPr>
            <a:fld id="{19D9EF8D-1A3F-4770-88DF-5CE0BAFACB14}" type="slidenum">
              <a:rPr lang="en-US" altLang="en-US" smtClean="0"/>
              <a:pPr>
                <a:defRPr/>
              </a:pPr>
              <a:t>22</a:t>
            </a:fld>
            <a:endParaRPr lang="en-US" altLang="en-US"/>
          </a:p>
        </p:txBody>
      </p:sp>
    </p:spTree>
    <p:extLst>
      <p:ext uri="{BB962C8B-B14F-4D97-AF65-F5344CB8AC3E}">
        <p14:creationId xmlns:p14="http://schemas.microsoft.com/office/powerpoint/2010/main" val="3371873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33581E3-B8E2-4A81-439B-304A24A45CF4}"/>
              </a:ext>
            </a:extLst>
          </p:cNvPr>
          <p:cNvSpPr>
            <a:spLocks noGrp="1"/>
          </p:cNvSpPr>
          <p:nvPr>
            <p:ph type="title"/>
          </p:nvPr>
        </p:nvSpPr>
        <p:spPr/>
        <p:txBody>
          <a:bodyPr/>
          <a:lstStyle/>
          <a:p>
            <a:r>
              <a:rPr lang="en-PK" b="1" dirty="0"/>
              <a:t>Consider the C++ Program</a:t>
            </a:r>
          </a:p>
        </p:txBody>
      </p:sp>
      <p:pic>
        <p:nvPicPr>
          <p:cNvPr id="10" name="Content Placeholder 9" descr="A screenshot of a computer code&#10;&#10;Description automatically generated">
            <a:extLst>
              <a:ext uri="{FF2B5EF4-FFF2-40B4-BE49-F238E27FC236}">
                <a16:creationId xmlns:a16="http://schemas.microsoft.com/office/drawing/2014/main" id="{B39B942E-F165-6E29-530E-6C3A8E9FB1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4551" y="1853334"/>
            <a:ext cx="4882898" cy="5032375"/>
          </a:xfrm>
        </p:spPr>
      </p:pic>
      <p:sp>
        <p:nvSpPr>
          <p:cNvPr id="4" name="Slide Number Placeholder 3">
            <a:extLst>
              <a:ext uri="{FF2B5EF4-FFF2-40B4-BE49-F238E27FC236}">
                <a16:creationId xmlns:a16="http://schemas.microsoft.com/office/drawing/2014/main" id="{5A04DD11-E14E-A878-FCC3-5FCB8095E409}"/>
              </a:ext>
            </a:extLst>
          </p:cNvPr>
          <p:cNvSpPr>
            <a:spLocks noGrp="1"/>
          </p:cNvSpPr>
          <p:nvPr>
            <p:ph type="sldNum" sz="quarter" idx="12"/>
          </p:nvPr>
        </p:nvSpPr>
        <p:spPr/>
        <p:txBody>
          <a:bodyPr/>
          <a:lstStyle/>
          <a:p>
            <a:pPr>
              <a:defRPr/>
            </a:pPr>
            <a:fld id="{19D9EF8D-1A3F-4770-88DF-5CE0BAFACB14}" type="slidenum">
              <a:rPr lang="en-US" altLang="en-US" smtClean="0"/>
              <a:pPr>
                <a:defRPr/>
              </a:pPr>
              <a:t>23</a:t>
            </a:fld>
            <a:endParaRPr lang="en-US" altLang="en-US"/>
          </a:p>
        </p:txBody>
      </p:sp>
    </p:spTree>
    <p:extLst>
      <p:ext uri="{BB962C8B-B14F-4D97-AF65-F5344CB8AC3E}">
        <p14:creationId xmlns:p14="http://schemas.microsoft.com/office/powerpoint/2010/main" val="3442120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err="1"/>
              <a:t>Function</a:t>
            </a:r>
            <a:r>
              <a:rPr lang="de-DE" b="1" dirty="0"/>
              <a:t> Calls and Stacks</a:t>
            </a:r>
            <a:endParaRPr lang="en-US" b="1" dirty="0"/>
          </a:p>
        </p:txBody>
      </p:sp>
      <p:sp>
        <p:nvSpPr>
          <p:cNvPr id="3" name="Content Placeholder 2"/>
          <p:cNvSpPr>
            <a:spLocks noGrp="1"/>
          </p:cNvSpPr>
          <p:nvPr>
            <p:ph idx="1"/>
          </p:nvPr>
        </p:nvSpPr>
        <p:spPr>
          <a:xfrm>
            <a:off x="685800" y="1981200"/>
            <a:ext cx="10515600" cy="4876800"/>
          </a:xfrm>
        </p:spPr>
        <p:txBody>
          <a:bodyPr>
            <a:noAutofit/>
          </a:bodyPr>
          <a:lstStyle/>
          <a:p>
            <a:r>
              <a:rPr lang="en-GB" sz="2400" b="1" dirty="0"/>
              <a:t>When a program runs, the system maintains a special memory structure called the call stack (or runtime stack).</a:t>
            </a:r>
          </a:p>
          <a:p>
            <a:r>
              <a:rPr lang="en-GB" sz="2400" dirty="0"/>
              <a:t>Every time a function is called, a </a:t>
            </a:r>
            <a:r>
              <a:rPr lang="en-GB" sz="2400" b="1" dirty="0"/>
              <a:t>stack frame</a:t>
            </a:r>
            <a:r>
              <a:rPr lang="en-GB" sz="2400" dirty="0"/>
              <a:t> (or </a:t>
            </a:r>
            <a:r>
              <a:rPr lang="en-GB" sz="2400" b="1" dirty="0"/>
              <a:t>activation record</a:t>
            </a:r>
            <a:r>
              <a:rPr lang="en-GB" sz="2400" dirty="0"/>
              <a:t>) is pushed onto the stack.</a:t>
            </a:r>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24</a:t>
            </a:fld>
            <a:endParaRPr lang="de-DE" altLang="zh-CN" dirty="0"/>
          </a:p>
        </p:txBody>
      </p:sp>
      <p:pic>
        <p:nvPicPr>
          <p:cNvPr id="1026" name="Picture 2">
            <a:extLst>
              <a:ext uri="{FF2B5EF4-FFF2-40B4-BE49-F238E27FC236}">
                <a16:creationId xmlns:a16="http://schemas.microsoft.com/office/drawing/2014/main" id="{F326EBB5-8A66-BEB0-2B25-B1C5ECC86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030" y="3570932"/>
            <a:ext cx="8359140" cy="3210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394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FB0E7-935E-E18F-14C3-93B175851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2D71B-AE51-66FB-57B8-08BE3BA6CB03}"/>
              </a:ext>
            </a:extLst>
          </p:cNvPr>
          <p:cNvSpPr>
            <a:spLocks noGrp="1"/>
          </p:cNvSpPr>
          <p:nvPr>
            <p:ph type="title"/>
          </p:nvPr>
        </p:nvSpPr>
        <p:spPr/>
        <p:txBody>
          <a:bodyPr/>
          <a:lstStyle/>
          <a:p>
            <a:r>
              <a:rPr lang="de-DE" b="1" dirty="0" err="1"/>
              <a:t>Function</a:t>
            </a:r>
            <a:r>
              <a:rPr lang="de-DE" b="1" dirty="0"/>
              <a:t> Calls and Stacks</a:t>
            </a:r>
            <a:endParaRPr lang="en-US" b="1" dirty="0"/>
          </a:p>
        </p:txBody>
      </p:sp>
      <p:sp>
        <p:nvSpPr>
          <p:cNvPr id="3" name="Content Placeholder 2">
            <a:extLst>
              <a:ext uri="{FF2B5EF4-FFF2-40B4-BE49-F238E27FC236}">
                <a16:creationId xmlns:a16="http://schemas.microsoft.com/office/drawing/2014/main" id="{D0C78B18-8D52-D611-570F-373FB2FE3B94}"/>
              </a:ext>
            </a:extLst>
          </p:cNvPr>
          <p:cNvSpPr>
            <a:spLocks noGrp="1"/>
          </p:cNvSpPr>
          <p:nvPr>
            <p:ph idx="1"/>
          </p:nvPr>
        </p:nvSpPr>
        <p:spPr>
          <a:xfrm>
            <a:off x="685800" y="1690688"/>
            <a:ext cx="10515600" cy="5167312"/>
          </a:xfrm>
        </p:spPr>
        <p:txBody>
          <a:bodyPr>
            <a:noAutofit/>
          </a:bodyPr>
          <a:lstStyle/>
          <a:p>
            <a:r>
              <a:rPr lang="en-GB" sz="2400" b="1" dirty="0"/>
              <a:t>What goes in a stack frame?</a:t>
            </a:r>
          </a:p>
          <a:p>
            <a:pPr lvl="1"/>
            <a:r>
              <a:rPr lang="en-GB" b="1" dirty="0"/>
              <a:t>Parameters</a:t>
            </a:r>
            <a:r>
              <a:rPr lang="en-GB" dirty="0"/>
              <a:t> (passed to the function)</a:t>
            </a:r>
          </a:p>
          <a:p>
            <a:pPr lvl="1"/>
            <a:r>
              <a:rPr lang="en-GB" b="1" dirty="0"/>
              <a:t>Local variables</a:t>
            </a:r>
            <a:r>
              <a:rPr lang="en-GB" dirty="0"/>
              <a:t> (declared inside the function)</a:t>
            </a:r>
          </a:p>
          <a:p>
            <a:pPr lvl="1"/>
            <a:r>
              <a:rPr lang="en-GB" b="1" dirty="0"/>
              <a:t>Return address</a:t>
            </a:r>
            <a:r>
              <a:rPr lang="en-GB" dirty="0"/>
              <a:t> (where execution resumes after the function ends)</a:t>
            </a:r>
          </a:p>
          <a:p>
            <a:pPr lvl="1"/>
            <a:r>
              <a:rPr lang="en-GB" b="1" dirty="0"/>
              <a:t>Saved registers</a:t>
            </a:r>
            <a:r>
              <a:rPr lang="en-GB" dirty="0"/>
              <a:t> (for CPU state restoration)</a:t>
            </a:r>
          </a:p>
          <a:p>
            <a:pPr lvl="1"/>
            <a:r>
              <a:rPr lang="en-GB" b="1" dirty="0"/>
              <a:t>Dynamic link</a:t>
            </a:r>
            <a:r>
              <a:rPr lang="en-GB" dirty="0"/>
              <a:t> → a pointer to the </a:t>
            </a:r>
            <a:r>
              <a:rPr lang="en-GB" b="1" dirty="0"/>
              <a:t>previous (caller’s) stack frame</a:t>
            </a:r>
            <a:endParaRPr lang="en-GB" dirty="0"/>
          </a:p>
          <a:p>
            <a:r>
              <a:rPr lang="en-GB" sz="2400" dirty="0"/>
              <a:t>When the function finishes:</a:t>
            </a:r>
          </a:p>
          <a:p>
            <a:pPr lvl="1"/>
            <a:r>
              <a:rPr lang="en-GB" dirty="0"/>
              <a:t>Its stack frame is popped off the call stack.</a:t>
            </a:r>
          </a:p>
          <a:p>
            <a:pPr lvl="1"/>
            <a:r>
              <a:rPr lang="en-GB" dirty="0"/>
              <a:t>Control returns to the calling function.</a:t>
            </a:r>
          </a:p>
          <a:p>
            <a:r>
              <a:rPr lang="en-GB" sz="2400" dirty="0"/>
              <a:t>This ensures </a:t>
            </a:r>
            <a:r>
              <a:rPr lang="en-GB" sz="2400" b="1" dirty="0"/>
              <a:t>LIFO order</a:t>
            </a:r>
            <a:r>
              <a:rPr lang="en-GB" sz="2400" dirty="0"/>
              <a:t> - the last function called must finish before earlier ones can continue.</a:t>
            </a:r>
          </a:p>
        </p:txBody>
      </p:sp>
      <p:sp>
        <p:nvSpPr>
          <p:cNvPr id="4" name="Slide Number Placeholder 3">
            <a:extLst>
              <a:ext uri="{FF2B5EF4-FFF2-40B4-BE49-F238E27FC236}">
                <a16:creationId xmlns:a16="http://schemas.microsoft.com/office/drawing/2014/main" id="{2048D1E5-D152-A3F5-FACA-DFCA6683BF3A}"/>
              </a:ext>
            </a:extLst>
          </p:cNvPr>
          <p:cNvSpPr>
            <a:spLocks noGrp="1"/>
          </p:cNvSpPr>
          <p:nvPr>
            <p:ph type="sldNum" sz="quarter" idx="12"/>
          </p:nvPr>
        </p:nvSpPr>
        <p:spPr/>
        <p:txBody>
          <a:bodyPr/>
          <a:lstStyle/>
          <a:p>
            <a:pPr>
              <a:defRPr/>
            </a:pPr>
            <a:fld id="{1F4BC561-BCEA-4F0B-95C2-8CA863EDD649}" type="slidenum">
              <a:rPr lang="de-DE" altLang="zh-CN" smtClean="0"/>
              <a:pPr>
                <a:defRPr/>
              </a:pPr>
              <a:t>25</a:t>
            </a:fld>
            <a:endParaRPr lang="de-DE" altLang="zh-CN" dirty="0"/>
          </a:p>
        </p:txBody>
      </p:sp>
    </p:spTree>
    <p:extLst>
      <p:ext uri="{BB962C8B-B14F-4D97-AF65-F5344CB8AC3E}">
        <p14:creationId xmlns:p14="http://schemas.microsoft.com/office/powerpoint/2010/main" val="3297366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Activation Record / Stack Frame </a:t>
            </a:r>
            <a:endParaRPr lang="en-US" b="1" dirty="0"/>
          </a:p>
        </p:txBody>
      </p:sp>
      <p:sp>
        <p:nvSpPr>
          <p:cNvPr id="3" name="Content Placeholder 2"/>
          <p:cNvSpPr>
            <a:spLocks noGrp="1"/>
          </p:cNvSpPr>
          <p:nvPr>
            <p:ph sz="half" idx="1"/>
          </p:nvPr>
        </p:nvSpPr>
        <p:spPr/>
        <p:txBody>
          <a:bodyPr>
            <a:normAutofit fontScale="92500" lnSpcReduction="10000"/>
          </a:bodyPr>
          <a:lstStyle/>
          <a:p>
            <a:r>
              <a:rPr lang="en-GB" dirty="0"/>
              <a:t>If a function is called either by main() or by another function, then its stack frame is created on the run-time stack (call stack)</a:t>
            </a:r>
          </a:p>
          <a:p>
            <a:endParaRPr lang="en-GB" dirty="0"/>
          </a:p>
          <a:p>
            <a:r>
              <a:rPr lang="en-GB" dirty="0"/>
              <a:t>The run-time stack always reflects the current state of the function</a:t>
            </a:r>
          </a:p>
          <a:p>
            <a:pPr lvl="1"/>
            <a:r>
              <a:rPr lang="en-GB" dirty="0"/>
              <a:t>E.g., suppose that main() calls function f1(), f1() calls f2(), and f2() in turn calls f3(). If f3() is being executed, then the state of the run-time stack is as shown</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26</a:t>
            </a:fld>
            <a:endParaRPr lang="de-DE" altLang="zh-CN" dirty="0"/>
          </a:p>
        </p:txBody>
      </p:sp>
      <p:pic>
        <p:nvPicPr>
          <p:cNvPr id="7" name="Content Placeholder 6"/>
          <p:cNvPicPr>
            <a:picLocks noGrp="1" noChangeAspect="1"/>
          </p:cNvPicPr>
          <p:nvPr>
            <p:ph sz="half" idx="2"/>
          </p:nvPr>
        </p:nvPicPr>
        <p:blipFill>
          <a:blip r:embed="rId2"/>
          <a:stretch>
            <a:fillRect/>
          </a:stretch>
        </p:blipFill>
        <p:spPr>
          <a:xfrm>
            <a:off x="7490002" y="1825625"/>
            <a:ext cx="2545995" cy="4351338"/>
          </a:xfrm>
          <a:prstGeom prst="rect">
            <a:avLst/>
          </a:prstGeom>
        </p:spPr>
      </p:pic>
    </p:spTree>
    <p:extLst>
      <p:ext uri="{BB962C8B-B14F-4D97-AF65-F5344CB8AC3E}">
        <p14:creationId xmlns:p14="http://schemas.microsoft.com/office/powerpoint/2010/main" val="247074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Activation Record / Stack Frame </a:t>
            </a:r>
            <a:endParaRPr lang="en-US" b="1" dirty="0"/>
          </a:p>
        </p:txBody>
      </p:sp>
      <p:sp>
        <p:nvSpPr>
          <p:cNvPr id="3" name="Content Placeholder 2"/>
          <p:cNvSpPr>
            <a:spLocks noGrp="1"/>
          </p:cNvSpPr>
          <p:nvPr>
            <p:ph idx="1"/>
          </p:nvPr>
        </p:nvSpPr>
        <p:spPr/>
        <p:txBody>
          <a:bodyPr>
            <a:noAutofit/>
          </a:bodyPr>
          <a:lstStyle/>
          <a:p>
            <a:r>
              <a:rPr lang="en-GB" sz="2400" dirty="0"/>
              <a:t>An activation record usually contains the following information</a:t>
            </a:r>
          </a:p>
          <a:p>
            <a:pPr lvl="1"/>
            <a:r>
              <a:rPr lang="en-GB" dirty="0"/>
              <a:t>Values for all parameters to the function, location of the first cell if an array is passed or a variable is passed by reference, and copies of all other data items;</a:t>
            </a:r>
          </a:p>
          <a:p>
            <a:pPr lvl="1"/>
            <a:r>
              <a:rPr lang="en-GB" dirty="0"/>
              <a:t>Local variables that can be stored elsewhere, in which case, the activation record contains only their descriptors and pointers to the locations where they are stored;</a:t>
            </a:r>
          </a:p>
          <a:p>
            <a:pPr lvl="1"/>
            <a:r>
              <a:rPr lang="en-GB" dirty="0"/>
              <a:t>The return address to resume control by the caller, the address of the caller’s </a:t>
            </a:r>
            <a:r>
              <a:rPr lang="en-US" dirty="0"/>
              <a:t>instruction immediately following the call;</a:t>
            </a:r>
          </a:p>
          <a:p>
            <a:pPr lvl="1"/>
            <a:r>
              <a:rPr lang="en-GB" dirty="0"/>
              <a:t>A dynamic link, which is a pointer to the caller’s activation record;</a:t>
            </a:r>
          </a:p>
          <a:p>
            <a:pPr lvl="1"/>
            <a:r>
              <a:rPr lang="en-GB" dirty="0"/>
              <a:t>The returned value for a function not declared as void. Because the size of the activation record may vary from one call to another, the returned value is placed right above the activation record of the caller</a:t>
            </a:r>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27</a:t>
            </a:fld>
            <a:endParaRPr lang="de-DE" altLang="zh-CN" dirty="0"/>
          </a:p>
        </p:txBody>
      </p:sp>
    </p:spTree>
    <p:extLst>
      <p:ext uri="{BB962C8B-B14F-4D97-AF65-F5344CB8AC3E}">
        <p14:creationId xmlns:p14="http://schemas.microsoft.com/office/powerpoint/2010/main" val="45808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78A0C-863E-E07F-677A-4C57A3134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A052E-8AF3-8007-4F07-233F9AB802D9}"/>
              </a:ext>
            </a:extLst>
          </p:cNvPr>
          <p:cNvSpPr>
            <a:spLocks noGrp="1"/>
          </p:cNvSpPr>
          <p:nvPr>
            <p:ph type="title"/>
          </p:nvPr>
        </p:nvSpPr>
        <p:spPr/>
        <p:txBody>
          <a:bodyPr/>
          <a:lstStyle/>
          <a:p>
            <a:r>
              <a:rPr lang="de-DE" b="1" dirty="0" err="1"/>
              <a:t>Example</a:t>
            </a:r>
            <a:r>
              <a:rPr lang="de-DE" b="1" dirty="0"/>
              <a:t> (Non-</a:t>
            </a:r>
            <a:r>
              <a:rPr lang="de-DE" b="1" dirty="0" err="1"/>
              <a:t>Recursive</a:t>
            </a:r>
            <a:r>
              <a:rPr lang="de-DE" b="1" dirty="0"/>
              <a:t>)</a:t>
            </a:r>
            <a:endParaRPr lang="en-US" b="1" dirty="0"/>
          </a:p>
        </p:txBody>
      </p:sp>
      <p:sp>
        <p:nvSpPr>
          <p:cNvPr id="3" name="Content Placeholder 2">
            <a:extLst>
              <a:ext uri="{FF2B5EF4-FFF2-40B4-BE49-F238E27FC236}">
                <a16:creationId xmlns:a16="http://schemas.microsoft.com/office/drawing/2014/main" id="{DFCED136-C739-E4B6-6286-23F20CA78D3F}"/>
              </a:ext>
            </a:extLst>
          </p:cNvPr>
          <p:cNvSpPr>
            <a:spLocks noGrp="1"/>
          </p:cNvSpPr>
          <p:nvPr>
            <p:ph idx="1"/>
          </p:nvPr>
        </p:nvSpPr>
        <p:spPr/>
        <p:txBody>
          <a:bodyPr>
            <a:noAutofit/>
          </a:bodyPr>
          <a:lstStyle/>
          <a:p>
            <a:pPr marL="0" indent="0">
              <a:buNone/>
            </a:pPr>
            <a:r>
              <a:rPr lang="en-GB" sz="2000" dirty="0"/>
              <a:t>void A() {</a:t>
            </a:r>
          </a:p>
          <a:p>
            <a:pPr marL="0" indent="0">
              <a:buNone/>
            </a:pPr>
            <a:r>
              <a:rPr lang="en-GB" sz="2000" dirty="0"/>
              <a:t>    </a:t>
            </a:r>
            <a:r>
              <a:rPr lang="en-GB" sz="2000" dirty="0" err="1"/>
              <a:t>cout</a:t>
            </a:r>
            <a:r>
              <a:rPr lang="en-GB" sz="2000" dirty="0"/>
              <a:t> &lt;&lt; "Inside A\n";</a:t>
            </a:r>
          </a:p>
          <a:p>
            <a:pPr marL="0" indent="0">
              <a:buNone/>
            </a:pPr>
            <a:r>
              <a:rPr lang="en-GB" sz="2000" dirty="0"/>
              <a:t>}</a:t>
            </a:r>
          </a:p>
          <a:p>
            <a:pPr marL="0" indent="0">
              <a:buNone/>
            </a:pPr>
            <a:r>
              <a:rPr lang="en-GB" sz="2000" dirty="0"/>
              <a:t>void B() {</a:t>
            </a:r>
          </a:p>
          <a:p>
            <a:pPr marL="0" indent="0">
              <a:buNone/>
            </a:pPr>
            <a:r>
              <a:rPr lang="en-GB" sz="2000" dirty="0"/>
              <a:t>    A();</a:t>
            </a:r>
          </a:p>
          <a:p>
            <a:pPr marL="0" indent="0">
              <a:buNone/>
            </a:pPr>
            <a:r>
              <a:rPr lang="en-GB" sz="2000" dirty="0"/>
              <a:t>    </a:t>
            </a:r>
            <a:r>
              <a:rPr lang="en-GB" sz="2000" dirty="0" err="1"/>
              <a:t>cout</a:t>
            </a:r>
            <a:r>
              <a:rPr lang="en-GB" sz="2000" dirty="0"/>
              <a:t> &lt;&lt; "Inside B\n";</a:t>
            </a:r>
          </a:p>
          <a:p>
            <a:pPr marL="0" indent="0">
              <a:buNone/>
            </a:pPr>
            <a:r>
              <a:rPr lang="en-GB" sz="2000" dirty="0"/>
              <a:t>}</a:t>
            </a:r>
          </a:p>
          <a:p>
            <a:pPr marL="0" indent="0">
              <a:buNone/>
            </a:pPr>
            <a:r>
              <a:rPr lang="en-GB" sz="2000" dirty="0"/>
              <a:t>int main() {</a:t>
            </a:r>
          </a:p>
          <a:p>
            <a:pPr marL="0" indent="0">
              <a:buNone/>
            </a:pPr>
            <a:r>
              <a:rPr lang="en-GB" sz="2000" dirty="0"/>
              <a:t>    B();</a:t>
            </a:r>
          </a:p>
          <a:p>
            <a:pPr marL="0" indent="0">
              <a:buNone/>
            </a:pPr>
            <a:r>
              <a:rPr lang="en-GB" sz="2000" dirty="0"/>
              <a:t>}</a:t>
            </a:r>
          </a:p>
        </p:txBody>
      </p:sp>
      <p:sp>
        <p:nvSpPr>
          <p:cNvPr id="4" name="Slide Number Placeholder 3">
            <a:extLst>
              <a:ext uri="{FF2B5EF4-FFF2-40B4-BE49-F238E27FC236}">
                <a16:creationId xmlns:a16="http://schemas.microsoft.com/office/drawing/2014/main" id="{79C11728-68AE-0E31-0DD2-73A1F2C33F8F}"/>
              </a:ext>
            </a:extLst>
          </p:cNvPr>
          <p:cNvSpPr>
            <a:spLocks noGrp="1"/>
          </p:cNvSpPr>
          <p:nvPr>
            <p:ph type="sldNum" sz="quarter" idx="12"/>
          </p:nvPr>
        </p:nvSpPr>
        <p:spPr/>
        <p:txBody>
          <a:bodyPr/>
          <a:lstStyle/>
          <a:p>
            <a:pPr>
              <a:defRPr/>
            </a:pPr>
            <a:fld id="{1F4BC561-BCEA-4F0B-95C2-8CA863EDD649}" type="slidenum">
              <a:rPr lang="de-DE" altLang="zh-CN" smtClean="0"/>
              <a:pPr>
                <a:defRPr/>
              </a:pPr>
              <a:t>28</a:t>
            </a:fld>
            <a:endParaRPr lang="de-DE" altLang="zh-CN" dirty="0"/>
          </a:p>
        </p:txBody>
      </p:sp>
      <p:sp>
        <p:nvSpPr>
          <p:cNvPr id="6" name="TextBox 5">
            <a:extLst>
              <a:ext uri="{FF2B5EF4-FFF2-40B4-BE49-F238E27FC236}">
                <a16:creationId xmlns:a16="http://schemas.microsoft.com/office/drawing/2014/main" id="{3A587E4B-716C-7A0B-704C-2A567A736373}"/>
              </a:ext>
            </a:extLst>
          </p:cNvPr>
          <p:cNvSpPr txBox="1"/>
          <p:nvPr/>
        </p:nvSpPr>
        <p:spPr>
          <a:xfrm>
            <a:off x="5562600" y="2133600"/>
            <a:ext cx="5029200" cy="3046988"/>
          </a:xfrm>
          <a:prstGeom prst="rect">
            <a:avLst/>
          </a:prstGeom>
          <a:noFill/>
        </p:spPr>
        <p:txBody>
          <a:bodyPr wrap="square">
            <a:spAutoFit/>
          </a:bodyPr>
          <a:lstStyle/>
          <a:p>
            <a:r>
              <a:rPr lang="en-GB" sz="2400" b="1" dirty="0"/>
              <a:t>Stack </a:t>
            </a:r>
            <a:r>
              <a:rPr lang="en-GB" sz="2400" b="1" dirty="0" err="1"/>
              <a:t>behavior</a:t>
            </a:r>
            <a:r>
              <a:rPr lang="en-GB" sz="2400" b="1" dirty="0"/>
              <a:t>:</a:t>
            </a:r>
          </a:p>
          <a:p>
            <a:pPr>
              <a:buFont typeface="+mj-lt"/>
              <a:buAutoNum type="arabicPeriod"/>
            </a:pPr>
            <a:r>
              <a:rPr lang="en-GB" sz="2400" dirty="0"/>
              <a:t>main() pushed → runs.</a:t>
            </a:r>
          </a:p>
          <a:p>
            <a:pPr>
              <a:buFont typeface="+mj-lt"/>
              <a:buAutoNum type="arabicPeriod"/>
            </a:pPr>
            <a:r>
              <a:rPr lang="en-GB" sz="2400" dirty="0"/>
              <a:t>B() called → push B’s frame.</a:t>
            </a:r>
          </a:p>
          <a:p>
            <a:pPr>
              <a:buFont typeface="+mj-lt"/>
              <a:buAutoNum type="arabicPeriod"/>
            </a:pPr>
            <a:r>
              <a:rPr lang="en-GB" sz="2400" dirty="0"/>
              <a:t>A() called → push A’s frame.</a:t>
            </a:r>
          </a:p>
          <a:p>
            <a:pPr>
              <a:buFont typeface="+mj-lt"/>
              <a:buAutoNum type="arabicPeriod"/>
            </a:pPr>
            <a:r>
              <a:rPr lang="en-GB" sz="2400" dirty="0"/>
              <a:t>A() finishes → pop A.</a:t>
            </a:r>
          </a:p>
          <a:p>
            <a:pPr>
              <a:buFont typeface="+mj-lt"/>
              <a:buAutoNum type="arabicPeriod"/>
            </a:pPr>
            <a:r>
              <a:rPr lang="en-GB" sz="2400" dirty="0"/>
              <a:t>Resume B().</a:t>
            </a:r>
          </a:p>
          <a:p>
            <a:pPr>
              <a:buFont typeface="+mj-lt"/>
              <a:buAutoNum type="arabicPeriod"/>
            </a:pPr>
            <a:r>
              <a:rPr lang="en-GB" sz="2400" dirty="0"/>
              <a:t>B() finishes → pop B.</a:t>
            </a:r>
          </a:p>
          <a:p>
            <a:pPr>
              <a:buFont typeface="+mj-lt"/>
              <a:buAutoNum type="arabicPeriod"/>
            </a:pPr>
            <a:r>
              <a:rPr lang="en-GB" sz="2400" dirty="0"/>
              <a:t>Resume main().</a:t>
            </a:r>
          </a:p>
        </p:txBody>
      </p:sp>
    </p:spTree>
    <p:extLst>
      <p:ext uri="{BB962C8B-B14F-4D97-AF65-F5344CB8AC3E}">
        <p14:creationId xmlns:p14="http://schemas.microsoft.com/office/powerpoint/2010/main" val="3677750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Evaluating Exponents Recursively</a:t>
            </a:r>
            <a:endParaRPr lang="en-US" b="1" dirty="0"/>
          </a:p>
        </p:txBody>
      </p:sp>
      <p:sp>
        <p:nvSpPr>
          <p:cNvPr id="3" name="Content Placeholder 2"/>
          <p:cNvSpPr>
            <a:spLocks noGrp="1"/>
          </p:cNvSpPr>
          <p:nvPr>
            <p:ph sz="half" idx="1"/>
          </p:nvPr>
        </p:nvSpPr>
        <p:spPr>
          <a:xfrm>
            <a:off x="152400" y="1825625"/>
            <a:ext cx="5867400" cy="2212975"/>
          </a:xfrm>
        </p:spPr>
        <p:txBody>
          <a:bodyPr>
            <a:noAutofit/>
          </a:bodyPr>
          <a:lstStyle/>
          <a:p>
            <a:pPr marL="0" indent="0">
              <a:lnSpc>
                <a:spcPct val="150000"/>
              </a:lnSpc>
              <a:spcBef>
                <a:spcPts val="600"/>
              </a:spcBef>
              <a:buNone/>
            </a:pPr>
            <a:r>
              <a:rPr lang="en-GB" sz="2000" dirty="0"/>
              <a:t>int factorial(int n) {</a:t>
            </a:r>
          </a:p>
          <a:p>
            <a:pPr marL="0" indent="0">
              <a:lnSpc>
                <a:spcPct val="150000"/>
              </a:lnSpc>
              <a:spcBef>
                <a:spcPts val="600"/>
              </a:spcBef>
              <a:buNone/>
            </a:pPr>
            <a:r>
              <a:rPr lang="en-GB" sz="2000" dirty="0"/>
              <a:t>    if (n == 0) return 1;             </a:t>
            </a:r>
            <a:r>
              <a:rPr lang="en-GB" sz="2000" dirty="0">
                <a:solidFill>
                  <a:srgbClr val="00B050"/>
                </a:solidFill>
              </a:rPr>
              <a:t>// base case</a:t>
            </a:r>
          </a:p>
          <a:p>
            <a:pPr marL="0" indent="0">
              <a:lnSpc>
                <a:spcPct val="150000"/>
              </a:lnSpc>
              <a:spcBef>
                <a:spcPts val="600"/>
              </a:spcBef>
              <a:buNone/>
            </a:pPr>
            <a:r>
              <a:rPr lang="en-GB" sz="2000" dirty="0"/>
              <a:t>    return n * factorial(n - 1);  </a:t>
            </a:r>
            <a:r>
              <a:rPr lang="en-GB" sz="2000" dirty="0">
                <a:solidFill>
                  <a:srgbClr val="00B050"/>
                </a:solidFill>
              </a:rPr>
              <a:t>// recursive call</a:t>
            </a:r>
          </a:p>
          <a:p>
            <a:pPr marL="0" indent="0">
              <a:lnSpc>
                <a:spcPct val="150000"/>
              </a:lnSpc>
              <a:spcBef>
                <a:spcPts val="600"/>
              </a:spcBef>
              <a:buNone/>
            </a:pPr>
            <a:r>
              <a:rPr lang="en-GB" sz="2000" dirty="0"/>
              <a:t>}</a:t>
            </a:r>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29</a:t>
            </a:fld>
            <a:endParaRPr lang="de-DE" altLang="zh-CN" dirty="0"/>
          </a:p>
        </p:txBody>
      </p:sp>
      <p:sp>
        <p:nvSpPr>
          <p:cNvPr id="10" name="TextBox 9">
            <a:extLst>
              <a:ext uri="{FF2B5EF4-FFF2-40B4-BE49-F238E27FC236}">
                <a16:creationId xmlns:a16="http://schemas.microsoft.com/office/drawing/2014/main" id="{93B514C3-6B34-E035-6887-02045540B937}"/>
              </a:ext>
            </a:extLst>
          </p:cNvPr>
          <p:cNvSpPr txBox="1"/>
          <p:nvPr/>
        </p:nvSpPr>
        <p:spPr>
          <a:xfrm>
            <a:off x="5904511" y="1860261"/>
            <a:ext cx="5412178" cy="3780458"/>
          </a:xfrm>
          <a:prstGeom prst="rect">
            <a:avLst/>
          </a:prstGeom>
          <a:noFill/>
        </p:spPr>
        <p:txBody>
          <a:bodyPr wrap="square">
            <a:spAutoFit/>
          </a:bodyPr>
          <a:lstStyle/>
          <a:p>
            <a:pPr>
              <a:lnSpc>
                <a:spcPct val="150000"/>
              </a:lnSpc>
            </a:pPr>
            <a:r>
              <a:rPr lang="en-GB" b="1" dirty="0"/>
              <a:t>Call factorial(3):</a:t>
            </a:r>
          </a:p>
          <a:p>
            <a:pPr>
              <a:lnSpc>
                <a:spcPct val="150000"/>
              </a:lnSpc>
              <a:buFont typeface="Arial" panose="020B0604020202020204" pitchFamily="34" charset="0"/>
              <a:buChar char="•"/>
            </a:pPr>
            <a:r>
              <a:rPr lang="en-GB" dirty="0"/>
              <a:t>factorial(3) waits for factorial(2)</a:t>
            </a:r>
          </a:p>
          <a:p>
            <a:pPr>
              <a:lnSpc>
                <a:spcPct val="150000"/>
              </a:lnSpc>
              <a:buFont typeface="Arial" panose="020B0604020202020204" pitchFamily="34" charset="0"/>
              <a:buChar char="•"/>
            </a:pPr>
            <a:r>
              <a:rPr lang="en-GB" dirty="0"/>
              <a:t>factorial(2) waits for factorial(1)</a:t>
            </a:r>
          </a:p>
          <a:p>
            <a:pPr>
              <a:lnSpc>
                <a:spcPct val="150000"/>
              </a:lnSpc>
              <a:buFont typeface="Arial" panose="020B0604020202020204" pitchFamily="34" charset="0"/>
              <a:buChar char="•"/>
            </a:pPr>
            <a:r>
              <a:rPr lang="en-GB" dirty="0"/>
              <a:t>factorial(1) waits for factorial(0)</a:t>
            </a:r>
          </a:p>
          <a:p>
            <a:pPr>
              <a:lnSpc>
                <a:spcPct val="150000"/>
              </a:lnSpc>
              <a:buFont typeface="Arial" panose="020B0604020202020204" pitchFamily="34" charset="0"/>
              <a:buChar char="•"/>
            </a:pPr>
            <a:r>
              <a:rPr lang="en-GB" dirty="0"/>
              <a:t>factorial(0) returns 1</a:t>
            </a:r>
          </a:p>
          <a:p>
            <a:pPr>
              <a:lnSpc>
                <a:spcPct val="150000"/>
              </a:lnSpc>
            </a:pPr>
            <a:r>
              <a:rPr lang="en-GB" b="1" dirty="0"/>
              <a:t>Now the stack unwinds:</a:t>
            </a:r>
          </a:p>
          <a:p>
            <a:pPr>
              <a:lnSpc>
                <a:spcPct val="150000"/>
              </a:lnSpc>
              <a:buFont typeface="Arial" panose="020B0604020202020204" pitchFamily="34" charset="0"/>
              <a:buChar char="•"/>
            </a:pPr>
            <a:r>
              <a:rPr lang="en-GB" dirty="0"/>
              <a:t>factorial(1) returns 1 * 1 = 1</a:t>
            </a:r>
          </a:p>
          <a:p>
            <a:pPr>
              <a:lnSpc>
                <a:spcPct val="150000"/>
              </a:lnSpc>
              <a:buFont typeface="Arial" panose="020B0604020202020204" pitchFamily="34" charset="0"/>
              <a:buChar char="•"/>
            </a:pPr>
            <a:r>
              <a:rPr lang="en-GB" dirty="0"/>
              <a:t>factorial(2) returns 2 * 1 = 2</a:t>
            </a:r>
          </a:p>
          <a:p>
            <a:pPr>
              <a:lnSpc>
                <a:spcPct val="150000"/>
              </a:lnSpc>
              <a:buFont typeface="Arial" panose="020B0604020202020204" pitchFamily="34" charset="0"/>
              <a:buChar char="•"/>
            </a:pPr>
            <a:r>
              <a:rPr lang="en-GB" dirty="0"/>
              <a:t>factorial(3) returns 3 * 2 = 6</a:t>
            </a:r>
          </a:p>
        </p:txBody>
      </p:sp>
      <p:sp>
        <p:nvSpPr>
          <p:cNvPr id="12" name="TextBox 11">
            <a:extLst>
              <a:ext uri="{FF2B5EF4-FFF2-40B4-BE49-F238E27FC236}">
                <a16:creationId xmlns:a16="http://schemas.microsoft.com/office/drawing/2014/main" id="{9703A6CB-3957-B7D7-09D6-88F46E3AE643}"/>
              </a:ext>
            </a:extLst>
          </p:cNvPr>
          <p:cNvSpPr txBox="1"/>
          <p:nvPr/>
        </p:nvSpPr>
        <p:spPr>
          <a:xfrm>
            <a:off x="304800" y="4108862"/>
            <a:ext cx="6097978" cy="646331"/>
          </a:xfrm>
          <a:prstGeom prst="rect">
            <a:avLst/>
          </a:prstGeom>
          <a:noFill/>
        </p:spPr>
        <p:txBody>
          <a:bodyPr wrap="square">
            <a:spAutoFit/>
          </a:bodyPr>
          <a:lstStyle/>
          <a:p>
            <a:r>
              <a:rPr lang="en-GB" b="1" dirty="0"/>
              <a:t>Visualizing Recursive Stack</a:t>
            </a:r>
          </a:p>
          <a:p>
            <a:r>
              <a:rPr lang="en-GB" b="1" dirty="0"/>
              <a:t>For factorial(3):</a:t>
            </a:r>
          </a:p>
        </p:txBody>
      </p:sp>
      <p:pic>
        <p:nvPicPr>
          <p:cNvPr id="16" name="Picture 15" descr="A screenshot of a computer code&#10;&#10;Description automatically generated">
            <a:extLst>
              <a:ext uri="{FF2B5EF4-FFF2-40B4-BE49-F238E27FC236}">
                <a16:creationId xmlns:a16="http://schemas.microsoft.com/office/drawing/2014/main" id="{28B098D1-C3CB-1E63-242E-C0CE3C6DB2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4862512"/>
            <a:ext cx="4914900" cy="1676400"/>
          </a:xfrm>
          <a:prstGeom prst="rect">
            <a:avLst/>
          </a:prstGeom>
        </p:spPr>
      </p:pic>
    </p:spTree>
    <p:extLst>
      <p:ext uri="{BB962C8B-B14F-4D97-AF65-F5344CB8AC3E}">
        <p14:creationId xmlns:p14="http://schemas.microsoft.com/office/powerpoint/2010/main" val="327166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program&#10;&#10;Description automatically generated">
            <a:extLst>
              <a:ext uri="{FF2B5EF4-FFF2-40B4-BE49-F238E27FC236}">
                <a16:creationId xmlns:a16="http://schemas.microsoft.com/office/drawing/2014/main" id="{4257C03A-161D-259B-1C12-BF624EAB8A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15017" y="16565"/>
            <a:ext cx="8961966" cy="6721475"/>
          </a:xfrm>
          <a:prstGeom prst="rect">
            <a:avLst/>
          </a:prstGeom>
          <a:solidFill>
            <a:srgbClr val="FFFFFF"/>
          </a:solidFill>
        </p:spPr>
      </p:pic>
      <p:sp>
        <p:nvSpPr>
          <p:cNvPr id="5" name="Slide Number Placeholder 4" hidden="1">
            <a:extLst>
              <a:ext uri="{FF2B5EF4-FFF2-40B4-BE49-F238E27FC236}">
                <a16:creationId xmlns:a16="http://schemas.microsoft.com/office/drawing/2014/main" id="{17A8B13C-BCB0-16EE-9EA6-B0A5C1BC105D}"/>
              </a:ext>
            </a:extLst>
          </p:cNvPr>
          <p:cNvSpPr>
            <a:spLocks noGrp="1"/>
          </p:cNvSpPr>
          <p:nvPr>
            <p:ph type="sldNum" sz="quarter" idx="12"/>
          </p:nvPr>
        </p:nvSpPr>
        <p:spPr/>
        <p:txBody>
          <a:bodyPr/>
          <a:lstStyle/>
          <a:p>
            <a:pPr>
              <a:spcAft>
                <a:spcPts val="600"/>
              </a:spcAft>
              <a:defRPr/>
            </a:pPr>
            <a:fld id="{07574BD9-A853-4283-85D1-C9F1BF83FE24}" type="slidenum">
              <a:rPr lang="en-US" altLang="en-US" smtClean="0"/>
              <a:pPr>
                <a:spcAft>
                  <a:spcPts val="600"/>
                </a:spcAft>
                <a:defRPr/>
              </a:pPr>
              <a:t>30</a:t>
            </a:fld>
            <a:endParaRPr lang="en-US" altLang="en-US"/>
          </a:p>
        </p:txBody>
      </p:sp>
    </p:spTree>
    <p:extLst>
      <p:ext uri="{BB962C8B-B14F-4D97-AF65-F5344CB8AC3E}">
        <p14:creationId xmlns:p14="http://schemas.microsoft.com/office/powerpoint/2010/main" val="2388287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Application: Validating Expressions via Stack</a:t>
            </a:r>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31</a:t>
            </a:fld>
            <a:endParaRPr lang="en-US" altLang="en-US"/>
          </a:p>
        </p:txBody>
      </p:sp>
    </p:spTree>
    <p:extLst>
      <p:ext uri="{BB962C8B-B14F-4D97-AF65-F5344CB8AC3E}">
        <p14:creationId xmlns:p14="http://schemas.microsoft.com/office/powerpoint/2010/main" val="1433982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Algebraic expression</a:t>
            </a:r>
            <a:endParaRPr lang="en-US" b="1" dirty="0"/>
          </a:p>
        </p:txBody>
      </p:sp>
      <p:sp>
        <p:nvSpPr>
          <p:cNvPr id="3" name="Content Placeholder 2"/>
          <p:cNvSpPr>
            <a:spLocks noGrp="1"/>
          </p:cNvSpPr>
          <p:nvPr>
            <p:ph idx="1"/>
          </p:nvPr>
        </p:nvSpPr>
        <p:spPr/>
        <p:txBody>
          <a:bodyPr>
            <a:noAutofit/>
          </a:bodyPr>
          <a:lstStyle/>
          <a:p>
            <a:r>
              <a:rPr lang="en-GB" dirty="0"/>
              <a:t>An algebraic expression is a legal combination of </a:t>
            </a:r>
            <a:r>
              <a:rPr lang="en-GB" b="1" dirty="0"/>
              <a:t>operands</a:t>
            </a:r>
            <a:r>
              <a:rPr lang="en-GB" dirty="0"/>
              <a:t> and the </a:t>
            </a:r>
            <a:r>
              <a:rPr lang="en-GB" b="1" dirty="0"/>
              <a:t>operators</a:t>
            </a:r>
          </a:p>
          <a:p>
            <a:r>
              <a:rPr lang="en-GB" b="1" dirty="0"/>
              <a:t>Operand</a:t>
            </a:r>
            <a:r>
              <a:rPr lang="en-GB" dirty="0"/>
              <a:t> is the quantity (unit of data) on which a mathematical operation is performed</a:t>
            </a:r>
          </a:p>
          <a:p>
            <a:pPr lvl="1"/>
            <a:r>
              <a:rPr lang="en-GB" dirty="0"/>
              <a:t>E.g., operand may be a variable like x, y, z or a constant like 5, 4,0,9,1 etc. </a:t>
            </a:r>
          </a:p>
          <a:p>
            <a:r>
              <a:rPr lang="en-GB" b="1" dirty="0"/>
              <a:t>Operator</a:t>
            </a:r>
            <a:r>
              <a:rPr lang="en-GB" dirty="0"/>
              <a:t> is a symbol which signifies a mathematical or logical operation between the operands</a:t>
            </a:r>
          </a:p>
          <a:p>
            <a:pPr lvl="1"/>
            <a:r>
              <a:rPr lang="en-GB" dirty="0"/>
              <a:t>Example of familiar operators include +,-,*, /, ^ </a:t>
            </a:r>
          </a:p>
          <a:p>
            <a:r>
              <a:rPr lang="en-GB" dirty="0"/>
              <a:t>Considering these definitions of operands and operators, an example of expression may be </a:t>
            </a:r>
            <a:r>
              <a:rPr lang="en-GB" b="1" dirty="0" err="1">
                <a:solidFill>
                  <a:schemeClr val="accent1">
                    <a:lumMod val="75000"/>
                  </a:schemeClr>
                </a:solidFill>
              </a:rPr>
              <a:t>x+y</a:t>
            </a:r>
            <a:r>
              <a:rPr lang="en-GB" b="1" dirty="0">
                <a:solidFill>
                  <a:schemeClr val="accent1">
                    <a:lumMod val="75000"/>
                  </a:schemeClr>
                </a:solidFill>
              </a:rPr>
              <a:t>*z</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32</a:t>
            </a:fld>
            <a:endParaRPr lang="de-DE" altLang="zh-CN" dirty="0"/>
          </a:p>
        </p:txBody>
      </p:sp>
    </p:spTree>
    <p:extLst>
      <p:ext uri="{BB962C8B-B14F-4D97-AF65-F5344CB8AC3E}">
        <p14:creationId xmlns:p14="http://schemas.microsoft.com/office/powerpoint/2010/main" val="135772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Stacks in problem solving</a:t>
            </a:r>
            <a:endParaRPr lang="en-US" b="1" dirty="0"/>
          </a:p>
        </p:txBody>
      </p:sp>
      <p:sp>
        <p:nvSpPr>
          <p:cNvPr id="3" name="Content Placeholder 2"/>
          <p:cNvSpPr>
            <a:spLocks noGrp="1"/>
          </p:cNvSpPr>
          <p:nvPr>
            <p:ph idx="1"/>
          </p:nvPr>
        </p:nvSpPr>
        <p:spPr/>
        <p:txBody>
          <a:bodyPr/>
          <a:lstStyle/>
          <a:p>
            <a:r>
              <a:rPr lang="en-GB" dirty="0"/>
              <a:t>Consider a mathematical expression that includes several sets of nested parenthesis, e.g., </a:t>
            </a:r>
          </a:p>
          <a:p>
            <a:pPr marL="0" indent="0">
              <a:buNone/>
            </a:pPr>
            <a:r>
              <a:rPr lang="en-GB" dirty="0"/>
              <a:t>			( x + (y – (a +b)) )</a:t>
            </a:r>
          </a:p>
          <a:p>
            <a:r>
              <a:rPr lang="en-GB" dirty="0"/>
              <a:t>We want to ensure that parenthesis are nested correctly and the expression is valid</a:t>
            </a:r>
          </a:p>
          <a:p>
            <a:pPr marL="0" indent="0">
              <a:buNone/>
            </a:pPr>
            <a:r>
              <a:rPr lang="en-GB" b="1" dirty="0"/>
              <a:t>Validation</a:t>
            </a:r>
          </a:p>
          <a:p>
            <a:r>
              <a:rPr lang="en-GB" dirty="0"/>
              <a:t>There is an equal number of right and left parentheses</a:t>
            </a:r>
          </a:p>
          <a:p>
            <a:r>
              <a:rPr lang="en-GB" dirty="0"/>
              <a:t>Every right parenthesis is preceded by a matching left parenthesis</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33</a:t>
            </a:fld>
            <a:endParaRPr lang="de-DE" altLang="zh-CN" dirty="0"/>
          </a:p>
        </p:txBody>
      </p:sp>
      <p:sp>
        <p:nvSpPr>
          <p:cNvPr id="5" name="Rectangle 4"/>
          <p:cNvSpPr/>
          <p:nvPr/>
        </p:nvSpPr>
        <p:spPr>
          <a:xfrm>
            <a:off x="6074229" y="5643416"/>
            <a:ext cx="4572000" cy="1200329"/>
          </a:xfrm>
          <a:prstGeom prst="rect">
            <a:avLst/>
          </a:prstGeom>
        </p:spPr>
        <p:txBody>
          <a:bodyPr>
            <a:spAutoFit/>
          </a:bodyPr>
          <a:lstStyle/>
          <a:p>
            <a:r>
              <a:rPr lang="en-US" sz="2400" dirty="0">
                <a:latin typeface="Arial" panose="020B0604020202020204" pitchFamily="34" charset="0"/>
                <a:cs typeface="Arial" panose="020B0604020202020204" pitchFamily="34" charset="0"/>
              </a:rPr>
              <a:t>(A+B) * C		</a:t>
            </a:r>
            <a:r>
              <a:rPr lang="en-US" sz="2400" dirty="0">
                <a:solidFill>
                  <a:schemeClr val="accent1">
                    <a:lumMod val="75000"/>
                  </a:schemeClr>
                </a:solidFill>
                <a:latin typeface="Arial" panose="020B0604020202020204" pitchFamily="34" charset="0"/>
                <a:cs typeface="Arial" panose="020B0604020202020204" pitchFamily="34" charset="0"/>
              </a:rPr>
              <a:t>Valid</a:t>
            </a:r>
          </a:p>
          <a:p>
            <a:r>
              <a:rPr lang="en-US" sz="2400" dirty="0">
                <a:latin typeface="Arial" panose="020B0604020202020204" pitchFamily="34" charset="0"/>
                <a:cs typeface="Arial" panose="020B0604020202020204" pitchFamily="34" charset="0"/>
              </a:rPr>
              <a:t>A + B)			</a:t>
            </a:r>
            <a:r>
              <a:rPr lang="en-US" sz="2400" dirty="0">
                <a:solidFill>
                  <a:srgbClr val="FF0000"/>
                </a:solidFill>
                <a:latin typeface="Arial" panose="020B0604020202020204" pitchFamily="34" charset="0"/>
                <a:cs typeface="Arial" panose="020B0604020202020204" pitchFamily="34" charset="0"/>
              </a:rPr>
              <a:t>Invalid</a:t>
            </a:r>
          </a:p>
          <a:p>
            <a:r>
              <a:rPr lang="en-US" sz="2400" dirty="0">
                <a:latin typeface="Arial" panose="020B0604020202020204" pitchFamily="34" charset="0"/>
                <a:cs typeface="Arial" panose="020B0604020202020204" pitchFamily="34" charset="0"/>
              </a:rPr>
              <a:t>(A+B]			</a:t>
            </a:r>
            <a:r>
              <a:rPr lang="en-US" sz="2400" dirty="0">
                <a:solidFill>
                  <a:srgbClr val="FF0000"/>
                </a:solidFill>
                <a:latin typeface="Arial" panose="020B0604020202020204" pitchFamily="34" charset="0"/>
                <a:cs typeface="Arial" panose="020B0604020202020204" pitchFamily="34" charset="0"/>
              </a:rPr>
              <a:t>Invalid</a:t>
            </a:r>
          </a:p>
        </p:txBody>
      </p:sp>
    </p:spTree>
    <p:extLst>
      <p:ext uri="{BB962C8B-B14F-4D97-AF65-F5344CB8AC3E}">
        <p14:creationId xmlns:p14="http://schemas.microsoft.com/office/powerpoint/2010/main" val="192335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Rules</a:t>
            </a:r>
            <a:endParaRPr lang="en-US" b="1" dirty="0"/>
          </a:p>
        </p:txBody>
      </p:sp>
      <p:sp>
        <p:nvSpPr>
          <p:cNvPr id="3" name="Content Placeholder 2"/>
          <p:cNvSpPr>
            <a:spLocks noGrp="1"/>
          </p:cNvSpPr>
          <p:nvPr>
            <p:ph idx="1"/>
          </p:nvPr>
        </p:nvSpPr>
        <p:spPr/>
        <p:txBody>
          <a:bodyPr/>
          <a:lstStyle/>
          <a:p>
            <a:pPr algn="just"/>
            <a:r>
              <a:rPr lang="en-US" dirty="0"/>
              <a:t>Each left parentheses is the </a:t>
            </a:r>
            <a:r>
              <a:rPr lang="en-US" dirty="0">
                <a:solidFill>
                  <a:schemeClr val="accent1">
                    <a:lumMod val="75000"/>
                  </a:schemeClr>
                </a:solidFill>
              </a:rPr>
              <a:t>opening</a:t>
            </a:r>
            <a:r>
              <a:rPr lang="en-US" dirty="0"/>
              <a:t> scope while each right parenthesis is a </a:t>
            </a:r>
            <a:r>
              <a:rPr lang="en-US" dirty="0">
                <a:solidFill>
                  <a:schemeClr val="accent1">
                    <a:lumMod val="75000"/>
                  </a:schemeClr>
                </a:solidFill>
              </a:rPr>
              <a:t>closing</a:t>
            </a:r>
            <a:r>
              <a:rPr lang="en-US" dirty="0"/>
              <a:t> scope</a:t>
            </a:r>
          </a:p>
          <a:p>
            <a:pPr algn="just"/>
            <a:endParaRPr lang="en-US" sz="1400" dirty="0"/>
          </a:p>
          <a:p>
            <a:pPr algn="just"/>
            <a:r>
              <a:rPr lang="en-US" dirty="0">
                <a:solidFill>
                  <a:schemeClr val="accent1">
                    <a:lumMod val="75000"/>
                  </a:schemeClr>
                </a:solidFill>
              </a:rPr>
              <a:t>Parentheses count = 0 </a:t>
            </a:r>
            <a:r>
              <a:rPr lang="en-US" dirty="0"/>
              <a:t>at the end means that no scopes have been left open and left and right parentheses exactly match</a:t>
            </a:r>
          </a:p>
          <a:p>
            <a:pPr algn="just"/>
            <a:endParaRPr lang="en-US" sz="1600" dirty="0"/>
          </a:p>
          <a:p>
            <a:pPr algn="just"/>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34</a:t>
            </a:fld>
            <a:endParaRPr lang="de-DE" altLang="zh-CN" dirty="0"/>
          </a:p>
        </p:txBody>
      </p:sp>
      <p:sp>
        <p:nvSpPr>
          <p:cNvPr id="5" name="Rectangle 4"/>
          <p:cNvSpPr/>
          <p:nvPr/>
        </p:nvSpPr>
        <p:spPr>
          <a:xfrm>
            <a:off x="3093028" y="4177708"/>
            <a:ext cx="2982190" cy="1569660"/>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 ( A + B )</a:t>
            </a:r>
          </a:p>
          <a:p>
            <a:r>
              <a:rPr lang="en-US" sz="2400" dirty="0">
                <a:latin typeface="Arial" panose="020B0604020202020204" pitchFamily="34" charset="0"/>
                <a:cs typeface="Arial" panose="020B0604020202020204" pitchFamily="34" charset="0"/>
              </a:rPr>
              <a:t>1 2 2 2 2 1</a:t>
            </a:r>
          </a:p>
          <a:p>
            <a:endParaRPr lang="en-US" sz="2400" dirty="0">
              <a:latin typeface="Arial" panose="020B0604020202020204" pitchFamily="34" charset="0"/>
              <a:cs typeface="Arial" panose="020B0604020202020204" pitchFamily="34" charset="0"/>
            </a:endParaRPr>
          </a:p>
          <a:p>
            <a:r>
              <a:rPr lang="en-US" sz="2400" dirty="0">
                <a:solidFill>
                  <a:srgbClr val="FF0000"/>
                </a:solidFill>
                <a:latin typeface="Arial" panose="020B0604020202020204" pitchFamily="34" charset="0"/>
                <a:cs typeface="Arial" panose="020B0604020202020204" pitchFamily="34" charset="0"/>
              </a:rPr>
              <a:t>Invalid expression</a:t>
            </a:r>
            <a:r>
              <a:rPr lang="en-US" sz="2400" dirty="0">
                <a:latin typeface="Arial" panose="020B0604020202020204" pitchFamily="34" charset="0"/>
                <a:cs typeface="Arial" panose="020B0604020202020204" pitchFamily="34" charset="0"/>
              </a:rPr>
              <a:t>	</a:t>
            </a:r>
          </a:p>
        </p:txBody>
      </p:sp>
      <p:sp>
        <p:nvSpPr>
          <p:cNvPr id="6" name="Rectangle 5"/>
          <p:cNvSpPr/>
          <p:nvPr/>
        </p:nvSpPr>
        <p:spPr>
          <a:xfrm>
            <a:off x="6683090" y="4177708"/>
            <a:ext cx="2597727" cy="1569660"/>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 A * B )</a:t>
            </a:r>
          </a:p>
          <a:p>
            <a:r>
              <a:rPr lang="en-US" sz="2400" dirty="0">
                <a:latin typeface="Arial" panose="020B0604020202020204" pitchFamily="34" charset="0"/>
                <a:cs typeface="Arial" panose="020B0604020202020204" pitchFamily="34" charset="0"/>
              </a:rPr>
              <a:t>1 1 1 1 0</a:t>
            </a:r>
          </a:p>
          <a:p>
            <a:endParaRPr lang="de-DE" sz="2400" dirty="0">
              <a:latin typeface="Arial" panose="020B0604020202020204" pitchFamily="34" charset="0"/>
              <a:cs typeface="Arial" panose="020B0604020202020204" pitchFamily="34" charset="0"/>
            </a:endParaRPr>
          </a:p>
          <a:p>
            <a:r>
              <a:rPr lang="de-DE" sz="2400" dirty="0">
                <a:solidFill>
                  <a:schemeClr val="accent1">
                    <a:lumMod val="75000"/>
                  </a:schemeClr>
                </a:solidFill>
                <a:latin typeface="Arial" panose="020B0604020202020204" pitchFamily="34" charset="0"/>
                <a:cs typeface="Arial" panose="020B0604020202020204" pitchFamily="34" charset="0"/>
              </a:rPr>
              <a:t>Valid expression</a:t>
            </a:r>
            <a:endParaRPr lang="en-US" sz="2400"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9720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Parsing parenthesis</a:t>
            </a:r>
            <a:endParaRPr lang="en-US" b="1" dirty="0"/>
          </a:p>
        </p:txBody>
      </p:sp>
      <p:sp>
        <p:nvSpPr>
          <p:cNvPr id="3" name="Content Placeholder 2"/>
          <p:cNvSpPr>
            <a:spLocks noGrp="1"/>
          </p:cNvSpPr>
          <p:nvPr>
            <p:ph idx="1"/>
          </p:nvPr>
        </p:nvSpPr>
        <p:spPr/>
        <p:txBody>
          <a:bodyPr>
            <a:noAutofit/>
          </a:bodyPr>
          <a:lstStyle/>
          <a:p>
            <a:r>
              <a:rPr lang="en-US" dirty="0"/>
              <a:t>Let us change the problem slightly</a:t>
            </a:r>
          </a:p>
          <a:p>
            <a:pPr lvl="1"/>
            <a:r>
              <a:rPr lang="en-US" dirty="0"/>
              <a:t>Three different kinds of scope delimiters exist </a:t>
            </a:r>
          </a:p>
          <a:p>
            <a:pPr>
              <a:buNone/>
            </a:pPr>
            <a:r>
              <a:rPr lang="en-US" dirty="0"/>
              <a:t>		e.g.,  </a:t>
            </a:r>
            <a:r>
              <a:rPr lang="en-US" b="1" dirty="0">
                <a:solidFill>
                  <a:schemeClr val="accent1">
                    <a:lumMod val="75000"/>
                  </a:schemeClr>
                </a:solidFill>
              </a:rPr>
              <a:t>{ x + (y – [a +b]) }</a:t>
            </a:r>
            <a:br>
              <a:rPr lang="en-US" b="1" dirty="0">
                <a:solidFill>
                  <a:srgbClr val="FF0000"/>
                </a:solidFill>
              </a:rPr>
            </a:br>
            <a:endParaRPr lang="en-US" b="1" dirty="0">
              <a:solidFill>
                <a:srgbClr val="FF0000"/>
              </a:solidFill>
            </a:endParaRPr>
          </a:p>
          <a:p>
            <a:pPr lvl="1"/>
            <a:r>
              <a:rPr lang="en-US" dirty="0"/>
              <a:t>The scope ender must be of same type as scope opener</a:t>
            </a:r>
          </a:p>
          <a:p>
            <a:pPr lvl="1"/>
            <a:endParaRPr lang="en-US" dirty="0"/>
          </a:p>
          <a:p>
            <a:pPr lvl="1"/>
            <a:r>
              <a:rPr lang="en-US" dirty="0"/>
              <a:t>It is necessary to keep track of not only the count of scope but also the types</a:t>
            </a:r>
          </a:p>
          <a:p>
            <a:pPr lvl="1"/>
            <a:endParaRPr lang="en-US" dirty="0"/>
          </a:p>
          <a:p>
            <a:pPr lvl="1"/>
            <a:r>
              <a:rPr lang="en-US" dirty="0"/>
              <a:t>A stack may be used to keep track of the types of scopes encountered</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35</a:t>
            </a:fld>
            <a:endParaRPr lang="de-DE" altLang="zh-CN" dirty="0"/>
          </a:p>
        </p:txBody>
      </p:sp>
    </p:spTree>
    <p:extLst>
      <p:ext uri="{BB962C8B-B14F-4D97-AF65-F5344CB8AC3E}">
        <p14:creationId xmlns:p14="http://schemas.microsoft.com/office/powerpoint/2010/main" val="3435081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Stacks in validating expression</a:t>
            </a:r>
            <a:endParaRPr lang="en-US" b="1" dirty="0"/>
          </a:p>
        </p:txBody>
      </p:sp>
      <p:sp>
        <p:nvSpPr>
          <p:cNvPr id="3" name="Content Placeholder 2"/>
          <p:cNvSpPr>
            <a:spLocks noGrp="1"/>
          </p:cNvSpPr>
          <p:nvPr>
            <p:ph idx="1"/>
          </p:nvPr>
        </p:nvSpPr>
        <p:spPr/>
        <p:txBody>
          <a:bodyPr>
            <a:noAutofit/>
          </a:bodyPr>
          <a:lstStyle/>
          <a:p>
            <a:r>
              <a:rPr lang="en-GB" dirty="0"/>
              <a:t>Whenever a </a:t>
            </a:r>
            <a:r>
              <a:rPr lang="en-GB" dirty="0">
                <a:solidFill>
                  <a:schemeClr val="accent1">
                    <a:lumMod val="75000"/>
                  </a:schemeClr>
                </a:solidFill>
              </a:rPr>
              <a:t>scope opener </a:t>
            </a:r>
            <a:r>
              <a:rPr lang="en-GB" dirty="0"/>
              <a:t>is encountered</a:t>
            </a:r>
          </a:p>
          <a:p>
            <a:pPr lvl="1"/>
            <a:r>
              <a:rPr lang="en-GB" sz="2400" dirty="0"/>
              <a:t>it is pushed into the stack</a:t>
            </a:r>
          </a:p>
          <a:p>
            <a:r>
              <a:rPr lang="en-GB" dirty="0"/>
              <a:t>Whenever a </a:t>
            </a:r>
            <a:r>
              <a:rPr lang="en-GB" dirty="0">
                <a:solidFill>
                  <a:schemeClr val="accent1">
                    <a:lumMod val="75000"/>
                  </a:schemeClr>
                </a:solidFill>
              </a:rPr>
              <a:t>scope ender </a:t>
            </a:r>
            <a:r>
              <a:rPr lang="en-GB" dirty="0"/>
              <a:t>is encountered, </a:t>
            </a:r>
          </a:p>
          <a:p>
            <a:pPr lvl="1"/>
            <a:r>
              <a:rPr lang="en-GB" sz="2400" dirty="0"/>
              <a:t>The stack is examined</a:t>
            </a:r>
          </a:p>
          <a:p>
            <a:pPr lvl="1"/>
            <a:r>
              <a:rPr lang="en-GB" sz="2400" dirty="0"/>
              <a:t>If the </a:t>
            </a:r>
            <a:r>
              <a:rPr lang="en-GB" sz="2400" dirty="0">
                <a:solidFill>
                  <a:schemeClr val="accent1">
                    <a:lumMod val="75000"/>
                  </a:schemeClr>
                </a:solidFill>
              </a:rPr>
              <a:t>stack is empty</a:t>
            </a:r>
            <a:r>
              <a:rPr lang="en-GB" sz="2400" dirty="0"/>
              <a:t>, the scope ender does not have a matching opener and </a:t>
            </a:r>
            <a:r>
              <a:rPr lang="en-GB" sz="2400" dirty="0">
                <a:solidFill>
                  <a:schemeClr val="accent1">
                    <a:lumMod val="75000"/>
                  </a:schemeClr>
                </a:solidFill>
              </a:rPr>
              <a:t>string is invalid</a:t>
            </a:r>
          </a:p>
          <a:p>
            <a:pPr lvl="1"/>
            <a:r>
              <a:rPr lang="en-GB" sz="2400" dirty="0"/>
              <a:t>If stack is </a:t>
            </a:r>
            <a:r>
              <a:rPr lang="en-GB" sz="2400" dirty="0">
                <a:solidFill>
                  <a:schemeClr val="accent1">
                    <a:lumMod val="75000"/>
                  </a:schemeClr>
                </a:solidFill>
              </a:rPr>
              <a:t>not empty</a:t>
            </a:r>
            <a:r>
              <a:rPr lang="en-GB" sz="2400" dirty="0"/>
              <a:t>, we pop an item and check if it corresponds to scope ender</a:t>
            </a:r>
          </a:p>
          <a:p>
            <a:pPr lvl="2"/>
            <a:r>
              <a:rPr lang="en-GB" sz="2400" dirty="0">
                <a:solidFill>
                  <a:schemeClr val="accent1">
                    <a:lumMod val="75000"/>
                  </a:schemeClr>
                </a:solidFill>
              </a:rPr>
              <a:t>If match occurs </a:t>
            </a:r>
            <a:r>
              <a:rPr lang="en-GB" sz="2400" dirty="0"/>
              <a:t>we continue, </a:t>
            </a:r>
          </a:p>
          <a:p>
            <a:pPr lvl="2"/>
            <a:r>
              <a:rPr lang="en-GB" sz="2400" dirty="0"/>
              <a:t>otherwise the </a:t>
            </a:r>
            <a:r>
              <a:rPr lang="en-GB" sz="2400" dirty="0">
                <a:solidFill>
                  <a:schemeClr val="accent1">
                    <a:lumMod val="75000"/>
                  </a:schemeClr>
                </a:solidFill>
              </a:rPr>
              <a:t>expression is invalid</a:t>
            </a:r>
          </a:p>
          <a:p>
            <a:r>
              <a:rPr lang="en-GB" dirty="0"/>
              <a:t>At the end of the string the stack must be empty</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36</a:t>
            </a:fld>
            <a:endParaRPr lang="de-DE" altLang="zh-CN" dirty="0"/>
          </a:p>
        </p:txBody>
      </p:sp>
    </p:spTree>
    <p:extLst>
      <p:ext uri="{BB962C8B-B14F-4D97-AF65-F5344CB8AC3E}">
        <p14:creationId xmlns:p14="http://schemas.microsoft.com/office/powerpoint/2010/main" val="287477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a:lstStyle/>
          <a:p>
            <a:r>
              <a:rPr lang="de-DE" b="1" dirty="0">
                <a:latin typeface="Arial" panose="020B0604020202020204" pitchFamily="34" charset="0"/>
                <a:cs typeface="Arial" panose="020B0604020202020204" pitchFamily="34" charset="0"/>
              </a:rPr>
              <a:t>Pseudo code</a:t>
            </a:r>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37</a:t>
            </a:fld>
            <a:endParaRPr lang="de-DE" altLang="zh-CN" dirty="0"/>
          </a:p>
        </p:txBody>
      </p:sp>
      <p:sp>
        <p:nvSpPr>
          <p:cNvPr id="7" name="Rectangle 3"/>
          <p:cNvSpPr txBox="1">
            <a:spLocks noGrp="1" noChangeArrowheads="1"/>
          </p:cNvSpPr>
          <p:nvPr>
            <p:ph type="body" orient="vert" idx="1"/>
          </p:nvPr>
        </p:nvSpPr>
        <p:spPr>
          <a:xfrm>
            <a:off x="838200" y="152400"/>
            <a:ext cx="8382000" cy="6569075"/>
          </a:xfrm>
          <a:prstGeom prst="rect">
            <a:avLst/>
          </a:prstGeom>
          <a:noFill/>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FontTx/>
              <a:buNone/>
            </a:pPr>
            <a:r>
              <a:rPr lang="en-US" sz="1700" dirty="0">
                <a:latin typeface="Arial" panose="020B0604020202020204" pitchFamily="34" charset="0"/>
                <a:cs typeface="Arial" panose="020B0604020202020204" pitchFamily="34" charset="0"/>
              </a:rPr>
              <a:t>Valid = true</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S = the empty stack </a:t>
            </a:r>
            <a:r>
              <a:rPr lang="en-US" sz="1700" dirty="0">
                <a:solidFill>
                  <a:schemeClr val="accent1">
                    <a:lumMod val="75000"/>
                  </a:schemeClr>
                </a:solidFill>
                <a:latin typeface="Arial" panose="020B0604020202020204" pitchFamily="34" charset="0"/>
                <a:cs typeface="Arial" panose="020B0604020202020204" pitchFamily="34" charset="0"/>
              </a:rPr>
              <a:t>// array of chars say char s[100]</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While (we have not read the entire string) {</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read the next symbol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of the string;</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if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 ‘(‘ ||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 ‘[‘ ||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 ‘{‘)</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push (s,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if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 ‘)‘ ||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 ‘]‘ ||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 == ‘}‘)</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if (</a:t>
            </a:r>
            <a:r>
              <a:rPr lang="en-US" sz="1700" dirty="0" err="1">
                <a:latin typeface="Arial" panose="020B0604020202020204" pitchFamily="34" charset="0"/>
                <a:cs typeface="Arial" panose="020B0604020202020204" pitchFamily="34" charset="0"/>
              </a:rPr>
              <a:t>IsEmpty</a:t>
            </a:r>
            <a:r>
              <a:rPr lang="en-US" sz="1700" dirty="0">
                <a:latin typeface="Arial" panose="020B0604020202020204" pitchFamily="34" charset="0"/>
                <a:cs typeface="Arial" panose="020B0604020202020204" pitchFamily="34" charset="0"/>
              </a:rPr>
              <a:t>(s))</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valid = false;</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else {</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I = pop (s);</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if ( I is not the matching opener of </a:t>
            </a:r>
            <a:r>
              <a:rPr lang="en-US" sz="1700" dirty="0" err="1">
                <a:latin typeface="Arial" panose="020B0604020202020204" pitchFamily="34" charset="0"/>
                <a:cs typeface="Arial" panose="020B0604020202020204" pitchFamily="34" charset="0"/>
              </a:rPr>
              <a:t>symb</a:t>
            </a:r>
            <a:r>
              <a:rPr lang="en-US" sz="1700" dirty="0">
                <a:latin typeface="Arial" panose="020B0604020202020204" pitchFamily="34" charset="0"/>
                <a:cs typeface="Arial" panose="020B0604020202020204" pitchFamily="34" charset="0"/>
              </a:rPr>
              <a:t>)</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valid = false;  </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a:t>
            </a:r>
            <a:r>
              <a:rPr lang="en-US" sz="1700" dirty="0">
                <a:solidFill>
                  <a:schemeClr val="accent1">
                    <a:lumMod val="75000"/>
                  </a:schemeClr>
                </a:solidFill>
                <a:latin typeface="Arial" panose="020B0604020202020204" pitchFamily="34" charset="0"/>
                <a:cs typeface="Arial" panose="020B0604020202020204" pitchFamily="34" charset="0"/>
              </a:rPr>
              <a:t>// end of else</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a:t>
            </a:r>
            <a:r>
              <a:rPr lang="en-US" sz="1700" dirty="0">
                <a:solidFill>
                  <a:schemeClr val="accent1">
                    <a:lumMod val="75000"/>
                  </a:schemeClr>
                </a:solidFill>
                <a:latin typeface="Arial" panose="020B0604020202020204" pitchFamily="34" charset="0"/>
                <a:cs typeface="Arial" panose="020B0604020202020204" pitchFamily="34" charset="0"/>
              </a:rPr>
              <a:t>//end while</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If (valid)</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a:t>
            </a:r>
            <a:r>
              <a:rPr lang="en-US" sz="1700" dirty="0" err="1">
                <a:latin typeface="Arial" panose="020B0604020202020204" pitchFamily="34" charset="0"/>
                <a:cs typeface="Arial" panose="020B0604020202020204" pitchFamily="34" charset="0"/>
              </a:rPr>
              <a:t>cout</a:t>
            </a:r>
            <a:r>
              <a:rPr lang="en-US" sz="1700" dirty="0">
                <a:latin typeface="Arial" panose="020B0604020202020204" pitchFamily="34" charset="0"/>
                <a:cs typeface="Arial" panose="020B0604020202020204" pitchFamily="34" charset="0"/>
              </a:rPr>
              <a:t> &lt;&lt; “Valid String” &lt;&lt; </a:t>
            </a:r>
            <a:r>
              <a:rPr lang="en-US" sz="1700" dirty="0" err="1">
                <a:latin typeface="Arial" panose="020B0604020202020204" pitchFamily="34" charset="0"/>
                <a:cs typeface="Arial" panose="020B0604020202020204" pitchFamily="34" charset="0"/>
              </a:rPr>
              <a:t>endl</a:t>
            </a:r>
            <a:r>
              <a:rPr lang="en-US" sz="1700" dirty="0">
                <a:latin typeface="Arial" panose="020B0604020202020204" pitchFamily="34" charset="0"/>
                <a:cs typeface="Arial" panose="020B0604020202020204" pitchFamily="34" charset="0"/>
              </a:rPr>
              <a:t>;</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Else</a:t>
            </a:r>
          </a:p>
          <a:p>
            <a:pPr>
              <a:lnSpc>
                <a:spcPct val="100000"/>
              </a:lnSpc>
              <a:spcBef>
                <a:spcPts val="600"/>
              </a:spcBef>
              <a:buFontTx/>
              <a:buNone/>
            </a:pPr>
            <a:r>
              <a:rPr lang="en-US" sz="1700" dirty="0">
                <a:latin typeface="Arial" panose="020B0604020202020204" pitchFamily="34" charset="0"/>
                <a:cs typeface="Arial" panose="020B0604020202020204" pitchFamily="34" charset="0"/>
              </a:rPr>
              <a:t>	</a:t>
            </a:r>
            <a:r>
              <a:rPr lang="en-US" sz="1700" dirty="0" err="1">
                <a:latin typeface="Arial" panose="020B0604020202020204" pitchFamily="34" charset="0"/>
                <a:cs typeface="Arial" panose="020B0604020202020204" pitchFamily="34" charset="0"/>
              </a:rPr>
              <a:t>cout</a:t>
            </a:r>
            <a:r>
              <a:rPr lang="en-US" sz="1700" dirty="0">
                <a:latin typeface="Arial" panose="020B0604020202020204" pitchFamily="34" charset="0"/>
                <a:cs typeface="Arial" panose="020B0604020202020204" pitchFamily="34" charset="0"/>
              </a:rPr>
              <a:t> &lt;&lt; “not a valid string”</a:t>
            </a:r>
          </a:p>
        </p:txBody>
      </p:sp>
    </p:spTree>
    <p:extLst>
      <p:ext uri="{BB962C8B-B14F-4D97-AF65-F5344CB8AC3E}">
        <p14:creationId xmlns:p14="http://schemas.microsoft.com/office/powerpoint/2010/main" val="3175337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Stacks in validating expression</a:t>
            </a:r>
            <a:endParaRPr lang="en-US" b="1" dirty="0"/>
          </a:p>
        </p:txBody>
      </p:sp>
      <p:sp>
        <p:nvSpPr>
          <p:cNvPr id="4" name="Slide Number Placeholder 3"/>
          <p:cNvSpPr>
            <a:spLocks noGrp="1"/>
          </p:cNvSpPr>
          <p:nvPr>
            <p:ph type="sldNum" sz="quarter" idx="12"/>
          </p:nvPr>
        </p:nvSpPr>
        <p:spPr/>
        <p:txBody>
          <a:bodyPr/>
          <a:lstStyle/>
          <a:p>
            <a:fld id="{1F4BC561-BCEA-4F0B-95C2-8CA863EDD649}" type="slidenum">
              <a:rPr lang="de-DE" altLang="zh-CN" smtClean="0"/>
              <a:pPr/>
              <a:t>38</a:t>
            </a:fld>
            <a:endParaRPr lang="de-DE" altLang="zh-CN" dirty="0"/>
          </a:p>
        </p:txBody>
      </p:sp>
      <p:sp>
        <p:nvSpPr>
          <p:cNvPr id="5" name="Rectangle 2"/>
          <p:cNvSpPr txBox="1">
            <a:spLocks noChangeArrowheads="1"/>
          </p:cNvSpPr>
          <p:nvPr/>
        </p:nvSpPr>
        <p:spPr>
          <a:xfrm>
            <a:off x="1923661" y="1690688"/>
            <a:ext cx="8229600" cy="571500"/>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2600" b="1" kern="1200">
                <a:solidFill>
                  <a:schemeClr val="tx1">
                    <a:lumMod val="50000"/>
                    <a:lumOff val="50000"/>
                  </a:schemeClr>
                </a:solidFill>
                <a:latin typeface="Arial" panose="020B0604020202020204" pitchFamily="34" charset="0"/>
                <a:ea typeface="+mj-ea"/>
                <a:cs typeface="Arial" panose="020B0604020202020204" pitchFamily="34" charset="0"/>
              </a:defRPr>
            </a:lvl1pPr>
          </a:lstStyle>
          <a:p>
            <a:r>
              <a:rPr lang="en-US" sz="2800" b="0" dirty="0">
                <a:solidFill>
                  <a:schemeClr val="tx1"/>
                </a:solidFill>
              </a:rPr>
              <a:t>{ x + (y – [a +b]) }</a:t>
            </a:r>
          </a:p>
        </p:txBody>
      </p:sp>
      <p:graphicFrame>
        <p:nvGraphicFramePr>
          <p:cNvPr id="6" name="Group 3"/>
          <p:cNvGraphicFramePr>
            <a:graphicFrameLocks noGrp="1"/>
          </p:cNvGraphicFramePr>
          <p:nvPr>
            <p:extLst>
              <p:ext uri="{D42A27DB-BD31-4B8C-83A1-F6EECF244321}">
                <p14:modId xmlns:p14="http://schemas.microsoft.com/office/powerpoint/2010/main" val="3228555359"/>
              </p:ext>
            </p:extLst>
          </p:nvPr>
        </p:nvGraphicFramePr>
        <p:xfrm>
          <a:off x="31428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 name="Group 15"/>
          <p:cNvGraphicFramePr>
            <a:graphicFrameLocks noGrp="1"/>
          </p:cNvGraphicFramePr>
          <p:nvPr>
            <p:extLst>
              <p:ext uri="{D42A27DB-BD31-4B8C-83A1-F6EECF244321}">
                <p14:modId xmlns:p14="http://schemas.microsoft.com/office/powerpoint/2010/main" val="1341526587"/>
              </p:ext>
            </p:extLst>
          </p:nvPr>
        </p:nvGraphicFramePr>
        <p:xfrm>
          <a:off x="43620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 name="Group 27"/>
          <p:cNvGraphicFramePr>
            <a:graphicFrameLocks noGrp="1"/>
          </p:cNvGraphicFramePr>
          <p:nvPr>
            <p:extLst>
              <p:ext uri="{D42A27DB-BD31-4B8C-83A1-F6EECF244321}">
                <p14:modId xmlns:p14="http://schemas.microsoft.com/office/powerpoint/2010/main" val="1844148851"/>
              </p:ext>
            </p:extLst>
          </p:nvPr>
        </p:nvGraphicFramePr>
        <p:xfrm>
          <a:off x="55812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9" name="Group 39"/>
          <p:cNvGraphicFramePr>
            <a:graphicFrameLocks noGrp="1"/>
          </p:cNvGraphicFramePr>
          <p:nvPr>
            <p:extLst>
              <p:ext uri="{D42A27DB-BD31-4B8C-83A1-F6EECF244321}">
                <p14:modId xmlns:p14="http://schemas.microsoft.com/office/powerpoint/2010/main" val="2845232244"/>
              </p:ext>
            </p:extLst>
          </p:nvPr>
        </p:nvGraphicFramePr>
        <p:xfrm>
          <a:off x="68004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0" name="Group 51"/>
          <p:cNvGraphicFramePr>
            <a:graphicFrameLocks noGrp="1"/>
          </p:cNvGraphicFramePr>
          <p:nvPr>
            <p:extLst>
              <p:ext uri="{D42A27DB-BD31-4B8C-83A1-F6EECF244321}">
                <p14:modId xmlns:p14="http://schemas.microsoft.com/office/powerpoint/2010/main" val="31339476"/>
              </p:ext>
            </p:extLst>
          </p:nvPr>
        </p:nvGraphicFramePr>
        <p:xfrm>
          <a:off x="80196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1" name="Group 63"/>
          <p:cNvGraphicFramePr>
            <a:graphicFrameLocks noGrp="1"/>
          </p:cNvGraphicFramePr>
          <p:nvPr>
            <p:extLst>
              <p:ext uri="{D42A27DB-BD31-4B8C-83A1-F6EECF244321}">
                <p14:modId xmlns:p14="http://schemas.microsoft.com/office/powerpoint/2010/main" val="2794141063"/>
              </p:ext>
            </p:extLst>
          </p:nvPr>
        </p:nvGraphicFramePr>
        <p:xfrm>
          <a:off x="19236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2" name="Group 75"/>
          <p:cNvGraphicFramePr>
            <a:graphicFrameLocks noGrp="1"/>
          </p:cNvGraphicFramePr>
          <p:nvPr>
            <p:extLst>
              <p:ext uri="{D42A27DB-BD31-4B8C-83A1-F6EECF244321}">
                <p14:modId xmlns:p14="http://schemas.microsoft.com/office/powerpoint/2010/main" val="238696368"/>
              </p:ext>
            </p:extLst>
          </p:nvPr>
        </p:nvGraphicFramePr>
        <p:xfrm>
          <a:off x="9238861" y="2238737"/>
          <a:ext cx="1066800" cy="4064000"/>
        </p:xfrm>
        <a:graphic>
          <a:graphicData uri="http://schemas.openxmlformats.org/drawingml/2006/table">
            <a:tbl>
              <a:tblPr/>
              <a:tblGrid>
                <a:gridCol w="1066800">
                  <a:extLst>
                    <a:ext uri="{9D8B030D-6E8A-4147-A177-3AD203B41FA5}">
                      <a16:colId xmlns:a16="http://schemas.microsoft.com/office/drawing/2014/main" val="20000"/>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 name="Rectangle 87"/>
          <p:cNvSpPr>
            <a:spLocks noChangeArrowheads="1"/>
          </p:cNvSpPr>
          <p:nvPr/>
        </p:nvSpPr>
        <p:spPr bwMode="auto">
          <a:xfrm>
            <a:off x="19236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1</a:t>
            </a:r>
          </a:p>
        </p:txBody>
      </p:sp>
      <p:sp>
        <p:nvSpPr>
          <p:cNvPr id="14" name="Rectangle 88"/>
          <p:cNvSpPr>
            <a:spLocks noChangeArrowheads="1"/>
          </p:cNvSpPr>
          <p:nvPr/>
        </p:nvSpPr>
        <p:spPr bwMode="auto">
          <a:xfrm>
            <a:off x="31428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2</a:t>
            </a:r>
          </a:p>
        </p:txBody>
      </p:sp>
      <p:sp>
        <p:nvSpPr>
          <p:cNvPr id="15" name="Rectangle 89"/>
          <p:cNvSpPr>
            <a:spLocks noChangeArrowheads="1"/>
          </p:cNvSpPr>
          <p:nvPr/>
        </p:nvSpPr>
        <p:spPr bwMode="auto">
          <a:xfrm>
            <a:off x="43620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3</a:t>
            </a:r>
          </a:p>
        </p:txBody>
      </p:sp>
      <p:sp>
        <p:nvSpPr>
          <p:cNvPr id="16" name="Rectangle 90"/>
          <p:cNvSpPr>
            <a:spLocks noChangeArrowheads="1"/>
          </p:cNvSpPr>
          <p:nvPr/>
        </p:nvSpPr>
        <p:spPr bwMode="auto">
          <a:xfrm>
            <a:off x="55812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4</a:t>
            </a:r>
          </a:p>
        </p:txBody>
      </p:sp>
      <p:sp>
        <p:nvSpPr>
          <p:cNvPr id="17" name="Rectangle 91"/>
          <p:cNvSpPr>
            <a:spLocks noChangeArrowheads="1"/>
          </p:cNvSpPr>
          <p:nvPr/>
        </p:nvSpPr>
        <p:spPr bwMode="auto">
          <a:xfrm>
            <a:off x="68004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dirty="0"/>
              <a:t>5</a:t>
            </a:r>
          </a:p>
        </p:txBody>
      </p:sp>
      <p:sp>
        <p:nvSpPr>
          <p:cNvPr id="18" name="Rectangle 92"/>
          <p:cNvSpPr>
            <a:spLocks noChangeArrowheads="1"/>
          </p:cNvSpPr>
          <p:nvPr/>
        </p:nvSpPr>
        <p:spPr bwMode="auto">
          <a:xfrm>
            <a:off x="80196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6</a:t>
            </a:r>
          </a:p>
        </p:txBody>
      </p:sp>
      <p:sp>
        <p:nvSpPr>
          <p:cNvPr id="19" name="Rectangle 93"/>
          <p:cNvSpPr>
            <a:spLocks noChangeArrowheads="1"/>
          </p:cNvSpPr>
          <p:nvPr/>
        </p:nvSpPr>
        <p:spPr bwMode="auto">
          <a:xfrm>
            <a:off x="9238861" y="6429737"/>
            <a:ext cx="10668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7</a:t>
            </a:r>
          </a:p>
        </p:txBody>
      </p:sp>
    </p:spTree>
    <p:extLst>
      <p:ext uri="{BB962C8B-B14F-4D97-AF65-F5344CB8AC3E}">
        <p14:creationId xmlns:p14="http://schemas.microsoft.com/office/powerpoint/2010/main" val="271896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Application: Infix to Postfix Conversion</a:t>
            </a:r>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39</a:t>
            </a:fld>
            <a:endParaRPr lang="en-US" altLang="en-US"/>
          </a:p>
        </p:txBody>
      </p:sp>
    </p:spTree>
    <p:extLst>
      <p:ext uri="{BB962C8B-B14F-4D97-AF65-F5344CB8AC3E}">
        <p14:creationId xmlns:p14="http://schemas.microsoft.com/office/powerpoint/2010/main" val="1820619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Operator Priorities</a:t>
            </a:r>
            <a:endParaRPr lang="en-US" dirty="0"/>
          </a:p>
        </p:txBody>
      </p:sp>
      <p:sp>
        <p:nvSpPr>
          <p:cNvPr id="3" name="Content Placeholder 2"/>
          <p:cNvSpPr>
            <a:spLocks noGrp="1"/>
          </p:cNvSpPr>
          <p:nvPr>
            <p:ph idx="1"/>
          </p:nvPr>
        </p:nvSpPr>
        <p:spPr/>
        <p:txBody>
          <a:bodyPr/>
          <a:lstStyle/>
          <a:p>
            <a:r>
              <a:rPr lang="en-GB" dirty="0"/>
              <a:t>How do you figure out the </a:t>
            </a:r>
            <a:r>
              <a:rPr lang="en-GB" dirty="0">
                <a:solidFill>
                  <a:schemeClr val="accent1">
                    <a:lumMod val="75000"/>
                  </a:schemeClr>
                </a:solidFill>
              </a:rPr>
              <a:t>operands</a:t>
            </a:r>
            <a:r>
              <a:rPr lang="en-GB" dirty="0"/>
              <a:t> of an </a:t>
            </a:r>
            <a:r>
              <a:rPr lang="en-GB" dirty="0">
                <a:solidFill>
                  <a:schemeClr val="accent1">
                    <a:lumMod val="75000"/>
                  </a:schemeClr>
                </a:solidFill>
              </a:rPr>
              <a:t>operator</a:t>
            </a:r>
            <a:r>
              <a:rPr lang="en-GB" dirty="0"/>
              <a:t>?</a:t>
            </a:r>
          </a:p>
          <a:p>
            <a:pPr lvl="1"/>
            <a:r>
              <a:rPr lang="en-GB" dirty="0"/>
              <a:t>a + b * c</a:t>
            </a:r>
          </a:p>
          <a:p>
            <a:pPr lvl="1"/>
            <a:r>
              <a:rPr lang="en-GB" dirty="0"/>
              <a:t>a * b + c / d</a:t>
            </a:r>
          </a:p>
          <a:p>
            <a:endParaRPr lang="en-GB" dirty="0"/>
          </a:p>
          <a:p>
            <a:r>
              <a:rPr lang="en-GB" dirty="0"/>
              <a:t>This is done by assigning operator priorities</a:t>
            </a:r>
          </a:p>
          <a:p>
            <a:pPr lvl="1"/>
            <a:r>
              <a:rPr lang="en-GB" dirty="0"/>
              <a:t>priority(*) = priority(/) &gt; priority(+) = priority(-)</a:t>
            </a:r>
          </a:p>
          <a:p>
            <a:endParaRPr lang="en-GB" dirty="0"/>
          </a:p>
          <a:p>
            <a:r>
              <a:rPr lang="en-GB" dirty="0"/>
              <a:t>When an operand lies between two operators, the operand is </a:t>
            </a:r>
            <a:r>
              <a:rPr lang="en-GB" b="1" dirty="0"/>
              <a:t>associated</a:t>
            </a:r>
            <a:r>
              <a:rPr lang="en-GB" dirty="0"/>
              <a:t> with the operator that has the higher priority</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40</a:t>
            </a:fld>
            <a:endParaRPr lang="de-DE" altLang="zh-CN" dirty="0"/>
          </a:p>
        </p:txBody>
      </p:sp>
    </p:spTree>
    <p:extLst>
      <p:ext uri="{BB962C8B-B14F-4D97-AF65-F5344CB8AC3E}">
        <p14:creationId xmlns:p14="http://schemas.microsoft.com/office/powerpoint/2010/main" val="9274097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Tie breaker</a:t>
            </a:r>
            <a:endParaRPr lang="en-US" b="1" dirty="0"/>
          </a:p>
        </p:txBody>
      </p:sp>
      <p:sp>
        <p:nvSpPr>
          <p:cNvPr id="3" name="Content Placeholder 2"/>
          <p:cNvSpPr>
            <a:spLocks noGrp="1"/>
          </p:cNvSpPr>
          <p:nvPr>
            <p:ph idx="1"/>
          </p:nvPr>
        </p:nvSpPr>
        <p:spPr/>
        <p:txBody>
          <a:bodyPr/>
          <a:lstStyle/>
          <a:p>
            <a:r>
              <a:rPr lang="en-GB" dirty="0"/>
              <a:t>When an operand lies between two operators that have the </a:t>
            </a:r>
            <a:r>
              <a:rPr lang="en-GB" dirty="0">
                <a:solidFill>
                  <a:schemeClr val="accent1">
                    <a:lumMod val="75000"/>
                  </a:schemeClr>
                </a:solidFill>
              </a:rPr>
              <a:t>same</a:t>
            </a:r>
            <a:r>
              <a:rPr lang="en-GB" dirty="0"/>
              <a:t> priority, the operand is associated with the operator on the </a:t>
            </a:r>
            <a:r>
              <a:rPr lang="en-GB" b="1" dirty="0"/>
              <a:t>left</a:t>
            </a:r>
          </a:p>
          <a:p>
            <a:pPr lvl="1"/>
            <a:r>
              <a:rPr lang="en-GB" dirty="0"/>
              <a:t>a + b - c</a:t>
            </a:r>
          </a:p>
          <a:p>
            <a:pPr lvl="1"/>
            <a:r>
              <a:rPr lang="en-GB" dirty="0"/>
              <a:t>a * b / c / d</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41</a:t>
            </a:fld>
            <a:endParaRPr lang="de-DE" altLang="zh-CN" dirty="0"/>
          </a:p>
        </p:txBody>
      </p:sp>
    </p:spTree>
    <p:extLst>
      <p:ext uri="{BB962C8B-B14F-4D97-AF65-F5344CB8AC3E}">
        <p14:creationId xmlns:p14="http://schemas.microsoft.com/office/powerpoint/2010/main" val="582147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Infix, Prefix &amp; Postfix expressions</a:t>
            </a:r>
            <a:endParaRPr lang="en-US" b="1" dirty="0"/>
          </a:p>
        </p:txBody>
      </p:sp>
      <p:sp>
        <p:nvSpPr>
          <p:cNvPr id="3" name="Content Placeholder 2"/>
          <p:cNvSpPr>
            <a:spLocks noGrp="1"/>
          </p:cNvSpPr>
          <p:nvPr>
            <p:ph idx="1"/>
          </p:nvPr>
        </p:nvSpPr>
        <p:spPr/>
        <p:txBody>
          <a:bodyPr>
            <a:noAutofit/>
          </a:bodyPr>
          <a:lstStyle/>
          <a:p>
            <a:r>
              <a:rPr lang="en-GB" dirty="0">
                <a:solidFill>
                  <a:schemeClr val="accent1">
                    <a:lumMod val="75000"/>
                  </a:schemeClr>
                </a:solidFill>
              </a:rPr>
              <a:t>INFIX</a:t>
            </a:r>
            <a:r>
              <a:rPr lang="en-GB" dirty="0"/>
              <a:t>: Expressions in which </a:t>
            </a:r>
            <a:r>
              <a:rPr lang="en-GB" b="1" dirty="0"/>
              <a:t>operands</a:t>
            </a:r>
            <a:r>
              <a:rPr lang="en-GB" dirty="0"/>
              <a:t> surround the </a:t>
            </a:r>
            <a:r>
              <a:rPr lang="en-GB" b="1" dirty="0"/>
              <a:t>operator</a:t>
            </a:r>
            <a:r>
              <a:rPr lang="en-GB" dirty="0"/>
              <a:t>, </a:t>
            </a:r>
          </a:p>
          <a:p>
            <a:pPr lvl="1"/>
            <a:r>
              <a:rPr lang="en-GB" dirty="0"/>
              <a:t>e.g., </a:t>
            </a:r>
            <a:r>
              <a:rPr lang="en-GB" dirty="0" err="1"/>
              <a:t>x+y</a:t>
            </a:r>
            <a:r>
              <a:rPr lang="en-GB" dirty="0"/>
              <a:t>, 6*3 … etc.</a:t>
            </a:r>
          </a:p>
          <a:p>
            <a:endParaRPr lang="en-GB" dirty="0"/>
          </a:p>
          <a:p>
            <a:r>
              <a:rPr lang="en-GB" dirty="0">
                <a:solidFill>
                  <a:schemeClr val="accent1">
                    <a:lumMod val="75000"/>
                  </a:schemeClr>
                </a:solidFill>
              </a:rPr>
              <a:t>PREFIX</a:t>
            </a:r>
            <a:r>
              <a:rPr lang="en-GB" dirty="0"/>
              <a:t>: Expressions in which </a:t>
            </a:r>
            <a:r>
              <a:rPr lang="en-GB" b="1" dirty="0"/>
              <a:t>operator</a:t>
            </a:r>
            <a:r>
              <a:rPr lang="en-GB" dirty="0"/>
              <a:t> comes before the </a:t>
            </a:r>
            <a:r>
              <a:rPr lang="en-GB" b="1" dirty="0"/>
              <a:t>operands</a:t>
            </a:r>
            <a:r>
              <a:rPr lang="en-GB" dirty="0"/>
              <a:t>, e.g., +</a:t>
            </a:r>
            <a:r>
              <a:rPr lang="en-GB" dirty="0" err="1"/>
              <a:t>xy</a:t>
            </a:r>
            <a:r>
              <a:rPr lang="en-GB" dirty="0"/>
              <a:t>, *+</a:t>
            </a:r>
            <a:r>
              <a:rPr lang="en-GB" dirty="0" err="1"/>
              <a:t>xyz</a:t>
            </a:r>
            <a:r>
              <a:rPr lang="en-GB" dirty="0"/>
              <a:t> etc.</a:t>
            </a:r>
          </a:p>
          <a:p>
            <a:pPr lvl="1"/>
            <a:r>
              <a:rPr lang="en-GB" dirty="0"/>
              <a:t>Also known as Polish Notation (PN) </a:t>
            </a:r>
            <a:endParaRPr lang="en-US" dirty="0"/>
          </a:p>
          <a:p>
            <a:endParaRPr lang="en-GB" dirty="0">
              <a:solidFill>
                <a:schemeClr val="accent1">
                  <a:lumMod val="75000"/>
                </a:schemeClr>
              </a:solidFill>
            </a:endParaRPr>
          </a:p>
          <a:p>
            <a:r>
              <a:rPr lang="en-GB" dirty="0">
                <a:solidFill>
                  <a:schemeClr val="accent1">
                    <a:lumMod val="75000"/>
                  </a:schemeClr>
                </a:solidFill>
              </a:rPr>
              <a:t>POSTFIX</a:t>
            </a:r>
            <a:r>
              <a:rPr lang="en-GB" dirty="0"/>
              <a:t>: Expressions in which </a:t>
            </a:r>
            <a:r>
              <a:rPr lang="en-GB" b="1" dirty="0"/>
              <a:t>operator</a:t>
            </a:r>
            <a:r>
              <a:rPr lang="en-GB" dirty="0"/>
              <a:t> comes after the </a:t>
            </a:r>
            <a:r>
              <a:rPr lang="en-GB" b="1" dirty="0"/>
              <a:t>operands</a:t>
            </a:r>
            <a:r>
              <a:rPr lang="en-GB" dirty="0"/>
              <a:t>, e.g., </a:t>
            </a:r>
            <a:r>
              <a:rPr lang="en-GB" dirty="0" err="1"/>
              <a:t>xy</a:t>
            </a:r>
            <a:r>
              <a:rPr lang="en-GB" dirty="0"/>
              <a:t>+, </a:t>
            </a:r>
            <a:r>
              <a:rPr lang="en-GB" dirty="0" err="1"/>
              <a:t>xyz</a:t>
            </a:r>
            <a:r>
              <a:rPr lang="en-GB" dirty="0"/>
              <a:t>+* etc. </a:t>
            </a:r>
          </a:p>
          <a:p>
            <a:pPr lvl="1"/>
            <a:r>
              <a:rPr lang="en-GB" dirty="0"/>
              <a:t>Also known as Reverse Polish Notation (RPN)</a:t>
            </a:r>
          </a:p>
          <a:p>
            <a:endParaRPr lang="en-GB"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42</a:t>
            </a:fld>
            <a:endParaRPr lang="de-DE" altLang="zh-CN" dirty="0"/>
          </a:p>
        </p:txBody>
      </p:sp>
    </p:spTree>
    <p:extLst>
      <p:ext uri="{BB962C8B-B14F-4D97-AF65-F5344CB8AC3E}">
        <p14:creationId xmlns:p14="http://schemas.microsoft.com/office/powerpoint/2010/main" val="18775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Prefix &amp; Postfix notations, why to use?</a:t>
            </a:r>
            <a:endParaRPr lang="en-US" b="1" dirty="0"/>
          </a:p>
        </p:txBody>
      </p:sp>
      <p:sp>
        <p:nvSpPr>
          <p:cNvPr id="3" name="Content Placeholder 2"/>
          <p:cNvSpPr>
            <a:spLocks noGrp="1"/>
          </p:cNvSpPr>
          <p:nvPr>
            <p:ph idx="1"/>
          </p:nvPr>
        </p:nvSpPr>
        <p:spPr/>
        <p:txBody>
          <a:bodyPr>
            <a:noAutofit/>
          </a:bodyPr>
          <a:lstStyle/>
          <a:p>
            <a:pPr>
              <a:defRPr/>
            </a:pPr>
            <a:r>
              <a:rPr lang="en-US" dirty="0"/>
              <a:t>Why to use these weird looking PREFIX and POSTFIX notations when we have simple INFIX notation?</a:t>
            </a:r>
          </a:p>
          <a:p>
            <a:pPr lvl="1">
              <a:defRPr/>
            </a:pPr>
            <a:r>
              <a:rPr lang="en-US" sz="2800" dirty="0"/>
              <a:t>INFIX notations are </a:t>
            </a:r>
            <a:r>
              <a:rPr lang="en-US" sz="2800" dirty="0">
                <a:solidFill>
                  <a:schemeClr val="accent1">
                    <a:lumMod val="75000"/>
                  </a:schemeClr>
                </a:solidFill>
              </a:rPr>
              <a:t>not as simple </a:t>
            </a:r>
            <a:r>
              <a:rPr lang="en-US" sz="2800" dirty="0"/>
              <a:t>as they seem especially while evaluating them</a:t>
            </a:r>
          </a:p>
          <a:p>
            <a:pPr lvl="1">
              <a:defRPr/>
            </a:pPr>
            <a:r>
              <a:rPr lang="en-US" sz="2800" dirty="0"/>
              <a:t>To evaluate an infix expression, we need to consider </a:t>
            </a:r>
            <a:r>
              <a:rPr lang="en-US" sz="2800" b="1" dirty="0"/>
              <a:t>operators’ Priority </a:t>
            </a:r>
            <a:r>
              <a:rPr lang="en-US" sz="2800" dirty="0"/>
              <a:t>and </a:t>
            </a:r>
            <a:r>
              <a:rPr lang="en-US" sz="2800" b="1" dirty="0"/>
              <a:t>Associative property</a:t>
            </a:r>
          </a:p>
          <a:p>
            <a:pPr lvl="2">
              <a:defRPr/>
            </a:pPr>
            <a:r>
              <a:rPr lang="en-US" sz="2800" dirty="0"/>
              <a:t>e.g.,  expression 3+5*4 can either be evaluated as 32 i.e., </a:t>
            </a:r>
            <a:r>
              <a:rPr lang="en-US" sz="2800" dirty="0">
                <a:solidFill>
                  <a:schemeClr val="hlink"/>
                </a:solidFill>
              </a:rPr>
              <a:t>(3+5)*4</a:t>
            </a:r>
            <a:r>
              <a:rPr lang="en-US" sz="2800" dirty="0"/>
              <a:t> or 23 i.e., </a:t>
            </a:r>
            <a:r>
              <a:rPr lang="en-US" sz="2800" dirty="0">
                <a:solidFill>
                  <a:schemeClr val="hlink"/>
                </a:solidFill>
              </a:rPr>
              <a:t>3+(5*4)</a:t>
            </a:r>
            <a:r>
              <a:rPr lang="en-US" sz="2800" dirty="0"/>
              <a:t> </a:t>
            </a:r>
          </a:p>
          <a:p>
            <a:pPr>
              <a:defRPr/>
            </a:pPr>
            <a:r>
              <a:rPr lang="en-US" dirty="0"/>
              <a:t>To solve this problem </a:t>
            </a:r>
            <a:r>
              <a:rPr lang="en-US" b="1" dirty="0"/>
              <a:t>Precedence</a:t>
            </a:r>
            <a:r>
              <a:rPr lang="en-US" dirty="0"/>
              <a:t> or </a:t>
            </a:r>
            <a:r>
              <a:rPr lang="en-US" b="1" dirty="0"/>
              <a:t>Priority</a:t>
            </a:r>
            <a:r>
              <a:rPr lang="en-US" dirty="0"/>
              <a:t> of the operators were defined to govern the evaluation order i.e., operator with higher precedence is applied before an operator with lower precedence</a:t>
            </a:r>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43</a:t>
            </a:fld>
            <a:endParaRPr lang="de-DE" altLang="zh-CN" dirty="0"/>
          </a:p>
        </p:txBody>
      </p:sp>
    </p:spTree>
    <p:extLst>
      <p:ext uri="{BB962C8B-B14F-4D97-AF65-F5344CB8AC3E}">
        <p14:creationId xmlns:p14="http://schemas.microsoft.com/office/powerpoint/2010/main" val="133165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Prefix &amp; Postfix notations, why to use?</a:t>
            </a:r>
            <a:endParaRPr lang="en-US" b="1" dirty="0"/>
          </a:p>
        </p:txBody>
      </p:sp>
      <p:sp>
        <p:nvSpPr>
          <p:cNvPr id="3" name="Content Placeholder 2"/>
          <p:cNvSpPr>
            <a:spLocks noGrp="1"/>
          </p:cNvSpPr>
          <p:nvPr>
            <p:ph idx="1"/>
          </p:nvPr>
        </p:nvSpPr>
        <p:spPr/>
        <p:txBody>
          <a:bodyPr/>
          <a:lstStyle/>
          <a:p>
            <a:r>
              <a:rPr lang="en-GB" dirty="0"/>
              <a:t>Compilers need to generate assembly code in which one operation is executed at a time and the result is retained for other operations</a:t>
            </a:r>
          </a:p>
          <a:p>
            <a:endParaRPr lang="en-GB" dirty="0"/>
          </a:p>
          <a:p>
            <a:r>
              <a:rPr lang="en-GB" dirty="0"/>
              <a:t>Therefore, all expressions have to be broken down unambiguously into separate operations and put into their proper order</a:t>
            </a:r>
          </a:p>
          <a:p>
            <a:endParaRPr lang="en-GB" dirty="0"/>
          </a:p>
          <a:p>
            <a:r>
              <a:rPr lang="en-GB" dirty="0"/>
              <a:t>That is where Polish notation is useful as it allows us to create an expression tree, which imposes an order on the execution of operations</a:t>
            </a:r>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44</a:t>
            </a:fld>
            <a:endParaRPr lang="de-DE" altLang="zh-CN" dirty="0"/>
          </a:p>
        </p:txBody>
      </p:sp>
    </p:spTree>
    <p:extLst>
      <p:ext uri="{BB962C8B-B14F-4D97-AF65-F5344CB8AC3E}">
        <p14:creationId xmlns:p14="http://schemas.microsoft.com/office/powerpoint/2010/main" val="560294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Expression tree</a:t>
            </a:r>
            <a:endParaRPr lang="en-US" b="1"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45</a:t>
            </a:fld>
            <a:endParaRPr lang="de-DE" altLang="zh-CN" dirty="0"/>
          </a:p>
        </p:txBody>
      </p:sp>
      <p:grpSp>
        <p:nvGrpSpPr>
          <p:cNvPr id="3" name="Group 2"/>
          <p:cNvGrpSpPr/>
          <p:nvPr/>
        </p:nvGrpSpPr>
        <p:grpSpPr>
          <a:xfrm>
            <a:off x="1524000" y="1828800"/>
            <a:ext cx="9144000" cy="3975652"/>
            <a:chOff x="1524000" y="2209800"/>
            <a:chExt cx="9144000" cy="3975652"/>
          </a:xfrm>
        </p:grpSpPr>
        <p:pic>
          <p:nvPicPr>
            <p:cNvPr id="5" name="Picture 4"/>
            <p:cNvPicPr>
              <a:picLocks noChangeAspect="1"/>
            </p:cNvPicPr>
            <p:nvPr/>
          </p:nvPicPr>
          <p:blipFill>
            <a:blip r:embed="rId2"/>
            <a:stretch>
              <a:fillRect/>
            </a:stretch>
          </p:blipFill>
          <p:spPr>
            <a:xfrm>
              <a:off x="1524000" y="2209800"/>
              <a:ext cx="9144000" cy="3975652"/>
            </a:xfrm>
            <a:prstGeom prst="rect">
              <a:avLst/>
            </a:prstGeom>
          </p:spPr>
        </p:pic>
        <p:sp>
          <p:nvSpPr>
            <p:cNvPr id="6" name="Rectangle 5"/>
            <p:cNvSpPr/>
            <p:nvPr/>
          </p:nvSpPr>
          <p:spPr>
            <a:xfrm>
              <a:off x="1542661" y="5255339"/>
              <a:ext cx="1184564" cy="883227"/>
            </a:xfrm>
            <a:prstGeom prst="rect">
              <a:avLst/>
            </a:prstGeom>
            <a:solidFill>
              <a:srgbClr val="E7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732296" y="5231394"/>
              <a:ext cx="1309254" cy="37407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Prefix</a:t>
              </a:r>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1739222" y="5518877"/>
              <a:ext cx="1309254" cy="37407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Infix</a:t>
              </a:r>
              <a:endParaRPr lang="en-US" dirty="0">
                <a:latin typeface="Arial" panose="020B0604020202020204" pitchFamily="34" charset="0"/>
                <a:cs typeface="Arial" panose="020B0604020202020204" pitchFamily="34" charset="0"/>
              </a:endParaRPr>
            </a:p>
          </p:txBody>
        </p:sp>
        <p:sp>
          <p:nvSpPr>
            <p:cNvPr id="9" name="TextBox 8"/>
            <p:cNvSpPr txBox="1"/>
            <p:nvPr/>
          </p:nvSpPr>
          <p:spPr>
            <a:xfrm>
              <a:off x="1749613" y="5809825"/>
              <a:ext cx="1309254" cy="37407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Postfix</a:t>
              </a:r>
              <a:endParaRPr lang="en-US" dirty="0">
                <a:latin typeface="Arial" panose="020B0604020202020204" pitchFamily="34" charset="0"/>
                <a:cs typeface="Arial" panose="020B0604020202020204" pitchFamily="34" charset="0"/>
              </a:endParaRPr>
            </a:p>
          </p:txBody>
        </p:sp>
      </p:grpSp>
      <p:sp>
        <p:nvSpPr>
          <p:cNvPr id="11" name="TextBox 10">
            <a:extLst>
              <a:ext uri="{FF2B5EF4-FFF2-40B4-BE49-F238E27FC236}">
                <a16:creationId xmlns:a16="http://schemas.microsoft.com/office/drawing/2014/main" id="{90941976-45B8-8F65-BA77-D7214D2F1FEA}"/>
              </a:ext>
            </a:extLst>
          </p:cNvPr>
          <p:cNvSpPr txBox="1"/>
          <p:nvPr/>
        </p:nvSpPr>
        <p:spPr>
          <a:xfrm>
            <a:off x="308740" y="6045049"/>
            <a:ext cx="4191000" cy="369332"/>
          </a:xfrm>
          <a:prstGeom prst="rect">
            <a:avLst/>
          </a:prstGeom>
          <a:noFill/>
        </p:spPr>
        <p:txBody>
          <a:bodyPr wrap="square">
            <a:spAutoFit/>
          </a:bodyPr>
          <a:lstStyle/>
          <a:p>
            <a:r>
              <a:rPr lang="en-GB" b="1" dirty="0"/>
              <a:t>Prefix (Polish):</a:t>
            </a:r>
            <a:r>
              <a:rPr lang="en-GB" dirty="0"/>
              <a:t> Root → Left → Right</a:t>
            </a:r>
          </a:p>
        </p:txBody>
      </p:sp>
      <p:sp>
        <p:nvSpPr>
          <p:cNvPr id="13" name="TextBox 12">
            <a:extLst>
              <a:ext uri="{FF2B5EF4-FFF2-40B4-BE49-F238E27FC236}">
                <a16:creationId xmlns:a16="http://schemas.microsoft.com/office/drawing/2014/main" id="{A9D6F42B-FA81-9B2F-2F98-4546C923F0E9}"/>
              </a:ext>
            </a:extLst>
          </p:cNvPr>
          <p:cNvSpPr txBox="1"/>
          <p:nvPr/>
        </p:nvSpPr>
        <p:spPr>
          <a:xfrm>
            <a:off x="4114800" y="6427567"/>
            <a:ext cx="3047010" cy="369332"/>
          </a:xfrm>
          <a:prstGeom prst="rect">
            <a:avLst/>
          </a:prstGeom>
          <a:noFill/>
        </p:spPr>
        <p:txBody>
          <a:bodyPr wrap="square">
            <a:spAutoFit/>
          </a:bodyPr>
          <a:lstStyle/>
          <a:p>
            <a:r>
              <a:rPr lang="en-GB" b="1" dirty="0"/>
              <a:t>Infix:</a:t>
            </a:r>
            <a:r>
              <a:rPr lang="en-GB" dirty="0"/>
              <a:t> Left → Root → Right</a:t>
            </a:r>
            <a:endParaRPr lang="en-PK" dirty="0"/>
          </a:p>
        </p:txBody>
      </p:sp>
      <p:sp>
        <p:nvSpPr>
          <p:cNvPr id="15" name="TextBox 14">
            <a:extLst>
              <a:ext uri="{FF2B5EF4-FFF2-40B4-BE49-F238E27FC236}">
                <a16:creationId xmlns:a16="http://schemas.microsoft.com/office/drawing/2014/main" id="{3B551CF0-5361-7DAD-96AB-6FF823DC1673}"/>
              </a:ext>
            </a:extLst>
          </p:cNvPr>
          <p:cNvSpPr txBox="1"/>
          <p:nvPr/>
        </p:nvSpPr>
        <p:spPr>
          <a:xfrm>
            <a:off x="6702650" y="6002304"/>
            <a:ext cx="5180610" cy="369332"/>
          </a:xfrm>
          <a:prstGeom prst="rect">
            <a:avLst/>
          </a:prstGeom>
          <a:noFill/>
        </p:spPr>
        <p:txBody>
          <a:bodyPr wrap="square">
            <a:spAutoFit/>
          </a:bodyPr>
          <a:lstStyle/>
          <a:p>
            <a:r>
              <a:rPr lang="en-GB" b="1" dirty="0"/>
              <a:t>Postfix (Reverse Polish):</a:t>
            </a:r>
            <a:r>
              <a:rPr lang="en-GB" dirty="0"/>
              <a:t> Left → Right → Root</a:t>
            </a:r>
            <a:endParaRPr lang="en-PK" dirty="0"/>
          </a:p>
        </p:txBody>
      </p:sp>
    </p:spTree>
    <p:extLst>
      <p:ext uri="{BB962C8B-B14F-4D97-AF65-F5344CB8AC3E}">
        <p14:creationId xmlns:p14="http://schemas.microsoft.com/office/powerpoint/2010/main" val="4203809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9A473-237E-4F29-B9CD-804DA2901AEF}"/>
              </a:ext>
            </a:extLst>
          </p:cNvPr>
          <p:cNvSpPr>
            <a:spLocks noGrp="1"/>
          </p:cNvSpPr>
          <p:nvPr>
            <p:ph type="title"/>
          </p:nvPr>
        </p:nvSpPr>
        <p:spPr/>
        <p:txBody>
          <a:bodyPr/>
          <a:lstStyle/>
          <a:p>
            <a:r>
              <a:rPr lang="en-US" b="1" dirty="0"/>
              <a:t>Order of Precedence</a:t>
            </a:r>
          </a:p>
        </p:txBody>
      </p:sp>
      <p:sp>
        <p:nvSpPr>
          <p:cNvPr id="3" name="Content Placeholder 2">
            <a:extLst>
              <a:ext uri="{FF2B5EF4-FFF2-40B4-BE49-F238E27FC236}">
                <a16:creationId xmlns:a16="http://schemas.microsoft.com/office/drawing/2014/main" id="{7C796305-CFD7-4162-B664-CB15F8FB45FF}"/>
              </a:ext>
            </a:extLst>
          </p:cNvPr>
          <p:cNvSpPr>
            <a:spLocks noGrp="1"/>
          </p:cNvSpPr>
          <p:nvPr>
            <p:ph idx="1"/>
          </p:nvPr>
        </p:nvSpPr>
        <p:spPr/>
        <p:txBody>
          <a:bodyPr/>
          <a:lstStyle/>
          <a:p>
            <a:r>
              <a:rPr lang="en-US" altLang="en-US" dirty="0"/>
              <a:t>Following is the order of precedence for arithmetic operators ( From highest to lowest ) </a:t>
            </a:r>
          </a:p>
          <a:p>
            <a:endParaRPr lang="en-US" dirty="0"/>
          </a:p>
        </p:txBody>
      </p:sp>
      <p:sp>
        <p:nvSpPr>
          <p:cNvPr id="4" name="Slide Number Placeholder 3">
            <a:extLst>
              <a:ext uri="{FF2B5EF4-FFF2-40B4-BE49-F238E27FC236}">
                <a16:creationId xmlns:a16="http://schemas.microsoft.com/office/drawing/2014/main" id="{66172AF1-7F25-40BA-B831-1EF4FDF395A0}"/>
              </a:ext>
            </a:extLst>
          </p:cNvPr>
          <p:cNvSpPr>
            <a:spLocks noGrp="1"/>
          </p:cNvSpPr>
          <p:nvPr>
            <p:ph type="sldNum" sz="quarter" idx="12"/>
          </p:nvPr>
        </p:nvSpPr>
        <p:spPr/>
        <p:txBody>
          <a:bodyPr/>
          <a:lstStyle/>
          <a:p>
            <a:pPr>
              <a:defRPr/>
            </a:pPr>
            <a:fld id="{1F4BC561-BCEA-4F0B-95C2-8CA863EDD649}" type="slidenum">
              <a:rPr lang="de-DE" altLang="zh-CN" smtClean="0"/>
              <a:pPr>
                <a:defRPr/>
              </a:pPr>
              <a:t>46</a:t>
            </a:fld>
            <a:endParaRPr lang="de-DE" altLang="zh-CN" dirty="0"/>
          </a:p>
        </p:txBody>
      </p:sp>
      <p:pic>
        <p:nvPicPr>
          <p:cNvPr id="5" name="Picture 6">
            <a:extLst>
              <a:ext uri="{FF2B5EF4-FFF2-40B4-BE49-F238E27FC236}">
                <a16:creationId xmlns:a16="http://schemas.microsoft.com/office/drawing/2014/main" id="{C6093690-937A-4588-9BCF-E5768EC73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4" y="3141664"/>
            <a:ext cx="648017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11236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Examples of Infix to Post- &amp; Prefix</a:t>
            </a:r>
            <a:endParaRPr lang="en-US" b="1"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47</a:t>
            </a:fld>
            <a:endParaRPr lang="de-DE" altLang="zh-CN" dirty="0"/>
          </a:p>
        </p:txBody>
      </p:sp>
      <p:graphicFrame>
        <p:nvGraphicFramePr>
          <p:cNvPr id="5" name="Group 3"/>
          <p:cNvGraphicFramePr>
            <a:graphicFrameLocks noGrp="1"/>
          </p:cNvGraphicFramePr>
          <p:nvPr>
            <p:extLst>
              <p:ext uri="{D42A27DB-BD31-4B8C-83A1-F6EECF244321}">
                <p14:modId xmlns:p14="http://schemas.microsoft.com/office/powerpoint/2010/main" val="1087959177"/>
              </p:ext>
            </p:extLst>
          </p:nvPr>
        </p:nvGraphicFramePr>
        <p:xfrm>
          <a:off x="838200" y="2261952"/>
          <a:ext cx="10515600" cy="4267200"/>
        </p:xfrm>
        <a:graphic>
          <a:graphicData uri="http://schemas.openxmlformats.org/drawingml/2006/table">
            <a:tbl>
              <a:tblPr/>
              <a:tblGrid>
                <a:gridCol w="2628900">
                  <a:extLst>
                    <a:ext uri="{9D8B030D-6E8A-4147-A177-3AD203B41FA5}">
                      <a16:colId xmlns:a16="http://schemas.microsoft.com/office/drawing/2014/main" val="20003"/>
                    </a:ext>
                  </a:extLst>
                </a:gridCol>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1066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hlink"/>
                          </a:solidFill>
                          <a:effectLst>
                            <a:outerShdw blurRad="38100" dist="38100" dir="2700000" algn="tl">
                              <a:srgbClr val="000000"/>
                            </a:outerShdw>
                          </a:effectLst>
                          <a:latin typeface="Tahoma" pitchFamily="34" charset="0"/>
                        </a:rPr>
                        <a:t>Example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hlink"/>
                          </a:solidFill>
                          <a:effectLst>
                            <a:outerShdw blurRad="38100" dist="38100" dir="2700000" algn="tl">
                              <a:srgbClr val="000000"/>
                            </a:outerShdw>
                          </a:effectLst>
                          <a:latin typeface="Tahoma" pitchFamily="34" charset="0"/>
                        </a:rPr>
                        <a:t>Infix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err="1">
                          <a:ln>
                            <a:noFill/>
                          </a:ln>
                          <a:solidFill>
                            <a:schemeClr val="hlink"/>
                          </a:solidFill>
                          <a:effectLst>
                            <a:outerShdw blurRad="38100" dist="38100" dir="2700000" algn="tl">
                              <a:srgbClr val="000000"/>
                            </a:outerShdw>
                          </a:effectLst>
                          <a:latin typeface="Tahoma" pitchFamily="34" charset="0"/>
                        </a:rPr>
                        <a:t>PostFix</a:t>
                      </a:r>
                      <a:endParaRPr kumimoji="0" lang="en-US" sz="2400" b="0" i="0" u="none" strike="noStrike" cap="none" normalizeH="0" baseline="0" dirty="0">
                        <a:ln>
                          <a:noFill/>
                        </a:ln>
                        <a:solidFill>
                          <a:schemeClr val="hlink"/>
                        </a:solidFill>
                        <a:effectLst>
                          <a:outerShdw blurRad="38100" dist="38100" dir="2700000" algn="tl">
                            <a:srgbClr val="00000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a:ln>
                            <a:noFill/>
                          </a:ln>
                          <a:solidFill>
                            <a:schemeClr val="hlink"/>
                          </a:solidFill>
                          <a:effectLst>
                            <a:outerShdw blurRad="38100" dist="38100" dir="2700000" algn="tl">
                              <a:srgbClr val="000000"/>
                            </a:outerShdw>
                          </a:effectLst>
                          <a:latin typeface="Tahoma" pitchFamily="34" charset="0"/>
                        </a:rPr>
                        <a:t>Prefix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66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Example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A+B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itchFamily="34" charset="0"/>
                        </a:rPr>
                        <a:t>AB+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itchFamily="34" charset="0"/>
                        </a:rPr>
                        <a:t>+AB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6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defRPr/>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Example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(A+B) * (C + 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itchFamily="34" charset="0"/>
                        </a:rPr>
                        <a:t>AB+CD+*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itchFamily="34" charset="0"/>
                        </a:rPr>
                        <a:t>*+AB+CD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6680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defRPr/>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Example 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A-B/(C*D^E)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a:ln>
                            <a:noFill/>
                          </a:ln>
                          <a:solidFill>
                            <a:schemeClr val="tx1"/>
                          </a:solidFill>
                          <a:effectLst>
                            <a:outerShdw blurRad="38100" dist="38100" dir="2700000" algn="tl">
                              <a:srgbClr val="000000"/>
                            </a:outerShdw>
                          </a:effectLst>
                          <a:latin typeface="Tahoma" pitchFamily="34" charset="0"/>
                        </a:rPr>
                        <a:t>ABCDE^*/-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0" i="0" u="none" strike="noStrike" cap="none" normalizeH="0" baseline="0" dirty="0">
                          <a:ln>
                            <a:noFill/>
                          </a:ln>
                          <a:solidFill>
                            <a:schemeClr val="tx1"/>
                          </a:solidFill>
                          <a:effectLst>
                            <a:outerShdw blurRad="38100" dist="38100" dir="2700000" algn="tl">
                              <a:srgbClr val="000000"/>
                            </a:outerShdw>
                          </a:effectLst>
                          <a:latin typeface="Tahoma" pitchFamily="34" charset="0"/>
                        </a:rPr>
                        <a:t>-A/B*C^DE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Rectangle 2">
            <a:extLst>
              <a:ext uri="{FF2B5EF4-FFF2-40B4-BE49-F238E27FC236}">
                <a16:creationId xmlns:a16="http://schemas.microsoft.com/office/drawing/2014/main" id="{5BDBF937-DF6A-4BF9-9B90-10A81F93A047}"/>
              </a:ext>
            </a:extLst>
          </p:cNvPr>
          <p:cNvSpPr/>
          <p:nvPr/>
        </p:nvSpPr>
        <p:spPr>
          <a:xfrm>
            <a:off x="6106886" y="3317984"/>
            <a:ext cx="5246914" cy="3190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Infix to Postfix</a:t>
            </a:r>
            <a:endParaRPr lang="en-US" b="1" dirty="0"/>
          </a:p>
        </p:txBody>
      </p:sp>
      <p:sp>
        <p:nvSpPr>
          <p:cNvPr id="3" name="Content Placeholder 2"/>
          <p:cNvSpPr>
            <a:spLocks noGrp="1"/>
          </p:cNvSpPr>
          <p:nvPr>
            <p:ph idx="1"/>
          </p:nvPr>
        </p:nvSpPr>
        <p:spPr/>
        <p:txBody>
          <a:bodyPr/>
          <a:lstStyle/>
          <a:p>
            <a:pPr>
              <a:buNone/>
            </a:pPr>
            <a:r>
              <a:rPr lang="de-DE" b="1" dirty="0">
                <a:cs typeface="Times New Roman" charset="0"/>
              </a:rPr>
              <a:t>Example 4:</a:t>
            </a:r>
          </a:p>
          <a:p>
            <a:pPr>
              <a:buNone/>
            </a:pPr>
            <a:endParaRPr lang="en-US" b="1" dirty="0">
              <a:cs typeface="Times New Roman" charset="0"/>
            </a:endParaRPr>
          </a:p>
          <a:p>
            <a:pPr>
              <a:buNone/>
            </a:pPr>
            <a:r>
              <a:rPr lang="en-US" dirty="0"/>
              <a:t>A+B*C</a:t>
            </a:r>
          </a:p>
          <a:p>
            <a:pPr>
              <a:buNone/>
            </a:pPr>
            <a:r>
              <a:rPr lang="en-US" dirty="0"/>
              <a:t>A+(B*C)  </a:t>
            </a:r>
            <a:r>
              <a:rPr lang="en-US" dirty="0">
                <a:cs typeface="Times New Roman" charset="0"/>
              </a:rPr>
              <a:t>Parentheses for emphasis</a:t>
            </a:r>
          </a:p>
          <a:p>
            <a:pPr>
              <a:buNone/>
            </a:pPr>
            <a:r>
              <a:rPr lang="en-US" dirty="0"/>
              <a:t>A+(BC*)  </a:t>
            </a:r>
            <a:r>
              <a:rPr lang="en-US" dirty="0">
                <a:cs typeface="Times New Roman" charset="0"/>
              </a:rPr>
              <a:t>Convert the multiplication, Let</a:t>
            </a:r>
            <a:r>
              <a:rPr lang="en-US" sz="2800" dirty="0">
                <a:solidFill>
                  <a:schemeClr val="tx2"/>
                </a:solidFill>
              </a:rPr>
              <a:t> </a:t>
            </a:r>
            <a:r>
              <a:rPr lang="en-US" dirty="0">
                <a:cs typeface="Times New Roman" charset="0"/>
              </a:rPr>
              <a:t>D=BC*</a:t>
            </a:r>
          </a:p>
          <a:p>
            <a:pPr>
              <a:buNone/>
            </a:pPr>
            <a:r>
              <a:rPr lang="en-US" dirty="0"/>
              <a:t>A+D	      </a:t>
            </a:r>
            <a:r>
              <a:rPr lang="en-US" dirty="0">
                <a:cs typeface="Times New Roman" charset="0"/>
              </a:rPr>
              <a:t>Convert the addition</a:t>
            </a:r>
          </a:p>
          <a:p>
            <a:pPr>
              <a:buNone/>
            </a:pPr>
            <a:r>
              <a:rPr lang="en-US" dirty="0"/>
              <a:t>AD+     </a:t>
            </a:r>
          </a:p>
          <a:p>
            <a:pPr>
              <a:buNone/>
            </a:pPr>
            <a:r>
              <a:rPr lang="en-US" dirty="0"/>
              <a:t>ABC*+    </a:t>
            </a:r>
            <a:r>
              <a:rPr lang="en-US" sz="2800" dirty="0">
                <a:solidFill>
                  <a:srgbClr val="C00000"/>
                </a:solidFill>
              </a:rPr>
              <a:t>Postfix Form</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48</a:t>
            </a:fld>
            <a:endParaRPr lang="de-DE" altLang="zh-CN" dirty="0"/>
          </a:p>
        </p:txBody>
      </p:sp>
    </p:spTree>
    <p:extLst>
      <p:ext uri="{BB962C8B-B14F-4D97-AF65-F5344CB8AC3E}">
        <p14:creationId xmlns:p14="http://schemas.microsoft.com/office/powerpoint/2010/main" val="36073254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More examples</a:t>
            </a:r>
            <a:endParaRPr lang="en-US" b="1"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49</a:t>
            </a:fld>
            <a:endParaRPr lang="de-DE" altLang="zh-C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193" y="1724900"/>
            <a:ext cx="8224532" cy="5152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a:extLst>
              <a:ext uri="{FF2B5EF4-FFF2-40B4-BE49-F238E27FC236}">
                <a16:creationId xmlns:a16="http://schemas.microsoft.com/office/drawing/2014/main" id="{DF71F8B6-1D57-4086-96BA-F672517D154A}"/>
              </a:ext>
            </a:extLst>
          </p:cNvPr>
          <p:cNvSpPr/>
          <p:nvPr/>
        </p:nvSpPr>
        <p:spPr>
          <a:xfrm>
            <a:off x="6629400" y="2569042"/>
            <a:ext cx="3647182" cy="4110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225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197F4-20D9-4C2B-B1EA-BE54A57AF4A3}"/>
              </a:ext>
            </a:extLst>
          </p:cNvPr>
          <p:cNvSpPr>
            <a:spLocks noGrp="1"/>
          </p:cNvSpPr>
          <p:nvPr>
            <p:ph type="title"/>
          </p:nvPr>
        </p:nvSpPr>
        <p:spPr/>
        <p:txBody>
          <a:bodyPr/>
          <a:lstStyle/>
          <a:p>
            <a:r>
              <a:rPr lang="en-US" b="1" dirty="0"/>
              <a:t>Infix to Postfix Conversion</a:t>
            </a:r>
          </a:p>
        </p:txBody>
      </p:sp>
      <p:sp>
        <p:nvSpPr>
          <p:cNvPr id="3" name="Content Placeholder 2">
            <a:extLst>
              <a:ext uri="{FF2B5EF4-FFF2-40B4-BE49-F238E27FC236}">
                <a16:creationId xmlns:a16="http://schemas.microsoft.com/office/drawing/2014/main" id="{C1D3CABB-E7B2-43C3-AB8B-BDD73795652F}"/>
              </a:ext>
            </a:extLst>
          </p:cNvPr>
          <p:cNvSpPr>
            <a:spLocks noGrp="1"/>
          </p:cNvSpPr>
          <p:nvPr>
            <p:ph idx="1"/>
          </p:nvPr>
        </p:nvSpPr>
        <p:spPr/>
        <p:txBody>
          <a:bodyPr>
            <a:normAutofit lnSpcReduction="10000"/>
          </a:bodyPr>
          <a:lstStyle/>
          <a:p>
            <a:pPr marL="0" indent="0">
              <a:buSzPct val="65000"/>
              <a:buNone/>
            </a:pPr>
            <a:r>
              <a:rPr lang="en-US" altLang="en-US" b="1" dirty="0"/>
              <a:t>Example 5</a:t>
            </a:r>
          </a:p>
          <a:p>
            <a:pPr eaLnBrk="1" hangingPunct="1">
              <a:buClrTx/>
              <a:buSzPct val="65000"/>
              <a:buFontTx/>
              <a:buNone/>
            </a:pPr>
            <a:r>
              <a:rPr lang="en-US" altLang="en-US" dirty="0"/>
              <a:t>	A+B-C =</a:t>
            </a:r>
          </a:p>
          <a:p>
            <a:pPr eaLnBrk="1" hangingPunct="1">
              <a:buClrTx/>
              <a:buSzPct val="65000"/>
              <a:buFontTx/>
              <a:buNone/>
            </a:pPr>
            <a:r>
              <a:rPr lang="en-US" altLang="en-US" dirty="0"/>
              <a:t>		[AB+]-C</a:t>
            </a:r>
          </a:p>
          <a:p>
            <a:pPr eaLnBrk="1" hangingPunct="1">
              <a:buClrTx/>
              <a:buSzPct val="65000"/>
              <a:buFontTx/>
              <a:buNone/>
            </a:pPr>
            <a:r>
              <a:rPr lang="en-US" altLang="en-US" dirty="0"/>
              <a:t>		AB+C-</a:t>
            </a:r>
          </a:p>
          <a:p>
            <a:pPr eaLnBrk="1" hangingPunct="1">
              <a:buClrTx/>
              <a:buSzPct val="65000"/>
              <a:buFontTx/>
              <a:buNone/>
            </a:pPr>
            <a:endParaRPr lang="en-US" altLang="en-US" dirty="0"/>
          </a:p>
          <a:p>
            <a:pPr marL="0" indent="0">
              <a:buSzPct val="65000"/>
              <a:buNone/>
            </a:pPr>
            <a:r>
              <a:rPr lang="en-US" altLang="en-US" b="1" dirty="0"/>
              <a:t>Example 6</a:t>
            </a:r>
          </a:p>
          <a:p>
            <a:pPr eaLnBrk="1" hangingPunct="1">
              <a:buClrTx/>
              <a:buSzPct val="65000"/>
              <a:buFontTx/>
              <a:buNone/>
            </a:pPr>
            <a:r>
              <a:rPr lang="en-US" altLang="en-US" dirty="0"/>
              <a:t> (A+B)*(C-D)</a:t>
            </a:r>
          </a:p>
          <a:p>
            <a:pPr lvl="1" eaLnBrk="1" hangingPunct="1">
              <a:buClrTx/>
              <a:buSzPct val="80000"/>
              <a:buFontTx/>
              <a:buNone/>
            </a:pPr>
            <a:r>
              <a:rPr lang="en-US" altLang="en-US" dirty="0"/>
              <a:t>= [AB+]*(C-D)</a:t>
            </a:r>
          </a:p>
          <a:p>
            <a:pPr lvl="1" eaLnBrk="1" hangingPunct="1">
              <a:buClrTx/>
              <a:buSzPct val="80000"/>
              <a:buFontTx/>
              <a:buNone/>
            </a:pPr>
            <a:r>
              <a:rPr lang="en-US" altLang="en-US" dirty="0"/>
              <a:t>= [AB+]*[CD-]</a:t>
            </a:r>
          </a:p>
          <a:p>
            <a:pPr lvl="1" eaLnBrk="1" hangingPunct="1">
              <a:buClrTx/>
              <a:buSzPct val="80000"/>
              <a:buFontTx/>
              <a:buNone/>
            </a:pPr>
            <a:r>
              <a:rPr lang="en-US" altLang="en-US" dirty="0"/>
              <a:t>= AB+CD-*</a:t>
            </a:r>
          </a:p>
          <a:p>
            <a:pPr eaLnBrk="1" hangingPunct="1">
              <a:buClrTx/>
              <a:buSzPct val="65000"/>
              <a:buFontTx/>
              <a:buNone/>
            </a:pPr>
            <a:endParaRPr lang="en-US" altLang="en-US" dirty="0"/>
          </a:p>
          <a:p>
            <a:endParaRPr lang="en-US" dirty="0"/>
          </a:p>
        </p:txBody>
      </p:sp>
      <p:sp>
        <p:nvSpPr>
          <p:cNvPr id="4" name="Slide Number Placeholder 3">
            <a:extLst>
              <a:ext uri="{FF2B5EF4-FFF2-40B4-BE49-F238E27FC236}">
                <a16:creationId xmlns:a16="http://schemas.microsoft.com/office/drawing/2014/main" id="{05484A45-14AE-417B-A056-59059B4C141B}"/>
              </a:ext>
            </a:extLst>
          </p:cNvPr>
          <p:cNvSpPr>
            <a:spLocks noGrp="1"/>
          </p:cNvSpPr>
          <p:nvPr>
            <p:ph type="sldNum" sz="quarter" idx="12"/>
          </p:nvPr>
        </p:nvSpPr>
        <p:spPr/>
        <p:txBody>
          <a:bodyPr/>
          <a:lstStyle/>
          <a:p>
            <a:pPr>
              <a:defRPr/>
            </a:pPr>
            <a:fld id="{1F4BC561-BCEA-4F0B-95C2-8CA863EDD649}" type="slidenum">
              <a:rPr lang="de-DE" altLang="zh-CN" smtClean="0"/>
              <a:pPr>
                <a:defRPr/>
              </a:pPr>
              <a:t>50</a:t>
            </a:fld>
            <a:endParaRPr lang="de-DE" altLang="zh-CN" dirty="0"/>
          </a:p>
        </p:txBody>
      </p:sp>
    </p:spTree>
    <p:extLst>
      <p:ext uri="{BB962C8B-B14F-4D97-AF65-F5344CB8AC3E}">
        <p14:creationId xmlns:p14="http://schemas.microsoft.com/office/powerpoint/2010/main" val="19373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87AD-F4A8-4280-AECE-A19F65EA153F}"/>
              </a:ext>
            </a:extLst>
          </p:cNvPr>
          <p:cNvSpPr>
            <a:spLocks noGrp="1"/>
          </p:cNvSpPr>
          <p:nvPr>
            <p:ph type="title"/>
          </p:nvPr>
        </p:nvSpPr>
        <p:spPr/>
        <p:txBody>
          <a:bodyPr/>
          <a:lstStyle/>
          <a:p>
            <a:r>
              <a:rPr lang="en-US" b="1" dirty="0"/>
              <a:t>Infix to Postfix Conversion</a:t>
            </a:r>
          </a:p>
        </p:txBody>
      </p:sp>
      <p:sp>
        <p:nvSpPr>
          <p:cNvPr id="3" name="Content Placeholder 2">
            <a:extLst>
              <a:ext uri="{FF2B5EF4-FFF2-40B4-BE49-F238E27FC236}">
                <a16:creationId xmlns:a16="http://schemas.microsoft.com/office/drawing/2014/main" id="{4654CF14-2D99-4D9C-8735-E03AEBE16C3B}"/>
              </a:ext>
            </a:extLst>
          </p:cNvPr>
          <p:cNvSpPr>
            <a:spLocks noGrp="1"/>
          </p:cNvSpPr>
          <p:nvPr>
            <p:ph idx="1"/>
          </p:nvPr>
        </p:nvSpPr>
        <p:spPr/>
        <p:txBody>
          <a:bodyPr>
            <a:normAutofit fontScale="92500" lnSpcReduction="20000"/>
          </a:bodyPr>
          <a:lstStyle/>
          <a:p>
            <a:pPr marL="0" indent="0">
              <a:lnSpc>
                <a:spcPct val="80000"/>
              </a:lnSpc>
              <a:buSzPct val="65000"/>
              <a:buNone/>
            </a:pPr>
            <a:r>
              <a:rPr lang="en-US" altLang="en-US" b="1" dirty="0"/>
              <a:t>Example 7</a:t>
            </a:r>
          </a:p>
          <a:p>
            <a:pPr>
              <a:lnSpc>
                <a:spcPct val="100000"/>
              </a:lnSpc>
              <a:spcBef>
                <a:spcPts val="600"/>
              </a:spcBef>
              <a:spcAft>
                <a:spcPts val="600"/>
              </a:spcAft>
              <a:buSzPct val="65000"/>
              <a:buNone/>
            </a:pPr>
            <a:r>
              <a:rPr lang="en-US" altLang="en-US" dirty="0"/>
              <a:t> A^B*C-D+E/F/(G+H)</a:t>
            </a:r>
          </a:p>
          <a:p>
            <a:pPr lvl="1">
              <a:lnSpc>
                <a:spcPct val="100000"/>
              </a:lnSpc>
              <a:spcBef>
                <a:spcPts val="600"/>
              </a:spcBef>
              <a:spcAft>
                <a:spcPts val="600"/>
              </a:spcAft>
              <a:buSzPct val="80000"/>
              <a:buNone/>
            </a:pPr>
            <a:r>
              <a:rPr lang="en-US" altLang="en-US" dirty="0"/>
              <a:t> = A^B*C-D+E/F/[GH+]</a:t>
            </a:r>
          </a:p>
          <a:p>
            <a:pPr lvl="1">
              <a:lnSpc>
                <a:spcPct val="100000"/>
              </a:lnSpc>
              <a:spcBef>
                <a:spcPts val="600"/>
              </a:spcBef>
              <a:spcAft>
                <a:spcPts val="600"/>
              </a:spcAft>
              <a:buSzPct val="80000"/>
              <a:buNone/>
            </a:pPr>
            <a:r>
              <a:rPr lang="en-US" altLang="en-US" dirty="0"/>
              <a:t> = [AB^]*C-D+E/F/[GH+]</a:t>
            </a:r>
          </a:p>
          <a:p>
            <a:pPr lvl="1">
              <a:lnSpc>
                <a:spcPct val="100000"/>
              </a:lnSpc>
              <a:spcBef>
                <a:spcPts val="600"/>
              </a:spcBef>
              <a:spcAft>
                <a:spcPts val="600"/>
              </a:spcAft>
              <a:buSzPct val="80000"/>
              <a:buNone/>
            </a:pPr>
            <a:r>
              <a:rPr lang="en-US" altLang="en-US" dirty="0"/>
              <a:t> = [AB^C*]-D+E/F/[GH+]</a:t>
            </a:r>
          </a:p>
          <a:p>
            <a:pPr lvl="1">
              <a:lnSpc>
                <a:spcPct val="100000"/>
              </a:lnSpc>
              <a:spcBef>
                <a:spcPts val="600"/>
              </a:spcBef>
              <a:spcAft>
                <a:spcPts val="600"/>
              </a:spcAft>
              <a:buSzPct val="80000"/>
              <a:buNone/>
            </a:pPr>
            <a:r>
              <a:rPr lang="en-US" altLang="en-US" dirty="0"/>
              <a:t> = [AB^C*]-D+[EF/]/[GH+]</a:t>
            </a:r>
          </a:p>
          <a:p>
            <a:pPr lvl="1">
              <a:lnSpc>
                <a:spcPct val="100000"/>
              </a:lnSpc>
              <a:spcBef>
                <a:spcPts val="600"/>
              </a:spcBef>
              <a:spcAft>
                <a:spcPts val="600"/>
              </a:spcAft>
              <a:buSzPct val="80000"/>
              <a:buNone/>
            </a:pPr>
            <a:r>
              <a:rPr lang="en-US" altLang="en-US" dirty="0"/>
              <a:t> = [AB^C*]-D+[EF/GH+/]</a:t>
            </a:r>
          </a:p>
          <a:p>
            <a:pPr lvl="1">
              <a:lnSpc>
                <a:spcPct val="100000"/>
              </a:lnSpc>
              <a:spcBef>
                <a:spcPts val="600"/>
              </a:spcBef>
              <a:spcAft>
                <a:spcPts val="600"/>
              </a:spcAft>
              <a:buSzPct val="80000"/>
              <a:buNone/>
            </a:pPr>
            <a:r>
              <a:rPr lang="en-US" altLang="en-US" dirty="0"/>
              <a:t> = [AB^C*D-]+[EF/GH+/]</a:t>
            </a:r>
          </a:p>
          <a:p>
            <a:pPr lvl="1">
              <a:lnSpc>
                <a:spcPct val="100000"/>
              </a:lnSpc>
              <a:spcBef>
                <a:spcPts val="600"/>
              </a:spcBef>
              <a:spcAft>
                <a:spcPts val="600"/>
              </a:spcAft>
              <a:buSzPct val="80000"/>
              <a:buNone/>
            </a:pPr>
            <a:r>
              <a:rPr lang="en-US" altLang="en-US" dirty="0"/>
              <a:t> = AB^C*D-EF/GH+/+</a:t>
            </a:r>
          </a:p>
          <a:p>
            <a:pPr>
              <a:lnSpc>
                <a:spcPct val="100000"/>
              </a:lnSpc>
              <a:spcBef>
                <a:spcPts val="600"/>
              </a:spcBef>
              <a:spcAft>
                <a:spcPts val="600"/>
              </a:spcAft>
              <a:buSzPct val="65000"/>
              <a:buNone/>
            </a:pPr>
            <a:r>
              <a:rPr lang="en-US" altLang="en-US" dirty="0"/>
              <a:t> </a:t>
            </a:r>
          </a:p>
          <a:p>
            <a:pPr marL="0" indent="0">
              <a:buNone/>
            </a:pPr>
            <a:endParaRPr lang="en-US" dirty="0"/>
          </a:p>
        </p:txBody>
      </p:sp>
      <p:sp>
        <p:nvSpPr>
          <p:cNvPr id="4" name="Slide Number Placeholder 3">
            <a:extLst>
              <a:ext uri="{FF2B5EF4-FFF2-40B4-BE49-F238E27FC236}">
                <a16:creationId xmlns:a16="http://schemas.microsoft.com/office/drawing/2014/main" id="{B9D8C28C-1652-412F-A798-F17A26150407}"/>
              </a:ext>
            </a:extLst>
          </p:cNvPr>
          <p:cNvSpPr>
            <a:spLocks noGrp="1"/>
          </p:cNvSpPr>
          <p:nvPr>
            <p:ph type="sldNum" sz="quarter" idx="12"/>
          </p:nvPr>
        </p:nvSpPr>
        <p:spPr/>
        <p:txBody>
          <a:bodyPr/>
          <a:lstStyle/>
          <a:p>
            <a:pPr>
              <a:defRPr/>
            </a:pPr>
            <a:fld id="{1F4BC561-BCEA-4F0B-95C2-8CA863EDD649}" type="slidenum">
              <a:rPr lang="de-DE" altLang="zh-CN" smtClean="0"/>
              <a:pPr>
                <a:defRPr/>
              </a:pPr>
              <a:t>51</a:t>
            </a:fld>
            <a:endParaRPr lang="de-DE" altLang="zh-CN" dirty="0"/>
          </a:p>
        </p:txBody>
      </p:sp>
    </p:spTree>
    <p:extLst>
      <p:ext uri="{BB962C8B-B14F-4D97-AF65-F5344CB8AC3E}">
        <p14:creationId xmlns:p14="http://schemas.microsoft.com/office/powerpoint/2010/main" val="9869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7C76-4435-4111-933C-B3346A0AE697}"/>
              </a:ext>
            </a:extLst>
          </p:cNvPr>
          <p:cNvSpPr>
            <a:spLocks noGrp="1"/>
          </p:cNvSpPr>
          <p:nvPr>
            <p:ph type="title"/>
          </p:nvPr>
        </p:nvSpPr>
        <p:spPr/>
        <p:txBody>
          <a:bodyPr/>
          <a:lstStyle/>
          <a:p>
            <a:r>
              <a:rPr lang="en-US" b="1" dirty="0"/>
              <a:t>Infix to Postfix Conversion</a:t>
            </a:r>
          </a:p>
        </p:txBody>
      </p:sp>
      <p:sp>
        <p:nvSpPr>
          <p:cNvPr id="3" name="Content Placeholder 2">
            <a:extLst>
              <a:ext uri="{FF2B5EF4-FFF2-40B4-BE49-F238E27FC236}">
                <a16:creationId xmlns:a16="http://schemas.microsoft.com/office/drawing/2014/main" id="{517DD596-5256-4B0A-B320-E3B8FBC22AF4}"/>
              </a:ext>
            </a:extLst>
          </p:cNvPr>
          <p:cNvSpPr>
            <a:spLocks noGrp="1"/>
          </p:cNvSpPr>
          <p:nvPr>
            <p:ph idx="1"/>
          </p:nvPr>
        </p:nvSpPr>
        <p:spPr/>
        <p:txBody>
          <a:bodyPr/>
          <a:lstStyle/>
          <a:p>
            <a:pPr marL="0" indent="0">
              <a:lnSpc>
                <a:spcPct val="100000"/>
              </a:lnSpc>
              <a:spcBef>
                <a:spcPts val="600"/>
              </a:spcBef>
              <a:spcAft>
                <a:spcPts val="600"/>
              </a:spcAft>
              <a:buSzPct val="65000"/>
              <a:buNone/>
            </a:pPr>
            <a:r>
              <a:rPr lang="en-US" altLang="en-US" b="1" dirty="0"/>
              <a:t>Example 8</a:t>
            </a:r>
          </a:p>
          <a:p>
            <a:pPr>
              <a:lnSpc>
                <a:spcPct val="100000"/>
              </a:lnSpc>
              <a:spcBef>
                <a:spcPts val="600"/>
              </a:spcBef>
              <a:spcAft>
                <a:spcPts val="600"/>
              </a:spcAft>
              <a:buSzPct val="65000"/>
              <a:buNone/>
            </a:pPr>
            <a:r>
              <a:rPr lang="en-US" altLang="en-US" dirty="0"/>
              <a:t> ((A+B)*C-(D-E))^(F+G)</a:t>
            </a:r>
          </a:p>
          <a:p>
            <a:pPr lvl="1">
              <a:lnSpc>
                <a:spcPct val="100000"/>
              </a:lnSpc>
              <a:spcBef>
                <a:spcPts val="600"/>
              </a:spcBef>
              <a:spcAft>
                <a:spcPts val="600"/>
              </a:spcAft>
              <a:buSzPct val="65000"/>
              <a:buNone/>
            </a:pPr>
            <a:r>
              <a:rPr lang="en-US" altLang="en-US" dirty="0"/>
              <a:t> =([AB+]*C-[DE-])^[FG+]</a:t>
            </a:r>
          </a:p>
          <a:p>
            <a:pPr lvl="1">
              <a:lnSpc>
                <a:spcPct val="100000"/>
              </a:lnSpc>
              <a:spcBef>
                <a:spcPts val="600"/>
              </a:spcBef>
              <a:spcAft>
                <a:spcPts val="600"/>
              </a:spcAft>
              <a:buSzPct val="65000"/>
              <a:buNone/>
            </a:pPr>
            <a:r>
              <a:rPr lang="en-US" altLang="en-US" dirty="0"/>
              <a:t> =([AB+C*]-[DE-])^[FG+]</a:t>
            </a:r>
          </a:p>
          <a:p>
            <a:pPr lvl="1">
              <a:lnSpc>
                <a:spcPct val="100000"/>
              </a:lnSpc>
              <a:spcBef>
                <a:spcPts val="600"/>
              </a:spcBef>
              <a:spcAft>
                <a:spcPts val="600"/>
              </a:spcAft>
              <a:buSzPct val="65000"/>
              <a:buNone/>
            </a:pPr>
            <a:r>
              <a:rPr lang="en-US" altLang="en-US" dirty="0"/>
              <a:t> =[AB+C*DE--]^[FG+]</a:t>
            </a:r>
          </a:p>
          <a:p>
            <a:pPr lvl="1">
              <a:lnSpc>
                <a:spcPct val="100000"/>
              </a:lnSpc>
              <a:spcBef>
                <a:spcPts val="600"/>
              </a:spcBef>
              <a:spcAft>
                <a:spcPts val="600"/>
              </a:spcAft>
              <a:buSzPct val="65000"/>
              <a:buNone/>
            </a:pPr>
            <a:r>
              <a:rPr lang="en-US" altLang="en-US" dirty="0"/>
              <a:t> =AB+C*DE—FG+^</a:t>
            </a:r>
          </a:p>
          <a:p>
            <a:pPr>
              <a:lnSpc>
                <a:spcPct val="100000"/>
              </a:lnSpc>
              <a:spcBef>
                <a:spcPts val="600"/>
              </a:spcBef>
              <a:spcAft>
                <a:spcPts val="600"/>
              </a:spcAft>
            </a:pPr>
            <a:endParaRPr lang="en-US" dirty="0"/>
          </a:p>
        </p:txBody>
      </p:sp>
      <p:sp>
        <p:nvSpPr>
          <p:cNvPr id="4" name="Slide Number Placeholder 3">
            <a:extLst>
              <a:ext uri="{FF2B5EF4-FFF2-40B4-BE49-F238E27FC236}">
                <a16:creationId xmlns:a16="http://schemas.microsoft.com/office/drawing/2014/main" id="{18D96ADA-3AF0-4EA0-86EB-F731B148BBC6}"/>
              </a:ext>
            </a:extLst>
          </p:cNvPr>
          <p:cNvSpPr>
            <a:spLocks noGrp="1"/>
          </p:cNvSpPr>
          <p:nvPr>
            <p:ph type="sldNum" sz="quarter" idx="12"/>
          </p:nvPr>
        </p:nvSpPr>
        <p:spPr/>
        <p:txBody>
          <a:bodyPr/>
          <a:lstStyle/>
          <a:p>
            <a:pPr>
              <a:defRPr/>
            </a:pPr>
            <a:fld id="{1F4BC561-BCEA-4F0B-95C2-8CA863EDD649}" type="slidenum">
              <a:rPr lang="de-DE" altLang="zh-CN" smtClean="0"/>
              <a:pPr>
                <a:defRPr/>
              </a:pPr>
              <a:t>52</a:t>
            </a:fld>
            <a:endParaRPr lang="de-DE" altLang="zh-CN" dirty="0"/>
          </a:p>
        </p:txBody>
      </p:sp>
    </p:spTree>
    <p:extLst>
      <p:ext uri="{BB962C8B-B14F-4D97-AF65-F5344CB8AC3E}">
        <p14:creationId xmlns:p14="http://schemas.microsoft.com/office/powerpoint/2010/main" val="381815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E4FA-E0DB-45B5-90B2-74899E76BCA4}"/>
              </a:ext>
            </a:extLst>
          </p:cNvPr>
          <p:cNvSpPr>
            <a:spLocks noGrp="1"/>
          </p:cNvSpPr>
          <p:nvPr>
            <p:ph type="title"/>
          </p:nvPr>
        </p:nvSpPr>
        <p:spPr/>
        <p:txBody>
          <a:bodyPr/>
          <a:lstStyle/>
          <a:p>
            <a:r>
              <a:rPr lang="en-US" b="1" dirty="0"/>
              <a:t>Infix to Postfix Conversion</a:t>
            </a:r>
          </a:p>
        </p:txBody>
      </p:sp>
      <p:sp>
        <p:nvSpPr>
          <p:cNvPr id="3" name="Content Placeholder 2">
            <a:extLst>
              <a:ext uri="{FF2B5EF4-FFF2-40B4-BE49-F238E27FC236}">
                <a16:creationId xmlns:a16="http://schemas.microsoft.com/office/drawing/2014/main" id="{FBF5C275-C29C-4A68-B9B3-CE6744C945A9}"/>
              </a:ext>
            </a:extLst>
          </p:cNvPr>
          <p:cNvSpPr>
            <a:spLocks noGrp="1"/>
          </p:cNvSpPr>
          <p:nvPr>
            <p:ph idx="1"/>
          </p:nvPr>
        </p:nvSpPr>
        <p:spPr/>
        <p:txBody>
          <a:bodyPr/>
          <a:lstStyle/>
          <a:p>
            <a:pPr marL="0" indent="0">
              <a:lnSpc>
                <a:spcPct val="100000"/>
              </a:lnSpc>
              <a:spcBef>
                <a:spcPts val="600"/>
              </a:spcBef>
              <a:spcAft>
                <a:spcPts val="600"/>
              </a:spcAft>
              <a:buSzPct val="65000"/>
              <a:buNone/>
            </a:pPr>
            <a:r>
              <a:rPr lang="en-US" altLang="en-US" b="1" dirty="0"/>
              <a:t>Example 9</a:t>
            </a:r>
          </a:p>
          <a:p>
            <a:pPr>
              <a:lnSpc>
                <a:spcPct val="100000"/>
              </a:lnSpc>
              <a:spcBef>
                <a:spcPts val="600"/>
              </a:spcBef>
              <a:spcAft>
                <a:spcPts val="600"/>
              </a:spcAft>
              <a:buSzPct val="65000"/>
              <a:buNone/>
            </a:pPr>
            <a:r>
              <a:rPr lang="en-US" altLang="en-US" dirty="0"/>
              <a:t>  A-B/(C*D^E)</a:t>
            </a:r>
          </a:p>
          <a:p>
            <a:pPr lvl="1">
              <a:lnSpc>
                <a:spcPct val="100000"/>
              </a:lnSpc>
              <a:spcBef>
                <a:spcPts val="600"/>
              </a:spcBef>
              <a:spcAft>
                <a:spcPts val="600"/>
              </a:spcAft>
              <a:buSzPct val="65000"/>
              <a:buNone/>
            </a:pPr>
            <a:r>
              <a:rPr lang="en-US" altLang="en-US" dirty="0"/>
              <a:t>  =A-B/(C*[DE^])</a:t>
            </a:r>
          </a:p>
          <a:p>
            <a:pPr lvl="1">
              <a:lnSpc>
                <a:spcPct val="100000"/>
              </a:lnSpc>
              <a:spcBef>
                <a:spcPts val="600"/>
              </a:spcBef>
              <a:spcAft>
                <a:spcPts val="600"/>
              </a:spcAft>
              <a:buSzPct val="65000"/>
              <a:buNone/>
            </a:pPr>
            <a:r>
              <a:rPr lang="en-US" altLang="en-US" dirty="0"/>
              <a:t>  =A-B/[CDE^*]</a:t>
            </a:r>
          </a:p>
          <a:p>
            <a:pPr lvl="1">
              <a:lnSpc>
                <a:spcPct val="100000"/>
              </a:lnSpc>
              <a:spcBef>
                <a:spcPts val="600"/>
              </a:spcBef>
              <a:spcAft>
                <a:spcPts val="600"/>
              </a:spcAft>
              <a:buSzPct val="65000"/>
              <a:buNone/>
            </a:pPr>
            <a:r>
              <a:rPr lang="en-US" altLang="en-US" dirty="0"/>
              <a:t>  =A-[BCDE^*/]</a:t>
            </a:r>
          </a:p>
          <a:p>
            <a:pPr lvl="1">
              <a:lnSpc>
                <a:spcPct val="100000"/>
              </a:lnSpc>
              <a:spcBef>
                <a:spcPts val="600"/>
              </a:spcBef>
              <a:spcAft>
                <a:spcPts val="600"/>
              </a:spcAft>
              <a:buSzPct val="65000"/>
              <a:buNone/>
            </a:pPr>
            <a:r>
              <a:rPr lang="en-US" altLang="en-US" dirty="0"/>
              <a:t>  =ABCDE^*/-</a:t>
            </a:r>
          </a:p>
          <a:p>
            <a:pPr>
              <a:lnSpc>
                <a:spcPct val="100000"/>
              </a:lnSpc>
              <a:spcBef>
                <a:spcPts val="600"/>
              </a:spcBef>
              <a:spcAft>
                <a:spcPts val="600"/>
              </a:spcAft>
            </a:pPr>
            <a:endParaRPr lang="en-US" dirty="0"/>
          </a:p>
        </p:txBody>
      </p:sp>
      <p:sp>
        <p:nvSpPr>
          <p:cNvPr id="4" name="Slide Number Placeholder 3">
            <a:extLst>
              <a:ext uri="{FF2B5EF4-FFF2-40B4-BE49-F238E27FC236}">
                <a16:creationId xmlns:a16="http://schemas.microsoft.com/office/drawing/2014/main" id="{8F27EF9C-DDE7-4103-BE48-F997EB44363D}"/>
              </a:ext>
            </a:extLst>
          </p:cNvPr>
          <p:cNvSpPr>
            <a:spLocks noGrp="1"/>
          </p:cNvSpPr>
          <p:nvPr>
            <p:ph type="sldNum" sz="quarter" idx="12"/>
          </p:nvPr>
        </p:nvSpPr>
        <p:spPr/>
        <p:txBody>
          <a:bodyPr/>
          <a:lstStyle/>
          <a:p>
            <a:pPr>
              <a:defRPr/>
            </a:pPr>
            <a:fld id="{1F4BC561-BCEA-4F0B-95C2-8CA863EDD649}" type="slidenum">
              <a:rPr lang="de-DE" altLang="zh-CN" smtClean="0"/>
              <a:pPr>
                <a:defRPr/>
              </a:pPr>
              <a:t>53</a:t>
            </a:fld>
            <a:endParaRPr lang="de-DE" altLang="zh-CN" dirty="0"/>
          </a:p>
        </p:txBody>
      </p:sp>
    </p:spTree>
    <p:extLst>
      <p:ext uri="{BB962C8B-B14F-4D97-AF65-F5344CB8AC3E}">
        <p14:creationId xmlns:p14="http://schemas.microsoft.com/office/powerpoint/2010/main" val="384939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BBD8D-86EB-49A2-BA6F-3E94C4BB69B4}"/>
              </a:ext>
            </a:extLst>
          </p:cNvPr>
          <p:cNvSpPr>
            <a:spLocks noGrp="1"/>
          </p:cNvSpPr>
          <p:nvPr>
            <p:ph type="title"/>
          </p:nvPr>
        </p:nvSpPr>
        <p:spPr/>
        <p:txBody>
          <a:bodyPr>
            <a:normAutofit/>
          </a:bodyPr>
          <a:lstStyle/>
          <a:p>
            <a:r>
              <a:rPr lang="de-DE" b="1" dirty="0"/>
              <a:t>Applications: Infix to Postfix Conversion using Stack</a:t>
            </a:r>
            <a:endParaRPr lang="en-US" b="1" dirty="0"/>
          </a:p>
        </p:txBody>
      </p:sp>
      <p:sp>
        <p:nvSpPr>
          <p:cNvPr id="3" name="Text Placeholder 2"/>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270BE3-54AD-4304-BAE6-6059870D3162}"/>
              </a:ext>
            </a:extLst>
          </p:cNvPr>
          <p:cNvSpPr>
            <a:spLocks noGrp="1"/>
          </p:cNvSpPr>
          <p:nvPr>
            <p:ph type="sldNum" sz="quarter" idx="12"/>
          </p:nvPr>
        </p:nvSpPr>
        <p:spPr/>
        <p:txBody>
          <a:bodyPr/>
          <a:lstStyle/>
          <a:p>
            <a:pPr>
              <a:defRPr/>
            </a:pPr>
            <a:fld id="{1F4BC561-BCEA-4F0B-95C2-8CA863EDD649}" type="slidenum">
              <a:rPr lang="de-DE" altLang="zh-CN" smtClean="0"/>
              <a:pPr>
                <a:defRPr/>
              </a:pPr>
              <a:t>54</a:t>
            </a:fld>
            <a:endParaRPr lang="de-DE" altLang="zh-CN" dirty="0"/>
          </a:p>
        </p:txBody>
      </p:sp>
    </p:spTree>
    <p:extLst>
      <p:ext uri="{BB962C8B-B14F-4D97-AF65-F5344CB8AC3E}">
        <p14:creationId xmlns:p14="http://schemas.microsoft.com/office/powerpoint/2010/main" val="7817076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e-DE" dirty="0"/>
              <a:t>Infix to Postfix conversion algorithm</a:t>
            </a:r>
            <a:endParaRPr lang="en-US" dirty="0"/>
          </a:p>
        </p:txBody>
      </p:sp>
      <p:sp>
        <p:nvSpPr>
          <p:cNvPr id="5" name="Content Placeholder 4"/>
          <p:cNvSpPr>
            <a:spLocks noGrp="1"/>
          </p:cNvSpPr>
          <p:nvPr>
            <p:ph idx="1"/>
          </p:nvPr>
        </p:nvSpPr>
        <p:spPr>
          <a:xfrm>
            <a:off x="381000" y="1847850"/>
            <a:ext cx="11582400" cy="4351338"/>
          </a:xfrm>
        </p:spPr>
        <p:txBody>
          <a:bodyPr>
            <a:noAutofit/>
          </a:bodyPr>
          <a:lstStyle/>
          <a:p>
            <a:pPr>
              <a:lnSpc>
                <a:spcPct val="100000"/>
              </a:lnSpc>
              <a:spcBef>
                <a:spcPts val="300"/>
              </a:spcBef>
            </a:pPr>
            <a:r>
              <a:rPr lang="en-GB" sz="2000" dirty="0"/>
              <a:t>Create an empty stack for keeping operators</a:t>
            </a:r>
          </a:p>
          <a:p>
            <a:pPr>
              <a:lnSpc>
                <a:spcPct val="100000"/>
              </a:lnSpc>
              <a:spcBef>
                <a:spcPts val="300"/>
              </a:spcBef>
            </a:pPr>
            <a:r>
              <a:rPr lang="en-GB" sz="2000" dirty="0"/>
              <a:t>Create an empty list for output</a:t>
            </a:r>
          </a:p>
          <a:p>
            <a:pPr>
              <a:lnSpc>
                <a:spcPct val="100000"/>
              </a:lnSpc>
              <a:spcBef>
                <a:spcPts val="300"/>
              </a:spcBef>
            </a:pPr>
            <a:r>
              <a:rPr lang="en-GB" sz="2000" dirty="0"/>
              <a:t>Scan </a:t>
            </a:r>
            <a:r>
              <a:rPr lang="en-GB" sz="2000" dirty="0">
                <a:solidFill>
                  <a:schemeClr val="accent1">
                    <a:lumMod val="75000"/>
                  </a:schemeClr>
                </a:solidFill>
              </a:rPr>
              <a:t>each element </a:t>
            </a:r>
            <a:r>
              <a:rPr lang="en-GB" sz="2000" dirty="0"/>
              <a:t>of </a:t>
            </a:r>
            <a:r>
              <a:rPr lang="en-GB" sz="2000" dirty="0">
                <a:solidFill>
                  <a:schemeClr val="accent1">
                    <a:lumMod val="75000"/>
                  </a:schemeClr>
                </a:solidFill>
              </a:rPr>
              <a:t>input expression </a:t>
            </a:r>
            <a:r>
              <a:rPr lang="en-GB" sz="2000" dirty="0"/>
              <a:t>from left to right</a:t>
            </a:r>
          </a:p>
          <a:p>
            <a:pPr lvl="1">
              <a:lnSpc>
                <a:spcPct val="100000"/>
              </a:lnSpc>
              <a:spcBef>
                <a:spcPts val="300"/>
              </a:spcBef>
            </a:pPr>
            <a:r>
              <a:rPr lang="en-GB" sz="2000" dirty="0"/>
              <a:t>If the element is an </a:t>
            </a:r>
            <a:r>
              <a:rPr lang="en-GB" sz="2000" dirty="0">
                <a:solidFill>
                  <a:schemeClr val="accent1">
                    <a:lumMod val="75000"/>
                  </a:schemeClr>
                </a:solidFill>
              </a:rPr>
              <a:t>operand</a:t>
            </a:r>
            <a:r>
              <a:rPr lang="en-GB" sz="2000" dirty="0"/>
              <a:t>, append it to the end of the </a:t>
            </a:r>
            <a:r>
              <a:rPr lang="en-GB" sz="2000" dirty="0">
                <a:solidFill>
                  <a:schemeClr val="accent1">
                    <a:lumMod val="75000"/>
                  </a:schemeClr>
                </a:solidFill>
              </a:rPr>
              <a:t>postfix string</a:t>
            </a:r>
          </a:p>
          <a:p>
            <a:pPr lvl="1">
              <a:lnSpc>
                <a:spcPct val="100000"/>
              </a:lnSpc>
              <a:spcBef>
                <a:spcPts val="300"/>
              </a:spcBef>
            </a:pPr>
            <a:r>
              <a:rPr lang="en-GB" sz="2000" dirty="0"/>
              <a:t>If the element is a </a:t>
            </a:r>
            <a:r>
              <a:rPr lang="en-GB" sz="2000" dirty="0">
                <a:solidFill>
                  <a:schemeClr val="accent1">
                    <a:lumMod val="75000"/>
                  </a:schemeClr>
                </a:solidFill>
              </a:rPr>
              <a:t>left parenthesis</a:t>
            </a:r>
            <a:r>
              <a:rPr lang="en-GB" sz="2000" dirty="0"/>
              <a:t>, push it on the stack</a:t>
            </a:r>
          </a:p>
          <a:p>
            <a:pPr lvl="1">
              <a:lnSpc>
                <a:spcPct val="100000"/>
              </a:lnSpc>
              <a:spcBef>
                <a:spcPts val="300"/>
              </a:spcBef>
            </a:pPr>
            <a:r>
              <a:rPr lang="en-GB" sz="2000" dirty="0"/>
              <a:t>If the element is a </a:t>
            </a:r>
            <a:r>
              <a:rPr lang="en-GB" sz="2000" dirty="0">
                <a:solidFill>
                  <a:schemeClr val="accent1">
                    <a:lumMod val="75000"/>
                  </a:schemeClr>
                </a:solidFill>
              </a:rPr>
              <a:t>right parenthesis</a:t>
            </a:r>
            <a:r>
              <a:rPr lang="en-GB" sz="2000" dirty="0"/>
              <a:t>, apply pop operation to the stack until the corresponding left parenthesis is removed &amp; append each operator to the end of the </a:t>
            </a:r>
            <a:r>
              <a:rPr lang="en-GB" sz="2000" dirty="0">
                <a:solidFill>
                  <a:schemeClr val="accent1">
                    <a:lumMod val="75000"/>
                  </a:schemeClr>
                </a:solidFill>
              </a:rPr>
              <a:t>postfix string; </a:t>
            </a:r>
            <a:r>
              <a:rPr lang="en-GB" sz="2000" i="1" dirty="0"/>
              <a:t>when the left parenthesis pops off the stack, discard it and the right parenthesis.</a:t>
            </a:r>
          </a:p>
          <a:p>
            <a:pPr lvl="1">
              <a:lnSpc>
                <a:spcPct val="100000"/>
              </a:lnSpc>
              <a:spcBef>
                <a:spcPts val="300"/>
              </a:spcBef>
            </a:pPr>
            <a:r>
              <a:rPr lang="en-GB" sz="2000" dirty="0"/>
              <a:t>If the current element is an </a:t>
            </a:r>
            <a:r>
              <a:rPr lang="en-GB" sz="2000" dirty="0">
                <a:solidFill>
                  <a:schemeClr val="accent1">
                    <a:lumMod val="75000"/>
                  </a:schemeClr>
                </a:solidFill>
              </a:rPr>
              <a:t>operator</a:t>
            </a:r>
            <a:r>
              <a:rPr lang="en-GB" sz="2000" dirty="0"/>
              <a:t>, *, /, +, or -, push it on the stack </a:t>
            </a:r>
            <a:r>
              <a:rPr lang="en-GB" sz="2000" dirty="0">
                <a:solidFill>
                  <a:schemeClr val="accent1">
                    <a:lumMod val="75000"/>
                  </a:schemeClr>
                </a:solidFill>
              </a:rPr>
              <a:t>if its priority is higher</a:t>
            </a:r>
            <a:r>
              <a:rPr lang="en-GB" sz="2000" dirty="0"/>
              <a:t> than the symbol at the top of the stack. </a:t>
            </a:r>
            <a:r>
              <a:rPr lang="en-GB" sz="2000" dirty="0">
                <a:solidFill>
                  <a:schemeClr val="accent2">
                    <a:lumMod val="75000"/>
                  </a:schemeClr>
                </a:solidFill>
              </a:rPr>
              <a:t>However, first remove any operators already on the stack that have higher or equal precedence</a:t>
            </a:r>
            <a:r>
              <a:rPr lang="en-GB" sz="2000" dirty="0"/>
              <a:t> and append them to the </a:t>
            </a:r>
            <a:r>
              <a:rPr lang="en-GB" sz="2000" dirty="0">
                <a:solidFill>
                  <a:schemeClr val="accent1">
                    <a:lumMod val="75000"/>
                  </a:schemeClr>
                </a:solidFill>
              </a:rPr>
              <a:t>postfix string.</a:t>
            </a:r>
          </a:p>
          <a:p>
            <a:pPr lvl="2">
              <a:lnSpc>
                <a:spcPct val="100000"/>
              </a:lnSpc>
              <a:spcBef>
                <a:spcPts val="300"/>
              </a:spcBef>
            </a:pPr>
            <a:r>
              <a:rPr lang="en-GB" dirty="0">
                <a:solidFill>
                  <a:schemeClr val="accent1">
                    <a:lumMod val="75000"/>
                  </a:schemeClr>
                </a:solidFill>
              </a:rPr>
              <a:t>Note: When, left parenthesis appears on the top of the stack, it has the lowest precedence in comparison to any other operator that is the current element.</a:t>
            </a:r>
            <a:endParaRPr lang="en-GB" dirty="0"/>
          </a:p>
          <a:p>
            <a:pPr>
              <a:lnSpc>
                <a:spcPct val="100000"/>
              </a:lnSpc>
              <a:spcBef>
                <a:spcPts val="300"/>
              </a:spcBef>
            </a:pPr>
            <a:r>
              <a:rPr lang="en-GB" sz="2000" dirty="0"/>
              <a:t>When the input expression has been completely processed, check the stack. Any operators still on the stack can be removed and appended to the end of the </a:t>
            </a:r>
            <a:r>
              <a:rPr lang="en-GB" sz="2000" dirty="0">
                <a:solidFill>
                  <a:schemeClr val="accent1">
                    <a:lumMod val="75000"/>
                  </a:schemeClr>
                </a:solidFill>
              </a:rPr>
              <a:t>postfix string.</a:t>
            </a:r>
            <a:endParaRPr lang="en-GB" sz="2000"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55</a:t>
            </a:fld>
            <a:endParaRPr lang="de-DE" altLang="zh-CN" dirty="0"/>
          </a:p>
        </p:txBody>
      </p:sp>
    </p:spTree>
    <p:extLst>
      <p:ext uri="{BB962C8B-B14F-4D97-AF65-F5344CB8AC3E}">
        <p14:creationId xmlns:p14="http://schemas.microsoft.com/office/powerpoint/2010/main" val="335970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1A7C89-64D9-4252-9941-08EB9199ADB3}"/>
              </a:ext>
            </a:extLst>
          </p:cNvPr>
          <p:cNvSpPr>
            <a:spLocks noGrp="1"/>
          </p:cNvSpPr>
          <p:nvPr>
            <p:ph type="sldNum" sz="quarter" idx="12"/>
          </p:nvPr>
        </p:nvSpPr>
        <p:spPr/>
        <p:txBody>
          <a:bodyPr/>
          <a:lstStyle/>
          <a:p>
            <a:pPr>
              <a:defRPr/>
            </a:pPr>
            <a:fld id="{1F4BC561-BCEA-4F0B-95C2-8CA863EDD649}" type="slidenum">
              <a:rPr lang="de-DE" altLang="zh-CN" smtClean="0"/>
              <a:pPr>
                <a:defRPr/>
              </a:pPr>
              <a:t>56</a:t>
            </a:fld>
            <a:endParaRPr lang="de-DE" altLang="zh-CN" dirty="0"/>
          </a:p>
        </p:txBody>
      </p:sp>
      <p:sp>
        <p:nvSpPr>
          <p:cNvPr id="8" name="TextBox 7">
            <a:extLst>
              <a:ext uri="{FF2B5EF4-FFF2-40B4-BE49-F238E27FC236}">
                <a16:creationId xmlns:a16="http://schemas.microsoft.com/office/drawing/2014/main" id="{6EE0972E-1D75-45D5-9C14-528A4E48F32D}"/>
              </a:ext>
            </a:extLst>
          </p:cNvPr>
          <p:cNvSpPr txBox="1"/>
          <p:nvPr/>
        </p:nvSpPr>
        <p:spPr>
          <a:xfrm>
            <a:off x="7291431" y="6235744"/>
            <a:ext cx="4572000" cy="215444"/>
          </a:xfrm>
          <a:prstGeom prst="rect">
            <a:avLst/>
          </a:prstGeom>
          <a:noFill/>
        </p:spPr>
        <p:txBody>
          <a:bodyPr wrap="square">
            <a:spAutoFit/>
          </a:bodyPr>
          <a:lstStyle/>
          <a:p>
            <a:r>
              <a:rPr lang="en-US" sz="800" b="1" dirty="0"/>
              <a:t>Source: </a:t>
            </a:r>
            <a:r>
              <a:rPr lang="en-US" sz="800" dirty="0"/>
              <a:t>https://prepinsta.com/data-structures/infix-to-postfix-conversion/</a:t>
            </a:r>
          </a:p>
        </p:txBody>
      </p:sp>
      <p:pic>
        <p:nvPicPr>
          <p:cNvPr id="10" name="Picture 9">
            <a:extLst>
              <a:ext uri="{FF2B5EF4-FFF2-40B4-BE49-F238E27FC236}">
                <a16:creationId xmlns:a16="http://schemas.microsoft.com/office/drawing/2014/main" id="{78FF5C31-C0D0-48CD-8E43-4A4F628A8213}"/>
              </a:ext>
            </a:extLst>
          </p:cNvPr>
          <p:cNvPicPr>
            <a:picLocks noChangeAspect="1"/>
          </p:cNvPicPr>
          <p:nvPr/>
        </p:nvPicPr>
        <p:blipFill>
          <a:blip r:embed="rId2"/>
          <a:stretch>
            <a:fillRect/>
          </a:stretch>
        </p:blipFill>
        <p:spPr>
          <a:xfrm>
            <a:off x="1905000" y="60303"/>
            <a:ext cx="7192146" cy="6235744"/>
          </a:xfrm>
          <a:prstGeom prst="rect">
            <a:avLst/>
          </a:prstGeom>
        </p:spPr>
      </p:pic>
    </p:spTree>
    <p:extLst>
      <p:ext uri="{BB962C8B-B14F-4D97-AF65-F5344CB8AC3E}">
        <p14:creationId xmlns:p14="http://schemas.microsoft.com/office/powerpoint/2010/main" val="2801867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1A268A-D72F-4762-BAFE-49F7C6FDE03A}"/>
              </a:ext>
            </a:extLst>
          </p:cNvPr>
          <p:cNvSpPr>
            <a:spLocks noGrp="1"/>
          </p:cNvSpPr>
          <p:nvPr>
            <p:ph type="sldNum" sz="quarter" idx="12"/>
          </p:nvPr>
        </p:nvSpPr>
        <p:spPr/>
        <p:txBody>
          <a:bodyPr/>
          <a:lstStyle/>
          <a:p>
            <a:pPr>
              <a:defRPr/>
            </a:pPr>
            <a:fld id="{1F4BC561-BCEA-4F0B-95C2-8CA863EDD649}" type="slidenum">
              <a:rPr lang="de-DE" altLang="zh-CN" smtClean="0"/>
              <a:pPr>
                <a:defRPr/>
              </a:pPr>
              <a:t>57</a:t>
            </a:fld>
            <a:endParaRPr lang="de-DE" altLang="zh-CN" dirty="0"/>
          </a:p>
        </p:txBody>
      </p:sp>
      <p:pic>
        <p:nvPicPr>
          <p:cNvPr id="7" name="Picture 6">
            <a:extLst>
              <a:ext uri="{FF2B5EF4-FFF2-40B4-BE49-F238E27FC236}">
                <a16:creationId xmlns:a16="http://schemas.microsoft.com/office/drawing/2014/main" id="{B66A511C-C634-4650-8B9B-1EBEFC9690FD}"/>
              </a:ext>
            </a:extLst>
          </p:cNvPr>
          <p:cNvPicPr>
            <a:picLocks noChangeAspect="1"/>
          </p:cNvPicPr>
          <p:nvPr/>
        </p:nvPicPr>
        <p:blipFill>
          <a:blip r:embed="rId2"/>
          <a:stretch>
            <a:fillRect/>
          </a:stretch>
        </p:blipFill>
        <p:spPr>
          <a:xfrm>
            <a:off x="2861356" y="77966"/>
            <a:ext cx="6066618" cy="6199464"/>
          </a:xfrm>
          <a:prstGeom prst="rect">
            <a:avLst/>
          </a:prstGeom>
        </p:spPr>
      </p:pic>
      <p:sp>
        <p:nvSpPr>
          <p:cNvPr id="9" name="TextBox 8">
            <a:extLst>
              <a:ext uri="{FF2B5EF4-FFF2-40B4-BE49-F238E27FC236}">
                <a16:creationId xmlns:a16="http://schemas.microsoft.com/office/drawing/2014/main" id="{7CACF432-ADDF-4EAE-A616-849A16A80A84}"/>
              </a:ext>
            </a:extLst>
          </p:cNvPr>
          <p:cNvSpPr txBox="1"/>
          <p:nvPr/>
        </p:nvSpPr>
        <p:spPr>
          <a:xfrm>
            <a:off x="3608665" y="6277430"/>
            <a:ext cx="4572000" cy="215444"/>
          </a:xfrm>
          <a:prstGeom prst="rect">
            <a:avLst/>
          </a:prstGeom>
          <a:noFill/>
        </p:spPr>
        <p:txBody>
          <a:bodyPr wrap="square">
            <a:spAutoFit/>
          </a:bodyPr>
          <a:lstStyle/>
          <a:p>
            <a:r>
              <a:rPr lang="en-US" sz="800" b="1" dirty="0"/>
              <a:t>Source: </a:t>
            </a:r>
            <a:r>
              <a:rPr lang="en-US" sz="800" dirty="0"/>
              <a:t>https://prepinsta.com/wp-content/uploads/2020/07/Infix-to-postfix-conversion.webp</a:t>
            </a:r>
          </a:p>
        </p:txBody>
      </p:sp>
    </p:spTree>
    <p:extLst>
      <p:ext uri="{BB962C8B-B14F-4D97-AF65-F5344CB8AC3E}">
        <p14:creationId xmlns:p14="http://schemas.microsoft.com/office/powerpoint/2010/main" val="23776068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de-DE" b="1" dirty="0"/>
              <a:t>Precendence Function</a:t>
            </a:r>
            <a:endParaRPr lang="en-US" b="1" dirty="0"/>
          </a:p>
        </p:txBody>
      </p:sp>
      <p:sp>
        <p:nvSpPr>
          <p:cNvPr id="4" name="Content Placeholder 3"/>
          <p:cNvSpPr>
            <a:spLocks noGrp="1"/>
          </p:cNvSpPr>
          <p:nvPr>
            <p:ph idx="1"/>
          </p:nvPr>
        </p:nvSpPr>
        <p:spPr/>
        <p:txBody>
          <a:bodyPr>
            <a:normAutofit/>
          </a:bodyPr>
          <a:lstStyle/>
          <a:p>
            <a:r>
              <a:rPr lang="en-US" dirty="0"/>
              <a:t>Precedence Function : </a:t>
            </a:r>
            <a:r>
              <a:rPr lang="en-US" dirty="0" err="1"/>
              <a:t>prcd</a:t>
            </a:r>
            <a:r>
              <a:rPr lang="en-US" dirty="0"/>
              <a:t>(op1,op2)</a:t>
            </a:r>
          </a:p>
          <a:p>
            <a:pPr lvl="1"/>
            <a:r>
              <a:rPr lang="en-US" dirty="0"/>
              <a:t>Op1 &amp; Op2 represent operators +,-,*,/</a:t>
            </a:r>
          </a:p>
          <a:p>
            <a:pPr lvl="1"/>
            <a:r>
              <a:rPr lang="en-US" dirty="0"/>
              <a:t>Assume we pass current operator as op1, and the operator at stack top as op2.</a:t>
            </a:r>
          </a:p>
          <a:p>
            <a:pPr lvl="1"/>
            <a:endParaRPr lang="en-US" dirty="0"/>
          </a:p>
          <a:p>
            <a:pPr lvl="1"/>
            <a:r>
              <a:rPr lang="en-US" dirty="0"/>
              <a:t>If op1 has higher precedence than op2 , the </a:t>
            </a:r>
            <a:r>
              <a:rPr lang="en-US" dirty="0" err="1"/>
              <a:t>prcd</a:t>
            </a:r>
            <a:r>
              <a:rPr lang="en-US" dirty="0"/>
              <a:t>(op1,op2) returns true. For example </a:t>
            </a:r>
            <a:r>
              <a:rPr lang="en-US" dirty="0" err="1"/>
              <a:t>prcd</a:t>
            </a:r>
            <a:r>
              <a:rPr lang="en-US" dirty="0"/>
              <a:t>(‘*’,’+’) and </a:t>
            </a:r>
            <a:r>
              <a:rPr lang="en-US" dirty="0" err="1"/>
              <a:t>prcd</a:t>
            </a:r>
            <a:r>
              <a:rPr lang="en-US" dirty="0"/>
              <a:t>(‘/’,’+’) is true.</a:t>
            </a:r>
          </a:p>
          <a:p>
            <a:pPr lvl="1"/>
            <a:endParaRPr lang="en-US" dirty="0"/>
          </a:p>
          <a:p>
            <a:pPr lvl="1"/>
            <a:r>
              <a:rPr lang="en-US" dirty="0"/>
              <a:t>Otherwise, </a:t>
            </a:r>
            <a:r>
              <a:rPr lang="en-US" dirty="0" err="1"/>
              <a:t>prcd</a:t>
            </a:r>
            <a:r>
              <a:rPr lang="en-US" dirty="0"/>
              <a:t>(op1,op2) returns FALSE. For example </a:t>
            </a:r>
            <a:r>
              <a:rPr lang="en-US" dirty="0" err="1"/>
              <a:t>prcd</a:t>
            </a:r>
            <a:r>
              <a:rPr lang="en-US" dirty="0"/>
              <a:t>(‘+’,’*’) is FALSE, and </a:t>
            </a:r>
            <a:r>
              <a:rPr lang="en-US" dirty="0" err="1"/>
              <a:t>prcd</a:t>
            </a:r>
            <a:r>
              <a:rPr lang="en-US" dirty="0"/>
              <a:t>(‘+’, ‘+’) is FALSE</a:t>
            </a:r>
          </a:p>
        </p:txBody>
      </p:sp>
      <p:sp>
        <p:nvSpPr>
          <p:cNvPr id="2" name="Slide Number Placeholder 1"/>
          <p:cNvSpPr>
            <a:spLocks noGrp="1"/>
          </p:cNvSpPr>
          <p:nvPr>
            <p:ph type="sldNum" sz="quarter" idx="12"/>
          </p:nvPr>
        </p:nvSpPr>
        <p:spPr/>
        <p:txBody>
          <a:bodyPr/>
          <a:lstStyle/>
          <a:p>
            <a:pPr>
              <a:defRPr/>
            </a:pPr>
            <a:fld id="{DDA4240F-2E2F-4F70-AB00-EAE709958E8F}" type="slidenum">
              <a:rPr lang="en-US" altLang="en-US" smtClean="0"/>
              <a:pPr>
                <a:defRPr/>
              </a:pPr>
              <a:t>58</a:t>
            </a:fld>
            <a:endParaRPr lang="en-US" altLang="en-US"/>
          </a:p>
        </p:txBody>
      </p:sp>
    </p:spTree>
    <p:extLst>
      <p:ext uri="{BB962C8B-B14F-4D97-AF65-F5344CB8AC3E}">
        <p14:creationId xmlns:p14="http://schemas.microsoft.com/office/powerpoint/2010/main" val="11502549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e-DE" b="1" dirty="0"/>
              <a:t>Algorithm to Convert an Expression from Infix to Postfix Form</a:t>
            </a:r>
            <a:endParaRPr lang="en-US" b="1" dirty="0"/>
          </a:p>
        </p:txBody>
      </p:sp>
      <p:sp>
        <p:nvSpPr>
          <p:cNvPr id="3" name="Content Placeholder 2"/>
          <p:cNvSpPr>
            <a:spLocks noGrp="1"/>
          </p:cNvSpPr>
          <p:nvPr>
            <p:ph sz="half" idx="1"/>
          </p:nvPr>
        </p:nvSpPr>
        <p:spPr>
          <a:xfrm>
            <a:off x="304800" y="1825625"/>
            <a:ext cx="5715000" cy="4351338"/>
          </a:xfrm>
        </p:spPr>
        <p:txBody>
          <a:bodyPr>
            <a:normAutofit fontScale="77500" lnSpcReduction="20000"/>
          </a:bodyPr>
          <a:lstStyle/>
          <a:p>
            <a:pPr marL="0" indent="0">
              <a:lnSpc>
                <a:spcPct val="120000"/>
              </a:lnSpc>
              <a:spcBef>
                <a:spcPts val="0"/>
              </a:spcBef>
              <a:buNone/>
            </a:pPr>
            <a:r>
              <a:rPr lang="en-US" dirty="0"/>
              <a:t> </a:t>
            </a:r>
            <a:r>
              <a:rPr lang="en-US" dirty="0" err="1"/>
              <a:t>Opstk</a:t>
            </a:r>
            <a:r>
              <a:rPr lang="en-US" dirty="0"/>
              <a:t>=the empty stack;</a:t>
            </a:r>
          </a:p>
          <a:p>
            <a:pPr marL="0" indent="0">
              <a:lnSpc>
                <a:spcPct val="120000"/>
              </a:lnSpc>
              <a:spcBef>
                <a:spcPts val="0"/>
              </a:spcBef>
              <a:buNone/>
            </a:pPr>
            <a:r>
              <a:rPr lang="en-US" dirty="0"/>
              <a:t>  while (not end of input){</a:t>
            </a:r>
          </a:p>
          <a:p>
            <a:pPr marL="0" indent="0">
              <a:lnSpc>
                <a:spcPct val="120000"/>
              </a:lnSpc>
              <a:spcBef>
                <a:spcPts val="0"/>
              </a:spcBef>
              <a:buNone/>
            </a:pPr>
            <a:r>
              <a:rPr lang="en-US" dirty="0"/>
              <a:t>    </a:t>
            </a:r>
            <a:r>
              <a:rPr lang="en-US" dirty="0" err="1"/>
              <a:t>symb</a:t>
            </a:r>
            <a:r>
              <a:rPr lang="en-US" dirty="0"/>
              <a:t>= next input character ;</a:t>
            </a:r>
          </a:p>
          <a:p>
            <a:pPr marL="0" indent="0">
              <a:lnSpc>
                <a:spcPct val="120000"/>
              </a:lnSpc>
              <a:spcBef>
                <a:spcPts val="0"/>
              </a:spcBef>
              <a:buNone/>
            </a:pPr>
            <a:r>
              <a:rPr lang="en-US" dirty="0"/>
              <a:t> 	if (</a:t>
            </a:r>
            <a:r>
              <a:rPr lang="en-US" dirty="0" err="1"/>
              <a:t>symb</a:t>
            </a:r>
            <a:r>
              <a:rPr lang="en-US" dirty="0"/>
              <a:t> is an operand)</a:t>
            </a:r>
          </a:p>
          <a:p>
            <a:pPr marL="0" indent="0">
              <a:lnSpc>
                <a:spcPct val="120000"/>
              </a:lnSpc>
              <a:spcBef>
                <a:spcPts val="0"/>
              </a:spcBef>
              <a:buNone/>
            </a:pPr>
            <a:r>
              <a:rPr lang="en-US" dirty="0"/>
              <a:t>    		add </a:t>
            </a:r>
            <a:r>
              <a:rPr lang="en-US" dirty="0" err="1"/>
              <a:t>symb</a:t>
            </a:r>
            <a:r>
              <a:rPr lang="en-US" dirty="0"/>
              <a:t> to the postfix string ;</a:t>
            </a:r>
          </a:p>
          <a:p>
            <a:pPr marL="0" indent="0">
              <a:lnSpc>
                <a:spcPct val="120000"/>
              </a:lnSpc>
              <a:spcBef>
                <a:spcPts val="0"/>
              </a:spcBef>
              <a:buNone/>
            </a:pPr>
            <a:r>
              <a:rPr lang="en-US" dirty="0"/>
              <a:t>    	else {</a:t>
            </a:r>
          </a:p>
          <a:p>
            <a:pPr marL="0" indent="0">
              <a:lnSpc>
                <a:spcPct val="120000"/>
              </a:lnSpc>
              <a:spcBef>
                <a:spcPts val="0"/>
              </a:spcBef>
              <a:buNone/>
            </a:pPr>
            <a:r>
              <a:rPr lang="en-US" dirty="0"/>
              <a:t>    	  while (!empty(</a:t>
            </a:r>
            <a:r>
              <a:rPr lang="en-US" dirty="0" err="1"/>
              <a:t>opstk</a:t>
            </a:r>
            <a:r>
              <a:rPr lang="en-US" dirty="0"/>
              <a:t>)&amp;&amp; </a:t>
            </a:r>
            <a:r>
              <a:rPr lang="en-US" dirty="0" err="1"/>
              <a:t>prcd</a:t>
            </a:r>
            <a:r>
              <a:rPr lang="en-US" dirty="0"/>
              <a:t>(</a:t>
            </a:r>
            <a:r>
              <a:rPr lang="en-US" dirty="0" err="1"/>
              <a:t>symb</a:t>
            </a:r>
            <a:r>
              <a:rPr lang="en-US" dirty="0"/>
              <a:t>, </a:t>
            </a:r>
            <a:r>
              <a:rPr lang="en-US" dirty="0" err="1"/>
              <a:t>stacktop</a:t>
            </a:r>
            <a:r>
              <a:rPr lang="en-US" dirty="0"/>
              <a:t>(</a:t>
            </a:r>
            <a:r>
              <a:rPr lang="en-US" dirty="0" err="1"/>
              <a:t>opstk</a:t>
            </a:r>
            <a:r>
              <a:rPr lang="en-US" dirty="0"/>
              <a:t>))) {</a:t>
            </a:r>
          </a:p>
          <a:p>
            <a:pPr marL="0" indent="0">
              <a:lnSpc>
                <a:spcPct val="120000"/>
              </a:lnSpc>
              <a:spcBef>
                <a:spcPts val="0"/>
              </a:spcBef>
              <a:buNone/>
            </a:pPr>
            <a:r>
              <a:rPr lang="en-US" dirty="0"/>
              <a:t>        		  </a:t>
            </a:r>
            <a:r>
              <a:rPr lang="en-US" dirty="0" err="1"/>
              <a:t>topsymb</a:t>
            </a:r>
            <a:r>
              <a:rPr lang="en-US" dirty="0"/>
              <a:t> = pop (</a:t>
            </a:r>
            <a:r>
              <a:rPr lang="en-US" dirty="0" err="1"/>
              <a:t>opstk</a:t>
            </a:r>
            <a:r>
              <a:rPr lang="en-US" dirty="0"/>
              <a:t>) ;</a:t>
            </a:r>
          </a:p>
          <a:p>
            <a:pPr marL="0" indent="0">
              <a:lnSpc>
                <a:spcPct val="120000"/>
              </a:lnSpc>
              <a:spcBef>
                <a:spcPts val="0"/>
              </a:spcBef>
              <a:buNone/>
            </a:pPr>
            <a:r>
              <a:rPr lang="en-US" dirty="0"/>
              <a:t>        		  add </a:t>
            </a:r>
            <a:r>
              <a:rPr lang="en-US" dirty="0" err="1"/>
              <a:t>topsymb</a:t>
            </a:r>
            <a:r>
              <a:rPr lang="en-US" dirty="0"/>
              <a:t> to the postfix string ;</a:t>
            </a:r>
          </a:p>
          <a:p>
            <a:pPr marL="0" indent="0">
              <a:lnSpc>
                <a:spcPct val="120000"/>
              </a:lnSpc>
              <a:spcBef>
                <a:spcPts val="0"/>
              </a:spcBef>
              <a:buNone/>
            </a:pPr>
            <a:r>
              <a:rPr lang="en-US" dirty="0"/>
              <a:t>    	  } //end of while </a:t>
            </a:r>
          </a:p>
        </p:txBody>
      </p:sp>
      <p:sp>
        <p:nvSpPr>
          <p:cNvPr id="6" name="Content Placeholder 5"/>
          <p:cNvSpPr>
            <a:spLocks noGrp="1"/>
          </p:cNvSpPr>
          <p:nvPr>
            <p:ph sz="half" idx="2"/>
          </p:nvPr>
        </p:nvSpPr>
        <p:spPr>
          <a:xfrm>
            <a:off x="6553200" y="2506662"/>
            <a:ext cx="5181600" cy="4351338"/>
          </a:xfrm>
        </p:spPr>
        <p:txBody>
          <a:bodyPr>
            <a:normAutofit fontScale="77500" lnSpcReduction="20000"/>
          </a:bodyPr>
          <a:lstStyle/>
          <a:p>
            <a:pPr marL="0" indent="0">
              <a:lnSpc>
                <a:spcPct val="120000"/>
              </a:lnSpc>
              <a:spcBef>
                <a:spcPts val="0"/>
              </a:spcBef>
              <a:buNone/>
            </a:pPr>
            <a:r>
              <a:rPr lang="en-US" dirty="0"/>
              <a:t> push(</a:t>
            </a:r>
            <a:r>
              <a:rPr lang="en-US" dirty="0" err="1"/>
              <a:t>opstk</a:t>
            </a:r>
            <a:r>
              <a:rPr lang="en-US" dirty="0"/>
              <a:t> , </a:t>
            </a:r>
            <a:r>
              <a:rPr lang="en-US" dirty="0" err="1"/>
              <a:t>symb</a:t>
            </a:r>
            <a:r>
              <a:rPr lang="en-US" dirty="0"/>
              <a:t> );</a:t>
            </a:r>
          </a:p>
          <a:p>
            <a:pPr marL="0" indent="0">
              <a:lnSpc>
                <a:spcPct val="120000"/>
              </a:lnSpc>
              <a:spcBef>
                <a:spcPts val="0"/>
              </a:spcBef>
              <a:buNone/>
            </a:pPr>
            <a:r>
              <a:rPr lang="en-US" dirty="0"/>
              <a:t>   	}  //end of else</a:t>
            </a:r>
          </a:p>
          <a:p>
            <a:pPr marL="0" indent="0">
              <a:lnSpc>
                <a:spcPct val="120000"/>
              </a:lnSpc>
              <a:spcBef>
                <a:spcPts val="0"/>
              </a:spcBef>
              <a:buNone/>
            </a:pPr>
            <a:r>
              <a:rPr lang="en-US" dirty="0"/>
              <a:t> </a:t>
            </a:r>
          </a:p>
          <a:p>
            <a:pPr marL="0" indent="0">
              <a:lnSpc>
                <a:spcPct val="120000"/>
              </a:lnSpc>
              <a:spcBef>
                <a:spcPts val="0"/>
              </a:spcBef>
              <a:buNone/>
            </a:pPr>
            <a:r>
              <a:rPr lang="en-US" dirty="0"/>
              <a:t> }  // end of while</a:t>
            </a:r>
          </a:p>
          <a:p>
            <a:pPr marL="0" indent="0">
              <a:lnSpc>
                <a:spcPct val="120000"/>
              </a:lnSpc>
              <a:spcBef>
                <a:spcPts val="0"/>
              </a:spcBef>
              <a:buNone/>
            </a:pPr>
            <a:r>
              <a:rPr lang="en-US" dirty="0"/>
              <a:t>  </a:t>
            </a:r>
          </a:p>
          <a:p>
            <a:pPr marL="0" indent="0">
              <a:lnSpc>
                <a:spcPct val="120000"/>
              </a:lnSpc>
              <a:spcBef>
                <a:spcPts val="0"/>
              </a:spcBef>
              <a:buNone/>
            </a:pPr>
            <a:r>
              <a:rPr lang="en-US" dirty="0"/>
              <a:t>  // output remaining operators</a:t>
            </a:r>
          </a:p>
          <a:p>
            <a:pPr marL="0" indent="0">
              <a:lnSpc>
                <a:spcPct val="120000"/>
              </a:lnSpc>
              <a:spcBef>
                <a:spcPts val="0"/>
              </a:spcBef>
              <a:buNone/>
            </a:pPr>
            <a:r>
              <a:rPr lang="en-US" dirty="0"/>
              <a:t>  while (!empty(</a:t>
            </a:r>
            <a:r>
              <a:rPr lang="en-US" dirty="0" err="1"/>
              <a:t>opstk</a:t>
            </a:r>
            <a:r>
              <a:rPr lang="en-US" dirty="0"/>
              <a:t>))  {</a:t>
            </a:r>
          </a:p>
          <a:p>
            <a:pPr marL="0" indent="0">
              <a:lnSpc>
                <a:spcPct val="120000"/>
              </a:lnSpc>
              <a:spcBef>
                <a:spcPts val="0"/>
              </a:spcBef>
              <a:buNone/>
            </a:pPr>
            <a:r>
              <a:rPr lang="en-US" dirty="0"/>
              <a:t> 		</a:t>
            </a:r>
            <a:r>
              <a:rPr lang="en-US" dirty="0" err="1"/>
              <a:t>topsymb</a:t>
            </a:r>
            <a:r>
              <a:rPr lang="en-US" dirty="0"/>
              <a:t> = pop(</a:t>
            </a:r>
            <a:r>
              <a:rPr lang="en-US" dirty="0" err="1"/>
              <a:t>opstk</a:t>
            </a:r>
            <a:r>
              <a:rPr lang="en-US" dirty="0"/>
              <a:t>) ;</a:t>
            </a:r>
          </a:p>
          <a:p>
            <a:pPr marL="0" indent="0">
              <a:lnSpc>
                <a:spcPct val="120000"/>
              </a:lnSpc>
              <a:spcBef>
                <a:spcPts val="0"/>
              </a:spcBef>
              <a:buNone/>
            </a:pPr>
            <a:r>
              <a:rPr lang="en-US" dirty="0"/>
              <a:t> 		add </a:t>
            </a:r>
            <a:r>
              <a:rPr lang="en-US" dirty="0" err="1"/>
              <a:t>topsymb</a:t>
            </a:r>
            <a:r>
              <a:rPr lang="en-US" dirty="0"/>
              <a:t> to the postfix string ;</a:t>
            </a:r>
          </a:p>
          <a:p>
            <a:pPr marL="0" indent="0">
              <a:lnSpc>
                <a:spcPct val="120000"/>
              </a:lnSpc>
              <a:spcBef>
                <a:spcPts val="0"/>
              </a:spcBef>
              <a:buNone/>
            </a:pPr>
            <a:r>
              <a:rPr lang="en-US" dirty="0"/>
              <a:t>  } //end of while</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59</a:t>
            </a:fld>
            <a:endParaRPr lang="en-US" altLang="en-US"/>
          </a:p>
        </p:txBody>
      </p:sp>
    </p:spTree>
    <p:extLst>
      <p:ext uri="{BB962C8B-B14F-4D97-AF65-F5344CB8AC3E}">
        <p14:creationId xmlns:p14="http://schemas.microsoft.com/office/powerpoint/2010/main" val="3471891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60</a:t>
            </a:fld>
            <a:endParaRPr lang="de-DE" altLang="zh-CN" dirty="0"/>
          </a:p>
        </p:txBody>
      </p:sp>
      <p:sp>
        <p:nvSpPr>
          <p:cNvPr id="5" name="Rectangle 2"/>
          <p:cNvSpPr>
            <a:spLocks noChangeArrowheads="1"/>
          </p:cNvSpPr>
          <p:nvPr/>
        </p:nvSpPr>
        <p:spPr bwMode="auto">
          <a:xfrm>
            <a:off x="2286000" y="260350"/>
            <a:ext cx="809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algn="ctr" eaLnBrk="0" fontAlgn="base" hangingPunct="0">
              <a:spcBef>
                <a:spcPct val="0"/>
              </a:spcBef>
              <a:spcAft>
                <a:spcPct val="0"/>
              </a:spcAft>
              <a:defRPr b="1" i="1">
                <a:solidFill>
                  <a:schemeClr val="tx1"/>
                </a:solidFill>
                <a:latin typeface="Arial" panose="020B0604020202020204" pitchFamily="34" charset="0"/>
              </a:defRPr>
            </a:lvl6pPr>
            <a:lvl7pPr marL="2971800" indent="-228600" algn="ctr" eaLnBrk="0" fontAlgn="base" hangingPunct="0">
              <a:spcBef>
                <a:spcPct val="0"/>
              </a:spcBef>
              <a:spcAft>
                <a:spcPct val="0"/>
              </a:spcAft>
              <a:defRPr b="1" i="1">
                <a:solidFill>
                  <a:schemeClr val="tx1"/>
                </a:solidFill>
                <a:latin typeface="Arial" panose="020B0604020202020204" pitchFamily="34" charset="0"/>
              </a:defRPr>
            </a:lvl7pPr>
            <a:lvl8pPr marL="3429000" indent="-228600" algn="ctr" eaLnBrk="0" fontAlgn="base" hangingPunct="0">
              <a:spcBef>
                <a:spcPct val="0"/>
              </a:spcBef>
              <a:spcAft>
                <a:spcPct val="0"/>
              </a:spcAft>
              <a:defRPr b="1" i="1">
                <a:solidFill>
                  <a:schemeClr val="tx1"/>
                </a:solidFill>
                <a:latin typeface="Arial" panose="020B0604020202020204" pitchFamily="34" charset="0"/>
              </a:defRPr>
            </a:lvl8pPr>
            <a:lvl9pPr marL="3886200" indent="-228600" algn="ctr" eaLnBrk="0" fontAlgn="base" hangingPunct="0">
              <a:spcBef>
                <a:spcPct val="0"/>
              </a:spcBef>
              <a:spcAft>
                <a:spcPct val="0"/>
              </a:spcAft>
              <a:defRPr b="1" i="1">
                <a:solidFill>
                  <a:schemeClr val="tx1"/>
                </a:solidFill>
                <a:latin typeface="Arial" panose="020B0604020202020204" pitchFamily="34" charset="0"/>
              </a:defRPr>
            </a:lvl9pPr>
          </a:lstStyle>
          <a:p>
            <a:pPr algn="l"/>
            <a:r>
              <a:rPr lang="en-US" altLang="en-US" sz="2400" i="0" dirty="0">
                <a:latin typeface="Times New Roman" panose="02020603050405020304" pitchFamily="18" charset="0"/>
                <a:cs typeface="Times New Roman" panose="02020603050405020304" pitchFamily="18" charset="0"/>
              </a:rPr>
              <a:t>Suppose we want to convert</a:t>
            </a:r>
            <a:r>
              <a:rPr lang="en-US" altLang="en-US" sz="2400" i="0" dirty="0">
                <a:solidFill>
                  <a:schemeClr val="hlink"/>
                </a:solidFill>
                <a:latin typeface="Times New Roman" panose="02020603050405020304" pitchFamily="18" charset="0"/>
                <a:cs typeface="Times New Roman" panose="02020603050405020304" pitchFamily="18" charset="0"/>
              </a:rPr>
              <a:t> 2*3/(2-1)+5*3 </a:t>
            </a:r>
            <a:r>
              <a:rPr lang="en-US" altLang="en-US" sz="2400" i="0" dirty="0">
                <a:latin typeface="Times New Roman" panose="02020603050405020304" pitchFamily="18" charset="0"/>
                <a:cs typeface="Times New Roman" panose="02020603050405020304" pitchFamily="18" charset="0"/>
              </a:rPr>
              <a:t>into Postfix form, </a:t>
            </a:r>
            <a:endParaRPr lang="en-US" altLang="en-US" sz="2400" b="0" i="0" dirty="0"/>
          </a:p>
        </p:txBody>
      </p:sp>
      <p:graphicFrame>
        <p:nvGraphicFramePr>
          <p:cNvPr id="6" name="Group 282"/>
          <p:cNvGraphicFramePr>
            <a:graphicFrameLocks noGrp="1"/>
          </p:cNvGraphicFramePr>
          <p:nvPr/>
        </p:nvGraphicFramePr>
        <p:xfrm>
          <a:off x="2590800" y="1312984"/>
          <a:ext cx="6705600" cy="365602"/>
        </p:xfrm>
        <a:graphic>
          <a:graphicData uri="http://schemas.openxmlformats.org/drawingml/2006/table">
            <a:tbl>
              <a:tblPr/>
              <a:tblGrid>
                <a:gridCol w="2019300">
                  <a:extLst>
                    <a:ext uri="{9D8B030D-6E8A-4147-A177-3AD203B41FA5}">
                      <a16:colId xmlns:a16="http://schemas.microsoft.com/office/drawing/2014/main" val="20000"/>
                    </a:ext>
                  </a:extLst>
                </a:gridCol>
                <a:gridCol w="2198077">
                  <a:extLst>
                    <a:ext uri="{9D8B030D-6E8A-4147-A177-3AD203B41FA5}">
                      <a16:colId xmlns:a16="http://schemas.microsoft.com/office/drawing/2014/main" val="20001"/>
                    </a:ext>
                  </a:extLst>
                </a:gridCol>
                <a:gridCol w="2488223">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Empty</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Group 286"/>
          <p:cNvGraphicFramePr>
            <a:graphicFrameLocks noGrp="1"/>
          </p:cNvGraphicFramePr>
          <p:nvPr/>
        </p:nvGraphicFramePr>
        <p:xfrm>
          <a:off x="2590800" y="1693984"/>
          <a:ext cx="6705600" cy="365602"/>
        </p:xfrm>
        <a:graphic>
          <a:graphicData uri="http://schemas.openxmlformats.org/drawingml/2006/table">
            <a:tbl>
              <a:tblPr/>
              <a:tblGrid>
                <a:gridCol w="2028092">
                  <a:extLst>
                    <a:ext uri="{9D8B030D-6E8A-4147-A177-3AD203B41FA5}">
                      <a16:colId xmlns:a16="http://schemas.microsoft.com/office/drawing/2014/main" val="20000"/>
                    </a:ext>
                  </a:extLst>
                </a:gridCol>
                <a:gridCol w="2189285">
                  <a:extLst>
                    <a:ext uri="{9D8B030D-6E8A-4147-A177-3AD203B41FA5}">
                      <a16:colId xmlns:a16="http://schemas.microsoft.com/office/drawing/2014/main" val="20001"/>
                    </a:ext>
                  </a:extLst>
                </a:gridCol>
                <a:gridCol w="2488223">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 name="Group 263"/>
          <p:cNvGraphicFramePr>
            <a:graphicFrameLocks noGrp="1"/>
          </p:cNvGraphicFramePr>
          <p:nvPr/>
        </p:nvGraphicFramePr>
        <p:xfrm>
          <a:off x="2590800" y="2084509"/>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3</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Group 262"/>
          <p:cNvGraphicFramePr>
            <a:graphicFrameLocks noGrp="1"/>
          </p:cNvGraphicFramePr>
          <p:nvPr/>
        </p:nvGraphicFramePr>
        <p:xfrm>
          <a:off x="2590800" y="2471859"/>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261"/>
          <p:cNvGraphicFramePr>
            <a:graphicFrameLocks noGrp="1"/>
          </p:cNvGraphicFramePr>
          <p:nvPr/>
        </p:nvGraphicFramePr>
        <p:xfrm>
          <a:off x="2590800" y="2836984"/>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260"/>
          <p:cNvGraphicFramePr>
            <a:graphicFrameLocks noGrp="1"/>
          </p:cNvGraphicFramePr>
          <p:nvPr/>
        </p:nvGraphicFramePr>
        <p:xfrm>
          <a:off x="2590800" y="3233859"/>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2</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23*2</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 name="Group 267"/>
          <p:cNvGraphicFramePr>
            <a:graphicFrameLocks noGrp="1"/>
          </p:cNvGraphicFramePr>
          <p:nvPr/>
        </p:nvGraphicFramePr>
        <p:xfrm>
          <a:off x="2590800" y="3629147"/>
          <a:ext cx="6705600" cy="365602"/>
        </p:xfrm>
        <a:graphic>
          <a:graphicData uri="http://schemas.openxmlformats.org/drawingml/2006/table">
            <a:tbl>
              <a:tblPr/>
              <a:tblGrid>
                <a:gridCol w="2036885">
                  <a:extLst>
                    <a:ext uri="{9D8B030D-6E8A-4147-A177-3AD203B41FA5}">
                      <a16:colId xmlns:a16="http://schemas.microsoft.com/office/drawing/2014/main" val="20000"/>
                    </a:ext>
                  </a:extLst>
                </a:gridCol>
                <a:gridCol w="217951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23*2</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257"/>
          <p:cNvGraphicFramePr>
            <a:graphicFrameLocks noGrp="1"/>
          </p:cNvGraphicFramePr>
          <p:nvPr/>
        </p:nvGraphicFramePr>
        <p:xfrm>
          <a:off x="2590800" y="3979984"/>
          <a:ext cx="6705600" cy="381000"/>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810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Group 256"/>
          <p:cNvGraphicFramePr>
            <a:graphicFrameLocks noGrp="1"/>
          </p:cNvGraphicFramePr>
          <p:nvPr/>
        </p:nvGraphicFramePr>
        <p:xfrm>
          <a:off x="2590800" y="4376859"/>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23*21-</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5" name="Group 255"/>
          <p:cNvGraphicFramePr>
            <a:graphicFrameLocks noGrp="1"/>
          </p:cNvGraphicFramePr>
          <p:nvPr/>
        </p:nvGraphicFramePr>
        <p:xfrm>
          <a:off x="2590800" y="4741984"/>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23*21-/</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6" name="Group 254"/>
          <p:cNvGraphicFramePr>
            <a:graphicFrameLocks noGrp="1"/>
          </p:cNvGraphicFramePr>
          <p:nvPr/>
        </p:nvGraphicFramePr>
        <p:xfrm>
          <a:off x="2590800" y="5107109"/>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5</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23*21-/5</a:t>
                      </a: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 name="Group 253"/>
          <p:cNvGraphicFramePr>
            <a:graphicFrameLocks noGrp="1"/>
          </p:cNvGraphicFramePr>
          <p:nvPr/>
        </p:nvGraphicFramePr>
        <p:xfrm>
          <a:off x="2590800" y="5808784"/>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3</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Tahoma" pitchFamily="34" charset="0"/>
                          <a:cs typeface="Times New Roman" charset="0"/>
                        </a:rPr>
                        <a:t>+*</a:t>
                      </a:r>
                      <a:endParaRPr kumimoji="0" lang="en-US" sz="1800" b="0" i="0" u="none" strike="noStrike" cap="none" normalizeH="0" baseline="0">
                        <a:ln>
                          <a:noFill/>
                        </a:ln>
                        <a:solidFill>
                          <a:schemeClr val="tx1"/>
                        </a:solidFill>
                        <a:effectLst/>
                        <a:latin typeface="Arial" charset="0"/>
                      </a:endParaRP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Tahoma" pitchFamily="34" charset="0"/>
                          <a:cs typeface="Times New Roman" charset="0"/>
                        </a:rPr>
                        <a:t>23*21-/53</a:t>
                      </a:r>
                      <a:endParaRPr kumimoji="0" lang="en-US" sz="1800" b="0" i="0" u="none" strike="noStrike" cap="none" normalizeH="0" baseline="0" dirty="0">
                        <a:ln>
                          <a:noFill/>
                        </a:ln>
                        <a:solidFill>
                          <a:schemeClr val="tx1"/>
                        </a:solidFill>
                        <a:effectLst/>
                        <a:latin typeface="Arial" charset="0"/>
                      </a:endParaRP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8" name="Group 311"/>
          <p:cNvGraphicFramePr>
            <a:graphicFrameLocks noGrp="1"/>
          </p:cNvGraphicFramePr>
          <p:nvPr/>
        </p:nvGraphicFramePr>
        <p:xfrm>
          <a:off x="2590800" y="855784"/>
          <a:ext cx="6705600" cy="457200"/>
        </p:xfrm>
        <a:graphic>
          <a:graphicData uri="http://schemas.openxmlformats.org/drawingml/2006/table">
            <a:tbl>
              <a:tblPr/>
              <a:tblGrid>
                <a:gridCol w="2019300">
                  <a:extLst>
                    <a:ext uri="{9D8B030D-6E8A-4147-A177-3AD203B41FA5}">
                      <a16:colId xmlns:a16="http://schemas.microsoft.com/office/drawing/2014/main" val="20000"/>
                    </a:ext>
                  </a:extLst>
                </a:gridCol>
                <a:gridCol w="2206869">
                  <a:extLst>
                    <a:ext uri="{9D8B030D-6E8A-4147-A177-3AD203B41FA5}">
                      <a16:colId xmlns:a16="http://schemas.microsoft.com/office/drawing/2014/main" val="20001"/>
                    </a:ext>
                  </a:extLst>
                </a:gridCol>
                <a:gridCol w="2479431">
                  <a:extLst>
                    <a:ext uri="{9D8B030D-6E8A-4147-A177-3AD203B41FA5}">
                      <a16:colId xmlns:a16="http://schemas.microsoft.com/office/drawing/2014/main" val="20002"/>
                    </a:ext>
                  </a:extLst>
                </a:gridCol>
              </a:tblGrid>
              <a:tr h="24765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1" i="0" u="none" strike="noStrike" cap="none" normalizeH="0" baseline="0" dirty="0">
                          <a:ln>
                            <a:noFill/>
                          </a:ln>
                          <a:solidFill>
                            <a:schemeClr val="hlink"/>
                          </a:solidFill>
                          <a:effectLst/>
                          <a:latin typeface="Times New Roman" charset="0"/>
                        </a:rPr>
                        <a:t>Expression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1" i="0" u="none" strike="noStrike" cap="none" normalizeH="0" baseline="0" dirty="0">
                          <a:ln>
                            <a:noFill/>
                          </a:ln>
                          <a:solidFill>
                            <a:schemeClr val="hlink"/>
                          </a:solidFill>
                          <a:effectLst/>
                          <a:latin typeface="Times New Roman" charset="0"/>
                        </a:rPr>
                        <a:t>Stack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2400" b="1" i="0" u="none" strike="noStrike" cap="none" normalizeH="0" baseline="0" dirty="0">
                          <a:ln>
                            <a:noFill/>
                          </a:ln>
                          <a:solidFill>
                            <a:schemeClr val="hlink"/>
                          </a:solidFill>
                          <a:effectLst/>
                          <a:latin typeface="Times New Roman" charset="0"/>
                        </a:rPr>
                        <a:t>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 name="Group 289"/>
          <p:cNvGraphicFramePr>
            <a:graphicFrameLocks noGrp="1"/>
          </p:cNvGraphicFramePr>
          <p:nvPr/>
        </p:nvGraphicFramePr>
        <p:xfrm>
          <a:off x="2590800" y="5443659"/>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Arial" charset="0"/>
                        </a:rPr>
                        <a:t>*</a:t>
                      </a: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a:ln>
                            <a:noFill/>
                          </a:ln>
                          <a:solidFill>
                            <a:schemeClr val="tx1"/>
                          </a:solidFill>
                          <a:effectLst/>
                          <a:latin typeface="Tahoma" pitchFamily="34" charset="0"/>
                          <a:cs typeface="Times New Roman" charset="0"/>
                        </a:rPr>
                        <a:t>+*</a:t>
                      </a:r>
                      <a:endParaRPr kumimoji="0" lang="en-US" sz="1800" b="0" i="0" u="none" strike="noStrike" cap="none" normalizeH="0" baseline="0">
                        <a:ln>
                          <a:noFill/>
                        </a:ln>
                        <a:solidFill>
                          <a:schemeClr val="tx1"/>
                        </a:solidFill>
                        <a:effectLst/>
                        <a:latin typeface="Arial" charset="0"/>
                      </a:endParaRP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Tahoma" pitchFamily="34" charset="0"/>
                          <a:cs typeface="Times New Roman" charset="0"/>
                        </a:rPr>
                        <a:t>23*21-/5</a:t>
                      </a:r>
                      <a:endParaRPr kumimoji="0" lang="en-US" sz="1800" b="0" i="0" u="none" strike="noStrike" cap="none" normalizeH="0" baseline="0" dirty="0">
                        <a:ln>
                          <a:noFill/>
                        </a:ln>
                        <a:solidFill>
                          <a:schemeClr val="tx1"/>
                        </a:solidFill>
                        <a:effectLst/>
                        <a:latin typeface="Arial" charset="0"/>
                      </a:endParaRP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0" name="Group 300"/>
          <p:cNvGraphicFramePr>
            <a:graphicFrameLocks noGrp="1"/>
          </p:cNvGraphicFramePr>
          <p:nvPr/>
        </p:nvGraphicFramePr>
        <p:xfrm>
          <a:off x="2590800" y="6189784"/>
          <a:ext cx="6705600" cy="365602"/>
        </p:xfrm>
        <a:graphic>
          <a:graphicData uri="http://schemas.openxmlformats.org/drawingml/2006/table">
            <a:tbl>
              <a:tblPr/>
              <a:tblGrid>
                <a:gridCol w="2028825">
                  <a:extLst>
                    <a:ext uri="{9D8B030D-6E8A-4147-A177-3AD203B41FA5}">
                      <a16:colId xmlns:a16="http://schemas.microsoft.com/office/drawing/2014/main" val="20000"/>
                    </a:ext>
                  </a:extLst>
                </a:gridCol>
                <a:gridCol w="2187575">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65125">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endParaRPr kumimoji="0" lang="en-US" sz="1800" b="0" i="0" u="none" strike="noStrike" cap="none" normalizeH="0" baseline="0">
                        <a:ln>
                          <a:noFill/>
                        </a:ln>
                        <a:solidFill>
                          <a:schemeClr val="tx1"/>
                        </a:solidFill>
                        <a:effectLst/>
                        <a:latin typeface="Arial" charset="0"/>
                      </a:endParaRPr>
                    </a:p>
                  </a:txBody>
                  <a:tcPr marT="45641" marB="456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a:ln>
                            <a:noFill/>
                          </a:ln>
                          <a:solidFill>
                            <a:schemeClr val="tx1"/>
                          </a:solidFill>
                          <a:effectLst/>
                          <a:latin typeface="Arial" charset="0"/>
                        </a:rPr>
                        <a:t>Empty</a:t>
                      </a:r>
                    </a:p>
                  </a:txBody>
                  <a:tcPr marT="45641" marB="456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1" i="0" u="none" strike="noStrike" cap="none" normalizeH="0" baseline="0" dirty="0">
                          <a:ln>
                            <a:noFill/>
                          </a:ln>
                          <a:solidFill>
                            <a:schemeClr val="accent1">
                              <a:lumMod val="75000"/>
                            </a:schemeClr>
                          </a:solidFill>
                          <a:effectLst/>
                          <a:latin typeface="Tahoma" pitchFamily="34" charset="0"/>
                          <a:cs typeface="Times New Roman" charset="0"/>
                        </a:rPr>
                        <a:t>23*21-/53*+</a:t>
                      </a:r>
                      <a:endParaRPr kumimoji="0" lang="en-US" sz="1800" b="1" i="0" u="none" strike="noStrike" cap="none" normalizeH="0" baseline="0" dirty="0">
                        <a:ln>
                          <a:noFill/>
                        </a:ln>
                        <a:solidFill>
                          <a:schemeClr val="accent1">
                            <a:lumMod val="75000"/>
                          </a:schemeClr>
                        </a:solidFill>
                        <a:effectLst/>
                        <a:latin typeface="Arial" charset="0"/>
                      </a:endParaRPr>
                    </a:p>
                  </a:txBody>
                  <a:tcPr marT="45641" marB="456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73725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BBD8D-86EB-49A2-BA6F-3E94C4BB69B4}"/>
              </a:ext>
            </a:extLst>
          </p:cNvPr>
          <p:cNvSpPr>
            <a:spLocks noGrp="1"/>
          </p:cNvSpPr>
          <p:nvPr>
            <p:ph type="title"/>
          </p:nvPr>
        </p:nvSpPr>
        <p:spPr/>
        <p:txBody>
          <a:bodyPr>
            <a:normAutofit/>
          </a:bodyPr>
          <a:lstStyle/>
          <a:p>
            <a:r>
              <a:rPr lang="de-DE" b="1" dirty="0"/>
              <a:t>Applications: Evaluating a Postfix expression using Stack</a:t>
            </a:r>
            <a:endParaRPr lang="en-US" b="1" dirty="0"/>
          </a:p>
        </p:txBody>
      </p:sp>
      <p:sp>
        <p:nvSpPr>
          <p:cNvPr id="3" name="Text Placeholder 2"/>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270BE3-54AD-4304-BAE6-6059870D3162}"/>
              </a:ext>
            </a:extLst>
          </p:cNvPr>
          <p:cNvSpPr>
            <a:spLocks noGrp="1"/>
          </p:cNvSpPr>
          <p:nvPr>
            <p:ph type="sldNum" sz="quarter" idx="12"/>
          </p:nvPr>
        </p:nvSpPr>
        <p:spPr/>
        <p:txBody>
          <a:bodyPr/>
          <a:lstStyle/>
          <a:p>
            <a:pPr>
              <a:defRPr/>
            </a:pPr>
            <a:fld id="{1F4BC561-BCEA-4F0B-95C2-8CA863EDD649}" type="slidenum">
              <a:rPr lang="de-DE" altLang="zh-CN" smtClean="0"/>
              <a:pPr>
                <a:defRPr/>
              </a:pPr>
              <a:t>61</a:t>
            </a:fld>
            <a:endParaRPr lang="de-DE" altLang="zh-CN" dirty="0"/>
          </a:p>
        </p:txBody>
      </p:sp>
    </p:spTree>
    <p:extLst>
      <p:ext uri="{BB962C8B-B14F-4D97-AF65-F5344CB8AC3E}">
        <p14:creationId xmlns:p14="http://schemas.microsoft.com/office/powerpoint/2010/main" val="1990500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Evaluating Postfix expression</a:t>
            </a:r>
            <a:endParaRPr lang="en-US" b="1" dirty="0"/>
          </a:p>
        </p:txBody>
      </p:sp>
      <p:sp>
        <p:nvSpPr>
          <p:cNvPr id="3" name="Content Placeholder 2"/>
          <p:cNvSpPr>
            <a:spLocks noGrp="1"/>
          </p:cNvSpPr>
          <p:nvPr>
            <p:ph idx="1"/>
          </p:nvPr>
        </p:nvSpPr>
        <p:spPr/>
        <p:txBody>
          <a:bodyPr>
            <a:noAutofit/>
          </a:bodyPr>
          <a:lstStyle/>
          <a:p>
            <a:r>
              <a:rPr lang="en-GB" dirty="0"/>
              <a:t>Each operator in a </a:t>
            </a:r>
            <a:r>
              <a:rPr lang="en-GB" dirty="0">
                <a:solidFill>
                  <a:schemeClr val="accent1">
                    <a:lumMod val="75000"/>
                  </a:schemeClr>
                </a:solidFill>
              </a:rPr>
              <a:t>postfix string refers </a:t>
            </a:r>
            <a:r>
              <a:rPr lang="en-GB" dirty="0"/>
              <a:t>to the previous </a:t>
            </a:r>
            <a:r>
              <a:rPr lang="en-GB" dirty="0">
                <a:solidFill>
                  <a:schemeClr val="accent1">
                    <a:lumMod val="75000"/>
                  </a:schemeClr>
                </a:solidFill>
              </a:rPr>
              <a:t>two operands </a:t>
            </a:r>
            <a:r>
              <a:rPr lang="en-GB" dirty="0"/>
              <a:t>in the string</a:t>
            </a:r>
          </a:p>
          <a:p>
            <a:endParaRPr lang="en-GB" dirty="0"/>
          </a:p>
          <a:p>
            <a:r>
              <a:rPr lang="en-GB" dirty="0"/>
              <a:t>Suppose that each time we read an operand we </a:t>
            </a:r>
            <a:r>
              <a:rPr lang="en-GB" dirty="0">
                <a:solidFill>
                  <a:schemeClr val="accent1">
                    <a:lumMod val="75000"/>
                  </a:schemeClr>
                </a:solidFill>
              </a:rPr>
              <a:t>push</a:t>
            </a:r>
            <a:r>
              <a:rPr lang="en-GB" dirty="0"/>
              <a:t> it into a stack. When we reach an operator, its operands will then be the </a:t>
            </a:r>
            <a:r>
              <a:rPr lang="en-GB" dirty="0">
                <a:solidFill>
                  <a:schemeClr val="accent1">
                    <a:lumMod val="75000"/>
                  </a:schemeClr>
                </a:solidFill>
              </a:rPr>
              <a:t>top two elements </a:t>
            </a:r>
            <a:r>
              <a:rPr lang="en-GB" dirty="0"/>
              <a:t>on the stack</a:t>
            </a:r>
          </a:p>
          <a:p>
            <a:endParaRPr lang="en-GB" dirty="0"/>
          </a:p>
          <a:p>
            <a:r>
              <a:rPr lang="en-GB" dirty="0"/>
              <a:t>We can then </a:t>
            </a:r>
            <a:r>
              <a:rPr lang="en-GB" dirty="0">
                <a:solidFill>
                  <a:schemeClr val="accent1">
                    <a:lumMod val="75000"/>
                  </a:schemeClr>
                </a:solidFill>
              </a:rPr>
              <a:t>pop</a:t>
            </a:r>
            <a:r>
              <a:rPr lang="en-GB" dirty="0"/>
              <a:t> these two elements, perform the indicated operation on them, and </a:t>
            </a:r>
            <a:r>
              <a:rPr lang="en-GB" dirty="0">
                <a:solidFill>
                  <a:schemeClr val="accent1">
                    <a:lumMod val="75000"/>
                  </a:schemeClr>
                </a:solidFill>
              </a:rPr>
              <a:t>push</a:t>
            </a:r>
            <a:r>
              <a:rPr lang="en-GB" dirty="0"/>
              <a:t> the result back onto the stack so that it will be available for use as an </a:t>
            </a:r>
            <a:r>
              <a:rPr lang="en-GB" dirty="0">
                <a:solidFill>
                  <a:schemeClr val="accent1">
                    <a:lumMod val="75000"/>
                  </a:schemeClr>
                </a:solidFill>
              </a:rPr>
              <a:t>operand</a:t>
            </a:r>
            <a:r>
              <a:rPr lang="en-GB" dirty="0"/>
              <a:t> of the </a:t>
            </a:r>
            <a:r>
              <a:rPr lang="en-GB" dirty="0">
                <a:solidFill>
                  <a:schemeClr val="accent1">
                    <a:lumMod val="75000"/>
                  </a:schemeClr>
                </a:solidFill>
              </a:rPr>
              <a:t>next operator</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62</a:t>
            </a:fld>
            <a:endParaRPr lang="de-DE" altLang="zh-CN" dirty="0"/>
          </a:p>
        </p:txBody>
      </p:sp>
    </p:spTree>
    <p:extLst>
      <p:ext uri="{BB962C8B-B14F-4D97-AF65-F5344CB8AC3E}">
        <p14:creationId xmlns:p14="http://schemas.microsoft.com/office/powerpoint/2010/main" val="6965429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Algorithm </a:t>
            </a:r>
            <a:r>
              <a:rPr lang="de-DE" b="1" dirty="0" err="1"/>
              <a:t>to</a:t>
            </a:r>
            <a:r>
              <a:rPr lang="de-DE" b="1" dirty="0"/>
              <a:t> </a:t>
            </a:r>
            <a:r>
              <a:rPr lang="de-DE" b="1" dirty="0" err="1"/>
              <a:t>Evaluate</a:t>
            </a:r>
            <a:r>
              <a:rPr lang="de-DE" b="1" dirty="0"/>
              <a:t> Postfix Expression </a:t>
            </a:r>
            <a:endParaRPr lang="en-US" b="1" dirty="0"/>
          </a:p>
        </p:txBody>
      </p:sp>
      <p:sp>
        <p:nvSpPr>
          <p:cNvPr id="3" name="Content Placeholder 2"/>
          <p:cNvSpPr>
            <a:spLocks noGrp="1"/>
          </p:cNvSpPr>
          <p:nvPr>
            <p:ph idx="1"/>
          </p:nvPr>
        </p:nvSpPr>
        <p:spPr/>
        <p:txBody>
          <a:bodyPr>
            <a:noAutofit/>
          </a:bodyPr>
          <a:lstStyle/>
          <a:p>
            <a:pPr marL="457200" indent="-457200">
              <a:buFont typeface="+mj-lt"/>
              <a:buAutoNum type="arabicParenR"/>
            </a:pPr>
            <a:r>
              <a:rPr lang="en-GB" dirty="0"/>
              <a:t>Create an empty stack</a:t>
            </a:r>
          </a:p>
          <a:p>
            <a:pPr marL="457200" indent="-457200">
              <a:buFont typeface="+mj-lt"/>
              <a:buAutoNum type="arabicParenR"/>
            </a:pPr>
            <a:r>
              <a:rPr lang="en-GB" dirty="0"/>
              <a:t>Scan the elements of Postfix expression from left to right</a:t>
            </a:r>
          </a:p>
          <a:p>
            <a:pPr marL="457200" indent="-457200">
              <a:buFont typeface="+mj-lt"/>
              <a:buAutoNum type="arabicParenR"/>
            </a:pPr>
            <a:r>
              <a:rPr lang="en-GB" dirty="0"/>
              <a:t>If the element is an operand, </a:t>
            </a:r>
            <a:r>
              <a:rPr lang="en-GB" dirty="0">
                <a:solidFill>
                  <a:schemeClr val="accent1">
                    <a:lumMod val="75000"/>
                  </a:schemeClr>
                </a:solidFill>
              </a:rPr>
              <a:t>push</a:t>
            </a:r>
            <a:r>
              <a:rPr lang="en-GB" dirty="0"/>
              <a:t> the value onto the stack</a:t>
            </a:r>
          </a:p>
          <a:p>
            <a:pPr marL="457200" indent="-457200">
              <a:buFont typeface="+mj-lt"/>
              <a:buAutoNum type="arabicParenR"/>
            </a:pPr>
            <a:r>
              <a:rPr lang="en-GB" dirty="0"/>
              <a:t>If the element is an </a:t>
            </a:r>
            <a:r>
              <a:rPr lang="en-GB" dirty="0">
                <a:solidFill>
                  <a:schemeClr val="accent1">
                    <a:lumMod val="75000"/>
                  </a:schemeClr>
                </a:solidFill>
              </a:rPr>
              <a:t>operator</a:t>
            </a:r>
            <a:r>
              <a:rPr lang="en-GB" dirty="0"/>
              <a:t>, *, /, +, or -</a:t>
            </a:r>
          </a:p>
          <a:p>
            <a:pPr lvl="1">
              <a:buFont typeface="Wingdings" panose="05000000000000000000" pitchFamily="2" charset="2"/>
              <a:buChar char="§"/>
            </a:pPr>
            <a:r>
              <a:rPr lang="en-GB" sz="2400" dirty="0">
                <a:solidFill>
                  <a:schemeClr val="accent1">
                    <a:lumMod val="75000"/>
                  </a:schemeClr>
                </a:solidFill>
              </a:rPr>
              <a:t>Pop</a:t>
            </a:r>
            <a:r>
              <a:rPr lang="en-GB" sz="2400" dirty="0"/>
              <a:t> the stack twice. The </a:t>
            </a:r>
            <a:r>
              <a:rPr lang="en-GB" sz="2400" dirty="0">
                <a:solidFill>
                  <a:schemeClr val="accent1">
                    <a:lumMod val="75000"/>
                  </a:schemeClr>
                </a:solidFill>
              </a:rPr>
              <a:t>first pop </a:t>
            </a:r>
            <a:r>
              <a:rPr lang="en-GB" sz="2400" dirty="0"/>
              <a:t>is the </a:t>
            </a:r>
            <a:r>
              <a:rPr lang="en-GB" sz="2400" dirty="0">
                <a:solidFill>
                  <a:schemeClr val="accent1">
                    <a:lumMod val="75000"/>
                  </a:schemeClr>
                </a:solidFill>
              </a:rPr>
              <a:t>second operand</a:t>
            </a:r>
            <a:r>
              <a:rPr lang="en-GB" sz="2400" dirty="0"/>
              <a:t> and the </a:t>
            </a:r>
            <a:r>
              <a:rPr lang="en-GB" sz="2400" dirty="0">
                <a:solidFill>
                  <a:schemeClr val="accent1">
                    <a:lumMod val="75000"/>
                  </a:schemeClr>
                </a:solidFill>
              </a:rPr>
              <a:t>second pop </a:t>
            </a:r>
            <a:r>
              <a:rPr lang="en-GB" sz="2400" dirty="0"/>
              <a:t>is the </a:t>
            </a:r>
            <a:r>
              <a:rPr lang="en-GB" sz="2400" dirty="0">
                <a:solidFill>
                  <a:schemeClr val="accent1">
                    <a:lumMod val="75000"/>
                  </a:schemeClr>
                </a:solidFill>
              </a:rPr>
              <a:t>first operand</a:t>
            </a:r>
          </a:p>
          <a:p>
            <a:pPr lvl="1">
              <a:buFont typeface="Wingdings" panose="05000000000000000000" pitchFamily="2" charset="2"/>
              <a:buChar char="§"/>
            </a:pPr>
            <a:r>
              <a:rPr lang="en-GB" sz="2400" dirty="0"/>
              <a:t>Perform the </a:t>
            </a:r>
            <a:r>
              <a:rPr lang="en-GB" sz="2400" dirty="0">
                <a:solidFill>
                  <a:schemeClr val="accent1">
                    <a:lumMod val="75000"/>
                  </a:schemeClr>
                </a:solidFill>
              </a:rPr>
              <a:t>arithmetic operation </a:t>
            </a:r>
            <a:r>
              <a:rPr lang="en-GB" sz="2400" dirty="0"/>
              <a:t>&amp; </a:t>
            </a:r>
            <a:r>
              <a:rPr lang="en-GB" sz="2400" dirty="0">
                <a:solidFill>
                  <a:schemeClr val="accent1">
                    <a:lumMod val="75000"/>
                  </a:schemeClr>
                </a:solidFill>
              </a:rPr>
              <a:t>push</a:t>
            </a:r>
            <a:r>
              <a:rPr lang="en-GB" sz="2400" dirty="0"/>
              <a:t> the result back on the stack</a:t>
            </a:r>
          </a:p>
          <a:p>
            <a:pPr marL="457200" indent="-457200">
              <a:buFont typeface="+mj-lt"/>
              <a:buAutoNum type="arabicParenR"/>
            </a:pPr>
            <a:r>
              <a:rPr lang="en-GB" dirty="0"/>
              <a:t>When the input expression has been completely processed, apply </a:t>
            </a:r>
            <a:r>
              <a:rPr lang="en-GB" dirty="0">
                <a:solidFill>
                  <a:schemeClr val="accent1">
                    <a:lumMod val="75000"/>
                  </a:schemeClr>
                </a:solidFill>
              </a:rPr>
              <a:t>pop</a:t>
            </a:r>
            <a:r>
              <a:rPr lang="en-GB" dirty="0"/>
              <a:t> operation onto the stack to return the computed value</a:t>
            </a:r>
          </a:p>
          <a:p>
            <a:endParaRPr lang="en-US"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63</a:t>
            </a:fld>
            <a:endParaRPr lang="de-DE" altLang="zh-CN" dirty="0"/>
          </a:p>
        </p:txBody>
      </p:sp>
    </p:spTree>
    <p:extLst>
      <p:ext uri="{BB962C8B-B14F-4D97-AF65-F5344CB8AC3E}">
        <p14:creationId xmlns:p14="http://schemas.microsoft.com/office/powerpoint/2010/main" val="2322993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Algorithm to evaluate Postfix expression </a:t>
            </a:r>
            <a:endParaRPr lang="en-US" b="1" dirty="0"/>
          </a:p>
        </p:txBody>
      </p:sp>
      <p:sp>
        <p:nvSpPr>
          <p:cNvPr id="5" name="Rectangle 3"/>
          <p:cNvSpPr>
            <a:spLocks noGrp="1" noChangeArrowheads="1"/>
          </p:cNvSpPr>
          <p:nvPr>
            <p:ph idx="1"/>
          </p:nvPr>
        </p:nvSpPr>
        <p:spPr>
          <a:xfrm>
            <a:off x="1066800" y="1908110"/>
            <a:ext cx="8686800" cy="4953000"/>
          </a:xfrm>
        </p:spPr>
        <p:txBody>
          <a:bodyPr>
            <a:noAutofit/>
          </a:bodyPr>
          <a:lstStyle/>
          <a:p>
            <a:pPr eaLnBrk="1" hangingPunct="1">
              <a:lnSpc>
                <a:spcPct val="100000"/>
              </a:lnSpc>
              <a:spcBef>
                <a:spcPts val="0"/>
              </a:spcBef>
              <a:buFont typeface="Wingdings" panose="05000000000000000000" pitchFamily="2" charset="2"/>
              <a:buNone/>
            </a:pPr>
            <a:r>
              <a:rPr lang="en-US" altLang="en-US" sz="2400" dirty="0">
                <a:cs typeface="Times New Roman" panose="02020603050405020304" pitchFamily="18" charset="0"/>
              </a:rPr>
              <a:t>WHILE more input items exist</a:t>
            </a:r>
          </a:p>
          <a:p>
            <a:pPr eaLnBrk="1" hangingPunct="1">
              <a:lnSpc>
                <a:spcPct val="100000"/>
              </a:lnSpc>
              <a:spcBef>
                <a:spcPts val="0"/>
              </a:spcBef>
              <a:buFont typeface="Wingdings" panose="05000000000000000000" pitchFamily="2" charset="2"/>
              <a:buNone/>
            </a:pPr>
            <a:r>
              <a:rPr lang="en-US" altLang="en-US" sz="2400" dirty="0">
                <a:cs typeface="Times New Roman" panose="02020603050405020304" pitchFamily="18" charset="0"/>
              </a:rPr>
              <a:t>{</a:t>
            </a:r>
            <a:endParaRPr lang="en-US" altLang="en-US" sz="2400" dirty="0"/>
          </a:p>
          <a:p>
            <a:pPr eaLnBrk="1" hangingPunct="1">
              <a:lnSpc>
                <a:spcPct val="100000"/>
              </a:lnSpc>
              <a:spcBef>
                <a:spcPts val="0"/>
              </a:spcBef>
              <a:buFont typeface="Wingdings" panose="05000000000000000000" pitchFamily="2" charset="2"/>
              <a:buNone/>
            </a:pPr>
            <a:r>
              <a:rPr lang="en-US" altLang="en-US" sz="2400" dirty="0"/>
              <a:t>	If</a:t>
            </a:r>
            <a:r>
              <a:rPr lang="en-US" altLang="en-US" sz="2400" dirty="0">
                <a:solidFill>
                  <a:schemeClr val="hlink"/>
                </a:solidFill>
              </a:rPr>
              <a:t> </a:t>
            </a:r>
            <a:r>
              <a:rPr lang="en-US" altLang="en-US" sz="2400" dirty="0" err="1">
                <a:solidFill>
                  <a:schemeClr val="hlink"/>
                </a:solidFill>
              </a:rPr>
              <a:t>symb</a:t>
            </a:r>
            <a:r>
              <a:rPr lang="en-US" altLang="en-US" sz="2400" dirty="0"/>
              <a:t> is an operand </a:t>
            </a:r>
          </a:p>
          <a:p>
            <a:pPr eaLnBrk="1" hangingPunct="1">
              <a:lnSpc>
                <a:spcPct val="100000"/>
              </a:lnSpc>
              <a:spcBef>
                <a:spcPts val="0"/>
              </a:spcBef>
              <a:buFont typeface="Wingdings" panose="05000000000000000000" pitchFamily="2" charset="2"/>
              <a:buNone/>
            </a:pPr>
            <a:r>
              <a:rPr lang="en-US" altLang="en-US" sz="2400" dirty="0"/>
              <a:t>		then </a:t>
            </a:r>
            <a:r>
              <a:rPr lang="en-US" altLang="en-US" sz="2400" dirty="0">
                <a:solidFill>
                  <a:schemeClr val="hlink"/>
                </a:solidFill>
              </a:rPr>
              <a:t>push (</a:t>
            </a:r>
            <a:r>
              <a:rPr lang="en-US" altLang="en-US" sz="2400" dirty="0" err="1">
                <a:solidFill>
                  <a:schemeClr val="hlink"/>
                </a:solidFill>
              </a:rPr>
              <a:t>stk,symb</a:t>
            </a:r>
            <a:r>
              <a:rPr lang="en-US" altLang="en-US" sz="2400" dirty="0">
                <a:solidFill>
                  <a:schemeClr val="hlink"/>
                </a:solidFill>
              </a:rPr>
              <a:t>) </a:t>
            </a:r>
            <a:r>
              <a:rPr lang="en-US" altLang="en-US" sz="2400" dirty="0">
                <a:solidFill>
                  <a:srgbClr val="00B050"/>
                </a:solidFill>
              </a:rPr>
              <a:t>// </a:t>
            </a:r>
            <a:r>
              <a:rPr lang="en-US" altLang="en-US" sz="2400" dirty="0" err="1">
                <a:solidFill>
                  <a:srgbClr val="00B050"/>
                </a:solidFill>
              </a:rPr>
              <a:t>stk</a:t>
            </a:r>
            <a:r>
              <a:rPr lang="en-US" altLang="en-US" sz="2400" dirty="0">
                <a:solidFill>
                  <a:srgbClr val="00B050"/>
                </a:solidFill>
              </a:rPr>
              <a:t> is the stack used</a:t>
            </a:r>
          </a:p>
          <a:p>
            <a:pPr eaLnBrk="1" hangingPunct="1">
              <a:lnSpc>
                <a:spcPct val="100000"/>
              </a:lnSpc>
              <a:spcBef>
                <a:spcPts val="0"/>
              </a:spcBef>
              <a:buFont typeface="Wingdings" panose="05000000000000000000" pitchFamily="2" charset="2"/>
              <a:buNone/>
            </a:pPr>
            <a:r>
              <a:rPr lang="en-US" altLang="en-US" sz="2400" dirty="0"/>
              <a:t>	else 	</a:t>
            </a:r>
            <a:r>
              <a:rPr lang="en-US" altLang="en-US" sz="2400" dirty="0">
                <a:solidFill>
                  <a:srgbClr val="33CC33"/>
                </a:solidFill>
              </a:rPr>
              <a:t>//symbol is an operator</a:t>
            </a:r>
          </a:p>
          <a:p>
            <a:pPr eaLnBrk="1" hangingPunct="1">
              <a:lnSpc>
                <a:spcPct val="100000"/>
              </a:lnSpc>
              <a:spcBef>
                <a:spcPts val="0"/>
              </a:spcBef>
              <a:buFont typeface="Wingdings" panose="05000000000000000000" pitchFamily="2" charset="2"/>
              <a:buNone/>
            </a:pPr>
            <a:r>
              <a:rPr lang="en-US" altLang="en-US" sz="2400" dirty="0"/>
              <a:t>	{</a:t>
            </a:r>
          </a:p>
          <a:p>
            <a:pPr eaLnBrk="1" hangingPunct="1">
              <a:lnSpc>
                <a:spcPct val="100000"/>
              </a:lnSpc>
              <a:spcBef>
                <a:spcPts val="0"/>
              </a:spcBef>
              <a:buFont typeface="Wingdings" panose="05000000000000000000" pitchFamily="2" charset="2"/>
              <a:buNone/>
            </a:pPr>
            <a:r>
              <a:rPr lang="en-US" altLang="en-US" sz="2400" dirty="0"/>
              <a:t>		</a:t>
            </a:r>
            <a:r>
              <a:rPr lang="en-US" altLang="en-US" sz="2400" dirty="0">
                <a:solidFill>
                  <a:schemeClr val="hlink"/>
                </a:solidFill>
              </a:rPr>
              <a:t>Opnd1</a:t>
            </a:r>
            <a:r>
              <a:rPr lang="en-US" altLang="en-US" sz="2400" dirty="0"/>
              <a:t>=pop(</a:t>
            </a:r>
            <a:r>
              <a:rPr lang="en-US" altLang="en-US" sz="2400" dirty="0" err="1"/>
              <a:t>stk</a:t>
            </a:r>
            <a:r>
              <a:rPr lang="en-US" altLang="en-US" sz="2400" dirty="0"/>
              <a:t>); </a:t>
            </a:r>
          </a:p>
          <a:p>
            <a:pPr eaLnBrk="1" hangingPunct="1">
              <a:lnSpc>
                <a:spcPct val="100000"/>
              </a:lnSpc>
              <a:spcBef>
                <a:spcPts val="0"/>
              </a:spcBef>
              <a:buFont typeface="Wingdings" panose="05000000000000000000" pitchFamily="2" charset="2"/>
              <a:buNone/>
            </a:pPr>
            <a:r>
              <a:rPr lang="en-US" altLang="en-US" sz="2400" dirty="0"/>
              <a:t>		</a:t>
            </a:r>
            <a:r>
              <a:rPr lang="en-US" altLang="en-US" sz="2400" dirty="0">
                <a:solidFill>
                  <a:schemeClr val="hlink"/>
                </a:solidFill>
              </a:rPr>
              <a:t>Opnd2</a:t>
            </a:r>
            <a:r>
              <a:rPr lang="en-US" altLang="en-US" sz="2400" dirty="0"/>
              <a:t>=pop(</a:t>
            </a:r>
            <a:r>
              <a:rPr lang="en-US" altLang="en-US" sz="2400" dirty="0" err="1"/>
              <a:t>stk</a:t>
            </a:r>
            <a:r>
              <a:rPr lang="en-US" altLang="en-US" sz="2400" dirty="0"/>
              <a:t>);</a:t>
            </a:r>
          </a:p>
          <a:p>
            <a:pPr eaLnBrk="1" hangingPunct="1">
              <a:lnSpc>
                <a:spcPct val="100000"/>
              </a:lnSpc>
              <a:spcBef>
                <a:spcPts val="0"/>
              </a:spcBef>
              <a:buFont typeface="Wingdings" panose="05000000000000000000" pitchFamily="2" charset="2"/>
              <a:buNone/>
            </a:pPr>
            <a:r>
              <a:rPr lang="en-US" altLang="en-US" sz="2400" dirty="0"/>
              <a:t>		</a:t>
            </a:r>
            <a:r>
              <a:rPr lang="en-US" altLang="en-US" sz="2400" dirty="0">
                <a:solidFill>
                  <a:schemeClr val="hlink"/>
                </a:solidFill>
              </a:rPr>
              <a:t>Value</a:t>
            </a:r>
            <a:r>
              <a:rPr lang="en-US" altLang="en-US" sz="2400" dirty="0"/>
              <a:t> = result of applying </a:t>
            </a:r>
            <a:r>
              <a:rPr lang="en-US" altLang="en-US" sz="2400" dirty="0" err="1">
                <a:solidFill>
                  <a:schemeClr val="hlink"/>
                </a:solidFill>
              </a:rPr>
              <a:t>symb</a:t>
            </a:r>
            <a:r>
              <a:rPr lang="en-US" altLang="en-US" sz="2400" dirty="0">
                <a:solidFill>
                  <a:schemeClr val="hlink"/>
                </a:solidFill>
              </a:rPr>
              <a:t> </a:t>
            </a:r>
            <a:r>
              <a:rPr lang="en-US" altLang="en-US" sz="2400" dirty="0"/>
              <a:t>to </a:t>
            </a:r>
            <a:r>
              <a:rPr lang="en-US" altLang="en-US" sz="2400" dirty="0">
                <a:solidFill>
                  <a:schemeClr val="hlink"/>
                </a:solidFill>
              </a:rPr>
              <a:t>opnd1 &amp; opnd2</a:t>
            </a:r>
          </a:p>
          <a:p>
            <a:pPr eaLnBrk="1" hangingPunct="1">
              <a:lnSpc>
                <a:spcPct val="100000"/>
              </a:lnSpc>
              <a:spcBef>
                <a:spcPts val="0"/>
              </a:spcBef>
              <a:buFont typeface="Wingdings" panose="05000000000000000000" pitchFamily="2" charset="2"/>
              <a:buNone/>
            </a:pPr>
            <a:r>
              <a:rPr lang="en-US" altLang="en-US" sz="2400" dirty="0"/>
              <a:t>		</a:t>
            </a:r>
            <a:r>
              <a:rPr lang="en-US" altLang="en-US" sz="2400" dirty="0">
                <a:solidFill>
                  <a:schemeClr val="hlink"/>
                </a:solidFill>
              </a:rPr>
              <a:t>Push(</a:t>
            </a:r>
            <a:r>
              <a:rPr lang="en-US" altLang="en-US" sz="2400" dirty="0" err="1">
                <a:solidFill>
                  <a:schemeClr val="hlink"/>
                </a:solidFill>
              </a:rPr>
              <a:t>stk,value</a:t>
            </a:r>
            <a:r>
              <a:rPr lang="en-US" altLang="en-US" sz="2400" dirty="0">
                <a:solidFill>
                  <a:schemeClr val="hlink"/>
                </a:solidFill>
              </a:rPr>
              <a:t>);</a:t>
            </a:r>
          </a:p>
          <a:p>
            <a:pPr eaLnBrk="1" hangingPunct="1">
              <a:lnSpc>
                <a:spcPct val="100000"/>
              </a:lnSpc>
              <a:spcBef>
                <a:spcPts val="0"/>
              </a:spcBef>
              <a:buFont typeface="Wingdings" panose="05000000000000000000" pitchFamily="2" charset="2"/>
              <a:buNone/>
            </a:pPr>
            <a:r>
              <a:rPr lang="en-US" altLang="en-US" sz="2400" dirty="0"/>
              <a:t>	}		</a:t>
            </a:r>
            <a:r>
              <a:rPr lang="en-US" altLang="en-US" sz="2400" dirty="0">
                <a:solidFill>
                  <a:srgbClr val="33CC33"/>
                </a:solidFill>
              </a:rPr>
              <a:t>//End of else</a:t>
            </a:r>
          </a:p>
          <a:p>
            <a:pPr eaLnBrk="1" hangingPunct="1">
              <a:lnSpc>
                <a:spcPct val="100000"/>
              </a:lnSpc>
              <a:spcBef>
                <a:spcPts val="0"/>
              </a:spcBef>
              <a:buFont typeface="Wingdings" panose="05000000000000000000" pitchFamily="2" charset="2"/>
              <a:buNone/>
            </a:pPr>
            <a:r>
              <a:rPr lang="en-US" altLang="en-US" sz="2400" dirty="0"/>
              <a:t>} </a:t>
            </a:r>
            <a:r>
              <a:rPr lang="en-US" altLang="en-US" sz="2400" dirty="0">
                <a:solidFill>
                  <a:srgbClr val="33CC33"/>
                </a:solidFill>
              </a:rPr>
              <a:t>// end while</a:t>
            </a:r>
          </a:p>
          <a:p>
            <a:pPr eaLnBrk="1" hangingPunct="1">
              <a:lnSpc>
                <a:spcPct val="100000"/>
              </a:lnSpc>
              <a:spcBef>
                <a:spcPts val="0"/>
              </a:spcBef>
              <a:buFont typeface="Wingdings" panose="05000000000000000000" pitchFamily="2" charset="2"/>
              <a:buNone/>
            </a:pPr>
            <a:r>
              <a:rPr lang="en-US" altLang="en-US" sz="2400" dirty="0"/>
              <a:t>Result = pop (</a:t>
            </a:r>
            <a:r>
              <a:rPr lang="en-US" altLang="en-US" sz="2400" dirty="0" err="1"/>
              <a:t>stk</a:t>
            </a:r>
            <a:r>
              <a:rPr lang="en-US" altLang="en-US" sz="2400" dirty="0"/>
              <a:t>);</a:t>
            </a:r>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64</a:t>
            </a:fld>
            <a:endParaRPr lang="de-DE" altLang="zh-CN" dirty="0"/>
          </a:p>
        </p:txBody>
      </p:sp>
    </p:spTree>
    <p:extLst>
      <p:ext uri="{BB962C8B-B14F-4D97-AF65-F5344CB8AC3E}">
        <p14:creationId xmlns:p14="http://schemas.microsoft.com/office/powerpoint/2010/main" val="34935778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e-DE" b="1" dirty="0"/>
              <a:t>Algorithm to evaluate Postfix expression </a:t>
            </a:r>
            <a:endParaRPr lang="en-US" b="1"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65</a:t>
            </a:fld>
            <a:endParaRPr lang="de-DE" altLang="zh-CN" dirty="0"/>
          </a:p>
        </p:txBody>
      </p:sp>
      <p:pic>
        <p:nvPicPr>
          <p:cNvPr id="5" name="Picture 3" descr="A:\stacks_fig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135478"/>
            <a:ext cx="8001000"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25706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Question</a:t>
            </a:r>
            <a:endParaRPr lang="en-US" b="1" dirty="0"/>
          </a:p>
        </p:txBody>
      </p:sp>
      <p:sp>
        <p:nvSpPr>
          <p:cNvPr id="3" name="Content Placeholder 2"/>
          <p:cNvSpPr>
            <a:spLocks noGrp="1"/>
          </p:cNvSpPr>
          <p:nvPr>
            <p:ph idx="1"/>
          </p:nvPr>
        </p:nvSpPr>
        <p:spPr/>
        <p:txBody>
          <a:bodyPr>
            <a:normAutofit lnSpcReduction="10000"/>
          </a:bodyPr>
          <a:lstStyle/>
          <a:p>
            <a:r>
              <a:rPr lang="en-US" dirty="0"/>
              <a:t> Evaluate following Postfix expression:</a:t>
            </a:r>
          </a:p>
          <a:p>
            <a:pPr marL="457200" lvl="1" indent="0">
              <a:buNone/>
            </a:pPr>
            <a:endParaRPr lang="en-US" sz="2400" dirty="0"/>
          </a:p>
          <a:p>
            <a:pPr marL="457200" lvl="1" indent="0">
              <a:buNone/>
            </a:pPr>
            <a:r>
              <a:rPr lang="en-US" sz="2400" b="1" dirty="0"/>
              <a:t>6 2 3 + - 3 8 2/ + * 2 ^ 3 +</a:t>
            </a:r>
          </a:p>
          <a:p>
            <a:pPr lvl="1"/>
            <a:endParaRPr lang="de-DE" sz="2400" dirty="0"/>
          </a:p>
          <a:p>
            <a:pPr marL="660400" indent="-660400">
              <a:buNone/>
              <a:defRPr/>
            </a:pPr>
            <a:r>
              <a:rPr lang="en-US" dirty="0"/>
              <a:t>Final answer is </a:t>
            </a:r>
          </a:p>
          <a:p>
            <a:pPr marL="660400" indent="-660400">
              <a:buFont typeface="+mj-lt"/>
              <a:buAutoNum type="alphaLcParenR"/>
              <a:defRPr/>
            </a:pPr>
            <a:r>
              <a:rPr lang="en-US" dirty="0"/>
              <a:t>49</a:t>
            </a:r>
          </a:p>
          <a:p>
            <a:pPr marL="660400" indent="-660400">
              <a:buFont typeface="+mj-lt"/>
              <a:buAutoNum type="alphaLcParenR"/>
              <a:defRPr/>
            </a:pPr>
            <a:r>
              <a:rPr lang="en-US" dirty="0"/>
              <a:t>51</a:t>
            </a:r>
          </a:p>
          <a:p>
            <a:pPr marL="660400" indent="-660400">
              <a:buFont typeface="+mj-lt"/>
              <a:buAutoNum type="alphaLcParenR"/>
              <a:defRPr/>
            </a:pPr>
            <a:r>
              <a:rPr lang="en-US" dirty="0"/>
              <a:t>52</a:t>
            </a:r>
          </a:p>
          <a:p>
            <a:pPr marL="660400" indent="-660400">
              <a:buFont typeface="+mj-lt"/>
              <a:buAutoNum type="alphaLcParenR"/>
              <a:defRPr/>
            </a:pPr>
            <a:r>
              <a:rPr lang="en-US" dirty="0"/>
              <a:t>7</a:t>
            </a:r>
          </a:p>
          <a:p>
            <a:pPr marL="660400" indent="-660400">
              <a:buFont typeface="+mj-lt"/>
              <a:buAutoNum type="alphaLcParenR"/>
              <a:defRPr/>
            </a:pPr>
            <a:r>
              <a:rPr lang="en-US" dirty="0"/>
              <a:t>None of these</a:t>
            </a:r>
          </a:p>
          <a:p>
            <a:pPr lvl="1"/>
            <a:endParaRPr lang="en-US" sz="2400" dirty="0"/>
          </a:p>
        </p:txBody>
      </p:sp>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66</a:t>
            </a:fld>
            <a:endParaRPr lang="de-DE" altLang="zh-CN" dirty="0"/>
          </a:p>
        </p:txBody>
      </p:sp>
      <p:sp>
        <p:nvSpPr>
          <p:cNvPr id="6" name="TextBox 5">
            <a:extLst>
              <a:ext uri="{FF2B5EF4-FFF2-40B4-BE49-F238E27FC236}">
                <a16:creationId xmlns:a16="http://schemas.microsoft.com/office/drawing/2014/main" id="{EF6CB349-372F-8B97-302B-469031DBFE74}"/>
              </a:ext>
            </a:extLst>
          </p:cNvPr>
          <p:cNvSpPr txBox="1"/>
          <p:nvPr/>
        </p:nvSpPr>
        <p:spPr>
          <a:xfrm>
            <a:off x="7391400" y="2033647"/>
            <a:ext cx="3124200" cy="4524315"/>
          </a:xfrm>
          <a:prstGeom prst="rect">
            <a:avLst/>
          </a:prstGeom>
          <a:noFill/>
        </p:spPr>
        <p:txBody>
          <a:bodyPr wrap="square">
            <a:spAutoFit/>
          </a:bodyPr>
          <a:lstStyle/>
          <a:p>
            <a:pPr>
              <a:buFont typeface="+mj-lt"/>
              <a:buAutoNum type="arabicPeriod"/>
            </a:pPr>
            <a:r>
              <a:rPr lang="en-GB" dirty="0"/>
              <a:t>Push 6 → [6]</a:t>
            </a:r>
          </a:p>
          <a:p>
            <a:pPr>
              <a:buFont typeface="+mj-lt"/>
              <a:buAutoNum type="arabicPeriod"/>
            </a:pPr>
            <a:r>
              <a:rPr lang="en-GB" dirty="0"/>
              <a:t>Push 2 → [6, 2]</a:t>
            </a:r>
          </a:p>
          <a:p>
            <a:pPr>
              <a:buFont typeface="+mj-lt"/>
              <a:buAutoNum type="arabicPeriod"/>
            </a:pPr>
            <a:r>
              <a:rPr lang="en-GB" dirty="0"/>
              <a:t>Push 3 → [6, 2, 3]</a:t>
            </a:r>
          </a:p>
          <a:p>
            <a:pPr>
              <a:buFont typeface="+mj-lt"/>
              <a:buAutoNum type="arabicPeriod"/>
            </a:pPr>
            <a:r>
              <a:rPr lang="en-GB" dirty="0"/>
              <a:t>+ → 2 + 3 = 5 → [6, 5]</a:t>
            </a:r>
          </a:p>
          <a:p>
            <a:pPr>
              <a:buFont typeface="+mj-lt"/>
              <a:buAutoNum type="arabicPeriod"/>
            </a:pPr>
            <a:r>
              <a:rPr lang="en-GB" dirty="0"/>
              <a:t>- → 6 - 5 = 1 → [1]</a:t>
            </a:r>
          </a:p>
          <a:p>
            <a:pPr>
              <a:buFont typeface="+mj-lt"/>
              <a:buAutoNum type="arabicPeriod"/>
            </a:pPr>
            <a:r>
              <a:rPr lang="en-GB" dirty="0"/>
              <a:t>Push 3 → [1, 3]</a:t>
            </a:r>
          </a:p>
          <a:p>
            <a:pPr>
              <a:buFont typeface="+mj-lt"/>
              <a:buAutoNum type="arabicPeriod"/>
            </a:pPr>
            <a:r>
              <a:rPr lang="en-GB" dirty="0"/>
              <a:t>Push 8 → [1, 3, 8]</a:t>
            </a:r>
          </a:p>
          <a:p>
            <a:pPr>
              <a:buFont typeface="+mj-lt"/>
              <a:buAutoNum type="arabicPeriod"/>
            </a:pPr>
            <a:r>
              <a:rPr lang="en-GB" dirty="0"/>
              <a:t>Push 2 → [1, 3, 8, 2]</a:t>
            </a:r>
          </a:p>
          <a:p>
            <a:pPr>
              <a:buFont typeface="+mj-lt"/>
              <a:buAutoNum type="arabicPeriod"/>
            </a:pPr>
            <a:r>
              <a:rPr lang="en-GB" dirty="0"/>
              <a:t>/ → 8 / 2 = 4 → [1, 3, 4]</a:t>
            </a:r>
          </a:p>
          <a:p>
            <a:pPr>
              <a:buFont typeface="+mj-lt"/>
              <a:buAutoNum type="arabicPeriod"/>
            </a:pPr>
            <a:r>
              <a:rPr lang="en-GB" dirty="0"/>
              <a:t>+ → 3 + 4 = 7 → [1, 7]</a:t>
            </a:r>
          </a:p>
          <a:p>
            <a:pPr>
              <a:buFont typeface="+mj-lt"/>
              <a:buAutoNum type="arabicPeriod"/>
            </a:pPr>
            <a:r>
              <a:rPr lang="en-GB" dirty="0"/>
              <a:t>* → 1 * 7 = 7 → [7]</a:t>
            </a:r>
          </a:p>
          <a:p>
            <a:pPr>
              <a:buFont typeface="+mj-lt"/>
              <a:buAutoNum type="arabicPeriod"/>
            </a:pPr>
            <a:r>
              <a:rPr lang="en-GB" dirty="0"/>
              <a:t>Push 2 → [7, 2]</a:t>
            </a:r>
          </a:p>
          <a:p>
            <a:pPr>
              <a:buFont typeface="+mj-lt"/>
              <a:buAutoNum type="arabicPeriod"/>
            </a:pPr>
            <a:r>
              <a:rPr lang="en-GB" dirty="0"/>
              <a:t>^ → 7 ^ 2 = 49 → [49]</a:t>
            </a:r>
          </a:p>
          <a:p>
            <a:pPr>
              <a:buFont typeface="+mj-lt"/>
              <a:buAutoNum type="arabicPeriod"/>
            </a:pPr>
            <a:r>
              <a:rPr lang="en-GB" dirty="0"/>
              <a:t>Push 3 → [49, 3]</a:t>
            </a:r>
          </a:p>
          <a:p>
            <a:pPr>
              <a:buFont typeface="+mj-lt"/>
              <a:buAutoNum type="arabicPeriod"/>
            </a:pPr>
            <a:r>
              <a:rPr lang="en-GB" dirty="0"/>
              <a:t>+ → 49 + 3 = 52 → [52]</a:t>
            </a:r>
          </a:p>
          <a:p>
            <a:endParaRPr lang="en-PK" dirty="0"/>
          </a:p>
        </p:txBody>
      </p:sp>
    </p:spTree>
    <p:extLst>
      <p:ext uri="{BB962C8B-B14F-4D97-AF65-F5344CB8AC3E}">
        <p14:creationId xmlns:p14="http://schemas.microsoft.com/office/powerpoint/2010/main" val="162042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3">
                                            <p:txEl>
                                              <p:pRg st="7" end="7"/>
                                            </p:txEl>
                                          </p:spTgt>
                                        </p:tgtEl>
                                        <p:attrNameLst>
                                          <p:attrName>style.color</p:attrName>
                                        </p:attrNameLst>
                                      </p:cBhvr>
                                      <p:to>
                                        <a:schemeClr val="accent2"/>
                                      </p:to>
                                    </p:animClr>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BBD8D-86EB-49A2-BA6F-3E94C4BB69B4}"/>
              </a:ext>
            </a:extLst>
          </p:cNvPr>
          <p:cNvSpPr>
            <a:spLocks noGrp="1"/>
          </p:cNvSpPr>
          <p:nvPr>
            <p:ph type="title"/>
          </p:nvPr>
        </p:nvSpPr>
        <p:spPr/>
        <p:txBody>
          <a:bodyPr>
            <a:normAutofit/>
          </a:bodyPr>
          <a:lstStyle/>
          <a:p>
            <a:r>
              <a:rPr lang="de-DE" b="1" dirty="0"/>
              <a:t>Applications: </a:t>
            </a:r>
            <a:br>
              <a:rPr lang="de-DE" b="1" dirty="0"/>
            </a:br>
            <a:r>
              <a:rPr lang="de-DE" b="1" dirty="0" err="1"/>
              <a:t>Adding</a:t>
            </a:r>
            <a:r>
              <a:rPr lang="de-DE" b="1" dirty="0"/>
              <a:t> Very Large </a:t>
            </a:r>
            <a:r>
              <a:rPr lang="de-DE" b="1" dirty="0" err="1"/>
              <a:t>Integers</a:t>
            </a:r>
            <a:endParaRPr lang="en-US" b="1" dirty="0"/>
          </a:p>
        </p:txBody>
      </p:sp>
      <p:sp>
        <p:nvSpPr>
          <p:cNvPr id="3" name="Text Placeholder 2"/>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270BE3-54AD-4304-BAE6-6059870D3162}"/>
              </a:ext>
            </a:extLst>
          </p:cNvPr>
          <p:cNvSpPr>
            <a:spLocks noGrp="1"/>
          </p:cNvSpPr>
          <p:nvPr>
            <p:ph type="sldNum" sz="quarter" idx="12"/>
          </p:nvPr>
        </p:nvSpPr>
        <p:spPr/>
        <p:txBody>
          <a:bodyPr/>
          <a:lstStyle/>
          <a:p>
            <a:pPr>
              <a:defRPr/>
            </a:pPr>
            <a:fld id="{1F4BC561-BCEA-4F0B-95C2-8CA863EDD649}" type="slidenum">
              <a:rPr lang="de-DE" altLang="zh-CN" smtClean="0"/>
              <a:pPr>
                <a:defRPr/>
              </a:pPr>
              <a:t>67</a:t>
            </a:fld>
            <a:endParaRPr lang="de-DE" altLang="zh-CN" dirty="0"/>
          </a:p>
        </p:txBody>
      </p:sp>
    </p:spTree>
    <p:extLst>
      <p:ext uri="{BB962C8B-B14F-4D97-AF65-F5344CB8AC3E}">
        <p14:creationId xmlns:p14="http://schemas.microsoft.com/office/powerpoint/2010/main" val="19710189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Adding very large numbers</a:t>
            </a:r>
          </a:p>
        </p:txBody>
      </p:sp>
      <p:sp>
        <p:nvSpPr>
          <p:cNvPr id="6" name="Content Placeholder 5"/>
          <p:cNvSpPr>
            <a:spLocks noGrp="1"/>
          </p:cNvSpPr>
          <p:nvPr>
            <p:ph idx="1"/>
          </p:nvPr>
        </p:nvSpPr>
        <p:spPr/>
        <p:txBody>
          <a:bodyPr>
            <a:normAutofit fontScale="92500" lnSpcReduction="10000"/>
          </a:bodyPr>
          <a:lstStyle/>
          <a:p>
            <a:r>
              <a:rPr lang="en-GB" dirty="0"/>
              <a:t>Consider adding very large numbers</a:t>
            </a:r>
          </a:p>
          <a:p>
            <a:pPr lvl="1"/>
            <a:r>
              <a:rPr lang="en-GB" dirty="0"/>
              <a:t>Since the largest magnitude of integers is limited (32 bits), so we are not able to perform following:</a:t>
            </a:r>
          </a:p>
          <a:p>
            <a:pPr marL="0" indent="0">
              <a:buNone/>
            </a:pPr>
            <a:r>
              <a:rPr lang="en-GB" dirty="0"/>
              <a:t>	</a:t>
            </a:r>
            <a:r>
              <a:rPr lang="en-GB" b="1" dirty="0"/>
              <a:t>18,274,364,583,929,273,748,459,595,684,373 </a:t>
            </a:r>
          </a:p>
          <a:p>
            <a:pPr marL="0" indent="0">
              <a:buNone/>
            </a:pPr>
            <a:r>
              <a:rPr lang="en-GB" b="1" dirty="0"/>
              <a:t>                                             + 	</a:t>
            </a:r>
          </a:p>
          <a:p>
            <a:pPr marL="0" indent="0">
              <a:buNone/>
            </a:pPr>
            <a:r>
              <a:rPr lang="en-GB" b="1" dirty="0"/>
              <a:t>                          8,129,498,165,026,350,236</a:t>
            </a:r>
          </a:p>
          <a:p>
            <a:pPr marL="0" indent="0">
              <a:buNone/>
            </a:pPr>
            <a:r>
              <a:rPr lang="en-GB" dirty="0"/>
              <a:t>   because integer variables </a:t>
            </a:r>
            <a:r>
              <a:rPr lang="en-GB" dirty="0">
                <a:solidFill>
                  <a:schemeClr val="accent1">
                    <a:lumMod val="75000"/>
                  </a:schemeClr>
                </a:solidFill>
              </a:rPr>
              <a:t>cannot hold such large values</a:t>
            </a:r>
          </a:p>
          <a:p>
            <a:r>
              <a:rPr lang="en-GB" dirty="0"/>
              <a:t>The problem can be solved if we</a:t>
            </a:r>
          </a:p>
          <a:p>
            <a:pPr lvl="1"/>
            <a:r>
              <a:rPr lang="en-GB" dirty="0"/>
              <a:t>treat these numbers as </a:t>
            </a:r>
            <a:r>
              <a:rPr lang="en-GB" dirty="0">
                <a:solidFill>
                  <a:schemeClr val="accent1">
                    <a:lumMod val="75000"/>
                  </a:schemeClr>
                </a:solidFill>
              </a:rPr>
              <a:t>strings</a:t>
            </a:r>
            <a:r>
              <a:rPr lang="en-GB" dirty="0"/>
              <a:t> of numerals, </a:t>
            </a:r>
          </a:p>
          <a:p>
            <a:pPr lvl="1"/>
            <a:r>
              <a:rPr lang="en-GB" dirty="0"/>
              <a:t>store the numbers corresponding to these numerals on </a:t>
            </a:r>
            <a:r>
              <a:rPr lang="en-GB" dirty="0">
                <a:solidFill>
                  <a:schemeClr val="accent1">
                    <a:lumMod val="75000"/>
                  </a:schemeClr>
                </a:solidFill>
              </a:rPr>
              <a:t>two stacks</a:t>
            </a:r>
            <a:r>
              <a:rPr lang="en-GB" dirty="0"/>
              <a:t>, and </a:t>
            </a:r>
          </a:p>
          <a:p>
            <a:pPr lvl="1"/>
            <a:r>
              <a:rPr lang="en-GB" dirty="0"/>
              <a:t>then perform addition by </a:t>
            </a:r>
            <a:r>
              <a:rPr lang="en-GB" dirty="0">
                <a:solidFill>
                  <a:schemeClr val="accent1">
                    <a:lumMod val="75000"/>
                  </a:schemeClr>
                </a:solidFill>
              </a:rPr>
              <a:t>popping</a:t>
            </a:r>
            <a:r>
              <a:rPr lang="en-GB" dirty="0"/>
              <a:t> numbers from the stacks</a:t>
            </a:r>
            <a:endParaRPr lang="en-US" dirty="0"/>
          </a:p>
        </p:txBody>
      </p:sp>
      <p:sp>
        <p:nvSpPr>
          <p:cNvPr id="4" name="Slide Number Placeholder 3"/>
          <p:cNvSpPr>
            <a:spLocks noGrp="1"/>
          </p:cNvSpPr>
          <p:nvPr>
            <p:ph type="sldNum" sz="quarter" idx="12"/>
          </p:nvPr>
        </p:nvSpPr>
        <p:spPr/>
        <p:txBody>
          <a:bodyPr/>
          <a:lstStyle/>
          <a:p>
            <a:pPr>
              <a:defRPr/>
            </a:pPr>
            <a:fld id="{19D9EF8D-1A3F-4770-88DF-5CE0BAFACB14}" type="slidenum">
              <a:rPr lang="en-US" altLang="en-US" smtClean="0"/>
              <a:pPr>
                <a:defRPr/>
              </a:pPr>
              <a:t>68</a:t>
            </a:fld>
            <a:endParaRPr lang="en-US" altLang="en-US"/>
          </a:p>
        </p:txBody>
      </p:sp>
    </p:spTree>
    <p:extLst>
      <p:ext uri="{BB962C8B-B14F-4D97-AF65-F5344CB8AC3E}">
        <p14:creationId xmlns:p14="http://schemas.microsoft.com/office/powerpoint/2010/main" val="17485286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F4BC561-BCEA-4F0B-95C2-8CA863EDD649}" type="slidenum">
              <a:rPr lang="de-DE" altLang="zh-CN" smtClean="0"/>
              <a:pPr>
                <a:defRPr/>
              </a:pPr>
              <a:t>69</a:t>
            </a:fld>
            <a:endParaRPr lang="de-DE" altLang="zh-CN" dirty="0"/>
          </a:p>
        </p:txBody>
      </p:sp>
      <p:pic>
        <p:nvPicPr>
          <p:cNvPr id="5" name="Picture 4"/>
          <p:cNvPicPr>
            <a:picLocks noChangeAspect="1"/>
          </p:cNvPicPr>
          <p:nvPr/>
        </p:nvPicPr>
        <p:blipFill>
          <a:blip r:embed="rId2"/>
          <a:stretch>
            <a:fillRect/>
          </a:stretch>
        </p:blipFill>
        <p:spPr>
          <a:xfrm>
            <a:off x="1524000" y="163076"/>
            <a:ext cx="9144000" cy="6558399"/>
          </a:xfrm>
          <a:prstGeom prst="rect">
            <a:avLst/>
          </a:prstGeom>
        </p:spPr>
      </p:pic>
      <p:sp>
        <p:nvSpPr>
          <p:cNvPr id="2" name="TextBox 1">
            <a:extLst>
              <a:ext uri="{FF2B5EF4-FFF2-40B4-BE49-F238E27FC236}">
                <a16:creationId xmlns:a16="http://schemas.microsoft.com/office/drawing/2014/main" id="{25A693D3-B052-DA79-4644-B04006DBADE2}"/>
              </a:ext>
            </a:extLst>
          </p:cNvPr>
          <p:cNvSpPr txBox="1"/>
          <p:nvPr/>
        </p:nvSpPr>
        <p:spPr>
          <a:xfrm>
            <a:off x="5562600" y="2438400"/>
            <a:ext cx="762000" cy="461665"/>
          </a:xfrm>
          <a:prstGeom prst="rect">
            <a:avLst/>
          </a:prstGeom>
          <a:noFill/>
        </p:spPr>
        <p:txBody>
          <a:bodyPr wrap="square" rtlCol="0">
            <a:spAutoFit/>
          </a:bodyPr>
          <a:lstStyle/>
          <a:p>
            <a:r>
              <a:rPr lang="en-GB" sz="1200" dirty="0"/>
              <a:t>C</a:t>
            </a:r>
            <a:r>
              <a:rPr lang="en-PK" sz="1200" dirty="0"/>
              <a:t>arry 1 forward</a:t>
            </a:r>
          </a:p>
        </p:txBody>
      </p:sp>
      <p:sp>
        <p:nvSpPr>
          <p:cNvPr id="3" name="TextBox 2">
            <a:extLst>
              <a:ext uri="{FF2B5EF4-FFF2-40B4-BE49-F238E27FC236}">
                <a16:creationId xmlns:a16="http://schemas.microsoft.com/office/drawing/2014/main" id="{1C7C589B-ECB5-CDC3-BC5E-1FD443D5F5D2}"/>
              </a:ext>
            </a:extLst>
          </p:cNvPr>
          <p:cNvSpPr txBox="1"/>
          <p:nvPr/>
        </p:nvSpPr>
        <p:spPr>
          <a:xfrm>
            <a:off x="7353300" y="2438399"/>
            <a:ext cx="762000" cy="461665"/>
          </a:xfrm>
          <a:prstGeom prst="rect">
            <a:avLst/>
          </a:prstGeom>
          <a:noFill/>
        </p:spPr>
        <p:txBody>
          <a:bodyPr wrap="square" rtlCol="0">
            <a:spAutoFit/>
          </a:bodyPr>
          <a:lstStyle/>
          <a:p>
            <a:r>
              <a:rPr lang="en-GB" sz="1200" dirty="0"/>
              <a:t>C</a:t>
            </a:r>
            <a:r>
              <a:rPr lang="en-PK" sz="1200" dirty="0"/>
              <a:t>arry 1 forward</a:t>
            </a:r>
          </a:p>
        </p:txBody>
      </p:sp>
    </p:spTree>
    <p:extLst>
      <p:ext uri="{BB962C8B-B14F-4D97-AF65-F5344CB8AC3E}">
        <p14:creationId xmlns:p14="http://schemas.microsoft.com/office/powerpoint/2010/main" val="21052041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err="1"/>
              <a:t>Conclusions</a:t>
            </a:r>
            <a:endParaRPr lang="en-US" b="1" dirty="0"/>
          </a:p>
        </p:txBody>
      </p:sp>
      <p:sp>
        <p:nvSpPr>
          <p:cNvPr id="3" name="Content Placeholder 2"/>
          <p:cNvSpPr>
            <a:spLocks noGrp="1"/>
          </p:cNvSpPr>
          <p:nvPr>
            <p:ph idx="1"/>
          </p:nvPr>
        </p:nvSpPr>
        <p:spPr/>
        <p:txBody>
          <a:bodyPr>
            <a:normAutofit fontScale="92500" lnSpcReduction="20000"/>
          </a:bodyPr>
          <a:lstStyle/>
          <a:p>
            <a:r>
              <a:rPr lang="de-DE"/>
              <a:t>Stack is a LIFO or FILO data structure due to input and output operations constrained only at the top end. </a:t>
            </a:r>
          </a:p>
          <a:p>
            <a:endParaRPr lang="de-DE"/>
          </a:p>
          <a:p>
            <a:r>
              <a:rPr lang="de-DE"/>
              <a:t>Practical applications</a:t>
            </a:r>
          </a:p>
          <a:p>
            <a:pPr lvl="1"/>
            <a:r>
              <a:rPr lang="de-DE"/>
              <a:t>Stacks in validating expressions</a:t>
            </a:r>
          </a:p>
          <a:p>
            <a:pPr lvl="1"/>
            <a:r>
              <a:rPr lang="de-DE"/>
              <a:t>Infix to Postfix conversion &amp; evaluation</a:t>
            </a:r>
          </a:p>
          <a:p>
            <a:pPr lvl="1"/>
            <a:r>
              <a:rPr lang="en-GB" altLang="ko-KR"/>
              <a:t>Postfix/Prefix forms do not rely on operator priorities, a tie breaker, or delimiters</a:t>
            </a:r>
            <a:endParaRPr lang="en-US" altLang="ko-KR"/>
          </a:p>
          <a:p>
            <a:pPr lvl="1"/>
            <a:r>
              <a:rPr lang="en-US" altLang="ko-KR"/>
              <a:t>Easier evaluation of expressions</a:t>
            </a:r>
          </a:p>
          <a:p>
            <a:pPr lvl="1"/>
            <a:r>
              <a:rPr lang="de-DE"/>
              <a:t>Unambiguous expression tree</a:t>
            </a:r>
            <a:endParaRPr lang="en-GB"/>
          </a:p>
          <a:p>
            <a:pPr lvl="1"/>
            <a:r>
              <a:rPr lang="en-US" altLang="ko-KR"/>
              <a:t>Algorithms implementing stack </a:t>
            </a:r>
          </a:p>
          <a:p>
            <a:pPr lvl="1"/>
            <a:r>
              <a:rPr lang="en-US" altLang="ko-KR"/>
              <a:t>To convert any Infix expression into its corresponding postfix or prefix expression</a:t>
            </a:r>
          </a:p>
          <a:p>
            <a:pPr lvl="1"/>
            <a:r>
              <a:rPr lang="en-US" altLang="ko-KR"/>
              <a:t>To evaluate any postfix expression</a:t>
            </a:r>
          </a:p>
          <a:p>
            <a:pPr lvl="1"/>
            <a:r>
              <a:rPr lang="en-GB"/>
              <a:t>Adding very large integer numbers</a:t>
            </a:r>
          </a:p>
          <a:p>
            <a:endParaRPr lang="en-US" dirty="0"/>
          </a:p>
        </p:txBody>
      </p:sp>
      <p:sp>
        <p:nvSpPr>
          <p:cNvPr id="4" name="Slide Number Placeholder 3"/>
          <p:cNvSpPr>
            <a:spLocks noGrp="1"/>
          </p:cNvSpPr>
          <p:nvPr>
            <p:ph type="sldNum" sz="quarter" idx="12"/>
          </p:nvPr>
        </p:nvSpPr>
        <p:spPr/>
        <p:txBody>
          <a:bodyPr/>
          <a:lstStyle/>
          <a:p>
            <a:fld id="{1F4BC561-BCEA-4F0B-95C2-8CA863EDD649}" type="slidenum">
              <a:rPr lang="de-DE" altLang="zh-CN" smtClean="0"/>
              <a:pPr/>
              <a:t>70</a:t>
            </a:fld>
            <a:endParaRPr lang="de-DE" altLang="zh-CN" dirty="0"/>
          </a:p>
        </p:txBody>
      </p:sp>
    </p:spTree>
    <p:extLst>
      <p:ext uri="{BB962C8B-B14F-4D97-AF65-F5344CB8AC3E}">
        <p14:creationId xmlns:p14="http://schemas.microsoft.com/office/powerpoint/2010/main" val="29235886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Thank you</a:t>
            </a:r>
          </a:p>
        </p:txBody>
      </p:sp>
      <p:sp>
        <p:nvSpPr>
          <p:cNvPr id="7" name="Subtitle 6"/>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885295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3362</TotalTime>
  <Words>5348</Words>
  <Application>Microsoft Office PowerPoint</Application>
  <PresentationFormat>Widescreen</PresentationFormat>
  <Paragraphs>795</Paragraphs>
  <Slides>71</Slides>
  <Notes>10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ＭＳ Ｐゴシック</vt:lpstr>
      <vt:lpstr>Arial</vt:lpstr>
      <vt:lpstr>Calibri</vt:lpstr>
      <vt:lpstr>Calibri Light</vt:lpstr>
      <vt:lpstr>Helvetica Neue</vt:lpstr>
      <vt:lpstr>Tahoma</vt:lpstr>
      <vt:lpstr>Times New Roman</vt:lpstr>
      <vt:lpstr>Wingdings</vt:lpstr>
      <vt:lpstr>Office Theme</vt:lpstr>
      <vt:lpstr>All about Stacks!</vt:lpstr>
      <vt:lpstr>Lecture Outline</vt:lpstr>
      <vt:lpstr>What is a Stack?</vt:lpstr>
      <vt:lpstr>Stack</vt:lpstr>
      <vt:lpstr>Stack</vt:lpstr>
      <vt:lpstr>Basics of stack</vt:lpstr>
      <vt:lpstr>Stack Operations</vt:lpstr>
      <vt:lpstr>Stack Operations</vt:lpstr>
      <vt:lpstr>Stack Operations</vt:lpstr>
      <vt:lpstr>Applications</vt:lpstr>
      <vt:lpstr>Choice of implementation</vt:lpstr>
      <vt:lpstr>Array based Stack</vt:lpstr>
      <vt:lpstr>Array based Stack</vt:lpstr>
      <vt:lpstr>Array based stack</vt:lpstr>
      <vt:lpstr>Array based stack operations</vt:lpstr>
      <vt:lpstr>Linked List based Stack</vt:lpstr>
      <vt:lpstr>Linked List based implementation</vt:lpstr>
      <vt:lpstr>Linked List based implementation</vt:lpstr>
      <vt:lpstr>Linked List based implementation</vt:lpstr>
      <vt:lpstr>Linked List based implementation</vt:lpstr>
      <vt:lpstr>Applications of Stacks</vt:lpstr>
      <vt:lpstr>Application: Function Calls and Stacks</vt:lpstr>
      <vt:lpstr>Consider the C++ Program</vt:lpstr>
      <vt:lpstr>Function Calls and Stacks</vt:lpstr>
      <vt:lpstr>Function Calls and Stacks</vt:lpstr>
      <vt:lpstr>Activation Record / Stack Frame </vt:lpstr>
      <vt:lpstr>Activation Record / Stack Frame </vt:lpstr>
      <vt:lpstr>Example (Non-Recursive)</vt:lpstr>
      <vt:lpstr>Evaluating Exponents Recursively</vt:lpstr>
      <vt:lpstr>PowerPoint Presentation</vt:lpstr>
      <vt:lpstr>Application: Validating Expressions via Stack</vt:lpstr>
      <vt:lpstr>Algebraic expression</vt:lpstr>
      <vt:lpstr>Stacks in problem solving</vt:lpstr>
      <vt:lpstr>Rules</vt:lpstr>
      <vt:lpstr>Parsing parenthesis</vt:lpstr>
      <vt:lpstr>Stacks in validating expression</vt:lpstr>
      <vt:lpstr>Pseudo code</vt:lpstr>
      <vt:lpstr>Stacks in validating expression</vt:lpstr>
      <vt:lpstr>Application: Infix to Postfix Conversion</vt:lpstr>
      <vt:lpstr>Operator Priorities</vt:lpstr>
      <vt:lpstr>Tie breaker</vt:lpstr>
      <vt:lpstr>Infix, Prefix &amp; Postfix expressions</vt:lpstr>
      <vt:lpstr>Prefix &amp; Postfix notations, why to use?</vt:lpstr>
      <vt:lpstr>Prefix &amp; Postfix notations, why to use?</vt:lpstr>
      <vt:lpstr>Expression tree</vt:lpstr>
      <vt:lpstr>Order of Precedence</vt:lpstr>
      <vt:lpstr>Examples of Infix to Post- &amp; Prefix</vt:lpstr>
      <vt:lpstr>Infix to Postfix</vt:lpstr>
      <vt:lpstr>More examples</vt:lpstr>
      <vt:lpstr>Infix to Postfix Conversion</vt:lpstr>
      <vt:lpstr>Infix to Postfix Conversion</vt:lpstr>
      <vt:lpstr>Infix to Postfix Conversion</vt:lpstr>
      <vt:lpstr>Infix to Postfix Conversion</vt:lpstr>
      <vt:lpstr>Applications: Infix to Postfix Conversion using Stack</vt:lpstr>
      <vt:lpstr>Infix to Postfix conversion algorithm</vt:lpstr>
      <vt:lpstr>PowerPoint Presentation</vt:lpstr>
      <vt:lpstr>PowerPoint Presentation</vt:lpstr>
      <vt:lpstr>Precendence Function</vt:lpstr>
      <vt:lpstr>Algorithm to Convert an Expression from Infix to Postfix Form</vt:lpstr>
      <vt:lpstr>PowerPoint Presentation</vt:lpstr>
      <vt:lpstr>Applications: Evaluating a Postfix expression using Stack</vt:lpstr>
      <vt:lpstr>Evaluating Postfix expression</vt:lpstr>
      <vt:lpstr>Algorithm to Evaluate Postfix Expression </vt:lpstr>
      <vt:lpstr>Algorithm to evaluate Postfix expression </vt:lpstr>
      <vt:lpstr>Algorithm to evaluate Postfix expression </vt:lpstr>
      <vt:lpstr>Question</vt:lpstr>
      <vt:lpstr>Applications:  Adding Very Large Integers</vt:lpstr>
      <vt:lpstr>Adding very large numbers</vt:lpstr>
      <vt:lpstr>PowerPoint Presentation</vt:lpstr>
      <vt:lpstr>Conclusions</vt:lpstr>
      <vt:lpstr>Thank you</vt:lpstr>
    </vt:vector>
  </TitlesOfParts>
  <Company>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Salman</dc:creator>
  <cp:lastModifiedBy>Hanan Zia</cp:lastModifiedBy>
  <cp:revision>500</cp:revision>
  <dcterms:created xsi:type="dcterms:W3CDTF">2009-01-19T04:49:55Z</dcterms:created>
  <dcterms:modified xsi:type="dcterms:W3CDTF">2025-10-13T15:43:06Z</dcterms:modified>
</cp:coreProperties>
</file>