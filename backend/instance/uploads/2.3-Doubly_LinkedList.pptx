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2" r:id="rId1"/>
  </p:sldMasterIdLst>
  <p:notesMasterIdLst>
    <p:notesMasterId r:id="rId44"/>
  </p:notesMasterIdLst>
  <p:sldIdLst>
    <p:sldId id="256" r:id="rId2"/>
    <p:sldId id="342" r:id="rId3"/>
    <p:sldId id="373" r:id="rId4"/>
    <p:sldId id="374" r:id="rId5"/>
    <p:sldId id="401" r:id="rId6"/>
    <p:sldId id="402" r:id="rId7"/>
    <p:sldId id="375" r:id="rId8"/>
    <p:sldId id="376" r:id="rId9"/>
    <p:sldId id="347" r:id="rId10"/>
    <p:sldId id="348" r:id="rId11"/>
    <p:sldId id="377" r:id="rId12"/>
    <p:sldId id="350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404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405" r:id="rId33"/>
    <p:sldId id="396" r:id="rId34"/>
    <p:sldId id="397" r:id="rId35"/>
    <p:sldId id="399" r:id="rId36"/>
    <p:sldId id="398" r:id="rId37"/>
    <p:sldId id="372" r:id="rId38"/>
    <p:sldId id="403" r:id="rId39"/>
    <p:sldId id="406" r:id="rId40"/>
    <p:sldId id="407" r:id="rId41"/>
    <p:sldId id="408" r:id="rId42"/>
    <p:sldId id="341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7" autoAdjust="0"/>
    <p:restoredTop sz="74348" autoAdjust="0"/>
  </p:normalViewPr>
  <p:slideViewPr>
    <p:cSldViewPr>
      <p:cViewPr varScale="1">
        <p:scale>
          <a:sx n="87" d="100"/>
          <a:sy n="87" d="100"/>
        </p:scale>
        <p:origin x="244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32"/>
    </p:cViewPr>
  </p:notesTextViewPr>
  <p:notesViewPr>
    <p:cSldViewPr>
      <p:cViewPr varScale="1">
        <p:scale>
          <a:sx n="88" d="100"/>
          <a:sy n="88" d="100"/>
        </p:scale>
        <p:origin x="382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45C1C40-39DB-4BFC-B4BA-B8FAADDB51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20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A94D45-6B00-4B8A-83A5-7AE89772CDC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93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100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773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2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defTabSz="914400">
              <a:spcBef>
                <a:spcPct val="0"/>
              </a:spcBef>
              <a:buClrTx/>
              <a:buSzTx/>
              <a:buFontTx/>
              <a:buNone/>
            </a:pPr>
            <a:fld id="{C959A240-F3D4-477A-A8AF-9E2E39402804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 algn="r" defTabSz="914400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568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www.alphacodingskills.com</a:t>
            </a:r>
            <a:r>
              <a:rPr lang="en-GB" dirty="0"/>
              <a:t>/</a:t>
            </a:r>
            <a:r>
              <a:rPr lang="en-GB" dirty="0" err="1"/>
              <a:t>cpp</a:t>
            </a:r>
            <a:r>
              <a:rPr lang="en-GB" dirty="0"/>
              <a:t>/ds/</a:t>
            </a:r>
            <a:r>
              <a:rPr lang="en-GB" dirty="0" err="1"/>
              <a:t>cpp</a:t>
            </a:r>
            <a:r>
              <a:rPr lang="en-GB" dirty="0"/>
              <a:t>-circular-doubly-linked-</a:t>
            </a:r>
            <a:r>
              <a:rPr lang="en-GB" dirty="0" err="1"/>
              <a:t>list.php</a:t>
            </a:r>
            <a:br>
              <a:rPr lang="en-GB" dirty="0"/>
            </a:br>
            <a:r>
              <a:rPr lang="en-GB" dirty="0"/>
              <a:t>In SCLL, Head can always be reached via last-&gt;next</a:t>
            </a:r>
          </a:p>
          <a:p>
            <a:r>
              <a:rPr lang="en-GB" dirty="0"/>
              <a:t>In DCLL, Head gives direct access to both directions via head-&gt;next and head-&gt;</a:t>
            </a:r>
            <a:r>
              <a:rPr lang="en-GB" dirty="0" err="1"/>
              <a:t>prev</a:t>
            </a:r>
            <a:endParaRPr lang="en-GB" dirty="0"/>
          </a:p>
          <a:p>
            <a:endParaRPr lang="en-GB" dirty="0"/>
          </a:p>
          <a:p>
            <a:r>
              <a:rPr lang="en-GB" dirty="0"/>
              <a:t>To access last node,</a:t>
            </a:r>
          </a:p>
          <a:p>
            <a:r>
              <a:rPr lang="en-GB" dirty="0"/>
              <a:t>In SCLL, Via last directly</a:t>
            </a:r>
          </a:p>
          <a:p>
            <a:r>
              <a:rPr lang="en-GB" dirty="0"/>
              <a:t>In DCLL, Via head-&gt;</a:t>
            </a:r>
            <a:r>
              <a:rPr lang="en-GB" dirty="0" err="1"/>
              <a:t>prev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2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3DAC-CF46-EFF7-6B7C-15F840674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8C8B5-4B12-196A-3DA7-F4F8616DF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F4550-343E-D1D3-7E98-6823EFC7D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6231E-672B-BB9D-B465-B2BAF551A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82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/>
              <a:t>Unlike singly circular lists where we track tail to reach head, in DCLL head is enough to navigate in </a:t>
            </a:r>
            <a:r>
              <a:rPr lang="en-GB" b="1" dirty="0"/>
              <a:t>both directions</a:t>
            </a:r>
            <a:r>
              <a:rPr lang="en-GB" dirty="0"/>
              <a:t>.</a:t>
            </a:r>
          </a:p>
          <a:p>
            <a:pPr marL="228600" indent="-228600">
              <a:buAutoNum type="arabicPeriod"/>
            </a:pPr>
            <a:r>
              <a:rPr lang="en-GB" dirty="0"/>
              <a:t>head-&gt;</a:t>
            </a:r>
            <a:r>
              <a:rPr lang="en-GB" dirty="0" err="1"/>
              <a:t>prev</a:t>
            </a:r>
            <a:r>
              <a:rPr lang="en-GB" dirty="0"/>
              <a:t> always points to the </a:t>
            </a:r>
            <a:r>
              <a:rPr lang="en-GB" b="1" dirty="0"/>
              <a:t>last node</a:t>
            </a:r>
            <a:r>
              <a:rPr lang="en-GB" dirty="0"/>
              <a:t> of the list. Useful for inserting at the end, and traversing backwards.</a:t>
            </a:r>
          </a:p>
          <a:p>
            <a:r>
              <a:rPr lang="en-GB" dirty="0"/>
              <a:t>3. DCLL is better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Bidirectional traversal</a:t>
            </a:r>
            <a:r>
              <a:rPr lang="en-GB" dirty="0"/>
              <a:t> is required (forward and backward).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You want to easily </a:t>
            </a:r>
            <a:r>
              <a:rPr lang="en-GB" b="1" dirty="0"/>
              <a:t>delete or insert</a:t>
            </a:r>
            <a:r>
              <a:rPr lang="en-GB" dirty="0"/>
              <a:t> nodes in both directions.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You want </a:t>
            </a:r>
            <a:r>
              <a:rPr lang="en-GB" b="1" dirty="0"/>
              <a:t>constant-time access</a:t>
            </a:r>
            <a:r>
              <a:rPr lang="en-GB" dirty="0"/>
              <a:t> to both previous and next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Singly circular lists can only go forward, but DCLLs are flexible and powerful for complex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4. </a:t>
            </a:r>
            <a:r>
              <a:rPr lang="en-GB" b="1" dirty="0"/>
              <a:t>Yes</a:t>
            </a:r>
            <a:r>
              <a:rPr lang="en-GB" dirty="0"/>
              <a:t>, by </a:t>
            </a:r>
            <a:r>
              <a:rPr lang="en-GB" b="1" dirty="0"/>
              <a:t>breaking the circularity</a:t>
            </a:r>
            <a:r>
              <a:rPr lang="en-GB" dirty="0"/>
              <a:t>, we can convert a DCLL to a standard Doubly Linked List (DLL) in </a:t>
            </a:r>
            <a:r>
              <a:rPr lang="en-GB" b="1" dirty="0"/>
              <a:t>O(1)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head-&gt;</a:t>
            </a:r>
            <a:r>
              <a:rPr lang="en-GB" dirty="0" err="1"/>
              <a:t>prev</a:t>
            </a:r>
            <a:r>
              <a:rPr lang="en-GB" dirty="0"/>
              <a:t>-&gt;next = </a:t>
            </a:r>
            <a:r>
              <a:rPr lang="en-GB" dirty="0" err="1"/>
              <a:t>nullptr</a:t>
            </a:r>
            <a:r>
              <a:rPr lang="en-GB" dirty="0"/>
              <a:t>;  // Break the tail's next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head-&gt;</a:t>
            </a:r>
            <a:r>
              <a:rPr lang="en-GB" dirty="0" err="1"/>
              <a:t>prev</a:t>
            </a:r>
            <a:r>
              <a:rPr lang="en-GB" dirty="0"/>
              <a:t> = </a:t>
            </a:r>
            <a:r>
              <a:rPr lang="en-GB" dirty="0" err="1"/>
              <a:t>nullptr</a:t>
            </a:r>
            <a:r>
              <a:rPr lang="en-GB" dirty="0"/>
              <a:t>;        // Break head's </a:t>
            </a:r>
            <a:r>
              <a:rPr lang="en-GB" dirty="0" err="1"/>
              <a:t>prev</a:t>
            </a:r>
            <a:r>
              <a:rPr lang="en-GB" dirty="0"/>
              <a:t> 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list becomes linear.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You can now traverse from head to tail without looping 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marL="228600" indent="-228600">
              <a:buAutoNum type="arabicPeriod"/>
            </a:pP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54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A858AB-D2EE-443D-AF4F-975540BCBB0C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9D4E-9830-4095-8CC8-183203491CB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228600"/>
            <a:ext cx="9144000" cy="1219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THE NUST BRAND | NUST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715250" y="152400"/>
            <a:ext cx="1428750" cy="1428750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 userDrawn="1"/>
        </p:nvSpPr>
        <p:spPr>
          <a:xfrm>
            <a:off x="1143000" y="553106"/>
            <a:ext cx="64598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CS250: 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308882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64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8596"/>
            <a:ext cx="7886700" cy="47183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403C92-D3B9-41F5-BF98-61B6E793EF20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886" y="1392239"/>
            <a:ext cx="9144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18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A8D3DB-43F4-4F21-9602-77DECAA5B1D0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D9EF8D-1A3F-4770-88DF-5CE0BAFACB1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044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271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37958"/>
            <a:ext cx="3886200" cy="4739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37958"/>
            <a:ext cx="3886200" cy="4739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C23EA4-F255-44A9-8D6D-069F3C8A8FE6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74BD9-A853-4283-85D1-C9F1BF83FE2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886" y="1392239"/>
            <a:ext cx="9144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5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0271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45442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276838"/>
            <a:ext cx="3868340" cy="3912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7959" y="1445442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276838"/>
            <a:ext cx="3887391" cy="3912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80587E-E494-45BD-B26E-313D25E3D01A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F2B752-C656-46CC-8972-8BB8BB868CC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0886" y="1392239"/>
            <a:ext cx="9144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95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271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906107-ACA7-4876-9DE7-99C227A01D5A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0886" y="1392239"/>
            <a:ext cx="9144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1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B00213-1BC4-4FA5-A6AC-6715720BAE64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4240F-2E2F-4F70-AB00-EAE709958E8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31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FF2BA0-7B76-4DED-ADCB-3AD8CCCA33DE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6EA107-19E7-413B-9DC1-F1B3865A107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50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6CF0B6-3239-4951-B62C-97B99642F612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A1BE0D-10C3-46E0-9416-79CBE844C17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45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10B80B-7E5D-462A-8B93-69E373D36F53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2DF1FA-8075-4240-BFC5-19BEB0AFB8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78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D21D33-19AB-490B-B59E-70106038A08B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6C57D7-E5D1-44B3-8387-E5D3AD2AEC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04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C028109-C59E-4CD2-AFB5-B8BB19908DB8}" type="datetime1">
              <a:rPr lang="en-US" smtClean="0"/>
              <a:t>9/24/25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95B6C2-FB1D-4F5B-AD54-894E892FEA0F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871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Double Linked List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R="0" eaLnBrk="1" hangingPunct="1">
              <a:lnSpc>
                <a:spcPct val="90000"/>
              </a:lnSpc>
            </a:pPr>
            <a:r>
              <a:rPr lang="en-US" sz="2400" dirty="0"/>
              <a:t>Fall 2025</a:t>
            </a:r>
          </a:p>
          <a:p>
            <a:pPr marR="0" eaLnBrk="1" hangingPunct="1">
              <a:lnSpc>
                <a:spcPct val="90000"/>
              </a:lnSpc>
            </a:pPr>
            <a:r>
              <a:rPr lang="en-US" sz="2400" dirty="0"/>
              <a:t>BSCS-3ABC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Overview</a:t>
            </a:r>
          </a:p>
        </p:txBody>
      </p:sp>
      <p:sp>
        <p:nvSpPr>
          <p:cNvPr id="22531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Doubly Linked List</a:t>
            </a:r>
          </a:p>
          <a:p>
            <a:r>
              <a:rPr lang="en-US" altLang="en-US" dirty="0"/>
              <a:t>Operations on a Doubly Linked List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8A59779-6EF5-470F-AACF-09015CE1E5C8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22533" name="Rectangle 3"/>
          <p:cNvSpPr txBox="1">
            <a:spLocks/>
          </p:cNvSpPr>
          <p:nvPr/>
        </p:nvSpPr>
        <p:spPr bwMode="auto">
          <a:xfrm>
            <a:off x="5143501" y="2743200"/>
            <a:ext cx="390882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Raleway" pitchFamily="2" charset="0"/>
              </a:defRPr>
            </a:lvl1pPr>
            <a:lvl2pPr marL="639763" indent="-2730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Raleway" pitchFamily="2" charset="0"/>
              </a:defRPr>
            </a:lvl2pPr>
            <a:lvl3pPr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Raleway" pitchFamily="2" charset="0"/>
              </a:defRPr>
            </a:lvl3pPr>
            <a:lvl4pPr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Raleway" pitchFamily="2" charset="0"/>
              </a:defRPr>
            </a:lvl4pPr>
            <a:lvl5pPr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Raleway" pitchFamily="2" charset="0"/>
              </a:defRPr>
            </a:lvl5pPr>
            <a:lvl6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Raleway" pitchFamily="2" charset="0"/>
              </a:defRPr>
            </a:lvl6pPr>
            <a:lvl7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Raleway" pitchFamily="2" charset="0"/>
              </a:defRPr>
            </a:lvl7pPr>
            <a:lvl8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Raleway" pitchFamily="2" charset="0"/>
              </a:defRPr>
            </a:lvl8pPr>
            <a:lvl9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Raleway" pitchFamily="2" charset="0"/>
              </a:defRPr>
            </a:lvl9pPr>
          </a:lstStyle>
          <a:p>
            <a:pPr lvl="2" eaLnBrk="1" hangingPunct="1"/>
            <a:endParaRPr lang="en-US" altLang="en-US" sz="1650" dirty="0"/>
          </a:p>
        </p:txBody>
      </p:sp>
    </p:spTree>
    <p:extLst>
      <p:ext uri="{BB962C8B-B14F-4D97-AF65-F5344CB8AC3E}">
        <p14:creationId xmlns:p14="http://schemas.microsoft.com/office/powerpoint/2010/main" val="3584651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/>
              <a:t>Why do we need a Doubly Linked List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want to be able to delete a particular node in a singly linked list, given only a pointer to that node.</a:t>
            </a:r>
          </a:p>
          <a:p>
            <a:endParaRPr lang="en-US" dirty="0"/>
          </a:p>
          <a:p>
            <a:r>
              <a:rPr lang="en-US" dirty="0"/>
              <a:t>This task involves updating the Next field of its predecessor node.</a:t>
            </a:r>
          </a:p>
          <a:p>
            <a:endParaRPr lang="en-US" dirty="0"/>
          </a:p>
          <a:p>
            <a:r>
              <a:rPr lang="en-US" dirty="0"/>
              <a:t>However, given only a pointer to the node to be deleted, we cannot access its predecessor in a singly linked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8864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/>
              <a:t>Why do we need a Doubly Linked List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task that is difficult to perform on a singly linear linked list is its traversal in reverse.</a:t>
            </a:r>
          </a:p>
          <a:p>
            <a:endParaRPr lang="en-US" dirty="0"/>
          </a:p>
          <a:p>
            <a:r>
              <a:rPr lang="en-US" dirty="0"/>
              <a:t>Suppose, we have a list of student records ordered by grade from lowest to highest.</a:t>
            </a:r>
          </a:p>
          <a:p>
            <a:endParaRPr lang="en-US" dirty="0"/>
          </a:p>
          <a:p>
            <a:r>
              <a:rPr lang="en-US" dirty="0"/>
              <a:t>Suppose, at any time, we want to print the records from highest to lowest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06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A402-5C83-228D-4638-51BDDC42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Limitations of Singly Linked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2CE08-A986-4F8A-9194-4E83AFF9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862EA8-5690-49DC-8A6B-F90CAB4B0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960325"/>
              </p:ext>
            </p:extLst>
          </p:nvPr>
        </p:nvGraphicFramePr>
        <p:xfrm>
          <a:off x="628650" y="2209800"/>
          <a:ext cx="7886700" cy="32004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04136050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300842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000" b="1" dirty="0"/>
                        <a:t>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42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Delete last node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You must traverse the entire list to find the second-last node.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88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Delete a given node loc if you don’t have ploc (previous)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You </a:t>
                      </a:r>
                      <a:r>
                        <a:rPr lang="en-GB" sz="2000" b="1"/>
                        <a:t>must traverse</a:t>
                      </a:r>
                      <a:r>
                        <a:rPr lang="en-GB" sz="2000"/>
                        <a:t> from head to find the previous node.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788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Reverse traversal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Not possible without using a stack or recursion.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829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Bidirectional navigation (like undo/redo)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Not possible.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933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049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F891C-450A-8480-02D9-B063450B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A873-FC97-2FC4-13C8-E4A31062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Why Double Linked Lists are Useful?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DCAA2-6710-F07D-6496-17ED8284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3F96EE-85A8-DFA9-5334-2A0971057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812797"/>
              </p:ext>
            </p:extLst>
          </p:nvPr>
        </p:nvGraphicFramePr>
        <p:xfrm>
          <a:off x="598913" y="1981200"/>
          <a:ext cx="7886700" cy="3810000"/>
        </p:xfrm>
        <a:graphic>
          <a:graphicData uri="http://schemas.openxmlformats.org/drawingml/2006/table">
            <a:tbl>
              <a:tblPr/>
              <a:tblGrid>
                <a:gridCol w="2753887">
                  <a:extLst>
                    <a:ext uri="{9D8B030D-6E8A-4147-A177-3AD203B41FA5}">
                      <a16:colId xmlns:a16="http://schemas.microsoft.com/office/drawing/2014/main" val="1580884281"/>
                    </a:ext>
                  </a:extLst>
                </a:gridCol>
                <a:gridCol w="5132813">
                  <a:extLst>
                    <a:ext uri="{9D8B030D-6E8A-4147-A177-3AD203B41FA5}">
                      <a16:colId xmlns:a16="http://schemas.microsoft.com/office/drawing/2014/main" val="3578087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Advantage of Double Linked </a:t>
                      </a:r>
                      <a:r>
                        <a:rPr lang="en-GB" sz="2000" b="1" dirty="0" err="1"/>
                        <a:t>Lits</a:t>
                      </a:r>
                      <a:endParaRPr lang="en-GB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59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="1" dirty="0"/>
                        <a:t>Two-way traversal</a:t>
                      </a:r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Move both forward and backward (e.g., in a browser history or music playlist).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35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Efficient deletion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If you have a pointer to the node to delete, you can remove it </a:t>
                      </a:r>
                      <a:r>
                        <a:rPr lang="en-GB" sz="2000" b="1" dirty="0"/>
                        <a:t>in O(1)</a:t>
                      </a:r>
                      <a:r>
                        <a:rPr lang="en-GB" sz="2000" dirty="0"/>
                        <a:t> - no need to find the previous node.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398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Easy reversal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Reversing the list is straightforward without recursion or extra space.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426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Used in real apps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Browser history, undo/redo in editors, Least Recently Used (LRU) caches, Threaded trees &amp; graphs implementations,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9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67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Doubly Linked Lists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cases like these, where we need to be able to access the node that precedes a given node, a  doubly linked list is useful.</a:t>
            </a:r>
          </a:p>
          <a:p>
            <a:endParaRPr lang="en-US" dirty="0"/>
          </a:p>
          <a:p>
            <a:r>
              <a:rPr lang="en-US" dirty="0"/>
              <a:t>In a doubly linked list, nodes are linked in both directions.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grpSp>
        <p:nvGrpSpPr>
          <p:cNvPr id="5" name="Group 1"/>
          <p:cNvGrpSpPr>
            <a:grpSpLocks/>
          </p:cNvGrpSpPr>
          <p:nvPr/>
        </p:nvGrpSpPr>
        <p:grpSpPr bwMode="auto">
          <a:xfrm>
            <a:off x="1223168" y="3814218"/>
            <a:ext cx="6697663" cy="1296988"/>
            <a:chOff x="1187450" y="4699000"/>
            <a:chExt cx="6170613" cy="2043113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1187450" y="4699000"/>
              <a:ext cx="6170613" cy="2043113"/>
              <a:chOff x="1582" y="1728"/>
              <a:chExt cx="3887" cy="1287"/>
            </a:xfrm>
          </p:grpSpPr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1590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>
                    <a:solidFill>
                      <a:schemeClr val="tx1"/>
                    </a:solidFill>
                  </a:rPr>
                  <a:t>/</a:t>
                </a:r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4616" y="2592"/>
                <a:ext cx="567" cy="423"/>
              </a:xfrm>
              <a:prstGeom prst="rect">
                <a:avLst/>
              </a:prstGeom>
              <a:solidFill>
                <a:srgbClr val="EBDDC3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Rizwan</a:t>
                </a: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2982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3264" y="2592"/>
                <a:ext cx="567" cy="423"/>
              </a:xfrm>
              <a:prstGeom prst="rect">
                <a:avLst/>
              </a:prstGeom>
              <a:solidFill>
                <a:srgbClr val="66FFFF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Maria</a:t>
                </a:r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4326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1880" y="2592"/>
                <a:ext cx="567" cy="423"/>
              </a:xfrm>
              <a:prstGeom prst="rect">
                <a:avLst/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Javed</a:t>
                </a:r>
              </a:p>
            </p:txBody>
          </p:sp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431" cy="0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>
                <a:off x="3984" y="2832"/>
                <a:ext cx="337" cy="0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AutoShape 15"/>
              <p:cNvSpPr>
                <a:spLocks noChangeArrowheads="1"/>
              </p:cNvSpPr>
              <p:nvPr/>
            </p:nvSpPr>
            <p:spPr bwMode="auto">
              <a:xfrm>
                <a:off x="1678" y="2064"/>
                <a:ext cx="231" cy="375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8" name="Rectangle 16"/>
              <p:cNvSpPr>
                <a:spLocks noChangeArrowheads="1"/>
              </p:cNvSpPr>
              <p:nvPr/>
            </p:nvSpPr>
            <p:spPr bwMode="auto">
              <a:xfrm>
                <a:off x="1582" y="1728"/>
                <a:ext cx="527" cy="287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first</a:t>
                </a:r>
              </a:p>
            </p:txBody>
          </p:sp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 flipH="1">
                <a:off x="4127" y="2688"/>
                <a:ext cx="337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 flipH="1">
                <a:off x="2735" y="2736"/>
                <a:ext cx="337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 flipH="1">
                <a:off x="5231" y="2640"/>
                <a:ext cx="193" cy="335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AutoShape 15"/>
            <p:cNvSpPr>
              <a:spLocks noChangeArrowheads="1"/>
            </p:cNvSpPr>
            <p:nvPr/>
          </p:nvSpPr>
          <p:spPr bwMode="auto">
            <a:xfrm>
              <a:off x="6335713" y="5281613"/>
              <a:ext cx="366712" cy="595312"/>
            </a:xfrm>
            <a:prstGeom prst="downArrow">
              <a:avLst>
                <a:gd name="adj1" fmla="val 50000"/>
                <a:gd name="adj2" fmla="val 81176"/>
              </a:avLst>
            </a:prstGeom>
            <a:solidFill>
              <a:srgbClr val="94B6D2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6183313" y="4748213"/>
              <a:ext cx="836612" cy="455612"/>
            </a:xfrm>
            <a:prstGeom prst="rect">
              <a:avLst/>
            </a:prstGeom>
            <a:solidFill>
              <a:srgbClr val="94B6D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last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366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Doubly Linked Lists (</a:t>
            </a:r>
            <a:r>
              <a:rPr lang="en-US" b="1" dirty="0" err="1"/>
              <a:t>Contd</a:t>
            </a:r>
            <a:r>
              <a:rPr lang="en-US" b="1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sz="2000" dirty="0"/>
              <a:t>A node of a doubly linked list contains three parts :</a:t>
            </a:r>
          </a:p>
          <a:p>
            <a:pPr>
              <a:buSzPct val="60000"/>
              <a:buNone/>
            </a:pPr>
            <a:r>
              <a:rPr lang="en-US" altLang="en-US" sz="2000" dirty="0"/>
              <a:t>		Data : the data stored in the node </a:t>
            </a:r>
          </a:p>
          <a:p>
            <a:pPr>
              <a:buSzPct val="60000"/>
              <a:buNone/>
            </a:pPr>
            <a:r>
              <a:rPr lang="en-US" altLang="en-US" sz="2000" dirty="0"/>
              <a:t> 		Next : pointer to the successor node</a:t>
            </a:r>
          </a:p>
          <a:p>
            <a:pPr>
              <a:buSzPct val="60000"/>
              <a:buNone/>
            </a:pPr>
            <a:r>
              <a:rPr lang="en-US" altLang="en-US" sz="2000" dirty="0"/>
              <a:t>		Prev : pointer to the preceding node</a:t>
            </a:r>
          </a:p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</a:pPr>
            <a:endParaRPr lang="en-US" altLang="en-US" sz="2000" b="1" dirty="0"/>
          </a:p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sz="2000" b="1" dirty="0"/>
              <a:t>Doubly Linked List </a:t>
            </a:r>
            <a:r>
              <a:rPr lang="en-US" altLang="en-US" sz="2000" dirty="0"/>
              <a:t>A linked list in which each node is linked to both its successor and its predecessor.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4548CE-B2C6-C7B2-6ECD-E588665C94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3" b="30741"/>
          <a:stretch/>
        </p:blipFill>
        <p:spPr bwMode="auto">
          <a:xfrm>
            <a:off x="-18585" y="4267200"/>
            <a:ext cx="91440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160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628650" y="304800"/>
            <a:ext cx="815340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3800" dirty="0">
              <a:solidFill>
                <a:srgbClr val="775F55"/>
              </a:solidFill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79388" y="1557338"/>
            <a:ext cx="87137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node{ 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//you may use </a:t>
            </a:r>
            <a:r>
              <a:rPr lang="en-GB" altLang="en-US" sz="1200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struct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 instead.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public:</a:t>
            </a:r>
            <a:endParaRPr lang="en-GB" altLang="en-US" sz="12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datatype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data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 The info in a list node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node*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prev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 A pointer to the logical predecessor of this node.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node*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 A pointer to the logical successor of this node.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GB" altLang="en-US" sz="12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DoubleLinkedList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//you may use </a:t>
            </a:r>
            <a:r>
              <a:rPr lang="en-GB" altLang="en-US" sz="1200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struct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 instead.</a:t>
            </a:r>
            <a:endParaRPr lang="en-GB" altLang="en-US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public:</a:t>
            </a:r>
            <a:endParaRPr lang="en-GB" altLang="en-US" sz="1200" dirty="0">
              <a:latin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GB" altLang="en-US" sz="1200" dirty="0">
              <a:latin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node*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first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 holds address of the first node of a list 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node*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last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   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 holds address of the last node of a list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altLang="en-US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numItems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	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 Number of elements in the list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node*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Loc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_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//A pointer to be used by Search(value) method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node*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Loc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_</a:t>
            </a:r>
            <a:r>
              <a:rPr lang="en-GB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//A pointer to be used by Search(value) method. 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                   //It points to the predecessor of </a:t>
            </a:r>
            <a:r>
              <a:rPr lang="en-GB" altLang="en-US" sz="1200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Loc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_. Optional in case of a doubly linked list.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bool 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IsEmpty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()</a:t>
            </a: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void 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InsertAtFront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 value);</a:t>
            </a:r>
          </a:p>
          <a:p>
            <a:pPr eaLnBrk="1" hangingPunct="1">
              <a:buClr>
                <a:srgbClr val="000000"/>
              </a:buClr>
              <a:buSzPct val="100000"/>
            </a:pP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void 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InsertAtEnd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 value);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void 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Search(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 value); 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//updates </a:t>
            </a:r>
            <a:r>
              <a:rPr lang="en-GB" altLang="en-US" sz="1200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Loc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_ and </a:t>
            </a:r>
            <a:r>
              <a:rPr lang="en-GB" altLang="en-US" sz="1200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Ploc</a:t>
            </a:r>
            <a:r>
              <a:rPr lang="en-GB" altLang="en-US" sz="1200" b="1" dirty="0">
                <a:solidFill>
                  <a:srgbClr val="3F7F5F"/>
                </a:solidFill>
                <a:latin typeface="Consolas" panose="020B0609020204030204" pitchFamily="49" charset="0"/>
              </a:rPr>
              <a:t>_ pointers.</a:t>
            </a:r>
            <a:endParaRPr lang="en-GB" altLang="en-US" sz="1200" b="1" dirty="0">
              <a:solidFill>
                <a:srgbClr val="0000C0"/>
              </a:solidFill>
              <a:latin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void 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Delete(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 value);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void </a:t>
            </a:r>
            <a:r>
              <a:rPr lang="en-GB" altLang="en-US" sz="12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DestroyList</a:t>
            </a:r>
            <a:r>
              <a:rPr lang="en-GB" altLang="en-US" sz="1200" b="1" dirty="0">
                <a:solidFill>
                  <a:srgbClr val="0000C0"/>
                </a:solidFill>
                <a:latin typeface="Consolas" panose="020B0609020204030204" pitchFamily="49" charset="0"/>
              </a:rPr>
              <a:t>();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Doubly Linked List - Implementation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4240F-2E2F-4F70-AB00-EAE709958E8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5422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DD8047"/>
              </a:buClr>
              <a:buSzPct val="60000"/>
            </a:pPr>
            <a:r>
              <a:rPr lang="en-US" altLang="en-US" sz="2200"/>
              <a:t>This operations checks whether a doubly linked list is empty or not.</a:t>
            </a:r>
          </a:p>
          <a:p>
            <a:pPr eaLnBrk="1" hangingPunct="1">
              <a:lnSpc>
                <a:spcPct val="90000"/>
              </a:lnSpc>
              <a:buClr>
                <a:srgbClr val="DD8047"/>
              </a:buClr>
              <a:buSzPct val="60000"/>
            </a:pPr>
            <a:endParaRPr lang="en-US" altLang="en-US" sz="2200"/>
          </a:p>
          <a:p>
            <a:pPr eaLnBrk="1" hangingPunct="1">
              <a:lnSpc>
                <a:spcPct val="90000"/>
              </a:lnSpc>
              <a:buClr>
                <a:srgbClr val="DD8047"/>
              </a:buClr>
              <a:buSzPct val="60000"/>
            </a:pPr>
            <a:r>
              <a:rPr lang="en-US" altLang="en-US" sz="2200">
                <a:solidFill>
                  <a:schemeClr val="tx1"/>
                </a:solidFill>
              </a:rPr>
              <a:t>bool isEmpty(){</a:t>
            </a:r>
          </a:p>
          <a:p>
            <a:pPr eaLnBrk="1" hangingPunct="1">
              <a:lnSpc>
                <a:spcPct val="90000"/>
              </a:lnSpc>
              <a:buClr>
                <a:srgbClr val="DD8047"/>
              </a:buClr>
              <a:buSzPct val="60000"/>
            </a:pPr>
            <a:r>
              <a:rPr lang="en-US" altLang="en-US" sz="2200">
                <a:solidFill>
                  <a:schemeClr val="tx1"/>
                </a:solidFill>
              </a:rPr>
              <a:t>	return start==NULL;</a:t>
            </a:r>
          </a:p>
          <a:p>
            <a:pPr eaLnBrk="1" hangingPunct="1">
              <a:lnSpc>
                <a:spcPct val="90000"/>
              </a:lnSpc>
              <a:buClr>
                <a:srgbClr val="DD8047"/>
              </a:buClr>
              <a:buSzPct val="60000"/>
            </a:pPr>
            <a:r>
              <a:rPr lang="en-US" altLang="en-US" sz="22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bool </a:t>
            </a:r>
            <a:r>
              <a:rPr lang="en-US" b="1" dirty="0" err="1"/>
              <a:t>IsEmpty</a:t>
            </a:r>
            <a:r>
              <a:rPr lang="en-US" b="1" dirty="0"/>
              <a:t>() Operation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4240F-2E2F-4F70-AB00-EAE709958E8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691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DD8047"/>
              </a:buClr>
              <a:buSzPct val="60000"/>
            </a:pPr>
            <a:r>
              <a:rPr lang="en-US" altLang="en-US" sz="2400" dirty="0"/>
              <a:t>This operations prints all the elements of a non-empty list in either forward or backward direction.</a:t>
            </a:r>
            <a:endParaRPr lang="en-US" altLang="en-US" sz="2400" dirty="0">
              <a:solidFill>
                <a:srgbClr val="FFCC66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Print List Operation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4240F-2E2F-4F70-AB00-EAE709958E8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632951"/>
            <a:ext cx="5287962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6122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Search Operation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Option A: Search Function uses two Pointer variable i.e. </a:t>
            </a:r>
            <a:r>
              <a:rPr lang="en-US" altLang="en-US" dirty="0" err="1">
                <a:solidFill>
                  <a:srgbClr val="FF0000"/>
                </a:solidFill>
              </a:rPr>
              <a:t>ploc</a:t>
            </a:r>
            <a:r>
              <a:rPr lang="en-US" altLang="en-US" dirty="0">
                <a:solidFill>
                  <a:srgbClr val="FF0000"/>
                </a:solidFill>
              </a:rPr>
              <a:t> and loc </a:t>
            </a:r>
          </a:p>
          <a:p>
            <a:r>
              <a:rPr lang="en-US" altLang="en-US" dirty="0"/>
              <a:t>Although in double linked list, in the Search function, we no longer need a pointer to the predecessor of a node.</a:t>
            </a:r>
          </a:p>
          <a:p>
            <a:r>
              <a:rPr lang="en-US" altLang="en-US" dirty="0"/>
              <a:t>We can always access the predecessor of a node with its back/previous pointer field.</a:t>
            </a:r>
          </a:p>
          <a:p>
            <a:r>
              <a:rPr lang="en-US" altLang="en-US" dirty="0"/>
              <a:t>Still, first we shall use the same search function we implemented earlier in a singly linked list. It uses two pointer variables </a:t>
            </a:r>
            <a:r>
              <a:rPr lang="en-US" altLang="en-US" dirty="0" err="1"/>
              <a:t>loc</a:t>
            </a:r>
            <a:r>
              <a:rPr lang="en-US" altLang="en-US" dirty="0"/>
              <a:t> and </a:t>
            </a:r>
            <a:r>
              <a:rPr lang="en-US" altLang="en-US" dirty="0" err="1"/>
              <a:t>ploc</a:t>
            </a:r>
            <a:r>
              <a:rPr lang="en-US" altLang="en-US" dirty="0"/>
              <a:t>.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240F-2E2F-4F70-AB00-EAE709958E8F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99993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Cases in Search Operation (Option 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9" name="Rectangle 16"/>
          <p:cNvSpPr>
            <a:spLocks noChangeArrowheads="1"/>
          </p:cNvSpPr>
          <p:nvPr/>
        </p:nvSpPr>
        <p:spPr bwMode="auto">
          <a:xfrm>
            <a:off x="5410200" y="1676400"/>
            <a:ext cx="1166812" cy="279400"/>
          </a:xfrm>
          <a:prstGeom prst="rect">
            <a:avLst/>
          </a:prstGeom>
          <a:solidFill>
            <a:srgbClr val="94B6D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first=NULL</a:t>
            </a: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6770687" y="1677988"/>
            <a:ext cx="1082675" cy="249237"/>
          </a:xfrm>
          <a:prstGeom prst="rect">
            <a:avLst/>
          </a:prstGeom>
          <a:solidFill>
            <a:srgbClr val="94B6D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last=NULL</a:t>
            </a: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5856286" y="2306637"/>
            <a:ext cx="1060704" cy="306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 err="1">
                <a:latin typeface="Times New Roman" panose="02020603050405020304" pitchFamily="18" charset="0"/>
              </a:rPr>
              <a:t>loc</a:t>
            </a:r>
            <a:r>
              <a:rPr lang="en-US" altLang="en-US" sz="1600" dirty="0">
                <a:latin typeface="Times New Roman" panose="02020603050405020304" pitchFamily="18" charset="0"/>
              </a:rPr>
              <a:t>=NULL</a:t>
            </a: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4634642" y="2306638"/>
            <a:ext cx="1064483" cy="3063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 err="1">
                <a:latin typeface="Times New Roman" panose="02020603050405020304" pitchFamily="18" charset="0"/>
              </a:rPr>
              <a:t>ploc</a:t>
            </a:r>
            <a:r>
              <a:rPr lang="en-US" altLang="en-US" sz="1600" dirty="0">
                <a:latin typeface="Times New Roman" panose="02020603050405020304" pitchFamily="18" charset="0"/>
              </a:rPr>
              <a:t>=NULL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163" y="1816100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1) Search a value in an empty list.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163" y="2960958"/>
            <a:ext cx="31877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2) Value found in the head node.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0163" y="479057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3) Value not found. </a:t>
            </a:r>
            <a:endParaRPr lang="en-US" altLang="en-US" sz="1600" dirty="0">
              <a:latin typeface="Times New Roman" panose="02020603050405020304" pitchFamily="18" charset="0"/>
            </a:endParaRPr>
          </a:p>
        </p:txBody>
      </p:sp>
      <p:grpSp>
        <p:nvGrpSpPr>
          <p:cNvPr id="99" name="Group 98"/>
          <p:cNvGrpSpPr/>
          <p:nvPr/>
        </p:nvGrpSpPr>
        <p:grpSpPr>
          <a:xfrm>
            <a:off x="2483476" y="3213100"/>
            <a:ext cx="6156949" cy="1379577"/>
            <a:chOff x="2483476" y="3213100"/>
            <a:chExt cx="6156949" cy="1379577"/>
          </a:xfrm>
        </p:grpSpPr>
        <p:sp>
          <p:nvSpPr>
            <p:cNvPr id="20" name="TextBox 37"/>
            <p:cNvSpPr txBox="1">
              <a:spLocks noChangeArrowheads="1"/>
            </p:cNvSpPr>
            <p:nvPr/>
          </p:nvSpPr>
          <p:spPr bwMode="auto">
            <a:xfrm>
              <a:off x="3860816" y="4315714"/>
              <a:ext cx="4503450" cy="276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GB" altLang="en-US" sz="1200">
                  <a:solidFill>
                    <a:schemeClr val="tx1"/>
                  </a:solidFill>
                </a:rPr>
                <a:t>Find Javed. Loc points to node Javed &amp; ploc to its predecessor </a:t>
              </a: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5148645" y="3213100"/>
              <a:ext cx="585782" cy="2493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en-US" sz="16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loc</a:t>
              </a:r>
              <a:endPara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WenQuanYi Micro Hei" charset="0"/>
                <a:cs typeface="WenQuanYi Micro Hei" charset="0"/>
              </a:endParaRPr>
            </a:p>
          </p:txBody>
        </p:sp>
        <p:sp>
          <p:nvSpPr>
            <p:cNvPr id="57" name="Rectangle 16"/>
            <p:cNvSpPr>
              <a:spLocks noChangeArrowheads="1"/>
            </p:cNvSpPr>
            <p:nvPr/>
          </p:nvSpPr>
          <p:spPr bwMode="auto">
            <a:xfrm>
              <a:off x="2483476" y="3731387"/>
              <a:ext cx="1064483" cy="3063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 dirty="0" err="1">
                  <a:latin typeface="Times New Roman" panose="02020603050405020304" pitchFamily="18" charset="0"/>
                </a:rPr>
                <a:t>ploc</a:t>
              </a:r>
              <a:r>
                <a:rPr lang="en-US" altLang="en-US" sz="1600" dirty="0">
                  <a:latin typeface="Times New Roman" panose="02020603050405020304" pitchFamily="18" charset="0"/>
                </a:rPr>
                <a:t>=NULL</a:t>
              </a:r>
            </a:p>
          </p:txBody>
        </p:sp>
        <p:grpSp>
          <p:nvGrpSpPr>
            <p:cNvPr id="58" name="Group 1"/>
            <p:cNvGrpSpPr>
              <a:grpSpLocks/>
            </p:cNvGrpSpPr>
            <p:nvPr/>
          </p:nvGrpSpPr>
          <p:grpSpPr bwMode="auto">
            <a:xfrm>
              <a:off x="3859794" y="3416087"/>
              <a:ext cx="4780631" cy="882534"/>
              <a:chOff x="973138" y="4706937"/>
              <a:chExt cx="6384926" cy="2035175"/>
            </a:xfrm>
          </p:grpSpPr>
          <p:grpSp>
            <p:nvGrpSpPr>
              <p:cNvPr id="59" name="Group 3"/>
              <p:cNvGrpSpPr>
                <a:grpSpLocks/>
              </p:cNvGrpSpPr>
              <p:nvPr/>
            </p:nvGrpSpPr>
            <p:grpSpPr bwMode="auto">
              <a:xfrm>
                <a:off x="973138" y="4706937"/>
                <a:ext cx="6384926" cy="2035175"/>
                <a:chOff x="1447" y="1733"/>
                <a:chExt cx="4022" cy="1282"/>
              </a:xfrm>
            </p:grpSpPr>
            <p:sp>
              <p:nvSpPr>
                <p:cNvPr id="62" name="Rectangle 6"/>
                <p:cNvSpPr>
                  <a:spLocks noChangeArrowheads="1"/>
                </p:cNvSpPr>
                <p:nvPr/>
              </p:nvSpPr>
              <p:spPr bwMode="auto">
                <a:xfrm>
                  <a:off x="1590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en-US" altLang="en-US" sz="1200">
                      <a:solidFill>
                        <a:schemeClr val="tx1"/>
                      </a:solidFill>
                      <a:latin typeface="+mn-lt"/>
                    </a:rPr>
                    <a:t>/</a:t>
                  </a:r>
                </a:p>
              </p:txBody>
            </p:sp>
            <p:sp>
              <p:nvSpPr>
                <p:cNvPr id="63" name="Rectangle 7"/>
                <p:cNvSpPr>
                  <a:spLocks noChangeArrowheads="1"/>
                </p:cNvSpPr>
                <p:nvPr/>
              </p:nvSpPr>
              <p:spPr bwMode="auto">
                <a:xfrm>
                  <a:off x="4616" y="2592"/>
                  <a:ext cx="567" cy="423"/>
                </a:xfrm>
                <a:prstGeom prst="rect">
                  <a:avLst/>
                </a:prstGeom>
                <a:solidFill>
                  <a:srgbClr val="EBDDC3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Rizwan</a:t>
                  </a:r>
                </a:p>
              </p:txBody>
            </p:sp>
            <p:sp>
              <p:nvSpPr>
                <p:cNvPr id="64" name="Rectangle 8"/>
                <p:cNvSpPr>
                  <a:spLocks noChangeArrowheads="1"/>
                </p:cNvSpPr>
                <p:nvPr/>
              </p:nvSpPr>
              <p:spPr bwMode="auto">
                <a:xfrm>
                  <a:off x="2982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65" name="Rectangle 9"/>
                <p:cNvSpPr>
                  <a:spLocks noChangeArrowheads="1"/>
                </p:cNvSpPr>
                <p:nvPr/>
              </p:nvSpPr>
              <p:spPr bwMode="auto">
                <a:xfrm>
                  <a:off x="3264" y="2592"/>
                  <a:ext cx="567" cy="423"/>
                </a:xfrm>
                <a:prstGeom prst="rect">
                  <a:avLst/>
                </a:prstGeom>
                <a:solidFill>
                  <a:srgbClr val="66FFFF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Maria</a:t>
                  </a:r>
                </a:p>
              </p:txBody>
            </p:sp>
            <p:sp>
              <p:nvSpPr>
                <p:cNvPr id="66" name="Rectangle 10"/>
                <p:cNvSpPr>
                  <a:spLocks noChangeArrowheads="1"/>
                </p:cNvSpPr>
                <p:nvPr/>
              </p:nvSpPr>
              <p:spPr bwMode="auto">
                <a:xfrm>
                  <a:off x="4326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67" name="Rectangle 11"/>
                <p:cNvSpPr>
                  <a:spLocks noChangeArrowheads="1"/>
                </p:cNvSpPr>
                <p:nvPr/>
              </p:nvSpPr>
              <p:spPr bwMode="auto">
                <a:xfrm>
                  <a:off x="1880" y="2592"/>
                  <a:ext cx="567" cy="423"/>
                </a:xfrm>
                <a:prstGeom prst="rect">
                  <a:avLst/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Javed</a:t>
                  </a:r>
                </a:p>
              </p:txBody>
            </p:sp>
            <p:sp>
              <p:nvSpPr>
                <p:cNvPr id="68" name="Line 13"/>
                <p:cNvSpPr>
                  <a:spLocks noChangeShapeType="1"/>
                </p:cNvSpPr>
                <p:nvPr/>
              </p:nvSpPr>
              <p:spPr bwMode="auto">
                <a:xfrm>
                  <a:off x="2544" y="2880"/>
                  <a:ext cx="431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69" name="Line 14"/>
                <p:cNvSpPr>
                  <a:spLocks noChangeShapeType="1"/>
                </p:cNvSpPr>
                <p:nvPr/>
              </p:nvSpPr>
              <p:spPr bwMode="auto">
                <a:xfrm>
                  <a:off x="3984" y="2832"/>
                  <a:ext cx="337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70" name="AutoShape 15"/>
                <p:cNvSpPr>
                  <a:spLocks noChangeArrowheads="1"/>
                </p:cNvSpPr>
                <p:nvPr/>
              </p:nvSpPr>
              <p:spPr bwMode="auto">
                <a:xfrm>
                  <a:off x="1595" y="2069"/>
                  <a:ext cx="231" cy="375"/>
                </a:xfrm>
                <a:prstGeom prst="downArrow">
                  <a:avLst>
                    <a:gd name="adj1" fmla="val 50000"/>
                    <a:gd name="adj2" fmla="val 81176"/>
                  </a:avLst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71" name="Rectangle 16"/>
                <p:cNvSpPr>
                  <a:spLocks noChangeArrowheads="1"/>
                </p:cNvSpPr>
                <p:nvPr/>
              </p:nvSpPr>
              <p:spPr bwMode="auto">
                <a:xfrm>
                  <a:off x="1447" y="1733"/>
                  <a:ext cx="527" cy="287"/>
                </a:xfrm>
                <a:prstGeom prst="rect">
                  <a:avLst/>
                </a:prstGeom>
                <a:solidFill>
                  <a:srgbClr val="94B6D2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first</a:t>
                  </a:r>
                </a:p>
              </p:txBody>
            </p:sp>
            <p:sp>
              <p:nvSpPr>
                <p:cNvPr id="72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4127" y="2688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73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735" y="2736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74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5231" y="2640"/>
                  <a:ext cx="193" cy="335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</p:grpSp>
          <p:sp>
            <p:nvSpPr>
              <p:cNvPr id="60" name="AutoShape 15"/>
              <p:cNvSpPr>
                <a:spLocks noChangeArrowheads="1"/>
              </p:cNvSpPr>
              <p:nvPr/>
            </p:nvSpPr>
            <p:spPr bwMode="auto">
              <a:xfrm>
                <a:off x="5579268" y="5310188"/>
                <a:ext cx="366712" cy="595312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200">
                  <a:latin typeface="+mn-lt"/>
                </a:endParaRPr>
              </a:p>
            </p:txBody>
          </p:sp>
          <p:sp>
            <p:nvSpPr>
              <p:cNvPr id="61" name="Rectangle 16"/>
              <p:cNvSpPr>
                <a:spLocks noChangeArrowheads="1"/>
              </p:cNvSpPr>
              <p:nvPr/>
            </p:nvSpPr>
            <p:spPr bwMode="auto">
              <a:xfrm>
                <a:off x="5344319" y="4776789"/>
                <a:ext cx="836612" cy="455612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dirty="0">
                    <a:latin typeface="+mn-lt"/>
                  </a:rPr>
                  <a:t>last</a:t>
                </a:r>
              </a:p>
            </p:txBody>
          </p:sp>
        </p:grpSp>
        <p:cxnSp>
          <p:nvCxnSpPr>
            <p:cNvPr id="77" name="Elbow Connector 76"/>
            <p:cNvCxnSpPr/>
            <p:nvPr/>
          </p:nvCxnSpPr>
          <p:spPr>
            <a:xfrm rot="5400000">
              <a:off x="4658823" y="3147020"/>
              <a:ext cx="544984" cy="1175829"/>
            </a:xfrm>
            <a:prstGeom prst="bentConnector3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/>
          <p:cNvGrpSpPr/>
          <p:nvPr/>
        </p:nvGrpSpPr>
        <p:grpSpPr>
          <a:xfrm>
            <a:off x="2496182" y="5268427"/>
            <a:ext cx="6465482" cy="1400661"/>
            <a:chOff x="2496182" y="5268427"/>
            <a:chExt cx="6465482" cy="1400661"/>
          </a:xfrm>
        </p:grpSpPr>
        <p:sp>
          <p:nvSpPr>
            <p:cNvPr id="41" name="TextBox 37"/>
            <p:cNvSpPr txBox="1">
              <a:spLocks noChangeArrowheads="1"/>
            </p:cNvSpPr>
            <p:nvPr/>
          </p:nvSpPr>
          <p:spPr bwMode="auto">
            <a:xfrm>
              <a:off x="4354662" y="6207406"/>
              <a:ext cx="4504691" cy="461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GB" altLang="en-US" sz="1200" dirty="0">
                  <a:solidFill>
                    <a:schemeClr val="tx1"/>
                  </a:solidFill>
                </a:rPr>
                <a:t>Find Ali. </a:t>
              </a:r>
              <a:r>
                <a:rPr lang="en-GB" altLang="en-US" sz="1200" dirty="0" err="1">
                  <a:solidFill>
                    <a:schemeClr val="tx1"/>
                  </a:solidFill>
                </a:rPr>
                <a:t>Loc</a:t>
              </a:r>
              <a:r>
                <a:rPr lang="en-GB" altLang="en-US" sz="1200" dirty="0">
                  <a:solidFill>
                    <a:schemeClr val="tx1"/>
                  </a:solidFill>
                </a:rPr>
                <a:t> points to NULL to show the searched value not found, &amp; </a:t>
              </a:r>
              <a:r>
                <a:rPr lang="en-GB" altLang="en-US" sz="1200" dirty="0" err="1">
                  <a:solidFill>
                    <a:schemeClr val="tx1"/>
                  </a:solidFill>
                </a:rPr>
                <a:t>ploc</a:t>
              </a:r>
              <a:r>
                <a:rPr lang="en-GB" altLang="en-US" sz="1200" dirty="0">
                  <a:solidFill>
                    <a:schemeClr val="tx1"/>
                  </a:solidFill>
                </a:rPr>
                <a:t> to its logical predecessor </a:t>
              </a:r>
            </a:p>
          </p:txBody>
        </p:sp>
        <p:grpSp>
          <p:nvGrpSpPr>
            <p:cNvPr id="98" name="Group 97"/>
            <p:cNvGrpSpPr/>
            <p:nvPr/>
          </p:nvGrpSpPr>
          <p:grpSpPr>
            <a:xfrm>
              <a:off x="2496182" y="5268427"/>
              <a:ext cx="6465482" cy="1323014"/>
              <a:chOff x="2496182" y="5268427"/>
              <a:chExt cx="6465482" cy="1323014"/>
            </a:xfrm>
          </p:grpSpPr>
          <p:grpSp>
            <p:nvGrpSpPr>
              <p:cNvPr id="79" name="Group 1"/>
              <p:cNvGrpSpPr>
                <a:grpSpLocks/>
              </p:cNvGrpSpPr>
              <p:nvPr/>
            </p:nvGrpSpPr>
            <p:grpSpPr bwMode="auto">
              <a:xfrm>
                <a:off x="4181033" y="5268427"/>
                <a:ext cx="4780631" cy="882534"/>
                <a:chOff x="973138" y="4706937"/>
                <a:chExt cx="6384926" cy="2035175"/>
              </a:xfrm>
            </p:grpSpPr>
            <p:grpSp>
              <p:nvGrpSpPr>
                <p:cNvPr id="80" name="Group 3"/>
                <p:cNvGrpSpPr>
                  <a:grpSpLocks/>
                </p:cNvGrpSpPr>
                <p:nvPr/>
              </p:nvGrpSpPr>
              <p:grpSpPr bwMode="auto">
                <a:xfrm>
                  <a:off x="973138" y="4706937"/>
                  <a:ext cx="6384926" cy="2035175"/>
                  <a:chOff x="1447" y="1733"/>
                  <a:chExt cx="4022" cy="1282"/>
                </a:xfrm>
              </p:grpSpPr>
              <p:sp>
                <p:nvSpPr>
                  <p:cNvPr id="83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1590" y="2592"/>
                    <a:ext cx="1143" cy="423"/>
                  </a:xfrm>
                  <a:prstGeom prst="rect">
                    <a:avLst/>
                  </a:prstGeom>
                  <a:noFill/>
                  <a:ln w="1908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buNone/>
                    </a:pPr>
                    <a:r>
                      <a:rPr lang="en-US" altLang="en-US" sz="1200">
                        <a:solidFill>
                          <a:schemeClr val="tx1"/>
                        </a:solidFill>
                        <a:latin typeface="+mn-lt"/>
                      </a:rPr>
                      <a:t>/</a:t>
                    </a:r>
                  </a:p>
                </p:txBody>
              </p:sp>
              <p:sp>
                <p:nvSpPr>
                  <p:cNvPr id="84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4616" y="2592"/>
                    <a:ext cx="567" cy="423"/>
                  </a:xfrm>
                  <a:prstGeom prst="rect">
                    <a:avLst/>
                  </a:prstGeom>
                  <a:solidFill>
                    <a:srgbClr val="EBDDC3"/>
                  </a:solidFill>
                  <a:ln w="1908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ts val="7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9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1pPr>
                    <a:lvl2pPr>
                      <a:spcBef>
                        <a:spcPts val="55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6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2pPr>
                    <a:lvl3pPr>
                      <a:spcBef>
                        <a:spcPts val="5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3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3pPr>
                    <a:lvl4pPr>
                      <a:spcBef>
                        <a:spcPts val="4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4pPr>
                    <a:lvl5pPr>
                      <a:spcBef>
                        <a:spcPts val="4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5pPr>
                    <a:lvl6pPr marL="25146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6pPr>
                    <a:lvl7pPr marL="29718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7pPr>
                    <a:lvl8pPr marL="34290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8pPr>
                    <a:lvl9pPr marL="38862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en-US" sz="1600">
                        <a:latin typeface="+mn-lt"/>
                      </a:rPr>
                      <a:t>Rizwan</a:t>
                    </a:r>
                  </a:p>
                </p:txBody>
              </p:sp>
              <p:sp>
                <p:nvSpPr>
                  <p:cNvPr id="85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592"/>
                    <a:ext cx="1143" cy="423"/>
                  </a:xfrm>
                  <a:prstGeom prst="rect">
                    <a:avLst/>
                  </a:prstGeom>
                  <a:noFill/>
                  <a:ln w="1908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buNone/>
                    </a:pPr>
                    <a:endParaRPr lang="en-US" altLang="en-US" sz="1200">
                      <a:latin typeface="+mn-lt"/>
                    </a:endParaRPr>
                  </a:p>
                </p:txBody>
              </p:sp>
              <p:sp>
                <p:nvSpPr>
                  <p:cNvPr id="86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3264" y="2592"/>
                    <a:ext cx="567" cy="423"/>
                  </a:xfrm>
                  <a:prstGeom prst="rect">
                    <a:avLst/>
                  </a:prstGeom>
                  <a:solidFill>
                    <a:srgbClr val="66FFFF"/>
                  </a:solidFill>
                  <a:ln w="1908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ts val="7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9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1pPr>
                    <a:lvl2pPr>
                      <a:spcBef>
                        <a:spcPts val="55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6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2pPr>
                    <a:lvl3pPr>
                      <a:spcBef>
                        <a:spcPts val="5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3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3pPr>
                    <a:lvl4pPr>
                      <a:spcBef>
                        <a:spcPts val="4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4pPr>
                    <a:lvl5pPr>
                      <a:spcBef>
                        <a:spcPts val="4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5pPr>
                    <a:lvl6pPr marL="25146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6pPr>
                    <a:lvl7pPr marL="29718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7pPr>
                    <a:lvl8pPr marL="34290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8pPr>
                    <a:lvl9pPr marL="38862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en-US" sz="1600">
                        <a:latin typeface="+mn-lt"/>
                      </a:rPr>
                      <a:t>Maria</a:t>
                    </a:r>
                  </a:p>
                </p:txBody>
              </p:sp>
              <p:sp>
                <p:nvSpPr>
                  <p:cNvPr id="87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4326" y="2592"/>
                    <a:ext cx="1143" cy="423"/>
                  </a:xfrm>
                  <a:prstGeom prst="rect">
                    <a:avLst/>
                  </a:prstGeom>
                  <a:noFill/>
                  <a:ln w="1908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buNone/>
                    </a:pPr>
                    <a:endParaRPr lang="en-US" altLang="en-US" sz="1200">
                      <a:latin typeface="+mn-lt"/>
                    </a:endParaRPr>
                  </a:p>
                </p:txBody>
              </p:sp>
              <p:sp>
                <p:nvSpPr>
                  <p:cNvPr id="88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880" y="2592"/>
                    <a:ext cx="567" cy="423"/>
                  </a:xfrm>
                  <a:prstGeom prst="rect">
                    <a:avLst/>
                  </a:prstGeom>
                  <a:solidFill>
                    <a:srgbClr val="94B6D2"/>
                  </a:solidFill>
                  <a:ln w="1908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ts val="7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9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1pPr>
                    <a:lvl2pPr>
                      <a:spcBef>
                        <a:spcPts val="55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6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2pPr>
                    <a:lvl3pPr>
                      <a:spcBef>
                        <a:spcPts val="5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3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3pPr>
                    <a:lvl4pPr>
                      <a:spcBef>
                        <a:spcPts val="4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4pPr>
                    <a:lvl5pPr>
                      <a:spcBef>
                        <a:spcPts val="4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5pPr>
                    <a:lvl6pPr marL="25146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6pPr>
                    <a:lvl7pPr marL="29718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7pPr>
                    <a:lvl8pPr marL="34290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8pPr>
                    <a:lvl9pPr marL="38862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en-US" sz="1600">
                        <a:latin typeface="+mn-lt"/>
                      </a:rPr>
                      <a:t>Javed</a:t>
                    </a:r>
                  </a:p>
                </p:txBody>
              </p:sp>
              <p:sp>
                <p:nvSpPr>
                  <p:cNvPr id="89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544" y="2880"/>
                    <a:ext cx="431" cy="0"/>
                  </a:xfrm>
                  <a:prstGeom prst="line">
                    <a:avLst/>
                  </a:prstGeom>
                  <a:noFill/>
                  <a:ln w="19080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200">
                      <a:latin typeface="+mn-lt"/>
                    </a:endParaRPr>
                  </a:p>
                </p:txBody>
              </p:sp>
              <p:sp>
                <p:nvSpPr>
                  <p:cNvPr id="90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984" y="2832"/>
                    <a:ext cx="337" cy="0"/>
                  </a:xfrm>
                  <a:prstGeom prst="line">
                    <a:avLst/>
                  </a:prstGeom>
                  <a:noFill/>
                  <a:ln w="19080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200">
                      <a:latin typeface="+mn-lt"/>
                    </a:endParaRPr>
                  </a:p>
                </p:txBody>
              </p:sp>
              <p:sp>
                <p:nvSpPr>
                  <p:cNvPr id="91" name="AutoShape 15"/>
                  <p:cNvSpPr>
                    <a:spLocks noChangeArrowheads="1"/>
                  </p:cNvSpPr>
                  <p:nvPr/>
                </p:nvSpPr>
                <p:spPr bwMode="auto">
                  <a:xfrm>
                    <a:off x="1595" y="2069"/>
                    <a:ext cx="231" cy="375"/>
                  </a:xfrm>
                  <a:prstGeom prst="downArrow">
                    <a:avLst>
                      <a:gd name="adj1" fmla="val 50000"/>
                      <a:gd name="adj2" fmla="val 81176"/>
                    </a:avLst>
                  </a:prstGeom>
                  <a:solidFill>
                    <a:srgbClr val="94B6D2"/>
                  </a:solidFill>
                  <a:ln w="1908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eaLnBrk="1" hangingPunct="1"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buNone/>
                    </a:pPr>
                    <a:endParaRPr lang="en-US" altLang="en-US" sz="1200">
                      <a:latin typeface="+mn-lt"/>
                    </a:endParaRPr>
                  </a:p>
                </p:txBody>
              </p:sp>
              <p:sp>
                <p:nvSpPr>
                  <p:cNvPr id="92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1447" y="1733"/>
                    <a:ext cx="527" cy="287"/>
                  </a:xfrm>
                  <a:prstGeom prst="rect">
                    <a:avLst/>
                  </a:prstGeom>
                  <a:solidFill>
                    <a:srgbClr val="94B6D2"/>
                  </a:solidFill>
                  <a:ln w="936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ts val="7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9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1pPr>
                    <a:lvl2pPr>
                      <a:spcBef>
                        <a:spcPts val="55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6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2pPr>
                    <a:lvl3pPr>
                      <a:spcBef>
                        <a:spcPts val="5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3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3pPr>
                    <a:lvl4pPr>
                      <a:spcBef>
                        <a:spcPts val="4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4pPr>
                    <a:lvl5pPr>
                      <a:spcBef>
                        <a:spcPts val="400"/>
                      </a:spcBef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5pPr>
                    <a:lvl6pPr marL="25146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6pPr>
                    <a:lvl7pPr marL="29718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7pPr>
                    <a:lvl8pPr marL="34290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8pPr>
                    <a:lvl9pPr marL="3886200" indent="-228600" defTabSz="457200" eaLnBrk="0" fontAlgn="base" hangingPunct="0">
                      <a:spcBef>
                        <a:spcPts val="40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anose="02020603050405020304" pitchFamily="18" charset="0"/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000">
                        <a:solidFill>
                          <a:srgbClr val="000000"/>
                        </a:solidFill>
                        <a:latin typeface="Tw Cen MT" panose="020B0602020104020603" pitchFamily="34" charset="0"/>
                        <a:ea typeface="WenQuanYi Micro Hei" charset="0"/>
                        <a:cs typeface="WenQuanYi Micro Hei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en-US" sz="1600">
                        <a:latin typeface="+mn-lt"/>
                      </a:rPr>
                      <a:t>first</a:t>
                    </a:r>
                  </a:p>
                </p:txBody>
              </p:sp>
              <p:sp>
                <p:nvSpPr>
                  <p:cNvPr id="93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27" y="2688"/>
                    <a:ext cx="337" cy="0"/>
                  </a:xfrm>
                  <a:prstGeom prst="line">
                    <a:avLst/>
                  </a:prstGeom>
                  <a:noFill/>
                  <a:ln w="9360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200">
                      <a:latin typeface="+mn-lt"/>
                    </a:endParaRPr>
                  </a:p>
                </p:txBody>
              </p:sp>
              <p:sp>
                <p:nvSpPr>
                  <p:cNvPr id="94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35" y="2736"/>
                    <a:ext cx="337" cy="0"/>
                  </a:xfrm>
                  <a:prstGeom prst="line">
                    <a:avLst/>
                  </a:prstGeom>
                  <a:noFill/>
                  <a:ln w="9360">
                    <a:solidFill>
                      <a:srgbClr val="000000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200">
                      <a:latin typeface="+mn-lt"/>
                    </a:endParaRPr>
                  </a:p>
                </p:txBody>
              </p:sp>
              <p:sp>
                <p:nvSpPr>
                  <p:cNvPr id="95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231" y="2640"/>
                    <a:ext cx="193" cy="335"/>
                  </a:xfrm>
                  <a:prstGeom prst="line">
                    <a:avLst/>
                  </a:prstGeom>
                  <a:noFill/>
                  <a:ln w="936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200">
                      <a:latin typeface="+mn-lt"/>
                    </a:endParaRPr>
                  </a:p>
                </p:txBody>
              </p:sp>
            </p:grpSp>
            <p:sp>
              <p:nvSpPr>
                <p:cNvPr id="81" name="AutoShape 15"/>
                <p:cNvSpPr>
                  <a:spLocks noChangeArrowheads="1"/>
                </p:cNvSpPr>
                <p:nvPr/>
              </p:nvSpPr>
              <p:spPr bwMode="auto">
                <a:xfrm>
                  <a:off x="5579268" y="5310188"/>
                  <a:ext cx="366712" cy="595312"/>
                </a:xfrm>
                <a:prstGeom prst="downArrow">
                  <a:avLst>
                    <a:gd name="adj1" fmla="val 50000"/>
                    <a:gd name="adj2" fmla="val 81176"/>
                  </a:avLst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82" name="Rectangle 16"/>
                <p:cNvSpPr>
                  <a:spLocks noChangeArrowheads="1"/>
                </p:cNvSpPr>
                <p:nvPr/>
              </p:nvSpPr>
              <p:spPr bwMode="auto">
                <a:xfrm>
                  <a:off x="5344319" y="4776789"/>
                  <a:ext cx="836612" cy="455612"/>
                </a:xfrm>
                <a:prstGeom prst="rect">
                  <a:avLst/>
                </a:prstGeom>
                <a:solidFill>
                  <a:srgbClr val="94B6D2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 dirty="0">
                      <a:latin typeface="+mn-lt"/>
                    </a:rPr>
                    <a:t>last</a:t>
                  </a:r>
                </a:p>
              </p:txBody>
            </p:sp>
          </p:grpSp>
          <p:sp>
            <p:nvSpPr>
              <p:cNvPr id="96" name="Rectangle 16"/>
              <p:cNvSpPr>
                <a:spLocks noChangeArrowheads="1"/>
              </p:cNvSpPr>
              <p:nvPr/>
            </p:nvSpPr>
            <p:spPr bwMode="auto">
              <a:xfrm>
                <a:off x="2496182" y="5840818"/>
                <a:ext cx="1064483" cy="3063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dirty="0" err="1">
                    <a:latin typeface="Times New Roman" panose="02020603050405020304" pitchFamily="18" charset="0"/>
                  </a:rPr>
                  <a:t>ploc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=NULL</a:t>
                </a:r>
              </a:p>
            </p:txBody>
          </p:sp>
          <p:sp>
            <p:nvSpPr>
              <p:cNvPr id="97" name="Rectangle 16"/>
              <p:cNvSpPr>
                <a:spLocks noChangeArrowheads="1"/>
              </p:cNvSpPr>
              <p:nvPr/>
            </p:nvSpPr>
            <p:spPr bwMode="auto">
              <a:xfrm>
                <a:off x="2498071" y="6285053"/>
                <a:ext cx="1060704" cy="30638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dirty="0" err="1">
                    <a:latin typeface="Times New Roman" panose="02020603050405020304" pitchFamily="18" charset="0"/>
                  </a:rPr>
                  <a:t>loc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=NULL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023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  <p:bldP spid="35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Cases in Search Operation (Option A)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0" name="Rectangle 49"/>
          <p:cNvSpPr/>
          <p:nvPr/>
        </p:nvSpPr>
        <p:spPr>
          <a:xfrm>
            <a:off x="310256" y="177533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4) Value found after first and before last position.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4153" y="449826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5) Value not found. However, its logical position is not at the front end.</a:t>
            </a:r>
            <a:endParaRPr lang="en-US" altLang="en-US" sz="1600" dirty="0">
              <a:latin typeface="Times New Roman" panose="02020603050405020304" pitchFamily="18" charset="0"/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4161476" y="2157176"/>
            <a:ext cx="4780632" cy="1643104"/>
            <a:chOff x="2521195" y="2750704"/>
            <a:chExt cx="4780632" cy="1643104"/>
          </a:xfrm>
        </p:grpSpPr>
        <p:sp>
          <p:nvSpPr>
            <p:cNvPr id="53" name="TextBox 37"/>
            <p:cNvSpPr txBox="1">
              <a:spLocks noChangeArrowheads="1"/>
            </p:cNvSpPr>
            <p:nvPr/>
          </p:nvSpPr>
          <p:spPr bwMode="auto">
            <a:xfrm>
              <a:off x="2521195" y="3932143"/>
              <a:ext cx="47806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GB" altLang="en-US" sz="1200" dirty="0"/>
                <a:t>Find Maria. </a:t>
              </a:r>
              <a:r>
                <a:rPr lang="en-GB" altLang="en-US" sz="1200" dirty="0" err="1"/>
                <a:t>Loc</a:t>
              </a:r>
              <a:r>
                <a:rPr lang="en-GB" altLang="en-US" sz="1200" dirty="0"/>
                <a:t> points to node Maria &amp; </a:t>
              </a:r>
              <a:r>
                <a:rPr lang="en-GB" altLang="en-US" sz="1200" dirty="0" err="1"/>
                <a:t>ploc</a:t>
              </a:r>
              <a:r>
                <a:rPr lang="en-GB" altLang="en-US" sz="1200" dirty="0"/>
                <a:t> to its predecessor which is a non-null value. </a:t>
              </a:r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4655795" y="2769173"/>
              <a:ext cx="585782" cy="2493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en-US" sz="16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loc</a:t>
              </a:r>
              <a:endPara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WenQuanYi Micro Hei" charset="0"/>
                <a:cs typeface="WenQuanYi Micro Hei" charset="0"/>
              </a:endParaRPr>
            </a:p>
          </p:txBody>
        </p:sp>
        <p:sp>
          <p:nvSpPr>
            <p:cNvPr id="55" name="Rectangle 16"/>
            <p:cNvSpPr>
              <a:spLocks noChangeArrowheads="1"/>
            </p:cNvSpPr>
            <p:nvPr/>
          </p:nvSpPr>
          <p:spPr bwMode="auto">
            <a:xfrm>
              <a:off x="3644699" y="2750704"/>
              <a:ext cx="607722" cy="25358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 dirty="0" err="1">
                  <a:latin typeface="Times New Roman" panose="02020603050405020304" pitchFamily="18" charset="0"/>
                </a:rPr>
                <a:t>ploc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6" name="Group 1"/>
            <p:cNvGrpSpPr>
              <a:grpSpLocks/>
            </p:cNvGrpSpPr>
            <p:nvPr/>
          </p:nvGrpSpPr>
          <p:grpSpPr bwMode="auto">
            <a:xfrm>
              <a:off x="2521196" y="3032516"/>
              <a:ext cx="4780631" cy="882534"/>
              <a:chOff x="973138" y="4706937"/>
              <a:chExt cx="6384926" cy="2035175"/>
            </a:xfrm>
          </p:grpSpPr>
          <p:grpSp>
            <p:nvGrpSpPr>
              <p:cNvPr id="58" name="Group 3"/>
              <p:cNvGrpSpPr>
                <a:grpSpLocks/>
              </p:cNvGrpSpPr>
              <p:nvPr/>
            </p:nvGrpSpPr>
            <p:grpSpPr bwMode="auto">
              <a:xfrm>
                <a:off x="973138" y="4706937"/>
                <a:ext cx="6384926" cy="2035175"/>
                <a:chOff x="1447" y="1733"/>
                <a:chExt cx="4022" cy="1282"/>
              </a:xfrm>
            </p:grpSpPr>
            <p:sp>
              <p:nvSpPr>
                <p:cNvPr id="61" name="Rectangle 6"/>
                <p:cNvSpPr>
                  <a:spLocks noChangeArrowheads="1"/>
                </p:cNvSpPr>
                <p:nvPr/>
              </p:nvSpPr>
              <p:spPr bwMode="auto">
                <a:xfrm>
                  <a:off x="1590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en-US" altLang="en-US" sz="1200">
                      <a:solidFill>
                        <a:schemeClr val="tx1"/>
                      </a:solidFill>
                      <a:latin typeface="+mn-lt"/>
                    </a:rPr>
                    <a:t>/</a:t>
                  </a:r>
                </a:p>
              </p:txBody>
            </p:sp>
            <p:sp>
              <p:nvSpPr>
                <p:cNvPr id="62" name="Rectangle 7"/>
                <p:cNvSpPr>
                  <a:spLocks noChangeArrowheads="1"/>
                </p:cNvSpPr>
                <p:nvPr/>
              </p:nvSpPr>
              <p:spPr bwMode="auto">
                <a:xfrm>
                  <a:off x="4616" y="2592"/>
                  <a:ext cx="567" cy="423"/>
                </a:xfrm>
                <a:prstGeom prst="rect">
                  <a:avLst/>
                </a:prstGeom>
                <a:solidFill>
                  <a:srgbClr val="EBDDC3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Rizwan</a:t>
                  </a:r>
                </a:p>
              </p:txBody>
            </p:sp>
            <p:sp>
              <p:nvSpPr>
                <p:cNvPr id="63" name="Rectangle 8"/>
                <p:cNvSpPr>
                  <a:spLocks noChangeArrowheads="1"/>
                </p:cNvSpPr>
                <p:nvPr/>
              </p:nvSpPr>
              <p:spPr bwMode="auto">
                <a:xfrm>
                  <a:off x="2982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64" name="Rectangle 9"/>
                <p:cNvSpPr>
                  <a:spLocks noChangeArrowheads="1"/>
                </p:cNvSpPr>
                <p:nvPr/>
              </p:nvSpPr>
              <p:spPr bwMode="auto">
                <a:xfrm>
                  <a:off x="3264" y="2592"/>
                  <a:ext cx="567" cy="423"/>
                </a:xfrm>
                <a:prstGeom prst="rect">
                  <a:avLst/>
                </a:prstGeom>
                <a:solidFill>
                  <a:srgbClr val="66FFFF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Maria</a:t>
                  </a:r>
                </a:p>
              </p:txBody>
            </p:sp>
            <p:sp>
              <p:nvSpPr>
                <p:cNvPr id="65" name="Rectangle 10"/>
                <p:cNvSpPr>
                  <a:spLocks noChangeArrowheads="1"/>
                </p:cNvSpPr>
                <p:nvPr/>
              </p:nvSpPr>
              <p:spPr bwMode="auto">
                <a:xfrm>
                  <a:off x="4326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66" name="Rectangle 11"/>
                <p:cNvSpPr>
                  <a:spLocks noChangeArrowheads="1"/>
                </p:cNvSpPr>
                <p:nvPr/>
              </p:nvSpPr>
              <p:spPr bwMode="auto">
                <a:xfrm>
                  <a:off x="1880" y="2592"/>
                  <a:ext cx="567" cy="423"/>
                </a:xfrm>
                <a:prstGeom prst="rect">
                  <a:avLst/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Javed</a:t>
                  </a:r>
                </a:p>
              </p:txBody>
            </p:sp>
            <p:sp>
              <p:nvSpPr>
                <p:cNvPr id="67" name="Line 13"/>
                <p:cNvSpPr>
                  <a:spLocks noChangeShapeType="1"/>
                </p:cNvSpPr>
                <p:nvPr/>
              </p:nvSpPr>
              <p:spPr bwMode="auto">
                <a:xfrm>
                  <a:off x="2544" y="2880"/>
                  <a:ext cx="431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68" name="Line 14"/>
                <p:cNvSpPr>
                  <a:spLocks noChangeShapeType="1"/>
                </p:cNvSpPr>
                <p:nvPr/>
              </p:nvSpPr>
              <p:spPr bwMode="auto">
                <a:xfrm>
                  <a:off x="3984" y="2832"/>
                  <a:ext cx="337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69" name="AutoShape 15"/>
                <p:cNvSpPr>
                  <a:spLocks noChangeArrowheads="1"/>
                </p:cNvSpPr>
                <p:nvPr/>
              </p:nvSpPr>
              <p:spPr bwMode="auto">
                <a:xfrm>
                  <a:off x="1595" y="2069"/>
                  <a:ext cx="231" cy="375"/>
                </a:xfrm>
                <a:prstGeom prst="downArrow">
                  <a:avLst>
                    <a:gd name="adj1" fmla="val 50000"/>
                    <a:gd name="adj2" fmla="val 81176"/>
                  </a:avLst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70" name="Rectangle 16"/>
                <p:cNvSpPr>
                  <a:spLocks noChangeArrowheads="1"/>
                </p:cNvSpPr>
                <p:nvPr/>
              </p:nvSpPr>
              <p:spPr bwMode="auto">
                <a:xfrm>
                  <a:off x="1447" y="1733"/>
                  <a:ext cx="527" cy="287"/>
                </a:xfrm>
                <a:prstGeom prst="rect">
                  <a:avLst/>
                </a:prstGeom>
                <a:solidFill>
                  <a:srgbClr val="94B6D2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first</a:t>
                  </a:r>
                </a:p>
              </p:txBody>
            </p:sp>
            <p:sp>
              <p:nvSpPr>
                <p:cNvPr id="71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4127" y="2688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72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735" y="2736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73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5231" y="2640"/>
                  <a:ext cx="193" cy="335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</p:grpSp>
          <p:sp>
            <p:nvSpPr>
              <p:cNvPr id="59" name="AutoShape 15"/>
              <p:cNvSpPr>
                <a:spLocks noChangeArrowheads="1"/>
              </p:cNvSpPr>
              <p:nvPr/>
            </p:nvSpPr>
            <p:spPr bwMode="auto">
              <a:xfrm>
                <a:off x="5579268" y="5310188"/>
                <a:ext cx="366712" cy="595312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200">
                  <a:latin typeface="+mn-lt"/>
                </a:endParaRPr>
              </a:p>
            </p:txBody>
          </p:sp>
          <p:sp>
            <p:nvSpPr>
              <p:cNvPr id="60" name="Rectangle 16"/>
              <p:cNvSpPr>
                <a:spLocks noChangeArrowheads="1"/>
              </p:cNvSpPr>
              <p:nvPr/>
            </p:nvSpPr>
            <p:spPr bwMode="auto">
              <a:xfrm>
                <a:off x="5344319" y="4776789"/>
                <a:ext cx="836612" cy="455612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dirty="0">
                    <a:latin typeface="+mn-lt"/>
                  </a:rPr>
                  <a:t>last</a:t>
                </a:r>
              </a:p>
            </p:txBody>
          </p:sp>
        </p:grpSp>
        <p:cxnSp>
          <p:nvCxnSpPr>
            <p:cNvPr id="57" name="Elbow Connector 56"/>
            <p:cNvCxnSpPr>
              <a:stCxn id="54" idx="2"/>
            </p:cNvCxnSpPr>
            <p:nvPr/>
          </p:nvCxnSpPr>
          <p:spPr>
            <a:xfrm rot="5400000">
              <a:off x="4436361" y="3081214"/>
              <a:ext cx="575024" cy="44962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/>
            <p:cNvCxnSpPr/>
            <p:nvPr/>
          </p:nvCxnSpPr>
          <p:spPr>
            <a:xfrm rot="5400000">
              <a:off x="3187105" y="2848560"/>
              <a:ext cx="619565" cy="93102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/>
        </p:nvGrpSpPr>
        <p:grpSpPr>
          <a:xfrm>
            <a:off x="2874489" y="4671699"/>
            <a:ext cx="6174001" cy="1643104"/>
            <a:chOff x="1127826" y="2750704"/>
            <a:chExt cx="6174001" cy="1643104"/>
          </a:xfrm>
        </p:grpSpPr>
        <p:sp>
          <p:nvSpPr>
            <p:cNvPr id="82" name="TextBox 37"/>
            <p:cNvSpPr txBox="1">
              <a:spLocks noChangeArrowheads="1"/>
            </p:cNvSpPr>
            <p:nvPr/>
          </p:nvSpPr>
          <p:spPr bwMode="auto">
            <a:xfrm>
              <a:off x="2521195" y="3932143"/>
              <a:ext cx="47806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GB" altLang="en-US" sz="1200" dirty="0"/>
                <a:t>Find </a:t>
              </a:r>
              <a:r>
                <a:rPr lang="en-GB" altLang="en-US" sz="1200" dirty="0" err="1"/>
                <a:t>Kashif</a:t>
              </a:r>
              <a:r>
                <a:rPr lang="en-GB" altLang="en-US" sz="1200" dirty="0"/>
                <a:t>. </a:t>
              </a:r>
              <a:r>
                <a:rPr lang="en-GB" altLang="en-US" sz="1200" dirty="0" err="1"/>
                <a:t>Loc</a:t>
              </a:r>
              <a:r>
                <a:rPr lang="en-GB" altLang="en-US" sz="1200" dirty="0"/>
                <a:t> points to NULL &amp; </a:t>
              </a:r>
              <a:r>
                <a:rPr lang="en-GB" altLang="en-US" sz="1200" dirty="0" err="1"/>
                <a:t>ploc</a:t>
              </a:r>
              <a:r>
                <a:rPr lang="en-GB" altLang="en-US" sz="1200" dirty="0"/>
                <a:t> to its predecessor which is a non-null value. </a:t>
              </a:r>
            </a:p>
          </p:txBody>
        </p:sp>
        <p:sp>
          <p:nvSpPr>
            <p:cNvPr id="83" name="Rectangle 16"/>
            <p:cNvSpPr>
              <a:spLocks noChangeArrowheads="1"/>
            </p:cNvSpPr>
            <p:nvPr/>
          </p:nvSpPr>
          <p:spPr bwMode="auto">
            <a:xfrm>
              <a:off x="1127826" y="3521972"/>
              <a:ext cx="1048526" cy="2493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en-US" sz="16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Loc</a:t>
              </a:r>
              <a:r>
                <a:rPr lang="en-US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=NULL</a:t>
              </a:r>
            </a:p>
          </p:txBody>
        </p:sp>
        <p:sp>
          <p:nvSpPr>
            <p:cNvPr id="84" name="Rectangle 16"/>
            <p:cNvSpPr>
              <a:spLocks noChangeArrowheads="1"/>
            </p:cNvSpPr>
            <p:nvPr/>
          </p:nvSpPr>
          <p:spPr bwMode="auto">
            <a:xfrm>
              <a:off x="3644699" y="2750704"/>
              <a:ext cx="607722" cy="25358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 dirty="0" err="1">
                  <a:latin typeface="Times New Roman" panose="02020603050405020304" pitchFamily="18" charset="0"/>
                </a:rPr>
                <a:t>ploc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85" name="Group 1"/>
            <p:cNvGrpSpPr>
              <a:grpSpLocks/>
            </p:cNvGrpSpPr>
            <p:nvPr/>
          </p:nvGrpSpPr>
          <p:grpSpPr bwMode="auto">
            <a:xfrm>
              <a:off x="2521196" y="3032516"/>
              <a:ext cx="4780631" cy="882534"/>
              <a:chOff x="973138" y="4706937"/>
              <a:chExt cx="6384926" cy="2035175"/>
            </a:xfrm>
          </p:grpSpPr>
          <p:grpSp>
            <p:nvGrpSpPr>
              <p:cNvPr id="88" name="Group 3"/>
              <p:cNvGrpSpPr>
                <a:grpSpLocks/>
              </p:cNvGrpSpPr>
              <p:nvPr/>
            </p:nvGrpSpPr>
            <p:grpSpPr bwMode="auto">
              <a:xfrm>
                <a:off x="973138" y="4706937"/>
                <a:ext cx="6384926" cy="2035175"/>
                <a:chOff x="1447" y="1733"/>
                <a:chExt cx="4022" cy="1282"/>
              </a:xfrm>
            </p:grpSpPr>
            <p:sp>
              <p:nvSpPr>
                <p:cNvPr id="91" name="Rectangle 6"/>
                <p:cNvSpPr>
                  <a:spLocks noChangeArrowheads="1"/>
                </p:cNvSpPr>
                <p:nvPr/>
              </p:nvSpPr>
              <p:spPr bwMode="auto">
                <a:xfrm>
                  <a:off x="1590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en-US" altLang="en-US" sz="1200">
                      <a:solidFill>
                        <a:schemeClr val="tx1"/>
                      </a:solidFill>
                      <a:latin typeface="+mn-lt"/>
                    </a:rPr>
                    <a:t>/</a:t>
                  </a:r>
                </a:p>
              </p:txBody>
            </p:sp>
            <p:sp>
              <p:nvSpPr>
                <p:cNvPr id="92" name="Rectangle 7"/>
                <p:cNvSpPr>
                  <a:spLocks noChangeArrowheads="1"/>
                </p:cNvSpPr>
                <p:nvPr/>
              </p:nvSpPr>
              <p:spPr bwMode="auto">
                <a:xfrm>
                  <a:off x="4616" y="2592"/>
                  <a:ext cx="567" cy="423"/>
                </a:xfrm>
                <a:prstGeom prst="rect">
                  <a:avLst/>
                </a:prstGeom>
                <a:solidFill>
                  <a:srgbClr val="EBDDC3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Rizwan</a:t>
                  </a:r>
                </a:p>
              </p:txBody>
            </p:sp>
            <p:sp>
              <p:nvSpPr>
                <p:cNvPr id="93" name="Rectangle 8"/>
                <p:cNvSpPr>
                  <a:spLocks noChangeArrowheads="1"/>
                </p:cNvSpPr>
                <p:nvPr/>
              </p:nvSpPr>
              <p:spPr bwMode="auto">
                <a:xfrm>
                  <a:off x="2982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94" name="Rectangle 9"/>
                <p:cNvSpPr>
                  <a:spLocks noChangeArrowheads="1"/>
                </p:cNvSpPr>
                <p:nvPr/>
              </p:nvSpPr>
              <p:spPr bwMode="auto">
                <a:xfrm>
                  <a:off x="3264" y="2592"/>
                  <a:ext cx="567" cy="423"/>
                </a:xfrm>
                <a:prstGeom prst="rect">
                  <a:avLst/>
                </a:prstGeom>
                <a:solidFill>
                  <a:srgbClr val="66FFFF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Maria</a:t>
                  </a:r>
                </a:p>
              </p:txBody>
            </p:sp>
            <p:sp>
              <p:nvSpPr>
                <p:cNvPr id="95" name="Rectangle 10"/>
                <p:cNvSpPr>
                  <a:spLocks noChangeArrowheads="1"/>
                </p:cNvSpPr>
                <p:nvPr/>
              </p:nvSpPr>
              <p:spPr bwMode="auto">
                <a:xfrm>
                  <a:off x="4326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96" name="Rectangle 11"/>
                <p:cNvSpPr>
                  <a:spLocks noChangeArrowheads="1"/>
                </p:cNvSpPr>
                <p:nvPr/>
              </p:nvSpPr>
              <p:spPr bwMode="auto">
                <a:xfrm>
                  <a:off x="1880" y="2592"/>
                  <a:ext cx="567" cy="423"/>
                </a:xfrm>
                <a:prstGeom prst="rect">
                  <a:avLst/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Javed</a:t>
                  </a:r>
                </a:p>
              </p:txBody>
            </p:sp>
            <p:sp>
              <p:nvSpPr>
                <p:cNvPr id="97" name="Line 13"/>
                <p:cNvSpPr>
                  <a:spLocks noChangeShapeType="1"/>
                </p:cNvSpPr>
                <p:nvPr/>
              </p:nvSpPr>
              <p:spPr bwMode="auto">
                <a:xfrm>
                  <a:off x="2544" y="2880"/>
                  <a:ext cx="431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98" name="Line 14"/>
                <p:cNvSpPr>
                  <a:spLocks noChangeShapeType="1"/>
                </p:cNvSpPr>
                <p:nvPr/>
              </p:nvSpPr>
              <p:spPr bwMode="auto">
                <a:xfrm>
                  <a:off x="3984" y="2832"/>
                  <a:ext cx="337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99" name="AutoShape 15"/>
                <p:cNvSpPr>
                  <a:spLocks noChangeArrowheads="1"/>
                </p:cNvSpPr>
                <p:nvPr/>
              </p:nvSpPr>
              <p:spPr bwMode="auto">
                <a:xfrm>
                  <a:off x="1595" y="2069"/>
                  <a:ext cx="231" cy="375"/>
                </a:xfrm>
                <a:prstGeom prst="downArrow">
                  <a:avLst>
                    <a:gd name="adj1" fmla="val 50000"/>
                    <a:gd name="adj2" fmla="val 81176"/>
                  </a:avLst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100" name="Rectangle 16"/>
                <p:cNvSpPr>
                  <a:spLocks noChangeArrowheads="1"/>
                </p:cNvSpPr>
                <p:nvPr/>
              </p:nvSpPr>
              <p:spPr bwMode="auto">
                <a:xfrm>
                  <a:off x="1447" y="1733"/>
                  <a:ext cx="527" cy="287"/>
                </a:xfrm>
                <a:prstGeom prst="rect">
                  <a:avLst/>
                </a:prstGeom>
                <a:solidFill>
                  <a:srgbClr val="94B6D2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first</a:t>
                  </a:r>
                </a:p>
              </p:txBody>
            </p:sp>
            <p:sp>
              <p:nvSpPr>
                <p:cNvPr id="101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4127" y="2688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102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735" y="2736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103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5231" y="2640"/>
                  <a:ext cx="193" cy="335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</p:grpSp>
          <p:sp>
            <p:nvSpPr>
              <p:cNvPr id="89" name="AutoShape 15"/>
              <p:cNvSpPr>
                <a:spLocks noChangeArrowheads="1"/>
              </p:cNvSpPr>
              <p:nvPr/>
            </p:nvSpPr>
            <p:spPr bwMode="auto">
              <a:xfrm>
                <a:off x="5579268" y="5310188"/>
                <a:ext cx="366712" cy="595312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200">
                  <a:latin typeface="+mn-lt"/>
                </a:endParaRPr>
              </a:p>
            </p:txBody>
          </p:sp>
          <p:sp>
            <p:nvSpPr>
              <p:cNvPr id="90" name="Rectangle 16"/>
              <p:cNvSpPr>
                <a:spLocks noChangeArrowheads="1"/>
              </p:cNvSpPr>
              <p:nvPr/>
            </p:nvSpPr>
            <p:spPr bwMode="auto">
              <a:xfrm>
                <a:off x="5344319" y="4776789"/>
                <a:ext cx="836612" cy="455612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dirty="0">
                    <a:latin typeface="+mn-lt"/>
                  </a:rPr>
                  <a:t>last</a:t>
                </a:r>
              </a:p>
            </p:txBody>
          </p:sp>
        </p:grpSp>
        <p:cxnSp>
          <p:nvCxnSpPr>
            <p:cNvPr id="87" name="Elbow Connector 86"/>
            <p:cNvCxnSpPr/>
            <p:nvPr/>
          </p:nvCxnSpPr>
          <p:spPr>
            <a:xfrm rot="5400000">
              <a:off x="3187105" y="2848560"/>
              <a:ext cx="619565" cy="93102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410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Cases in Search Operation (Option A)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607213"/>
              </p:ext>
            </p:extLst>
          </p:nvPr>
        </p:nvGraphicFramePr>
        <p:xfrm>
          <a:off x="755650" y="2938463"/>
          <a:ext cx="7666038" cy="266541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62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8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75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Ploc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Loc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Interpretation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37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dirty="0">
                          <a:effectLst/>
                        </a:rPr>
                        <a:t>Null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Null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Value not found, and its logical position is at the front of the list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75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dirty="0">
                          <a:effectLst/>
                        </a:rPr>
                        <a:t>Null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Non-null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Value found in the head node of the list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50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dirty="0">
                          <a:effectLst/>
                        </a:rPr>
                        <a:t>Non-null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Non-null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Value found but not in the head node. </a:t>
                      </a:r>
                      <a:r>
                        <a:rPr lang="en-GB" sz="1600" dirty="0">
                          <a:effectLst/>
                        </a:rPr>
                        <a:t>As </a:t>
                      </a:r>
                      <a:r>
                        <a:rPr lang="en-GB" sz="1600" dirty="0" err="1">
                          <a:effectLst/>
                        </a:rPr>
                        <a:t>ploc</a:t>
                      </a:r>
                      <a:r>
                        <a:rPr lang="en-GB" sz="1600" dirty="0">
                          <a:effectLst/>
                        </a:rPr>
                        <a:t> is non-null, it might be in any node other than the head node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50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b="0" dirty="0">
                          <a:effectLst/>
                        </a:rPr>
                        <a:t>Non-null &amp; </a:t>
                      </a:r>
                      <a:r>
                        <a:rPr lang="en-GB" sz="1600" b="0" dirty="0" err="1">
                          <a:effectLst/>
                        </a:rPr>
                        <a:t>ploc</a:t>
                      </a:r>
                      <a:r>
                        <a:rPr lang="en-GB" sz="1600" b="0" dirty="0">
                          <a:effectLst/>
                        </a:rPr>
                        <a:t>=last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>
                          <a:effectLst/>
                        </a:rPr>
                        <a:t>Value not found. Its logical position is at the end of the list.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50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b="0" dirty="0">
                          <a:effectLst/>
                        </a:rPr>
                        <a:t>Non-null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Value not found. Its logical position is somewhere after first and before last node.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67632" y="5585285"/>
            <a:ext cx="64420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 1: Possible Values in </a:t>
            </a:r>
            <a:r>
              <a:rPr lang="en-US" altLang="en-US" sz="14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</a:t>
            </a:r>
            <a:r>
              <a:rPr lang="en-US" altLang="en-US" sz="1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14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Ploc</a:t>
            </a:r>
            <a:r>
              <a:rPr lang="en-US" altLang="en-US" sz="1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after Call to Search() and their Interpretation</a:t>
            </a:r>
            <a:endParaRPr lang="en-US" altLang="en-US" sz="1400" dirty="0"/>
          </a:p>
          <a:p>
            <a:endParaRPr lang="en-US" altLang="en-US" sz="14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28650" y="1755775"/>
            <a:ext cx="8153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call to the Search function, </a:t>
            </a:r>
            <a:r>
              <a:rPr lang="en-US" altLang="en-US" sz="2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</a:t>
            </a: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ploc</a:t>
            </a: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get updated. The following table explains the interpretation of both the values.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44043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Search Operation – Option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lr>
                <a:srgbClr val="DD8047"/>
              </a:buClr>
              <a:buSzPct val="60000"/>
              <a:buNone/>
              <a:defRPr/>
            </a:pPr>
            <a:r>
              <a:rPr lang="en-US" altLang="en-US" sz="2000" b="1" dirty="0">
                <a:solidFill>
                  <a:srgbClr val="FF0000"/>
                </a:solidFill>
              </a:rPr>
              <a:t>Option B: </a:t>
            </a:r>
            <a:r>
              <a:rPr lang="en-US" altLang="en-US" sz="2000" i="1" dirty="0">
                <a:solidFill>
                  <a:srgbClr val="FF0000"/>
                </a:solidFill>
              </a:rPr>
              <a:t>Search Function which uses only one Pointer variable i.e. </a:t>
            </a:r>
            <a:r>
              <a:rPr lang="en-US" altLang="en-US" sz="2000" i="1" dirty="0" err="1">
                <a:solidFill>
                  <a:srgbClr val="FF0000"/>
                </a:solidFill>
              </a:rPr>
              <a:t>loc</a:t>
            </a:r>
            <a:r>
              <a:rPr lang="en-US" altLang="en-US" sz="2000" i="1" dirty="0">
                <a:solidFill>
                  <a:srgbClr val="FF0000"/>
                </a:solidFill>
              </a:rPr>
              <a:t> in our case</a:t>
            </a:r>
          </a:p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lang="en-US" altLang="en-US" sz="2000" dirty="0"/>
              <a:t>In the Search function, we no longer need a pointer to the predecessor (</a:t>
            </a:r>
            <a:r>
              <a:rPr lang="en-US" altLang="en-US" sz="2000" dirty="0" err="1"/>
              <a:t>ploc</a:t>
            </a:r>
            <a:r>
              <a:rPr lang="en-US" altLang="en-US" sz="2000" dirty="0"/>
              <a:t>) of the node.</a:t>
            </a:r>
          </a:p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lang="en-US" altLang="en-US" sz="2000" dirty="0"/>
              <a:t>We can always access the predecessor of the node with its </a:t>
            </a:r>
            <a:r>
              <a:rPr lang="en-US" altLang="en-US" sz="2000" dirty="0" err="1"/>
              <a:t>prev</a:t>
            </a:r>
            <a:r>
              <a:rPr lang="en-US" altLang="en-US" sz="2000" dirty="0"/>
              <a:t>/back pointer field.</a:t>
            </a:r>
          </a:p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lang="en-US" altLang="en-US" sz="2000" dirty="0"/>
              <a:t>Still, we will change the Search() interface slightly ; since we no longer need </a:t>
            </a:r>
            <a:r>
              <a:rPr lang="en-US" altLang="en-US" sz="2000" dirty="0" err="1"/>
              <a:t>PredLoc</a:t>
            </a:r>
            <a:r>
              <a:rPr lang="en-US" altLang="en-US" sz="2000" dirty="0"/>
              <a:t>, we will update one pointer - </a:t>
            </a:r>
            <a:r>
              <a:rPr lang="en-US" altLang="en-US" sz="2000" b="1" dirty="0"/>
              <a:t>Location</a:t>
            </a:r>
            <a:r>
              <a:rPr lang="en-US" altLang="en-US" sz="20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674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Search Operation – Option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search() method finds “key” value in a linked list</a:t>
            </a:r>
          </a:p>
          <a:p>
            <a:pPr marL="1060450" lvl="1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We are assuming the linked list is sorted</a:t>
            </a: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If “key” is found in the list, then, search() returns </a:t>
            </a:r>
            <a:r>
              <a:rPr lang="en-GB" sz="2200" b="1" dirty="0">
                <a:solidFill>
                  <a:srgbClr val="000000"/>
                </a:solidFill>
                <a:latin typeface="Tw Cen MT" pitchFamily="34" charset="0"/>
              </a:rPr>
              <a:t>true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 and  </a:t>
            </a:r>
            <a:r>
              <a:rPr lang="en-GB" sz="2200" b="1" dirty="0">
                <a:solidFill>
                  <a:srgbClr val="000000"/>
                </a:solidFill>
                <a:latin typeface="Tw Cen MT" pitchFamily="34" charset="0"/>
              </a:rPr>
              <a:t>Loc_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 points to the node containing key value. </a:t>
            </a: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If key value is not found in the list then search() returns </a:t>
            </a:r>
            <a:r>
              <a:rPr lang="en-GB" sz="2200" b="1" dirty="0">
                <a:solidFill>
                  <a:srgbClr val="000000"/>
                </a:solidFill>
                <a:latin typeface="Tw Cen MT" pitchFamily="34" charset="0"/>
              </a:rPr>
              <a:t>false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. For </a:t>
            </a:r>
            <a:r>
              <a:rPr lang="en-GB" sz="2200" b="1" dirty="0" err="1">
                <a:solidFill>
                  <a:srgbClr val="000000"/>
                </a:solidFill>
                <a:latin typeface="Tw Cen MT" pitchFamily="34" charset="0"/>
              </a:rPr>
              <a:t>Loc</a:t>
            </a:r>
            <a:r>
              <a:rPr lang="en-GB" sz="2200" b="1" dirty="0">
                <a:solidFill>
                  <a:srgbClr val="000000"/>
                </a:solidFill>
                <a:latin typeface="Tw Cen MT" pitchFamily="34" charset="0"/>
              </a:rPr>
              <a:t>_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 there are two possibilities;</a:t>
            </a:r>
          </a:p>
          <a:p>
            <a:pPr marL="1200150" lvl="1" indent="-457200">
              <a:spcBef>
                <a:spcPts val="700"/>
              </a:spcBef>
              <a:buClr>
                <a:srgbClr val="DD8047"/>
              </a:buClr>
              <a:buSzPct val="60000"/>
              <a:buFont typeface="+mj-lt"/>
              <a:buAutoNum type="arabicParenR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200" dirty="0" err="1">
                <a:solidFill>
                  <a:srgbClr val="000000"/>
                </a:solidFill>
                <a:latin typeface="Tw Cen MT" pitchFamily="34" charset="0"/>
              </a:rPr>
              <a:t>Loc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_ points to successor node of key if its logical position is before </a:t>
            </a:r>
            <a:r>
              <a:rPr lang="en-GB" sz="2200" i="1" dirty="0">
                <a:solidFill>
                  <a:srgbClr val="000000"/>
                </a:solidFill>
                <a:latin typeface="Tw Cen MT" pitchFamily="34" charset="0"/>
              </a:rPr>
              <a:t>last node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 of the list; </a:t>
            </a:r>
            <a:r>
              <a:rPr lang="en-GB" sz="2200" b="1" i="1" dirty="0">
                <a:solidFill>
                  <a:srgbClr val="000000"/>
                </a:solidFill>
                <a:latin typeface="Tw Cen MT" pitchFamily="34" charset="0"/>
              </a:rPr>
              <a:t>key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 should be inserted before </a:t>
            </a:r>
            <a:r>
              <a:rPr lang="en-GB" sz="2200" dirty="0" err="1">
                <a:solidFill>
                  <a:srgbClr val="000000"/>
                </a:solidFill>
                <a:latin typeface="Tw Cen MT" pitchFamily="34" charset="0"/>
              </a:rPr>
              <a:t>Loc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_. </a:t>
            </a:r>
          </a:p>
          <a:p>
            <a:pPr marL="1200150" lvl="1" indent="-457200">
              <a:spcBef>
                <a:spcPts val="700"/>
              </a:spcBef>
              <a:buClr>
                <a:srgbClr val="DD8047"/>
              </a:buClr>
              <a:buSzPct val="60000"/>
              <a:buFont typeface="+mj-lt"/>
              <a:buAutoNum type="arabicParenR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200" dirty="0" err="1">
                <a:solidFill>
                  <a:srgbClr val="000000"/>
                </a:solidFill>
                <a:latin typeface="Tw Cen MT" pitchFamily="34" charset="0"/>
              </a:rPr>
              <a:t>Loc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_ points to the last node of the list (predecessor of key), and the key should be inserted after </a:t>
            </a:r>
            <a:r>
              <a:rPr lang="en-GB" sz="2200" dirty="0" err="1">
                <a:solidFill>
                  <a:srgbClr val="000000"/>
                </a:solidFill>
                <a:latin typeface="Tw Cen MT" pitchFamily="34" charset="0"/>
              </a:rPr>
              <a:t>Loc</a:t>
            </a:r>
            <a:r>
              <a:rPr lang="en-GB" sz="2200" dirty="0">
                <a:solidFill>
                  <a:srgbClr val="000000"/>
                </a:solidFill>
                <a:latin typeface="Tw Cen MT" pitchFamily="34" charset="0"/>
              </a:rPr>
              <a:t>_ as last node of the 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442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Operation – Option B: Cases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700"/>
              </a:spcBef>
              <a:buClr>
                <a:srgbClr val="DD8047"/>
              </a:buClr>
              <a:buSzPct val="60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000" dirty="0">
                <a:solidFill>
                  <a:srgbClr val="000000"/>
                </a:solidFill>
                <a:latin typeface="Tw Cen MT" pitchFamily="34" charset="0"/>
              </a:rPr>
              <a:t>1) </a:t>
            </a:r>
            <a:r>
              <a:rPr lang="en-GB" sz="2000" dirty="0" err="1">
                <a:solidFill>
                  <a:srgbClr val="000000"/>
                </a:solidFill>
                <a:latin typeface="Tw Cen MT" pitchFamily="34" charset="0"/>
              </a:rPr>
              <a:t>Loc</a:t>
            </a:r>
            <a:r>
              <a:rPr lang="en-GB" sz="2000" dirty="0">
                <a:solidFill>
                  <a:srgbClr val="000000"/>
                </a:solidFill>
                <a:latin typeface="Tw Cen MT" pitchFamily="34" charset="0"/>
              </a:rPr>
              <a:t>_ points to successor node of key if its logical position is before </a:t>
            </a:r>
            <a:r>
              <a:rPr lang="en-GB" sz="2000" i="1" dirty="0">
                <a:solidFill>
                  <a:srgbClr val="000000"/>
                </a:solidFill>
                <a:latin typeface="Tw Cen MT" pitchFamily="34" charset="0"/>
              </a:rPr>
              <a:t>last node</a:t>
            </a:r>
            <a:r>
              <a:rPr lang="en-GB" sz="2000" dirty="0">
                <a:solidFill>
                  <a:srgbClr val="000000"/>
                </a:solidFill>
                <a:latin typeface="Tw Cen MT" pitchFamily="34" charset="0"/>
              </a:rPr>
              <a:t> of the list; </a:t>
            </a:r>
            <a:r>
              <a:rPr lang="en-GB" sz="2000" b="1" i="1" dirty="0">
                <a:solidFill>
                  <a:srgbClr val="000000"/>
                </a:solidFill>
                <a:latin typeface="Tw Cen MT" pitchFamily="34" charset="0"/>
              </a:rPr>
              <a:t>key</a:t>
            </a:r>
            <a:r>
              <a:rPr lang="en-GB" sz="2000" dirty="0">
                <a:solidFill>
                  <a:srgbClr val="000000"/>
                </a:solidFill>
                <a:latin typeface="Tw Cen MT" pitchFamily="34" charset="0"/>
              </a:rPr>
              <a:t> should be inserted before </a:t>
            </a:r>
            <a:r>
              <a:rPr lang="en-GB" sz="2000" dirty="0" err="1">
                <a:solidFill>
                  <a:srgbClr val="000000"/>
                </a:solidFill>
                <a:latin typeface="Tw Cen MT" pitchFamily="34" charset="0"/>
              </a:rPr>
              <a:t>Loc</a:t>
            </a:r>
            <a:r>
              <a:rPr lang="en-GB" sz="2000" dirty="0">
                <a:solidFill>
                  <a:srgbClr val="000000"/>
                </a:solidFill>
                <a:latin typeface="Tw Cen MT" pitchFamily="34" charset="0"/>
              </a:rPr>
              <a:t>_.</a:t>
            </a: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sz="2000" dirty="0">
              <a:solidFill>
                <a:srgbClr val="000000"/>
              </a:solidFill>
              <a:latin typeface="Tw Cen MT" pitchFamily="34" charset="0"/>
            </a:endParaRP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sz="2000" dirty="0">
              <a:solidFill>
                <a:srgbClr val="000000"/>
              </a:solidFill>
              <a:latin typeface="Tw Cen MT" pitchFamily="34" charset="0"/>
            </a:endParaRP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sz="2000" dirty="0">
              <a:solidFill>
                <a:srgbClr val="000000"/>
              </a:solidFill>
              <a:latin typeface="Tw Cen MT" pitchFamily="34" charset="0"/>
            </a:endParaRP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sz="2000" dirty="0">
              <a:solidFill>
                <a:srgbClr val="000000"/>
              </a:solidFill>
              <a:latin typeface="Tw Cen MT" pitchFamily="34" charset="0"/>
            </a:endParaRP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sz="2000" dirty="0">
              <a:solidFill>
                <a:srgbClr val="000000"/>
              </a:solidFill>
              <a:latin typeface="Tw Cen MT" pitchFamily="34" charset="0"/>
            </a:endParaRP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sz="2000" dirty="0">
              <a:solidFill>
                <a:srgbClr val="000000"/>
              </a:solidFill>
              <a:latin typeface="Tw Cen MT" pitchFamily="34" charset="0"/>
            </a:endParaRP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sz="2000" dirty="0">
              <a:solidFill>
                <a:srgbClr val="000000"/>
              </a:solidFill>
              <a:latin typeface="Tw Cen MT" pitchFamily="34" charset="0"/>
            </a:endParaRPr>
          </a:p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>
                <a:latin typeface="Arial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2181685" y="2364434"/>
            <a:ext cx="4780631" cy="1404218"/>
            <a:chOff x="3859794" y="3213100"/>
            <a:chExt cx="4780631" cy="1404218"/>
          </a:xfrm>
        </p:grpSpPr>
        <p:sp>
          <p:nvSpPr>
            <p:cNvPr id="8" name="TextBox 37"/>
            <p:cNvSpPr txBox="1">
              <a:spLocks noChangeArrowheads="1"/>
            </p:cNvSpPr>
            <p:nvPr/>
          </p:nvSpPr>
          <p:spPr bwMode="auto">
            <a:xfrm>
              <a:off x="4111897" y="4340355"/>
              <a:ext cx="4503450" cy="276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GB" altLang="en-US" sz="1200" dirty="0"/>
                <a:t>Find </a:t>
              </a:r>
              <a:r>
                <a:rPr lang="en-GB" altLang="en-US" sz="1200" dirty="0" err="1"/>
                <a:t>Kashif</a:t>
              </a:r>
              <a:r>
                <a:rPr lang="en-GB" altLang="en-US" sz="1200" dirty="0"/>
                <a:t>? </a:t>
              </a:r>
              <a:r>
                <a:rPr lang="en-GB" altLang="en-US" sz="1200" dirty="0" err="1"/>
                <a:t>Loc</a:t>
              </a:r>
              <a:r>
                <a:rPr lang="en-GB" altLang="en-US" sz="1200" dirty="0"/>
                <a:t>_ points to  successor of </a:t>
              </a:r>
              <a:r>
                <a:rPr lang="en-GB" altLang="en-US" sz="1200" dirty="0" err="1"/>
                <a:t>Kashif</a:t>
              </a:r>
              <a:endParaRPr lang="en-GB" altLang="en-US" sz="1200" dirty="0"/>
            </a:p>
          </p:txBody>
        </p: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5148645" y="3213100"/>
              <a:ext cx="585782" cy="24934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en-US" sz="16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Loc</a:t>
              </a:r>
              <a:r>
                <a:rPr lang="en-US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_</a:t>
              </a:r>
            </a:p>
          </p:txBody>
        </p:sp>
        <p:grpSp>
          <p:nvGrpSpPr>
            <p:cNvPr id="11" name="Group 1"/>
            <p:cNvGrpSpPr>
              <a:grpSpLocks/>
            </p:cNvGrpSpPr>
            <p:nvPr/>
          </p:nvGrpSpPr>
          <p:grpSpPr bwMode="auto">
            <a:xfrm>
              <a:off x="3859794" y="3416087"/>
              <a:ext cx="4780631" cy="882534"/>
              <a:chOff x="973138" y="4706937"/>
              <a:chExt cx="6384926" cy="2035175"/>
            </a:xfrm>
          </p:grpSpPr>
          <p:grpSp>
            <p:nvGrpSpPr>
              <p:cNvPr id="13" name="Group 3"/>
              <p:cNvGrpSpPr>
                <a:grpSpLocks/>
              </p:cNvGrpSpPr>
              <p:nvPr/>
            </p:nvGrpSpPr>
            <p:grpSpPr bwMode="auto">
              <a:xfrm>
                <a:off x="973138" y="4706937"/>
                <a:ext cx="6384926" cy="2035175"/>
                <a:chOff x="1447" y="1733"/>
                <a:chExt cx="4022" cy="1282"/>
              </a:xfrm>
            </p:grpSpPr>
            <p:sp>
              <p:nvSpPr>
                <p:cNvPr id="16" name="Rectangle 6"/>
                <p:cNvSpPr>
                  <a:spLocks noChangeArrowheads="1"/>
                </p:cNvSpPr>
                <p:nvPr/>
              </p:nvSpPr>
              <p:spPr bwMode="auto">
                <a:xfrm>
                  <a:off x="1590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en-US" altLang="en-US" sz="1200">
                      <a:solidFill>
                        <a:schemeClr val="tx1"/>
                      </a:solidFill>
                      <a:latin typeface="+mn-lt"/>
                    </a:rPr>
                    <a:t>/</a:t>
                  </a:r>
                </a:p>
              </p:txBody>
            </p:sp>
            <p:sp>
              <p:nvSpPr>
                <p:cNvPr id="17" name="Rectangle 7"/>
                <p:cNvSpPr>
                  <a:spLocks noChangeArrowheads="1"/>
                </p:cNvSpPr>
                <p:nvPr/>
              </p:nvSpPr>
              <p:spPr bwMode="auto">
                <a:xfrm>
                  <a:off x="4616" y="2592"/>
                  <a:ext cx="567" cy="423"/>
                </a:xfrm>
                <a:prstGeom prst="rect">
                  <a:avLst/>
                </a:prstGeom>
                <a:solidFill>
                  <a:srgbClr val="EBDDC3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 dirty="0" err="1">
                      <a:latin typeface="+mn-lt"/>
                    </a:rPr>
                    <a:t>Rizwan</a:t>
                  </a:r>
                  <a:endParaRPr lang="en-US" altLang="en-US" sz="1600" dirty="0">
                    <a:latin typeface="+mn-lt"/>
                  </a:endParaRPr>
                </a:p>
              </p:txBody>
            </p:sp>
            <p:sp>
              <p:nvSpPr>
                <p:cNvPr id="18" name="Rectangle 8"/>
                <p:cNvSpPr>
                  <a:spLocks noChangeArrowheads="1"/>
                </p:cNvSpPr>
                <p:nvPr/>
              </p:nvSpPr>
              <p:spPr bwMode="auto">
                <a:xfrm>
                  <a:off x="2982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19" name="Rectangle 9"/>
                <p:cNvSpPr>
                  <a:spLocks noChangeArrowheads="1"/>
                </p:cNvSpPr>
                <p:nvPr/>
              </p:nvSpPr>
              <p:spPr bwMode="auto">
                <a:xfrm>
                  <a:off x="3264" y="2592"/>
                  <a:ext cx="567" cy="423"/>
                </a:xfrm>
                <a:prstGeom prst="rect">
                  <a:avLst/>
                </a:prstGeom>
                <a:solidFill>
                  <a:srgbClr val="66FFFF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Maria</a:t>
                  </a:r>
                </a:p>
              </p:txBody>
            </p:sp>
            <p:sp>
              <p:nvSpPr>
                <p:cNvPr id="20" name="Rectangle 10"/>
                <p:cNvSpPr>
                  <a:spLocks noChangeArrowheads="1"/>
                </p:cNvSpPr>
                <p:nvPr/>
              </p:nvSpPr>
              <p:spPr bwMode="auto">
                <a:xfrm>
                  <a:off x="4326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21" name="Rectangle 11"/>
                <p:cNvSpPr>
                  <a:spLocks noChangeArrowheads="1"/>
                </p:cNvSpPr>
                <p:nvPr/>
              </p:nvSpPr>
              <p:spPr bwMode="auto">
                <a:xfrm>
                  <a:off x="1880" y="2592"/>
                  <a:ext cx="567" cy="423"/>
                </a:xfrm>
                <a:prstGeom prst="rect">
                  <a:avLst/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 dirty="0" err="1">
                      <a:latin typeface="+mn-lt"/>
                    </a:rPr>
                    <a:t>Javed</a:t>
                  </a:r>
                  <a:endParaRPr lang="en-US" altLang="en-US" sz="1600" dirty="0">
                    <a:latin typeface="+mn-lt"/>
                  </a:endParaRPr>
                </a:p>
              </p:txBody>
            </p:sp>
            <p:sp>
              <p:nvSpPr>
                <p:cNvPr id="22" name="Line 13"/>
                <p:cNvSpPr>
                  <a:spLocks noChangeShapeType="1"/>
                </p:cNvSpPr>
                <p:nvPr/>
              </p:nvSpPr>
              <p:spPr bwMode="auto">
                <a:xfrm>
                  <a:off x="2544" y="2880"/>
                  <a:ext cx="431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23" name="Line 14"/>
                <p:cNvSpPr>
                  <a:spLocks noChangeShapeType="1"/>
                </p:cNvSpPr>
                <p:nvPr/>
              </p:nvSpPr>
              <p:spPr bwMode="auto">
                <a:xfrm>
                  <a:off x="3984" y="2832"/>
                  <a:ext cx="337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24" name="AutoShape 15"/>
                <p:cNvSpPr>
                  <a:spLocks noChangeArrowheads="1"/>
                </p:cNvSpPr>
                <p:nvPr/>
              </p:nvSpPr>
              <p:spPr bwMode="auto">
                <a:xfrm>
                  <a:off x="1595" y="2069"/>
                  <a:ext cx="231" cy="375"/>
                </a:xfrm>
                <a:prstGeom prst="downArrow">
                  <a:avLst>
                    <a:gd name="adj1" fmla="val 50000"/>
                    <a:gd name="adj2" fmla="val 81176"/>
                  </a:avLst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25" name="Rectangle 16"/>
                <p:cNvSpPr>
                  <a:spLocks noChangeArrowheads="1"/>
                </p:cNvSpPr>
                <p:nvPr/>
              </p:nvSpPr>
              <p:spPr bwMode="auto">
                <a:xfrm>
                  <a:off x="1447" y="1733"/>
                  <a:ext cx="527" cy="287"/>
                </a:xfrm>
                <a:prstGeom prst="rect">
                  <a:avLst/>
                </a:prstGeom>
                <a:solidFill>
                  <a:srgbClr val="94B6D2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first</a:t>
                  </a:r>
                </a:p>
              </p:txBody>
            </p:sp>
            <p:sp>
              <p:nvSpPr>
                <p:cNvPr id="26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4127" y="2688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27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735" y="2736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28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5231" y="2640"/>
                  <a:ext cx="193" cy="335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</p:grpSp>
          <p:sp>
            <p:nvSpPr>
              <p:cNvPr id="14" name="AutoShape 15"/>
              <p:cNvSpPr>
                <a:spLocks noChangeArrowheads="1"/>
              </p:cNvSpPr>
              <p:nvPr/>
            </p:nvSpPr>
            <p:spPr bwMode="auto">
              <a:xfrm>
                <a:off x="5579268" y="5310188"/>
                <a:ext cx="366712" cy="595312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200">
                  <a:latin typeface="+mn-lt"/>
                </a:endParaRPr>
              </a:p>
            </p:txBody>
          </p:sp>
          <p:sp>
            <p:nvSpPr>
              <p:cNvPr id="15" name="Rectangle 16"/>
              <p:cNvSpPr>
                <a:spLocks noChangeArrowheads="1"/>
              </p:cNvSpPr>
              <p:nvPr/>
            </p:nvSpPr>
            <p:spPr bwMode="auto">
              <a:xfrm>
                <a:off x="5344319" y="4776789"/>
                <a:ext cx="836612" cy="455612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dirty="0">
                    <a:latin typeface="+mn-lt"/>
                  </a:rPr>
                  <a:t>last</a:t>
                </a:r>
              </a:p>
            </p:txBody>
          </p:sp>
        </p:grpSp>
        <p:cxnSp>
          <p:nvCxnSpPr>
            <p:cNvPr id="12" name="Elbow Connector 11"/>
            <p:cNvCxnSpPr/>
            <p:nvPr/>
          </p:nvCxnSpPr>
          <p:spPr>
            <a:xfrm rot="16200000" flipH="1">
              <a:off x="5382774" y="3598899"/>
              <a:ext cx="544985" cy="272072"/>
            </a:xfrm>
            <a:prstGeom prst="bentConnector3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2181685" y="4555604"/>
            <a:ext cx="4780631" cy="1295611"/>
            <a:chOff x="3859794" y="3321707"/>
            <a:chExt cx="4780631" cy="1295611"/>
          </a:xfrm>
        </p:grpSpPr>
        <p:sp>
          <p:nvSpPr>
            <p:cNvPr id="31" name="TextBox 37"/>
            <p:cNvSpPr txBox="1">
              <a:spLocks noChangeArrowheads="1"/>
            </p:cNvSpPr>
            <p:nvPr/>
          </p:nvSpPr>
          <p:spPr bwMode="auto">
            <a:xfrm>
              <a:off x="4111897" y="4340355"/>
              <a:ext cx="4503450" cy="276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GB" altLang="en-US" sz="1200" dirty="0"/>
                <a:t>Find </a:t>
              </a:r>
              <a:r>
                <a:rPr lang="en-GB" altLang="en-US" sz="1200" dirty="0" err="1"/>
                <a:t>Qasim</a:t>
              </a:r>
              <a:r>
                <a:rPr lang="en-GB" altLang="en-US" sz="1200" dirty="0"/>
                <a:t>? </a:t>
              </a:r>
              <a:r>
                <a:rPr lang="en-GB" altLang="en-US" sz="1200" dirty="0" err="1"/>
                <a:t>Loc</a:t>
              </a:r>
              <a:r>
                <a:rPr lang="en-GB" altLang="en-US" sz="1200" dirty="0"/>
                <a:t>_ points to  successor of </a:t>
              </a:r>
              <a:r>
                <a:rPr lang="en-GB" altLang="en-US" sz="1200" dirty="0" err="1"/>
                <a:t>Qasim</a:t>
              </a:r>
              <a:endParaRPr lang="en-GB" altLang="en-US" sz="1200" dirty="0"/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7953200" y="3321707"/>
              <a:ext cx="585782" cy="24934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en-US" sz="16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Loc</a:t>
              </a:r>
              <a:r>
                <a:rPr lang="en-US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_</a:t>
              </a:r>
            </a:p>
          </p:txBody>
        </p:sp>
        <p:grpSp>
          <p:nvGrpSpPr>
            <p:cNvPr id="33" name="Group 1"/>
            <p:cNvGrpSpPr>
              <a:grpSpLocks/>
            </p:cNvGrpSpPr>
            <p:nvPr/>
          </p:nvGrpSpPr>
          <p:grpSpPr bwMode="auto">
            <a:xfrm>
              <a:off x="3859794" y="3416087"/>
              <a:ext cx="4780631" cy="882534"/>
              <a:chOff x="973138" y="4706937"/>
              <a:chExt cx="6384926" cy="2035175"/>
            </a:xfrm>
          </p:grpSpPr>
          <p:grpSp>
            <p:nvGrpSpPr>
              <p:cNvPr id="35" name="Group 3"/>
              <p:cNvGrpSpPr>
                <a:grpSpLocks/>
              </p:cNvGrpSpPr>
              <p:nvPr/>
            </p:nvGrpSpPr>
            <p:grpSpPr bwMode="auto">
              <a:xfrm>
                <a:off x="973138" y="4706937"/>
                <a:ext cx="6384926" cy="2035175"/>
                <a:chOff x="1447" y="1733"/>
                <a:chExt cx="4022" cy="1282"/>
              </a:xfrm>
            </p:grpSpPr>
            <p:sp>
              <p:nvSpPr>
                <p:cNvPr id="38" name="Rectangle 6"/>
                <p:cNvSpPr>
                  <a:spLocks noChangeArrowheads="1"/>
                </p:cNvSpPr>
                <p:nvPr/>
              </p:nvSpPr>
              <p:spPr bwMode="auto">
                <a:xfrm>
                  <a:off x="1590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en-US" altLang="en-US" sz="1200">
                      <a:solidFill>
                        <a:schemeClr val="tx1"/>
                      </a:solidFill>
                      <a:latin typeface="+mn-lt"/>
                    </a:rPr>
                    <a:t>/</a:t>
                  </a:r>
                </a:p>
              </p:txBody>
            </p:sp>
            <p:sp>
              <p:nvSpPr>
                <p:cNvPr id="39" name="Rectangle 7"/>
                <p:cNvSpPr>
                  <a:spLocks noChangeArrowheads="1"/>
                </p:cNvSpPr>
                <p:nvPr/>
              </p:nvSpPr>
              <p:spPr bwMode="auto">
                <a:xfrm>
                  <a:off x="4616" y="2592"/>
                  <a:ext cx="567" cy="423"/>
                </a:xfrm>
                <a:prstGeom prst="rect">
                  <a:avLst/>
                </a:prstGeom>
                <a:solidFill>
                  <a:srgbClr val="EBDDC3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Rizwan</a:t>
                  </a:r>
                </a:p>
              </p:txBody>
            </p:sp>
            <p:sp>
              <p:nvSpPr>
                <p:cNvPr id="40" name="Rectangle 8"/>
                <p:cNvSpPr>
                  <a:spLocks noChangeArrowheads="1"/>
                </p:cNvSpPr>
                <p:nvPr/>
              </p:nvSpPr>
              <p:spPr bwMode="auto">
                <a:xfrm>
                  <a:off x="2982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41" name="Rectangle 9"/>
                <p:cNvSpPr>
                  <a:spLocks noChangeArrowheads="1"/>
                </p:cNvSpPr>
                <p:nvPr/>
              </p:nvSpPr>
              <p:spPr bwMode="auto">
                <a:xfrm>
                  <a:off x="3264" y="2592"/>
                  <a:ext cx="567" cy="423"/>
                </a:xfrm>
                <a:prstGeom prst="rect">
                  <a:avLst/>
                </a:prstGeom>
                <a:solidFill>
                  <a:srgbClr val="66FFFF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Maria</a:t>
                  </a:r>
                </a:p>
              </p:txBody>
            </p:sp>
            <p:sp>
              <p:nvSpPr>
                <p:cNvPr id="42" name="Rectangle 10"/>
                <p:cNvSpPr>
                  <a:spLocks noChangeArrowheads="1"/>
                </p:cNvSpPr>
                <p:nvPr/>
              </p:nvSpPr>
              <p:spPr bwMode="auto">
                <a:xfrm>
                  <a:off x="4326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43" name="Rectangle 11"/>
                <p:cNvSpPr>
                  <a:spLocks noChangeArrowheads="1"/>
                </p:cNvSpPr>
                <p:nvPr/>
              </p:nvSpPr>
              <p:spPr bwMode="auto">
                <a:xfrm>
                  <a:off x="1880" y="2592"/>
                  <a:ext cx="567" cy="423"/>
                </a:xfrm>
                <a:prstGeom prst="rect">
                  <a:avLst/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Javed</a:t>
                  </a:r>
                </a:p>
              </p:txBody>
            </p:sp>
            <p:sp>
              <p:nvSpPr>
                <p:cNvPr id="44" name="Line 13"/>
                <p:cNvSpPr>
                  <a:spLocks noChangeShapeType="1"/>
                </p:cNvSpPr>
                <p:nvPr/>
              </p:nvSpPr>
              <p:spPr bwMode="auto">
                <a:xfrm>
                  <a:off x="2544" y="2880"/>
                  <a:ext cx="431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45" name="Line 14"/>
                <p:cNvSpPr>
                  <a:spLocks noChangeShapeType="1"/>
                </p:cNvSpPr>
                <p:nvPr/>
              </p:nvSpPr>
              <p:spPr bwMode="auto">
                <a:xfrm>
                  <a:off x="3984" y="2832"/>
                  <a:ext cx="337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46" name="AutoShape 15"/>
                <p:cNvSpPr>
                  <a:spLocks noChangeArrowheads="1"/>
                </p:cNvSpPr>
                <p:nvPr/>
              </p:nvSpPr>
              <p:spPr bwMode="auto">
                <a:xfrm>
                  <a:off x="1595" y="2069"/>
                  <a:ext cx="231" cy="375"/>
                </a:xfrm>
                <a:prstGeom prst="downArrow">
                  <a:avLst>
                    <a:gd name="adj1" fmla="val 50000"/>
                    <a:gd name="adj2" fmla="val 81176"/>
                  </a:avLst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47" name="Rectangle 16"/>
                <p:cNvSpPr>
                  <a:spLocks noChangeArrowheads="1"/>
                </p:cNvSpPr>
                <p:nvPr/>
              </p:nvSpPr>
              <p:spPr bwMode="auto">
                <a:xfrm>
                  <a:off x="1447" y="1733"/>
                  <a:ext cx="527" cy="287"/>
                </a:xfrm>
                <a:prstGeom prst="rect">
                  <a:avLst/>
                </a:prstGeom>
                <a:solidFill>
                  <a:srgbClr val="94B6D2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first</a:t>
                  </a:r>
                </a:p>
              </p:txBody>
            </p:sp>
            <p:sp>
              <p:nvSpPr>
                <p:cNvPr id="48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4127" y="2688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49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735" y="2736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50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5231" y="2640"/>
                  <a:ext cx="193" cy="335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</p:grpSp>
          <p:sp>
            <p:nvSpPr>
              <p:cNvPr id="36" name="AutoShape 15"/>
              <p:cNvSpPr>
                <a:spLocks noChangeArrowheads="1"/>
              </p:cNvSpPr>
              <p:nvPr/>
            </p:nvSpPr>
            <p:spPr bwMode="auto">
              <a:xfrm>
                <a:off x="5579268" y="5310188"/>
                <a:ext cx="366712" cy="595312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200">
                  <a:latin typeface="+mn-lt"/>
                </a:endParaRPr>
              </a:p>
            </p:txBody>
          </p:sp>
          <p:sp>
            <p:nvSpPr>
              <p:cNvPr id="37" name="Rectangle 16"/>
              <p:cNvSpPr>
                <a:spLocks noChangeArrowheads="1"/>
              </p:cNvSpPr>
              <p:nvPr/>
            </p:nvSpPr>
            <p:spPr bwMode="auto">
              <a:xfrm>
                <a:off x="5344319" y="4776789"/>
                <a:ext cx="836612" cy="455612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dirty="0">
                    <a:latin typeface="+mn-lt"/>
                  </a:rPr>
                  <a:t>last</a:t>
                </a:r>
              </a:p>
            </p:txBody>
          </p:sp>
        </p:grpSp>
        <p:cxnSp>
          <p:nvCxnSpPr>
            <p:cNvPr id="34" name="Elbow Connector 33"/>
            <p:cNvCxnSpPr/>
            <p:nvPr/>
          </p:nvCxnSpPr>
          <p:spPr>
            <a:xfrm rot="5400000">
              <a:off x="7689633" y="3535198"/>
              <a:ext cx="436377" cy="550679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851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Operation – Option B: Cases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7500" indent="-317500">
              <a:spcBef>
                <a:spcPts val="700"/>
              </a:spcBef>
              <a:buClr>
                <a:srgbClr val="DD8047"/>
              </a:buClr>
              <a:buSzPct val="60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000" dirty="0">
                <a:solidFill>
                  <a:srgbClr val="000000"/>
                </a:solidFill>
                <a:latin typeface="Tw Cen MT" pitchFamily="34" charset="0"/>
              </a:rPr>
              <a:t>2) </a:t>
            </a:r>
            <a:r>
              <a:rPr lang="en-GB" sz="2000" dirty="0" err="1">
                <a:solidFill>
                  <a:srgbClr val="000000"/>
                </a:solidFill>
                <a:latin typeface="Tw Cen MT" pitchFamily="34" charset="0"/>
              </a:rPr>
              <a:t>Loc</a:t>
            </a:r>
            <a:r>
              <a:rPr lang="en-GB" sz="2000" dirty="0">
                <a:solidFill>
                  <a:srgbClr val="000000"/>
                </a:solidFill>
                <a:latin typeface="Tw Cen MT" pitchFamily="34" charset="0"/>
              </a:rPr>
              <a:t>_ points to the last node of the list (predecessor of key), and the key should be inserted after </a:t>
            </a:r>
            <a:r>
              <a:rPr lang="en-GB" sz="2000" dirty="0" err="1">
                <a:solidFill>
                  <a:srgbClr val="000000"/>
                </a:solidFill>
                <a:latin typeface="Tw Cen MT" pitchFamily="34" charset="0"/>
              </a:rPr>
              <a:t>Loc</a:t>
            </a:r>
            <a:r>
              <a:rPr lang="en-GB" sz="2000" dirty="0">
                <a:solidFill>
                  <a:srgbClr val="000000"/>
                </a:solidFill>
                <a:latin typeface="Tw Cen MT" pitchFamily="34" charset="0"/>
              </a:rPr>
              <a:t>_ as last node of the list</a:t>
            </a:r>
          </a:p>
          <a:p>
            <a:pPr>
              <a:buClr>
                <a:srgbClr val="000000"/>
              </a:buClr>
              <a:buSzPct val="100000"/>
              <a:buNone/>
              <a:defRPr/>
            </a:pPr>
            <a:r>
              <a:rPr lang="en-GB" dirty="0">
                <a:latin typeface="Arial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grpSp>
        <p:nvGrpSpPr>
          <p:cNvPr id="30" name="Group 29"/>
          <p:cNvGrpSpPr/>
          <p:nvPr/>
        </p:nvGrpSpPr>
        <p:grpSpPr>
          <a:xfrm>
            <a:off x="2181684" y="2819400"/>
            <a:ext cx="4780631" cy="1480313"/>
            <a:chOff x="3859794" y="3321707"/>
            <a:chExt cx="4780631" cy="1480313"/>
          </a:xfrm>
        </p:grpSpPr>
        <p:sp>
          <p:nvSpPr>
            <p:cNvPr id="31" name="TextBox 37"/>
            <p:cNvSpPr txBox="1">
              <a:spLocks noChangeArrowheads="1"/>
            </p:cNvSpPr>
            <p:nvPr/>
          </p:nvSpPr>
          <p:spPr bwMode="auto">
            <a:xfrm>
              <a:off x="4111897" y="4340355"/>
              <a:ext cx="45034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GB" altLang="en-US" sz="1200" dirty="0"/>
                <a:t>Find Zahid? </a:t>
              </a:r>
              <a:r>
                <a:rPr lang="en-GB" altLang="en-US" sz="1200" dirty="0" err="1"/>
                <a:t>Loc</a:t>
              </a:r>
              <a:r>
                <a:rPr lang="en-GB" altLang="en-US" sz="1200" dirty="0"/>
                <a:t>_ points to the predecessor of Zahid i.e. </a:t>
              </a:r>
              <a:r>
                <a:rPr lang="en-GB" altLang="en-US" sz="1200" dirty="0" err="1"/>
                <a:t>Loc</a:t>
              </a:r>
              <a:r>
                <a:rPr lang="en-GB" altLang="en-US" sz="1200" dirty="0"/>
                <a:t>_ points to the last node  - </a:t>
              </a:r>
              <a:r>
                <a:rPr lang="en-GB" altLang="en-US" sz="1200" dirty="0" err="1"/>
                <a:t>Rizwan</a:t>
              </a:r>
              <a:endParaRPr lang="en-GB" altLang="en-US" sz="1200" dirty="0"/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7953200" y="3321707"/>
              <a:ext cx="585782" cy="24934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en-US" sz="16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Loc</a:t>
              </a:r>
              <a:r>
                <a:rPr lang="en-US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WenQuanYi Micro Hei" charset="0"/>
                  <a:cs typeface="WenQuanYi Micro Hei" charset="0"/>
                </a:rPr>
                <a:t>_</a:t>
              </a:r>
            </a:p>
          </p:txBody>
        </p:sp>
        <p:grpSp>
          <p:nvGrpSpPr>
            <p:cNvPr id="33" name="Group 1"/>
            <p:cNvGrpSpPr>
              <a:grpSpLocks/>
            </p:cNvGrpSpPr>
            <p:nvPr/>
          </p:nvGrpSpPr>
          <p:grpSpPr bwMode="auto">
            <a:xfrm>
              <a:off x="3859794" y="3416087"/>
              <a:ext cx="4780631" cy="882534"/>
              <a:chOff x="973138" y="4706937"/>
              <a:chExt cx="6384926" cy="2035175"/>
            </a:xfrm>
          </p:grpSpPr>
          <p:grpSp>
            <p:nvGrpSpPr>
              <p:cNvPr id="35" name="Group 3"/>
              <p:cNvGrpSpPr>
                <a:grpSpLocks/>
              </p:cNvGrpSpPr>
              <p:nvPr/>
            </p:nvGrpSpPr>
            <p:grpSpPr bwMode="auto">
              <a:xfrm>
                <a:off x="973138" y="4706937"/>
                <a:ext cx="6384926" cy="2035175"/>
                <a:chOff x="1447" y="1733"/>
                <a:chExt cx="4022" cy="1282"/>
              </a:xfrm>
            </p:grpSpPr>
            <p:sp>
              <p:nvSpPr>
                <p:cNvPr id="38" name="Rectangle 6"/>
                <p:cNvSpPr>
                  <a:spLocks noChangeArrowheads="1"/>
                </p:cNvSpPr>
                <p:nvPr/>
              </p:nvSpPr>
              <p:spPr bwMode="auto">
                <a:xfrm>
                  <a:off x="1590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r>
                    <a:rPr lang="en-US" altLang="en-US" sz="1200">
                      <a:solidFill>
                        <a:schemeClr val="tx1"/>
                      </a:solidFill>
                      <a:latin typeface="+mn-lt"/>
                    </a:rPr>
                    <a:t>/</a:t>
                  </a:r>
                </a:p>
              </p:txBody>
            </p:sp>
            <p:sp>
              <p:nvSpPr>
                <p:cNvPr id="39" name="Rectangle 7"/>
                <p:cNvSpPr>
                  <a:spLocks noChangeArrowheads="1"/>
                </p:cNvSpPr>
                <p:nvPr/>
              </p:nvSpPr>
              <p:spPr bwMode="auto">
                <a:xfrm>
                  <a:off x="4616" y="2592"/>
                  <a:ext cx="567" cy="423"/>
                </a:xfrm>
                <a:prstGeom prst="rect">
                  <a:avLst/>
                </a:prstGeom>
                <a:solidFill>
                  <a:srgbClr val="EBDDC3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Rizwan</a:t>
                  </a:r>
                </a:p>
              </p:txBody>
            </p:sp>
            <p:sp>
              <p:nvSpPr>
                <p:cNvPr id="40" name="Rectangle 8"/>
                <p:cNvSpPr>
                  <a:spLocks noChangeArrowheads="1"/>
                </p:cNvSpPr>
                <p:nvPr/>
              </p:nvSpPr>
              <p:spPr bwMode="auto">
                <a:xfrm>
                  <a:off x="2982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41" name="Rectangle 9"/>
                <p:cNvSpPr>
                  <a:spLocks noChangeArrowheads="1"/>
                </p:cNvSpPr>
                <p:nvPr/>
              </p:nvSpPr>
              <p:spPr bwMode="auto">
                <a:xfrm>
                  <a:off x="3264" y="2592"/>
                  <a:ext cx="567" cy="423"/>
                </a:xfrm>
                <a:prstGeom prst="rect">
                  <a:avLst/>
                </a:prstGeom>
                <a:solidFill>
                  <a:srgbClr val="66FFFF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Maria</a:t>
                  </a:r>
                </a:p>
              </p:txBody>
            </p:sp>
            <p:sp>
              <p:nvSpPr>
                <p:cNvPr id="42" name="Rectangle 10"/>
                <p:cNvSpPr>
                  <a:spLocks noChangeArrowheads="1"/>
                </p:cNvSpPr>
                <p:nvPr/>
              </p:nvSpPr>
              <p:spPr bwMode="auto">
                <a:xfrm>
                  <a:off x="4326" y="2592"/>
                  <a:ext cx="1143" cy="423"/>
                </a:xfrm>
                <a:prstGeom prst="rect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43" name="Rectangle 11"/>
                <p:cNvSpPr>
                  <a:spLocks noChangeArrowheads="1"/>
                </p:cNvSpPr>
                <p:nvPr/>
              </p:nvSpPr>
              <p:spPr bwMode="auto">
                <a:xfrm>
                  <a:off x="1880" y="2592"/>
                  <a:ext cx="567" cy="423"/>
                </a:xfrm>
                <a:prstGeom prst="rect">
                  <a:avLst/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Javed</a:t>
                  </a:r>
                </a:p>
              </p:txBody>
            </p:sp>
            <p:sp>
              <p:nvSpPr>
                <p:cNvPr id="44" name="Line 13"/>
                <p:cNvSpPr>
                  <a:spLocks noChangeShapeType="1"/>
                </p:cNvSpPr>
                <p:nvPr/>
              </p:nvSpPr>
              <p:spPr bwMode="auto">
                <a:xfrm>
                  <a:off x="2544" y="2880"/>
                  <a:ext cx="431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45" name="Line 14"/>
                <p:cNvSpPr>
                  <a:spLocks noChangeShapeType="1"/>
                </p:cNvSpPr>
                <p:nvPr/>
              </p:nvSpPr>
              <p:spPr bwMode="auto">
                <a:xfrm>
                  <a:off x="3984" y="2832"/>
                  <a:ext cx="337" cy="0"/>
                </a:xfrm>
                <a:prstGeom prst="line">
                  <a:avLst/>
                </a:prstGeom>
                <a:noFill/>
                <a:ln w="1908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46" name="AutoShape 15"/>
                <p:cNvSpPr>
                  <a:spLocks noChangeArrowheads="1"/>
                </p:cNvSpPr>
                <p:nvPr/>
              </p:nvSpPr>
              <p:spPr bwMode="auto">
                <a:xfrm>
                  <a:off x="1595" y="2069"/>
                  <a:ext cx="231" cy="375"/>
                </a:xfrm>
                <a:prstGeom prst="downArrow">
                  <a:avLst>
                    <a:gd name="adj1" fmla="val 50000"/>
                    <a:gd name="adj2" fmla="val 81176"/>
                  </a:avLst>
                </a:prstGeom>
                <a:solidFill>
                  <a:srgbClr val="94B6D2"/>
                </a:solidFill>
                <a:ln w="1908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US" altLang="en-US" sz="1200">
                    <a:latin typeface="+mn-lt"/>
                  </a:endParaRPr>
                </a:p>
              </p:txBody>
            </p:sp>
            <p:sp>
              <p:nvSpPr>
                <p:cNvPr id="47" name="Rectangle 16"/>
                <p:cNvSpPr>
                  <a:spLocks noChangeArrowheads="1"/>
                </p:cNvSpPr>
                <p:nvPr/>
              </p:nvSpPr>
              <p:spPr bwMode="auto">
                <a:xfrm>
                  <a:off x="1447" y="1733"/>
                  <a:ext cx="527" cy="287"/>
                </a:xfrm>
                <a:prstGeom prst="rect">
                  <a:avLst/>
                </a:prstGeom>
                <a:solidFill>
                  <a:srgbClr val="94B6D2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>
                  <a:lvl1pPr>
                    <a:spcBef>
                      <a:spcPts val="7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9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1pPr>
                  <a:lvl2pPr>
                    <a:spcBef>
                      <a:spcPts val="55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2pPr>
                  <a:lvl3pPr>
                    <a:spcBef>
                      <a:spcPts val="5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3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3pPr>
                  <a:lvl4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4pPr>
                  <a:lvl5pPr>
                    <a:spcBef>
                      <a:spcPts val="400"/>
                    </a:spcBef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5pPr>
                  <a:lvl6pPr marL="25146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6pPr>
                  <a:lvl7pPr marL="29718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7pPr>
                  <a:lvl8pPr marL="34290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8pPr>
                  <a:lvl9pPr marL="3886200" indent="-228600" defTabSz="457200" eaLnBrk="0" fontAlgn="base" hangingPunct="0">
                    <a:spcBef>
                      <a:spcPts val="40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rgbClr val="000000"/>
                      </a:solidFill>
                      <a:latin typeface="Tw Cen MT" panose="020B0602020104020603" pitchFamily="34" charset="0"/>
                      <a:ea typeface="WenQuanYi Micro Hei" charset="0"/>
                      <a:cs typeface="WenQuanYi Micro Hei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600">
                      <a:latin typeface="+mn-lt"/>
                    </a:rPr>
                    <a:t>first</a:t>
                  </a:r>
                </a:p>
              </p:txBody>
            </p:sp>
            <p:sp>
              <p:nvSpPr>
                <p:cNvPr id="48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4127" y="2688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49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735" y="2736"/>
                  <a:ext cx="337" cy="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  <p:sp>
              <p:nvSpPr>
                <p:cNvPr id="50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5231" y="2640"/>
                  <a:ext cx="193" cy="335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200">
                    <a:latin typeface="+mn-lt"/>
                  </a:endParaRPr>
                </a:p>
              </p:txBody>
            </p:sp>
          </p:grpSp>
          <p:sp>
            <p:nvSpPr>
              <p:cNvPr id="36" name="AutoShape 15"/>
              <p:cNvSpPr>
                <a:spLocks noChangeArrowheads="1"/>
              </p:cNvSpPr>
              <p:nvPr/>
            </p:nvSpPr>
            <p:spPr bwMode="auto">
              <a:xfrm>
                <a:off x="5579268" y="5310188"/>
                <a:ext cx="366712" cy="595312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200">
                  <a:latin typeface="+mn-lt"/>
                </a:endParaRPr>
              </a:p>
            </p:txBody>
          </p:sp>
          <p:sp>
            <p:nvSpPr>
              <p:cNvPr id="37" name="Rectangle 16"/>
              <p:cNvSpPr>
                <a:spLocks noChangeArrowheads="1"/>
              </p:cNvSpPr>
              <p:nvPr/>
            </p:nvSpPr>
            <p:spPr bwMode="auto">
              <a:xfrm>
                <a:off x="5344319" y="4776789"/>
                <a:ext cx="836612" cy="455612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dirty="0">
                    <a:latin typeface="+mn-lt"/>
                  </a:rPr>
                  <a:t>last</a:t>
                </a:r>
              </a:p>
            </p:txBody>
          </p:sp>
        </p:grpSp>
        <p:cxnSp>
          <p:nvCxnSpPr>
            <p:cNvPr id="34" name="Elbow Connector 33"/>
            <p:cNvCxnSpPr/>
            <p:nvPr/>
          </p:nvCxnSpPr>
          <p:spPr>
            <a:xfrm rot="5400000">
              <a:off x="7689633" y="3535198"/>
              <a:ext cx="436377" cy="550679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426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Operation – Option B: Code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09F3FC88-D0F0-2A52-1321-EAA4646CE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979052"/>
            <a:ext cx="69088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734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AC20-03F4-D455-D276-7985709C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When to use ploc?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93456-B7CE-D146-719A-0D204251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5E9CC-BDDB-F9B8-5F5A-FA79F0BAB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113394"/>
              </p:ext>
            </p:extLst>
          </p:nvPr>
        </p:nvGraphicFramePr>
        <p:xfrm>
          <a:off x="628650" y="1981200"/>
          <a:ext cx="7886700" cy="35966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34253115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1698392399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852536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/>
                        <a:t>Need ploc?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Why?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253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Search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loc is enough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602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Insert in </a:t>
                      </a:r>
                      <a:r>
                        <a:rPr lang="en-GB" sz="2000" b="1"/>
                        <a:t>singly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You need access to the previous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68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Insert in </a:t>
                      </a:r>
                      <a:r>
                        <a:rPr lang="en-GB" sz="2000" b="1"/>
                        <a:t>doubly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You can use loc-&gt;prev directly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6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Delete in </a:t>
                      </a:r>
                      <a:r>
                        <a:rPr lang="en-GB" sz="2000" b="1"/>
                        <a:t>singly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You need to relink ploc-&gt;next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055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Delete in </a:t>
                      </a:r>
                      <a:r>
                        <a:rPr lang="en-GB" sz="2000" b="1"/>
                        <a:t>doubly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You can access both </a:t>
                      </a:r>
                      <a:r>
                        <a:rPr lang="en-GB" sz="2000" dirty="0" err="1"/>
                        <a:t>prev</a:t>
                      </a:r>
                      <a:r>
                        <a:rPr lang="en-GB" sz="2000" dirty="0"/>
                        <a:t> and next easily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092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848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InsertElement</a:t>
            </a:r>
            <a:r>
              <a:rPr lang="en-US" b="1" dirty="0"/>
              <a:t> Operation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algorithms for the insertion and deletion operations on a doubly linked list are somewhat more complicated than those for operations on a singly linked list.</a:t>
            </a:r>
          </a:p>
          <a:p>
            <a:endParaRPr lang="en-US" dirty="0"/>
          </a:p>
          <a:p>
            <a:r>
              <a:rPr lang="en-US" dirty="0"/>
              <a:t>The reason is simple, there are more pointers to keep track of in a doubly linked list.</a:t>
            </a:r>
          </a:p>
          <a:p>
            <a:pPr lvl="1"/>
            <a:r>
              <a:rPr lang="en-US" dirty="0"/>
              <a:t>To link a new node into a singly linked list requires two pointer changes.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same operation on a doubly linked list requires four pointer changes.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As usual, to find the insertion place for our new node, we call our Search() function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142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InsertElement</a:t>
            </a:r>
            <a:r>
              <a:rPr lang="en-US" b="1" dirty="0"/>
              <a:t> Operation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There are four cases to consider in Insertion Operation</a:t>
            </a:r>
          </a:p>
          <a:p>
            <a:pPr lvl="1"/>
            <a:r>
              <a:rPr lang="en-US" sz="2400" dirty="0"/>
              <a:t>Insertion into an empty list</a:t>
            </a:r>
          </a:p>
          <a:p>
            <a:pPr lvl="1"/>
            <a:r>
              <a:rPr lang="en-US" sz="2400" dirty="0"/>
              <a:t>Insertion at the front of the list</a:t>
            </a:r>
          </a:p>
          <a:p>
            <a:pPr lvl="1"/>
            <a:r>
              <a:rPr lang="en-US" sz="2400" dirty="0"/>
              <a:t>Insertion at the End of the list</a:t>
            </a:r>
          </a:p>
          <a:p>
            <a:pPr lvl="1"/>
            <a:r>
              <a:rPr lang="en-US" sz="2400" dirty="0"/>
              <a:t>Insertion into the middle of the 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547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Insertion at the Front End (or Tail End) of an Empty List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graphicFrame>
        <p:nvGraphicFramePr>
          <p:cNvPr id="7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912083"/>
              </p:ext>
            </p:extLst>
          </p:nvPr>
        </p:nvGraphicFramePr>
        <p:xfrm>
          <a:off x="5716589" y="5164140"/>
          <a:ext cx="857249" cy="40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76"/>
          <p:cNvSpPr txBox="1">
            <a:spLocks noChangeArrowheads="1"/>
          </p:cNvSpPr>
          <p:nvPr/>
        </p:nvSpPr>
        <p:spPr bwMode="auto">
          <a:xfrm>
            <a:off x="342900" y="1671638"/>
            <a:ext cx="2289409" cy="10156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endParaRPr lang="en-US" altLang="en-US" sz="2000" dirty="0">
              <a:solidFill>
                <a:srgbClr val="0070C0"/>
              </a:solidFill>
              <a:ea typeface="+mn-ea"/>
            </a:endParaRP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srgbClr val="0070C0"/>
                </a:solidFill>
                <a:ea typeface="+mn-ea"/>
              </a:rPr>
              <a:t>start=</a:t>
            </a:r>
            <a:r>
              <a:rPr lang="en-US" altLang="en-US" sz="2000" dirty="0" err="1">
                <a:solidFill>
                  <a:srgbClr val="0070C0"/>
                </a:solidFill>
                <a:ea typeface="+mn-ea"/>
              </a:rPr>
              <a:t>newnode</a:t>
            </a:r>
            <a:r>
              <a:rPr lang="en-US" altLang="en-US" sz="2000" dirty="0">
                <a:solidFill>
                  <a:srgbClr val="0070C0"/>
                </a:solidFill>
                <a:ea typeface="+mn-ea"/>
              </a:rPr>
              <a:t>;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srgbClr val="0070C0"/>
                </a:solidFill>
                <a:ea typeface="+mn-ea"/>
              </a:rPr>
              <a:t>last=</a:t>
            </a:r>
            <a:r>
              <a:rPr lang="en-US" altLang="en-US" sz="2000" dirty="0" err="1">
                <a:solidFill>
                  <a:srgbClr val="0070C0"/>
                </a:solidFill>
                <a:ea typeface="+mn-ea"/>
              </a:rPr>
              <a:t>newnode</a:t>
            </a:r>
            <a:r>
              <a:rPr lang="en-US" altLang="en-US" sz="2000" dirty="0">
                <a:solidFill>
                  <a:srgbClr val="0070C0"/>
                </a:solidFill>
                <a:ea typeface="+mn-ea"/>
              </a:rPr>
              <a:t>;</a:t>
            </a:r>
          </a:p>
        </p:txBody>
      </p:sp>
      <p:sp>
        <p:nvSpPr>
          <p:cNvPr id="10" name="TextBox 82"/>
          <p:cNvSpPr txBox="1">
            <a:spLocks noChangeArrowheads="1"/>
          </p:cNvSpPr>
          <p:nvPr/>
        </p:nvSpPr>
        <p:spPr bwMode="auto">
          <a:xfrm>
            <a:off x="2512220" y="3260725"/>
            <a:ext cx="9159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Before</a:t>
            </a:r>
          </a:p>
        </p:txBody>
      </p:sp>
      <p:sp>
        <p:nvSpPr>
          <p:cNvPr id="11" name="TextBox 84"/>
          <p:cNvSpPr txBox="1">
            <a:spLocks noChangeArrowheads="1"/>
          </p:cNvSpPr>
          <p:nvPr/>
        </p:nvSpPr>
        <p:spPr bwMode="auto">
          <a:xfrm>
            <a:off x="2704307" y="5180014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After</a:t>
            </a:r>
          </a:p>
        </p:txBody>
      </p:sp>
      <p:graphicFrame>
        <p:nvGraphicFramePr>
          <p:cNvPr id="13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34336"/>
              </p:ext>
            </p:extLst>
          </p:nvPr>
        </p:nvGraphicFramePr>
        <p:xfrm>
          <a:off x="5716589" y="4119406"/>
          <a:ext cx="857249" cy="40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/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/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49"/>
          <p:cNvSpPr txBox="1">
            <a:spLocks noChangeArrowheads="1"/>
          </p:cNvSpPr>
          <p:nvPr/>
        </p:nvSpPr>
        <p:spPr bwMode="auto">
          <a:xfrm>
            <a:off x="4541708" y="4168415"/>
            <a:ext cx="1073150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600" b="1" dirty="0" err="1">
                <a:solidFill>
                  <a:schemeClr val="accent1">
                    <a:lumMod val="75000"/>
                  </a:schemeClr>
                </a:solidFill>
                <a:ea typeface="+mn-ea"/>
              </a:rPr>
              <a:t>newnode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  <a:ea typeface="+mn-e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31572" y="3115070"/>
            <a:ext cx="1461646" cy="563566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start=NULL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4542" y="3104750"/>
            <a:ext cx="1461646" cy="563566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last=NULL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1708" y="5842237"/>
            <a:ext cx="1461646" cy="563566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6370" y="5858749"/>
            <a:ext cx="1461646" cy="563566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</a:t>
            </a:r>
          </a:p>
        </p:txBody>
      </p:sp>
      <p:cxnSp>
        <p:nvCxnSpPr>
          <p:cNvPr id="20" name="Elbow Connector 19"/>
          <p:cNvCxnSpPr>
            <a:stCxn id="17" idx="0"/>
            <a:endCxn id="7" idx="1"/>
          </p:cNvCxnSpPr>
          <p:nvPr/>
        </p:nvCxnSpPr>
        <p:spPr>
          <a:xfrm rot="5400000" flipH="1" flipV="1">
            <a:off x="5255921" y="5381569"/>
            <a:ext cx="477279" cy="444058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8" idx="0"/>
            <a:endCxn id="7" idx="1"/>
          </p:cNvCxnSpPr>
          <p:nvPr/>
        </p:nvCxnSpPr>
        <p:spPr>
          <a:xfrm rot="16200000" flipV="1">
            <a:off x="6099996" y="4981552"/>
            <a:ext cx="493791" cy="1260604"/>
          </a:xfrm>
          <a:prstGeom prst="bentConnector4">
            <a:avLst>
              <a:gd name="adj1" fmla="val 29666"/>
              <a:gd name="adj2" fmla="val 11813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Insertion at the front of an existing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graphicFrame>
        <p:nvGraphicFramePr>
          <p:cNvPr id="7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940860"/>
              </p:ext>
            </p:extLst>
          </p:nvPr>
        </p:nvGraphicFramePr>
        <p:xfrm>
          <a:off x="5716589" y="5164140"/>
          <a:ext cx="857249" cy="40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76"/>
          <p:cNvSpPr txBox="1">
            <a:spLocks noChangeArrowheads="1"/>
          </p:cNvSpPr>
          <p:nvPr/>
        </p:nvSpPr>
        <p:spPr bwMode="auto">
          <a:xfrm>
            <a:off x="342900" y="1671638"/>
            <a:ext cx="3021981" cy="10156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000" dirty="0" err="1">
                <a:solidFill>
                  <a:srgbClr val="0070C0"/>
                </a:solidFill>
              </a:rPr>
              <a:t>newnode</a:t>
            </a:r>
            <a:r>
              <a:rPr lang="en-US" altLang="en-US" sz="2000" dirty="0">
                <a:solidFill>
                  <a:srgbClr val="0070C0"/>
                </a:solidFill>
              </a:rPr>
              <a:t>-&gt;next=start;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start-&gt;</a:t>
            </a:r>
            <a:r>
              <a:rPr lang="en-US" altLang="en-US" sz="2000" dirty="0" err="1">
                <a:solidFill>
                  <a:srgbClr val="0070C0"/>
                </a:solidFill>
              </a:rPr>
              <a:t>prev</a:t>
            </a:r>
            <a:r>
              <a:rPr lang="en-US" altLang="en-US" sz="2000" dirty="0">
                <a:solidFill>
                  <a:srgbClr val="0070C0"/>
                </a:solidFill>
              </a:rPr>
              <a:t>=</a:t>
            </a:r>
            <a:r>
              <a:rPr lang="en-US" altLang="en-US" sz="2000" dirty="0" err="1">
                <a:solidFill>
                  <a:srgbClr val="0070C0"/>
                </a:solidFill>
              </a:rPr>
              <a:t>newnode</a:t>
            </a:r>
            <a:r>
              <a:rPr lang="en-US" altLang="en-US" sz="2000" dirty="0">
                <a:solidFill>
                  <a:srgbClr val="0070C0"/>
                </a:solidFill>
              </a:rPr>
              <a:t>;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start=</a:t>
            </a:r>
            <a:r>
              <a:rPr lang="en-US" altLang="en-US" sz="2000" dirty="0" err="1">
                <a:solidFill>
                  <a:srgbClr val="0070C0"/>
                </a:solidFill>
              </a:rPr>
              <a:t>newnode</a:t>
            </a:r>
            <a:r>
              <a:rPr lang="en-US" altLang="en-US" sz="2000" dirty="0">
                <a:solidFill>
                  <a:srgbClr val="0070C0"/>
                </a:solidFill>
              </a:rPr>
              <a:t>;</a:t>
            </a:r>
          </a:p>
        </p:txBody>
      </p:sp>
      <p:sp>
        <p:nvSpPr>
          <p:cNvPr id="10" name="TextBox 82"/>
          <p:cNvSpPr txBox="1">
            <a:spLocks noChangeArrowheads="1"/>
          </p:cNvSpPr>
          <p:nvPr/>
        </p:nvSpPr>
        <p:spPr bwMode="auto">
          <a:xfrm>
            <a:off x="4343844" y="2776259"/>
            <a:ext cx="9159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Before</a:t>
            </a:r>
          </a:p>
        </p:txBody>
      </p:sp>
      <p:sp>
        <p:nvSpPr>
          <p:cNvPr id="11" name="TextBox 84"/>
          <p:cNvSpPr txBox="1">
            <a:spLocks noChangeArrowheads="1"/>
          </p:cNvSpPr>
          <p:nvPr/>
        </p:nvSpPr>
        <p:spPr bwMode="auto">
          <a:xfrm>
            <a:off x="2704307" y="5180014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After</a:t>
            </a:r>
          </a:p>
        </p:txBody>
      </p:sp>
      <p:graphicFrame>
        <p:nvGraphicFramePr>
          <p:cNvPr id="13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375035"/>
              </p:ext>
            </p:extLst>
          </p:nvPr>
        </p:nvGraphicFramePr>
        <p:xfrm>
          <a:off x="5716589" y="4119406"/>
          <a:ext cx="857249" cy="40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/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/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49"/>
          <p:cNvSpPr txBox="1">
            <a:spLocks noChangeArrowheads="1"/>
          </p:cNvSpPr>
          <p:nvPr/>
        </p:nvSpPr>
        <p:spPr bwMode="auto">
          <a:xfrm>
            <a:off x="4541708" y="4168415"/>
            <a:ext cx="1073150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600" b="1" dirty="0" err="1">
                <a:solidFill>
                  <a:schemeClr val="accent1">
                    <a:lumMod val="75000"/>
                  </a:schemeClr>
                </a:solidFill>
                <a:ea typeface="+mn-ea"/>
              </a:rPr>
              <a:t>newnode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  <a:ea typeface="+mn-e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69831" y="5922322"/>
            <a:ext cx="1461646" cy="563566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858749"/>
            <a:ext cx="1461646" cy="563566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</a:t>
            </a:r>
          </a:p>
        </p:txBody>
      </p:sp>
      <p:cxnSp>
        <p:nvCxnSpPr>
          <p:cNvPr id="20" name="Elbow Connector 19"/>
          <p:cNvCxnSpPr>
            <a:stCxn id="17" idx="0"/>
            <a:endCxn id="31" idx="1"/>
          </p:cNvCxnSpPr>
          <p:nvPr/>
        </p:nvCxnSpPr>
        <p:spPr>
          <a:xfrm rot="5400000" flipH="1" flipV="1">
            <a:off x="4135823" y="5428995"/>
            <a:ext cx="558158" cy="428497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8" idx="0"/>
          </p:cNvCxnSpPr>
          <p:nvPr/>
        </p:nvCxnSpPr>
        <p:spPr>
          <a:xfrm rot="5400000" flipH="1" flipV="1">
            <a:off x="6756537" y="5712263"/>
            <a:ext cx="292972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670462"/>
              </p:ext>
            </p:extLst>
          </p:nvPr>
        </p:nvGraphicFramePr>
        <p:xfrm>
          <a:off x="6810950" y="5164140"/>
          <a:ext cx="857249" cy="40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H="1">
            <a:off x="6383780" y="5257800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383780" y="5486400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415284"/>
              </p:ext>
            </p:extLst>
          </p:nvPr>
        </p:nvGraphicFramePr>
        <p:xfrm>
          <a:off x="6633019" y="2001323"/>
          <a:ext cx="857249" cy="40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458138" y="2679420"/>
            <a:ext cx="1461646" cy="563566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62800" y="2695932"/>
            <a:ext cx="1461646" cy="563566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</a:t>
            </a:r>
          </a:p>
        </p:txBody>
      </p:sp>
      <p:cxnSp>
        <p:nvCxnSpPr>
          <p:cNvPr id="26" name="Elbow Connector 25"/>
          <p:cNvCxnSpPr>
            <a:stCxn id="24" idx="0"/>
            <a:endCxn id="23" idx="1"/>
          </p:cNvCxnSpPr>
          <p:nvPr/>
        </p:nvCxnSpPr>
        <p:spPr>
          <a:xfrm rot="5400000" flipH="1" flipV="1">
            <a:off x="6172351" y="2218752"/>
            <a:ext cx="477279" cy="444058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25" idx="0"/>
          </p:cNvCxnSpPr>
          <p:nvPr/>
        </p:nvCxnSpPr>
        <p:spPr>
          <a:xfrm rot="5400000" flipH="1" flipV="1">
            <a:off x="7747137" y="2549446"/>
            <a:ext cx="292972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172493"/>
              </p:ext>
            </p:extLst>
          </p:nvPr>
        </p:nvGraphicFramePr>
        <p:xfrm>
          <a:off x="7801550" y="2001323"/>
          <a:ext cx="857249" cy="40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Straight Arrow Connector 28"/>
          <p:cNvCxnSpPr/>
          <p:nvPr/>
        </p:nvCxnSpPr>
        <p:spPr>
          <a:xfrm flipH="1">
            <a:off x="7374380" y="2094983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374380" y="2323583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402173"/>
              </p:ext>
            </p:extLst>
          </p:nvPr>
        </p:nvGraphicFramePr>
        <p:xfrm>
          <a:off x="4629151" y="5162552"/>
          <a:ext cx="857249" cy="40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/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flipH="1">
            <a:off x="5348156" y="5257800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348156" y="5486400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46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Insertion at the Tail End of a non-empty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graphicFrame>
        <p:nvGraphicFramePr>
          <p:cNvPr id="7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344927"/>
              </p:ext>
            </p:extLst>
          </p:nvPr>
        </p:nvGraphicFramePr>
        <p:xfrm>
          <a:off x="5716589" y="5164140"/>
          <a:ext cx="857249" cy="40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/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76"/>
          <p:cNvSpPr txBox="1">
            <a:spLocks noChangeArrowheads="1"/>
          </p:cNvSpPr>
          <p:nvPr/>
        </p:nvSpPr>
        <p:spPr bwMode="auto">
          <a:xfrm>
            <a:off x="342900" y="1671638"/>
            <a:ext cx="3021981" cy="10156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last-&gt;next=</a:t>
            </a:r>
            <a:r>
              <a:rPr lang="en-US" altLang="en-US" sz="2000" dirty="0" err="1">
                <a:solidFill>
                  <a:srgbClr val="0070C0"/>
                </a:solidFill>
              </a:rPr>
              <a:t>newnode</a:t>
            </a:r>
            <a:r>
              <a:rPr lang="en-US" altLang="en-US" sz="2000" dirty="0">
                <a:solidFill>
                  <a:srgbClr val="0070C0"/>
                </a:solidFill>
              </a:rPr>
              <a:t>;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000" dirty="0" err="1">
                <a:solidFill>
                  <a:srgbClr val="0070C0"/>
                </a:solidFill>
              </a:rPr>
              <a:t>newnode</a:t>
            </a:r>
            <a:r>
              <a:rPr lang="en-US" altLang="en-US" sz="2000" dirty="0">
                <a:solidFill>
                  <a:srgbClr val="0070C0"/>
                </a:solidFill>
              </a:rPr>
              <a:t>-&gt;</a:t>
            </a:r>
            <a:r>
              <a:rPr lang="en-US" altLang="en-US" sz="2000" dirty="0" err="1">
                <a:solidFill>
                  <a:srgbClr val="0070C0"/>
                </a:solidFill>
              </a:rPr>
              <a:t>prev</a:t>
            </a:r>
            <a:r>
              <a:rPr lang="en-US" altLang="en-US" sz="2000" dirty="0">
                <a:solidFill>
                  <a:srgbClr val="0070C0"/>
                </a:solidFill>
              </a:rPr>
              <a:t>=last;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srgbClr val="0070C0"/>
                </a:solidFill>
              </a:rPr>
              <a:t>last=</a:t>
            </a:r>
            <a:r>
              <a:rPr lang="en-US" altLang="en-US" sz="2000" dirty="0" err="1">
                <a:solidFill>
                  <a:srgbClr val="0070C0"/>
                </a:solidFill>
              </a:rPr>
              <a:t>newnode</a:t>
            </a:r>
            <a:r>
              <a:rPr lang="en-US" altLang="en-US" sz="2000" dirty="0">
                <a:solidFill>
                  <a:srgbClr val="0070C0"/>
                </a:solidFill>
              </a:rPr>
              <a:t>;</a:t>
            </a:r>
          </a:p>
        </p:txBody>
      </p:sp>
      <p:sp>
        <p:nvSpPr>
          <p:cNvPr id="10" name="TextBox 82"/>
          <p:cNvSpPr txBox="1">
            <a:spLocks noChangeArrowheads="1"/>
          </p:cNvSpPr>
          <p:nvPr/>
        </p:nvSpPr>
        <p:spPr bwMode="auto">
          <a:xfrm>
            <a:off x="4343844" y="2776259"/>
            <a:ext cx="9159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Before</a:t>
            </a:r>
          </a:p>
        </p:txBody>
      </p:sp>
      <p:sp>
        <p:nvSpPr>
          <p:cNvPr id="11" name="TextBox 84"/>
          <p:cNvSpPr txBox="1">
            <a:spLocks noChangeArrowheads="1"/>
          </p:cNvSpPr>
          <p:nvPr/>
        </p:nvSpPr>
        <p:spPr bwMode="auto">
          <a:xfrm>
            <a:off x="2704307" y="5180014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After</a:t>
            </a:r>
          </a:p>
        </p:txBody>
      </p:sp>
      <p:graphicFrame>
        <p:nvGraphicFramePr>
          <p:cNvPr id="13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205947"/>
              </p:ext>
            </p:extLst>
          </p:nvPr>
        </p:nvGraphicFramePr>
        <p:xfrm>
          <a:off x="5716589" y="4119406"/>
          <a:ext cx="857249" cy="40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/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/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49"/>
          <p:cNvSpPr txBox="1">
            <a:spLocks noChangeArrowheads="1"/>
          </p:cNvSpPr>
          <p:nvPr/>
        </p:nvSpPr>
        <p:spPr bwMode="auto">
          <a:xfrm>
            <a:off x="4541708" y="4168415"/>
            <a:ext cx="1073150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600" b="1" dirty="0" err="1">
                <a:solidFill>
                  <a:schemeClr val="accent1">
                    <a:lumMod val="75000"/>
                  </a:schemeClr>
                </a:solidFill>
                <a:ea typeface="+mn-ea"/>
              </a:rPr>
              <a:t>newnode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  <a:ea typeface="+mn-e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69831" y="5922322"/>
            <a:ext cx="1461646" cy="563566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97153" y="5855133"/>
            <a:ext cx="1461646" cy="563566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</a:t>
            </a:r>
          </a:p>
        </p:txBody>
      </p:sp>
      <p:cxnSp>
        <p:nvCxnSpPr>
          <p:cNvPr id="20" name="Elbow Connector 19"/>
          <p:cNvCxnSpPr>
            <a:stCxn id="17" idx="0"/>
            <a:endCxn id="7" idx="1"/>
          </p:cNvCxnSpPr>
          <p:nvPr/>
        </p:nvCxnSpPr>
        <p:spPr>
          <a:xfrm rot="5400000" flipH="1" flipV="1">
            <a:off x="4679939" y="4885673"/>
            <a:ext cx="557364" cy="1515935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8" idx="0"/>
          </p:cNvCxnSpPr>
          <p:nvPr/>
        </p:nvCxnSpPr>
        <p:spPr>
          <a:xfrm rot="5400000" flipH="1" flipV="1">
            <a:off x="7826186" y="5637765"/>
            <a:ext cx="319159" cy="115579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14003"/>
              </p:ext>
            </p:extLst>
          </p:nvPr>
        </p:nvGraphicFramePr>
        <p:xfrm>
          <a:off x="6810950" y="5164140"/>
          <a:ext cx="857249" cy="40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H="1">
            <a:off x="6383780" y="5257800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383780" y="5486400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30"/>
          <p:cNvGraphicFramePr>
            <a:graphicFrameLocks noGrp="1"/>
          </p:cNvGraphicFramePr>
          <p:nvPr/>
        </p:nvGraphicFramePr>
        <p:xfrm>
          <a:off x="6633019" y="2001323"/>
          <a:ext cx="857249" cy="40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458138" y="2679420"/>
            <a:ext cx="1461646" cy="563566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62800" y="2695932"/>
            <a:ext cx="1461646" cy="563566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</a:t>
            </a:r>
          </a:p>
        </p:txBody>
      </p:sp>
      <p:cxnSp>
        <p:nvCxnSpPr>
          <p:cNvPr id="26" name="Elbow Connector 25"/>
          <p:cNvCxnSpPr>
            <a:stCxn id="24" idx="0"/>
            <a:endCxn id="23" idx="1"/>
          </p:cNvCxnSpPr>
          <p:nvPr/>
        </p:nvCxnSpPr>
        <p:spPr>
          <a:xfrm rot="5400000" flipH="1" flipV="1">
            <a:off x="6172351" y="2218752"/>
            <a:ext cx="477279" cy="444058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25" idx="0"/>
          </p:cNvCxnSpPr>
          <p:nvPr/>
        </p:nvCxnSpPr>
        <p:spPr>
          <a:xfrm rot="5400000" flipH="1" flipV="1">
            <a:off x="7747137" y="2549446"/>
            <a:ext cx="292972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30"/>
          <p:cNvGraphicFramePr>
            <a:graphicFrameLocks noGrp="1"/>
          </p:cNvGraphicFramePr>
          <p:nvPr/>
        </p:nvGraphicFramePr>
        <p:xfrm>
          <a:off x="7801550" y="2001323"/>
          <a:ext cx="857249" cy="40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504" marR="91504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Straight Arrow Connector 28"/>
          <p:cNvCxnSpPr/>
          <p:nvPr/>
        </p:nvCxnSpPr>
        <p:spPr>
          <a:xfrm flipH="1">
            <a:off x="7374380" y="2094983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374380" y="2323583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72231"/>
              </p:ext>
            </p:extLst>
          </p:nvPr>
        </p:nvGraphicFramePr>
        <p:xfrm>
          <a:off x="7905311" y="5164140"/>
          <a:ext cx="857249" cy="40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/</a:t>
                      </a:r>
                    </a:p>
                  </a:txBody>
                  <a:tcPr marL="91504" marR="91504" marT="45863" marB="458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flipH="1">
            <a:off x="7524311" y="5229587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7524311" y="5458187"/>
            <a:ext cx="51924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12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6"/>
            <a:ext cx="8134350" cy="1027113"/>
          </a:xfrm>
        </p:spPr>
        <p:txBody>
          <a:bodyPr/>
          <a:lstStyle/>
          <a:p>
            <a:r>
              <a:rPr lang="en-US" altLang="en-US" b="1" dirty="0"/>
              <a:t>Insertion into the Middle of a List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304800" y="1600200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dirty="0"/>
              <a:t>We have to pay special attention to the order in which to perform pointer manipulations to link a new node into its place.</a:t>
            </a:r>
          </a:p>
          <a:p>
            <a:pPr eaLnBrk="1" hangingPunct="1"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</a:pPr>
            <a:endParaRPr lang="en-US" altLang="en-US" dirty="0"/>
          </a:p>
          <a:p>
            <a:pPr eaLnBrk="1" hangingPunct="1"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dirty="0"/>
              <a:t>The correct order for the pointer changes are as follows :-</a:t>
            </a:r>
          </a:p>
          <a:p>
            <a:pPr>
              <a:buFont typeface="Tw Cen MT" panose="020B0602020104020603" pitchFamily="34" charset="0"/>
              <a:buAutoNum type="arabicPeriod"/>
            </a:pPr>
            <a:endParaRPr lang="en-US" altLang="en-US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PK" b="1" dirty="0">
                <a:solidFill>
                  <a:schemeClr val="accent1">
                    <a:lumMod val="75000"/>
                  </a:schemeClr>
                </a:solidFill>
              </a:rPr>
              <a:t>newNode-&gt;next = loc;</a:t>
            </a:r>
          </a:p>
          <a:p>
            <a:pPr marL="342900" indent="-342900">
              <a:buFont typeface="+mj-lt"/>
              <a:buAutoNum type="arabicPeriod"/>
            </a:pPr>
            <a:r>
              <a:rPr lang="en-PK" b="1" dirty="0">
                <a:solidFill>
                  <a:schemeClr val="accent1">
                    <a:lumMod val="75000"/>
                  </a:schemeClr>
                </a:solidFill>
              </a:rPr>
              <a:t>newNode-&gt;prev = ploc;</a:t>
            </a:r>
          </a:p>
          <a:p>
            <a:pPr marL="342900" indent="-342900">
              <a:buFont typeface="+mj-lt"/>
              <a:buAutoNum type="arabicPeriod"/>
            </a:pPr>
            <a:r>
              <a:rPr lang="en-PK" b="1" dirty="0">
                <a:solidFill>
                  <a:schemeClr val="accent1">
                    <a:lumMod val="75000"/>
                  </a:schemeClr>
                </a:solidFill>
              </a:rPr>
              <a:t>ploc-&gt;next = newNode;</a:t>
            </a:r>
          </a:p>
          <a:p>
            <a:pPr marL="342900" indent="-342900">
              <a:buFont typeface="+mj-lt"/>
              <a:buAutoNum type="arabicPeriod"/>
            </a:pPr>
            <a:r>
              <a:rPr lang="en-PK" b="1" dirty="0">
                <a:solidFill>
                  <a:schemeClr val="accent1">
                    <a:lumMod val="75000"/>
                  </a:schemeClr>
                </a:solidFill>
              </a:rPr>
              <a:t>loc-&gt;prev = newNode;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5512" y="6074568"/>
            <a:ext cx="1461646" cy="563566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00315" y="5194890"/>
            <a:ext cx="1461646" cy="563566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</a:t>
            </a:r>
          </a:p>
        </p:txBody>
      </p:sp>
      <p:cxnSp>
        <p:nvCxnSpPr>
          <p:cNvPr id="7" name="Elbow Connector 6"/>
          <p:cNvCxnSpPr>
            <a:stCxn id="5" idx="3"/>
            <a:endCxn id="19" idx="1"/>
          </p:cNvCxnSpPr>
          <p:nvPr/>
        </p:nvCxnSpPr>
        <p:spPr>
          <a:xfrm>
            <a:off x="2427158" y="6356351"/>
            <a:ext cx="990728" cy="2238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6" idx="1"/>
          </p:cNvCxnSpPr>
          <p:nvPr/>
        </p:nvCxnSpPr>
        <p:spPr>
          <a:xfrm rot="10800000" flipV="1">
            <a:off x="6626225" y="5476673"/>
            <a:ext cx="474090" cy="69806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373268"/>
              </p:ext>
            </p:extLst>
          </p:nvPr>
        </p:nvGraphicFramePr>
        <p:xfrm>
          <a:off x="4487865" y="6174739"/>
          <a:ext cx="849312" cy="407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172933"/>
              </p:ext>
            </p:extLst>
          </p:nvPr>
        </p:nvGraphicFramePr>
        <p:xfrm>
          <a:off x="3417886" y="6174739"/>
          <a:ext cx="849314" cy="407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" name="Straight Arrow Connector 19"/>
          <p:cNvCxnSpPr>
            <a:cxnSpLocks/>
          </p:cNvCxnSpPr>
          <p:nvPr/>
        </p:nvCxnSpPr>
        <p:spPr bwMode="auto">
          <a:xfrm flipH="1">
            <a:off x="4139804" y="6269195"/>
            <a:ext cx="479425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 bwMode="auto">
          <a:xfrm flipH="1">
            <a:off x="5163312" y="6269195"/>
            <a:ext cx="47548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</p:cNvCxnSpPr>
          <p:nvPr/>
        </p:nvCxnSpPr>
        <p:spPr bwMode="auto">
          <a:xfrm>
            <a:off x="5163312" y="6459695"/>
            <a:ext cx="47548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 bwMode="auto">
          <a:xfrm flipV="1">
            <a:off x="4142582" y="6455725"/>
            <a:ext cx="473869" cy="3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304266"/>
              </p:ext>
            </p:extLst>
          </p:nvPr>
        </p:nvGraphicFramePr>
        <p:xfrm>
          <a:off x="5491163" y="6174739"/>
          <a:ext cx="847725" cy="407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312" marR="91312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 marL="91312" marR="91312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312" marR="91312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886092"/>
              </p:ext>
            </p:extLst>
          </p:nvPr>
        </p:nvGraphicFramePr>
        <p:xfrm>
          <a:off x="6488112" y="6175533"/>
          <a:ext cx="849312" cy="4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483" marR="91483" marT="45620" marB="456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 marL="91483" marR="91483" marT="45620" marB="456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483" marR="91483" marT="45620" marB="456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>
            <a:cxnSpLocks/>
          </p:cNvCxnSpPr>
          <p:nvPr/>
        </p:nvCxnSpPr>
        <p:spPr bwMode="auto">
          <a:xfrm flipH="1">
            <a:off x="6172200" y="6269195"/>
            <a:ext cx="47548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</p:cNvCxnSpPr>
          <p:nvPr/>
        </p:nvCxnSpPr>
        <p:spPr bwMode="auto">
          <a:xfrm>
            <a:off x="6172200" y="6459695"/>
            <a:ext cx="47548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78"/>
          <p:cNvSpPr txBox="1">
            <a:spLocks noChangeArrowheads="1"/>
          </p:cNvSpPr>
          <p:nvPr/>
        </p:nvSpPr>
        <p:spPr bwMode="auto">
          <a:xfrm>
            <a:off x="4418013" y="1916113"/>
            <a:ext cx="996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0070C0"/>
                </a:solidFill>
              </a:rPr>
              <a:t>Before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807325" y="3573463"/>
          <a:ext cx="849314" cy="4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83" marR="91483" marT="45620" marB="456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marL="91483" marR="91483" marT="45620" marB="456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83" marR="91483" marT="45620" marB="456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2"/>
          <p:cNvSpPr txBox="1">
            <a:spLocks noChangeArrowheads="1"/>
          </p:cNvSpPr>
          <p:nvPr/>
        </p:nvSpPr>
        <p:spPr bwMode="auto">
          <a:xfrm>
            <a:off x="7780338" y="3914775"/>
            <a:ext cx="1016000" cy="3238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500" b="1" dirty="0" err="1">
                <a:solidFill>
                  <a:schemeClr val="accent1">
                    <a:lumMod val="75000"/>
                  </a:schemeClr>
                </a:solidFill>
                <a:ea typeface="+mn-ea"/>
              </a:rPr>
              <a:t>newnode</a:t>
            </a:r>
            <a:endParaRPr lang="en-US" altLang="en-US" sz="1500" b="1" dirty="0">
              <a:solidFill>
                <a:schemeClr val="accent1">
                  <a:lumMod val="75000"/>
                </a:schemeClr>
              </a:solidFill>
              <a:ea typeface="+mn-ea"/>
            </a:endParaRPr>
          </a:p>
        </p:txBody>
      </p:sp>
      <p:sp>
        <p:nvSpPr>
          <p:cNvPr id="33" name="TextBox 33"/>
          <p:cNvSpPr txBox="1">
            <a:spLocks noChangeArrowheads="1"/>
          </p:cNvSpPr>
          <p:nvPr/>
        </p:nvSpPr>
        <p:spPr bwMode="auto">
          <a:xfrm>
            <a:off x="3109913" y="5091270"/>
            <a:ext cx="782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0070C0"/>
                </a:solidFill>
              </a:rPr>
              <a:t>After</a:t>
            </a:r>
          </a:p>
        </p:txBody>
      </p:sp>
      <p:cxnSp>
        <p:nvCxnSpPr>
          <p:cNvPr id="34" name="Straight Arrow Connector 33"/>
          <p:cNvCxnSpPr>
            <a:cxnSpLocks/>
          </p:cNvCxnSpPr>
          <p:nvPr/>
        </p:nvCxnSpPr>
        <p:spPr bwMode="auto">
          <a:xfrm>
            <a:off x="7754938" y="2936875"/>
            <a:ext cx="76200" cy="636588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  <a:endCxn id="31" idx="0"/>
          </p:cNvCxnSpPr>
          <p:nvPr/>
        </p:nvCxnSpPr>
        <p:spPr bwMode="auto">
          <a:xfrm flipH="1">
            <a:off x="8231982" y="2924175"/>
            <a:ext cx="143669" cy="649288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onnector: Curved 6"/>
          <p:cNvCxnSpPr>
            <a:cxnSpLocks/>
            <a:stCxn id="31" idx="3"/>
          </p:cNvCxnSpPr>
          <p:nvPr/>
        </p:nvCxnSpPr>
        <p:spPr bwMode="auto">
          <a:xfrm flipV="1">
            <a:off x="8656639" y="3068639"/>
            <a:ext cx="122236" cy="708024"/>
          </a:xfrm>
          <a:prstGeom prst="curvedConnector2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Connector: Curved 36"/>
          <p:cNvCxnSpPr>
            <a:cxnSpLocks/>
          </p:cNvCxnSpPr>
          <p:nvPr/>
        </p:nvCxnSpPr>
        <p:spPr bwMode="auto">
          <a:xfrm rot="16200000" flipV="1">
            <a:off x="7268369" y="3178968"/>
            <a:ext cx="758032" cy="621508"/>
          </a:xfrm>
          <a:prstGeom prst="curvedConnector3">
            <a:avLst>
              <a:gd name="adj1" fmla="val 33246"/>
            </a:avLst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554032" y="1731569"/>
            <a:ext cx="1461646" cy="563566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87105" y="1496129"/>
            <a:ext cx="1461646" cy="563566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</a:t>
            </a:r>
          </a:p>
        </p:txBody>
      </p:sp>
      <p:cxnSp>
        <p:nvCxnSpPr>
          <p:cNvPr id="52" name="Elbow Connector 51"/>
          <p:cNvCxnSpPr>
            <a:stCxn id="50" idx="3"/>
            <a:endCxn id="55" idx="1"/>
          </p:cNvCxnSpPr>
          <p:nvPr/>
        </p:nvCxnSpPr>
        <p:spPr>
          <a:xfrm flipH="1">
            <a:off x="6079448" y="2013352"/>
            <a:ext cx="936230" cy="873606"/>
          </a:xfrm>
          <a:prstGeom prst="bentConnector5">
            <a:avLst>
              <a:gd name="adj1" fmla="val -24417"/>
              <a:gd name="adj2" fmla="val 54452"/>
              <a:gd name="adj3" fmla="val 124417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51" idx="2"/>
          </p:cNvCxnSpPr>
          <p:nvPr/>
        </p:nvCxnSpPr>
        <p:spPr>
          <a:xfrm rot="5400000">
            <a:off x="8023660" y="2336397"/>
            <a:ext cx="570971" cy="17566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032907"/>
              </p:ext>
            </p:extLst>
          </p:nvPr>
        </p:nvGraphicFramePr>
        <p:xfrm>
          <a:off x="7149427" y="2682964"/>
          <a:ext cx="849312" cy="407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291376"/>
              </p:ext>
            </p:extLst>
          </p:nvPr>
        </p:nvGraphicFramePr>
        <p:xfrm>
          <a:off x="6079448" y="2682964"/>
          <a:ext cx="849314" cy="407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483" marR="91483" marT="45799" marB="457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6" name="Straight Arrow Connector 55"/>
          <p:cNvCxnSpPr>
            <a:cxnSpLocks/>
          </p:cNvCxnSpPr>
          <p:nvPr/>
        </p:nvCxnSpPr>
        <p:spPr bwMode="auto">
          <a:xfrm flipH="1">
            <a:off x="6801366" y="2777420"/>
            <a:ext cx="479425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cxnSpLocks/>
          </p:cNvCxnSpPr>
          <p:nvPr/>
        </p:nvCxnSpPr>
        <p:spPr bwMode="auto">
          <a:xfrm flipH="1">
            <a:off x="7824874" y="2777420"/>
            <a:ext cx="47548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 bwMode="auto">
          <a:xfrm>
            <a:off x="7824874" y="2967920"/>
            <a:ext cx="47548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cxnSpLocks/>
          </p:cNvCxnSpPr>
          <p:nvPr/>
        </p:nvCxnSpPr>
        <p:spPr bwMode="auto">
          <a:xfrm flipV="1">
            <a:off x="6804144" y="2963950"/>
            <a:ext cx="473869" cy="397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837756"/>
              </p:ext>
            </p:extLst>
          </p:nvPr>
        </p:nvGraphicFramePr>
        <p:xfrm>
          <a:off x="8140701" y="2668139"/>
          <a:ext cx="849312" cy="4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91483" marR="91483" marT="45620" marB="456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 marL="91483" marR="91483" marT="45620" marB="456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</a:txBody>
                  <a:tcPr marL="91483" marR="91483" marT="45620" marB="456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32">
            <a:extLst>
              <a:ext uri="{FF2B5EF4-FFF2-40B4-BE49-F238E27FC236}">
                <a16:creationId xmlns:a16="http://schemas.microsoft.com/office/drawing/2014/main" id="{ADDE90DA-A59A-B40C-FF14-D350FA710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5084" y="2282923"/>
            <a:ext cx="461986" cy="3231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500" b="1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loc</a:t>
            </a:r>
          </a:p>
        </p:txBody>
      </p:sp>
      <p:sp>
        <p:nvSpPr>
          <p:cNvPr id="12" name="TextBox 32">
            <a:extLst>
              <a:ext uri="{FF2B5EF4-FFF2-40B4-BE49-F238E27FC236}">
                <a16:creationId xmlns:a16="http://schemas.microsoft.com/office/drawing/2014/main" id="{53D7DAD9-26FC-5084-D228-7D2D010DE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637" y="2288572"/>
            <a:ext cx="579005" cy="3231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500" b="1" dirty="0" err="1">
                <a:solidFill>
                  <a:schemeClr val="accent1">
                    <a:lumMod val="75000"/>
                  </a:schemeClr>
                </a:solidFill>
                <a:ea typeface="+mn-ea"/>
              </a:rPr>
              <a:t>ploc</a:t>
            </a:r>
            <a:endParaRPr lang="en-US" altLang="en-US" sz="1500" b="1" dirty="0">
              <a:solidFill>
                <a:schemeClr val="accent1">
                  <a:lumMod val="75000"/>
                </a:scheme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442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2" grpId="0"/>
      <p:bldP spid="33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InsertSorted</a:t>
            </a:r>
            <a:r>
              <a:rPr lang="en-US" b="1" dirty="0"/>
              <a:t> Operation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2400" dirty="0"/>
              <a:t>This method inserts a new value into its logical position in a sorted list. We assume that duplicate insertion is not allowed.</a:t>
            </a:r>
          </a:p>
          <a:p>
            <a:r>
              <a:rPr lang="en-GB" altLang="en-US" sz="2400" dirty="0"/>
              <a:t>We shall call Search() method (option A).</a:t>
            </a:r>
          </a:p>
          <a:p>
            <a:pPr lvl="1"/>
            <a:r>
              <a:rPr lang="en-GB" altLang="en-US" sz="2400" dirty="0" err="1"/>
              <a:t>Ploc</a:t>
            </a:r>
            <a:r>
              <a:rPr lang="en-GB" altLang="en-US" sz="2400" dirty="0"/>
              <a:t> shall point to the logical predecessor of the new element, and</a:t>
            </a:r>
          </a:p>
          <a:p>
            <a:pPr lvl="1"/>
            <a:r>
              <a:rPr lang="en-GB" altLang="en-US" sz="2400" dirty="0" err="1"/>
              <a:t>Loc</a:t>
            </a:r>
            <a:r>
              <a:rPr lang="en-GB" altLang="en-US" sz="2400" dirty="0"/>
              <a:t> shall point to the element, if it already exists in the list. In this case, duplicate insertion won’t be allowed.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986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InsertSorted</a:t>
            </a:r>
            <a:r>
              <a:rPr lang="en-US" b="1" dirty="0"/>
              <a:t>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5650" y="3284538"/>
          <a:ext cx="7666038" cy="266541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62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8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75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</a:rPr>
                        <a:t>Ploc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Loc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Interpretation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37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dirty="0">
                          <a:effectLst/>
                        </a:rPr>
                        <a:t>Null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Null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Value not found, and its logical position is at the front of the list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75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dirty="0">
                          <a:effectLst/>
                        </a:rPr>
                        <a:t>Null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Non-null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Value found in the head node of the list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50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dirty="0">
                          <a:effectLst/>
                        </a:rPr>
                        <a:t>Non-null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Non-null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Value found but node in the head node. </a:t>
                      </a:r>
                      <a:r>
                        <a:rPr lang="en-GB" sz="1600" dirty="0">
                          <a:effectLst/>
                        </a:rPr>
                        <a:t>As </a:t>
                      </a:r>
                      <a:r>
                        <a:rPr lang="en-GB" sz="1600" dirty="0" err="1">
                          <a:effectLst/>
                        </a:rPr>
                        <a:t>ploc</a:t>
                      </a:r>
                      <a:r>
                        <a:rPr lang="en-GB" sz="1600" dirty="0">
                          <a:effectLst/>
                        </a:rPr>
                        <a:t> is non-null, it might be in any node other than the head node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50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b="0" dirty="0">
                          <a:effectLst/>
                        </a:rPr>
                        <a:t>Non-null &amp; </a:t>
                      </a:r>
                      <a:r>
                        <a:rPr lang="en-GB" sz="1600" b="0" dirty="0" err="1">
                          <a:effectLst/>
                        </a:rPr>
                        <a:t>ploc</a:t>
                      </a:r>
                      <a:r>
                        <a:rPr lang="en-GB" sz="1600" b="0" dirty="0">
                          <a:effectLst/>
                        </a:rPr>
                        <a:t>=last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Null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>
                          <a:effectLst/>
                        </a:rPr>
                        <a:t>Value not found. Its logical position is at the end of the list.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50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b="0" dirty="0">
                          <a:effectLst/>
                        </a:rPr>
                        <a:t>Non-null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>
                          <a:effectLst/>
                        </a:rPr>
                        <a:t>Null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Value not found. Its logical position is somewhere after first and before last node.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979613" y="5930900"/>
            <a:ext cx="64420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14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 1: Possible Values in Loc and Ploc after Call to Search() and their Interpretation</a:t>
            </a:r>
            <a:endParaRPr lang="en-US" altLang="en-US" sz="1400"/>
          </a:p>
          <a:p>
            <a:endParaRPr lang="en-US" altLang="en-US" sz="1400"/>
          </a:p>
        </p:txBody>
      </p:sp>
      <p:sp>
        <p:nvSpPr>
          <p:cNvPr id="7" name="Content Placeholder 6"/>
          <p:cNvSpPr txBox="1">
            <a:spLocks noChangeArrowheads="1"/>
          </p:cNvSpPr>
          <p:nvPr/>
        </p:nvSpPr>
        <p:spPr>
          <a:xfrm>
            <a:off x="0" y="1557338"/>
            <a:ext cx="8929688" cy="52578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3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fontAlgn="base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fontAlgn="base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fontAlgn="base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fontAlgn="base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0" lvl="1" indent="-457200">
              <a:buFont typeface="Arial" panose="020B0604020202020204" pitchFamily="34" charset="0"/>
              <a:buChar char="•"/>
              <a:defRPr/>
            </a:pPr>
            <a:r>
              <a:rPr lang="en-GB" altLang="en-US" sz="2200" kern="0" dirty="0"/>
              <a:t>If </a:t>
            </a:r>
            <a:r>
              <a:rPr lang="en-GB" altLang="en-US" sz="2200" kern="0" dirty="0" err="1"/>
              <a:t>loc</a:t>
            </a:r>
            <a:r>
              <a:rPr lang="en-GB" altLang="en-US" sz="2200" kern="0" dirty="0"/>
              <a:t> is NULL, the new item shall be inserted into the list after </a:t>
            </a:r>
            <a:r>
              <a:rPr lang="en-GB" altLang="en-US" sz="2200" kern="0" dirty="0" err="1"/>
              <a:t>ploc</a:t>
            </a:r>
            <a:r>
              <a:rPr lang="en-GB" altLang="en-US" sz="2200" kern="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15246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InsertSorted</a:t>
            </a:r>
            <a:r>
              <a:rPr lang="en-US" b="1" dirty="0"/>
              <a:t> Operation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lr>
                <a:srgbClr val="DD8047"/>
              </a:buClr>
              <a:buSzPct val="60000"/>
              <a:defRPr/>
            </a:pPr>
            <a:r>
              <a:rPr lang="en-US" altLang="en-US" sz="2000" dirty="0"/>
              <a:t>Call Search(value) method, and then insert new value if it already doesn’t exist.</a:t>
            </a:r>
          </a:p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lang="en-US" altLang="en-US" sz="2000" dirty="0"/>
              <a:t>Insert(Ali), 		</a:t>
            </a:r>
            <a:r>
              <a:rPr lang="en-US" altLang="en-US" sz="2000" dirty="0" err="1"/>
              <a:t>ploc</a:t>
            </a:r>
            <a:r>
              <a:rPr lang="en-US" altLang="en-US" sz="2000" dirty="0"/>
              <a:t>= NULL, </a:t>
            </a:r>
            <a:r>
              <a:rPr lang="en-US" altLang="en-US" sz="2000" dirty="0" err="1"/>
              <a:t>loc</a:t>
            </a:r>
            <a:r>
              <a:rPr lang="en-US" altLang="en-US" sz="2000" dirty="0"/>
              <a:t>= NULL </a:t>
            </a:r>
          </a:p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lang="en-US" altLang="en-US" sz="2000" dirty="0"/>
              <a:t>Insert(</a:t>
            </a:r>
            <a:r>
              <a:rPr lang="en-US" altLang="en-US" sz="2000" dirty="0" err="1"/>
              <a:t>Javed</a:t>
            </a:r>
            <a:r>
              <a:rPr lang="en-US" altLang="en-US" sz="2000" dirty="0"/>
              <a:t>), 	</a:t>
            </a:r>
            <a:r>
              <a:rPr lang="en-US" altLang="en-US" sz="2000" dirty="0" err="1"/>
              <a:t>ploc</a:t>
            </a:r>
            <a:r>
              <a:rPr lang="en-US" altLang="en-US" sz="2000" dirty="0"/>
              <a:t>= NULL, </a:t>
            </a:r>
            <a:r>
              <a:rPr lang="en-US" altLang="en-US" sz="2000" dirty="0" err="1"/>
              <a:t>loc</a:t>
            </a:r>
            <a:r>
              <a:rPr lang="en-US" altLang="en-US" sz="2000" dirty="0"/>
              <a:t>= non-null</a:t>
            </a:r>
          </a:p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lang="en-US" altLang="en-US" sz="2000" dirty="0"/>
              <a:t>Insert(</a:t>
            </a:r>
            <a:r>
              <a:rPr lang="en-US" altLang="en-US" sz="2000" dirty="0" err="1"/>
              <a:t>Kashif</a:t>
            </a:r>
            <a:r>
              <a:rPr lang="en-US" altLang="en-US" sz="2000" dirty="0"/>
              <a:t>), 	</a:t>
            </a:r>
            <a:r>
              <a:rPr lang="en-US" altLang="en-US" sz="2000" dirty="0" err="1"/>
              <a:t>ploc</a:t>
            </a:r>
            <a:r>
              <a:rPr lang="en-US" altLang="en-US" sz="2000" dirty="0"/>
              <a:t>=non-null, </a:t>
            </a:r>
            <a:r>
              <a:rPr lang="en-US" altLang="en-US" sz="2000" dirty="0" err="1"/>
              <a:t>loc</a:t>
            </a:r>
            <a:r>
              <a:rPr lang="en-US" altLang="en-US" sz="2000" dirty="0"/>
              <a:t>=null</a:t>
            </a:r>
          </a:p>
          <a:p>
            <a:pPr>
              <a:buClr>
                <a:srgbClr val="DD8047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lang="en-US" altLang="en-US" sz="2000" dirty="0"/>
              <a:t>Insert(Zahid) , 	</a:t>
            </a:r>
            <a:r>
              <a:rPr lang="en-US" altLang="en-US" sz="2000" dirty="0" err="1"/>
              <a:t>ploc</a:t>
            </a:r>
            <a:r>
              <a:rPr lang="en-US" altLang="en-US" sz="2000" dirty="0"/>
              <a:t>=non-null ==last, </a:t>
            </a:r>
            <a:r>
              <a:rPr lang="en-US" altLang="en-US" sz="2000" dirty="0" err="1"/>
              <a:t>loc</a:t>
            </a:r>
            <a:r>
              <a:rPr lang="en-US" altLang="en-US" sz="2000" dirty="0"/>
              <a:t>=null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grpSp>
        <p:nvGrpSpPr>
          <p:cNvPr id="5" name="Group 1"/>
          <p:cNvGrpSpPr>
            <a:grpSpLocks/>
          </p:cNvGrpSpPr>
          <p:nvPr/>
        </p:nvGrpSpPr>
        <p:grpSpPr bwMode="auto">
          <a:xfrm>
            <a:off x="3048000" y="4419600"/>
            <a:ext cx="5162550" cy="1512887"/>
            <a:chOff x="1187450" y="4482232"/>
            <a:chExt cx="6170613" cy="2043112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1187450" y="4482232"/>
              <a:ext cx="6170613" cy="2043112"/>
              <a:chOff x="1582" y="1728"/>
              <a:chExt cx="3887" cy="1287"/>
            </a:xfrm>
          </p:grpSpPr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1590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4616" y="2592"/>
                <a:ext cx="567" cy="423"/>
              </a:xfrm>
              <a:prstGeom prst="rect">
                <a:avLst/>
              </a:prstGeom>
              <a:solidFill>
                <a:srgbClr val="EBDDC3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Rizwan</a:t>
                </a: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2982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3264" y="2592"/>
                <a:ext cx="567" cy="423"/>
              </a:xfrm>
              <a:prstGeom prst="rect">
                <a:avLst/>
              </a:prstGeom>
              <a:solidFill>
                <a:srgbClr val="66FFFF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Maria</a:t>
                </a:r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4326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1880" y="2592"/>
                <a:ext cx="567" cy="423"/>
              </a:xfrm>
              <a:prstGeom prst="rect">
                <a:avLst/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Javed</a:t>
                </a:r>
              </a:p>
            </p:txBody>
          </p:sp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431" cy="0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>
                <a:off x="3984" y="2832"/>
                <a:ext cx="337" cy="0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AutoShape 15"/>
              <p:cNvSpPr>
                <a:spLocks noChangeArrowheads="1"/>
              </p:cNvSpPr>
              <p:nvPr/>
            </p:nvSpPr>
            <p:spPr bwMode="auto">
              <a:xfrm>
                <a:off x="1678" y="2064"/>
                <a:ext cx="231" cy="375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8" name="Rectangle 16"/>
              <p:cNvSpPr>
                <a:spLocks noChangeArrowheads="1"/>
              </p:cNvSpPr>
              <p:nvPr/>
            </p:nvSpPr>
            <p:spPr bwMode="auto">
              <a:xfrm>
                <a:off x="1582" y="1728"/>
                <a:ext cx="527" cy="287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first</a:t>
                </a:r>
              </a:p>
            </p:txBody>
          </p:sp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 flipH="1">
                <a:off x="4127" y="2688"/>
                <a:ext cx="337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 flipH="1">
                <a:off x="2735" y="2736"/>
                <a:ext cx="337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 flipH="1">
                <a:off x="5231" y="2640"/>
                <a:ext cx="193" cy="335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AutoShape 15"/>
            <p:cNvSpPr>
              <a:spLocks noChangeArrowheads="1"/>
            </p:cNvSpPr>
            <p:nvPr/>
          </p:nvSpPr>
          <p:spPr bwMode="auto">
            <a:xfrm>
              <a:off x="6191250" y="5039444"/>
              <a:ext cx="366713" cy="595313"/>
            </a:xfrm>
            <a:prstGeom prst="downArrow">
              <a:avLst>
                <a:gd name="adj1" fmla="val 50000"/>
                <a:gd name="adj2" fmla="val 81176"/>
              </a:avLst>
            </a:prstGeom>
            <a:solidFill>
              <a:srgbClr val="94B6D2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6038850" y="4506044"/>
              <a:ext cx="836613" cy="455613"/>
            </a:xfrm>
            <a:prstGeom prst="rect">
              <a:avLst/>
            </a:prstGeom>
            <a:solidFill>
              <a:srgbClr val="94B6D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last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6561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 err="1"/>
              <a:t>DeleteElement</a:t>
            </a:r>
            <a:r>
              <a:rPr lang="en-US" sz="3000" b="1" dirty="0"/>
              <a:t> Operation (Using Only One Pointer: loc)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58596"/>
            <a:ext cx="8210550" cy="4718367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To delete a node from a doubly linked list, we don’t need to store the address of its predecessor in a pointer variable. </a:t>
            </a:r>
          </a:p>
          <a:p>
            <a:pPr lvl="1"/>
            <a:r>
              <a:rPr lang="en-GB" sz="2800" dirty="0"/>
              <a:t>Make the </a:t>
            </a:r>
            <a:r>
              <a:rPr lang="en-GB" sz="2800" b="1" dirty="0"/>
              <a:t>previous node's next</a:t>
            </a:r>
            <a:r>
              <a:rPr lang="en-GB" sz="2800" dirty="0"/>
              <a:t> skip the current node:</a:t>
            </a:r>
          </a:p>
          <a:p>
            <a:pPr marL="342900" lvl="1" indent="0" algn="ctr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loc-&gt;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</a:rPr>
              <a:t>prev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-&gt;next = loc-&gt;next;</a:t>
            </a:r>
          </a:p>
          <a:p>
            <a:pPr lvl="1"/>
            <a:r>
              <a:rPr lang="en-GB" sz="2800" dirty="0"/>
              <a:t>Then, make the </a:t>
            </a:r>
            <a:r>
              <a:rPr lang="en-GB" sz="2800" b="1" dirty="0"/>
              <a:t>next node's </a:t>
            </a:r>
            <a:r>
              <a:rPr lang="en-GB" sz="2800" b="1" dirty="0" err="1"/>
              <a:t>prev</a:t>
            </a:r>
            <a:r>
              <a:rPr lang="en-GB" sz="2800" dirty="0"/>
              <a:t> skip back over the current node:</a:t>
            </a:r>
          </a:p>
          <a:p>
            <a:pPr marL="342900" lvl="1" indent="0" algn="ctr">
              <a:buNone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loc-&gt;next-&gt;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prev</a:t>
            </a: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 = loc-&gt;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prev</a:t>
            </a: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lvl="1"/>
            <a:r>
              <a:rPr lang="en-GB" sz="2800" dirty="0"/>
              <a:t>Finally, deallocate the node:</a:t>
            </a:r>
          </a:p>
          <a:p>
            <a:pPr marL="342900" lvl="1" indent="0" algn="ctr">
              <a:buNone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delete loc;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6909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0C5D-CBB4-0001-14C1-89744CDC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err="1"/>
              <a:t>DeleteElement</a:t>
            </a:r>
            <a:r>
              <a:rPr lang="en-US" sz="3600" b="1" dirty="0"/>
              <a:t> Operation (Using Two Pointers: loc &amp; </a:t>
            </a:r>
            <a:r>
              <a:rPr lang="en-US" sz="3600" b="1" dirty="0" err="1"/>
              <a:t>ploc</a:t>
            </a:r>
            <a:r>
              <a:rPr lang="en-US" sz="3600" b="1" dirty="0"/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E6661-8753-1336-1CBD-D5123FD44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Deleting a Node Using Loc and </a:t>
            </a:r>
            <a:r>
              <a:rPr lang="en-US" sz="2000" dirty="0" err="1"/>
              <a:t>Ploc</a:t>
            </a:r>
            <a:endParaRPr lang="en-US" sz="2000" dirty="0"/>
          </a:p>
          <a:p>
            <a:pPr lvl="1"/>
            <a:r>
              <a:rPr lang="en-US" sz="2000" dirty="0"/>
              <a:t>We may also use our search function from the singly linked list which uses two pointer variables </a:t>
            </a:r>
          </a:p>
          <a:p>
            <a:pPr lvl="2"/>
            <a:r>
              <a:rPr lang="en-US" sz="2000" b="1" dirty="0"/>
              <a:t>loc</a:t>
            </a:r>
            <a:r>
              <a:rPr lang="en-US" sz="2000" dirty="0"/>
              <a:t> pointing to the node to be deleted</a:t>
            </a:r>
          </a:p>
          <a:p>
            <a:pPr lvl="2"/>
            <a:r>
              <a:rPr lang="en-US" sz="2000" b="1" dirty="0" err="1"/>
              <a:t>ploc</a:t>
            </a:r>
            <a:r>
              <a:rPr lang="en-US" sz="2000" dirty="0"/>
              <a:t> pointing to its predecessor.</a:t>
            </a:r>
          </a:p>
          <a:p>
            <a:pPr lvl="2"/>
            <a:endParaRPr lang="en-US" sz="2000" dirty="0"/>
          </a:p>
          <a:p>
            <a:pPr lvl="2"/>
            <a:endParaRPr lang="en-PK" sz="2000" dirty="0"/>
          </a:p>
          <a:p>
            <a:pPr marL="685800" lvl="2" indent="0">
              <a:buNone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ploc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-&gt;next = loc-&gt;next;</a:t>
            </a:r>
          </a:p>
          <a:p>
            <a:pPr marL="685800" lvl="2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if (loc-&gt;next !=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nullptr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marL="685800" lvl="2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   loc-&gt;next-&gt;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prev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ploc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685800" lvl="2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delete loc;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E584F-97E6-F232-82C2-6C9B5322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465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DeleteElement</a:t>
            </a:r>
            <a:r>
              <a:rPr lang="en-US" dirty="0"/>
              <a:t>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2517775" y="2743200"/>
            <a:ext cx="6157913" cy="3122613"/>
            <a:chOff x="1586" y="1728"/>
            <a:chExt cx="3879" cy="1967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586" y="2592"/>
              <a:ext cx="1143" cy="423"/>
            </a:xfrm>
            <a:prstGeom prst="rect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4612" y="2592"/>
              <a:ext cx="567" cy="423"/>
            </a:xfrm>
            <a:prstGeom prst="rect">
              <a:avLst/>
            </a:prstGeom>
            <a:solidFill>
              <a:srgbClr val="EBDDC3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Rabia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978" y="2592"/>
              <a:ext cx="1143" cy="423"/>
            </a:xfrm>
            <a:prstGeom prst="rect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260" y="2592"/>
              <a:ext cx="567" cy="423"/>
            </a:xfrm>
            <a:prstGeom prst="rect">
              <a:avLst/>
            </a:prstGeom>
            <a:solidFill>
              <a:srgbClr val="66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Maria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322" y="2592"/>
              <a:ext cx="1143" cy="423"/>
            </a:xfrm>
            <a:prstGeom prst="rect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876" y="2592"/>
              <a:ext cx="567" cy="423"/>
            </a:xfrm>
            <a:prstGeom prst="rect">
              <a:avLst/>
            </a:prstGeom>
            <a:solidFill>
              <a:srgbClr val="94B6D2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Javed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540" y="2880"/>
              <a:ext cx="431" cy="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980" y="2832"/>
              <a:ext cx="337" cy="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AutoShape 14"/>
            <p:cNvSpPr>
              <a:spLocks noChangeArrowheads="1"/>
            </p:cNvSpPr>
            <p:nvPr/>
          </p:nvSpPr>
          <p:spPr bwMode="auto">
            <a:xfrm>
              <a:off x="1859" y="2064"/>
              <a:ext cx="231" cy="375"/>
            </a:xfrm>
            <a:prstGeom prst="downArrow">
              <a:avLst>
                <a:gd name="adj1" fmla="val 50000"/>
                <a:gd name="adj2" fmla="val 81176"/>
              </a:avLst>
            </a:prstGeom>
            <a:solidFill>
              <a:srgbClr val="94B6D2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1763" y="1728"/>
              <a:ext cx="527" cy="287"/>
            </a:xfrm>
            <a:prstGeom prst="rect">
              <a:avLst/>
            </a:prstGeom>
            <a:solidFill>
              <a:srgbClr val="94B6D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first</a:t>
              </a: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H="1">
              <a:off x="4123" y="2688"/>
              <a:ext cx="337" cy="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 flipH="1">
              <a:off x="2731" y="2736"/>
              <a:ext cx="337" cy="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H="1">
              <a:off x="5227" y="2640"/>
              <a:ext cx="193" cy="335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21"/>
            <p:cNvSpPr>
              <a:spLocks noChangeArrowheads="1"/>
            </p:cNvSpPr>
            <p:nvPr/>
          </p:nvSpPr>
          <p:spPr bwMode="auto">
            <a:xfrm>
              <a:off x="3120" y="3360"/>
              <a:ext cx="767" cy="335"/>
            </a:xfrm>
            <a:prstGeom prst="rect">
              <a:avLst/>
            </a:prstGeom>
            <a:solidFill>
              <a:srgbClr val="94B6D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Location</a:t>
              </a:r>
            </a:p>
          </p:txBody>
        </p:sp>
        <p:sp>
          <p:nvSpPr>
            <p:cNvPr id="20" name="AutoShape 22"/>
            <p:cNvSpPr>
              <a:spLocks noChangeArrowheads="1"/>
            </p:cNvSpPr>
            <p:nvPr/>
          </p:nvSpPr>
          <p:spPr bwMode="auto">
            <a:xfrm>
              <a:off x="3456" y="3024"/>
              <a:ext cx="143" cy="335"/>
            </a:xfrm>
            <a:prstGeom prst="upArrow">
              <a:avLst>
                <a:gd name="adj1" fmla="val 50000"/>
                <a:gd name="adj2" fmla="val 58566"/>
              </a:avLst>
            </a:prstGeom>
            <a:solidFill>
              <a:srgbClr val="94B6D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cxnSp>
          <p:nvCxnSpPr>
            <p:cNvPr id="21" name="AutoShape 23"/>
            <p:cNvCxnSpPr>
              <a:cxnSpLocks noChangeShapeType="1"/>
              <a:stCxn id="16" idx="1"/>
              <a:endCxn id="6" idx="0"/>
            </p:cNvCxnSpPr>
            <p:nvPr/>
          </p:nvCxnSpPr>
          <p:spPr bwMode="auto">
            <a:xfrm rot="16200000" flipV="1">
              <a:off x="3092" y="1657"/>
              <a:ext cx="96" cy="1965"/>
            </a:xfrm>
            <a:prstGeom prst="curvedConnector3">
              <a:avLst>
                <a:gd name="adj1" fmla="val 249999"/>
              </a:avLst>
            </a:prstGeom>
            <a:noFill/>
            <a:ln w="28575">
              <a:solidFill>
                <a:srgbClr val="00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24"/>
            <p:cNvCxnSpPr>
              <a:cxnSpLocks noChangeShapeType="1"/>
              <a:stCxn id="12" idx="1"/>
              <a:endCxn id="10" idx="2"/>
            </p:cNvCxnSpPr>
            <p:nvPr/>
          </p:nvCxnSpPr>
          <p:spPr bwMode="auto">
            <a:xfrm rot="16200000" flipH="1">
              <a:off x="3865" y="1986"/>
              <a:ext cx="135" cy="1923"/>
            </a:xfrm>
            <a:prstGeom prst="curvedConnector5">
              <a:avLst>
                <a:gd name="adj1" fmla="val 222221"/>
                <a:gd name="adj2" fmla="val 35137"/>
                <a:gd name="adj3" fmla="val 206667"/>
              </a:avLst>
            </a:prstGeom>
            <a:noFill/>
            <a:ln w="28575">
              <a:solidFill>
                <a:srgbClr val="00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1201738" y="1793875"/>
            <a:ext cx="19669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eaLnBrk="1" hangingPunct="1">
              <a:spcBef>
                <a:spcPct val="0"/>
              </a:spcBef>
              <a:buFont typeface="Times New Roman" panose="02020603050405020304" pitchFamily="18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 Delete Maria</a:t>
            </a:r>
          </a:p>
        </p:txBody>
      </p:sp>
      <p:sp>
        <p:nvSpPr>
          <p:cNvPr id="24" name="AutoShape 14"/>
          <p:cNvSpPr>
            <a:spLocks noChangeArrowheads="1"/>
          </p:cNvSpPr>
          <p:nvPr/>
        </p:nvSpPr>
        <p:spPr bwMode="auto">
          <a:xfrm>
            <a:off x="7416800" y="3241675"/>
            <a:ext cx="366713" cy="595313"/>
          </a:xfrm>
          <a:prstGeom prst="downArrow">
            <a:avLst>
              <a:gd name="adj1" fmla="val 50000"/>
              <a:gd name="adj2" fmla="val 81176"/>
            </a:avLst>
          </a:prstGeom>
          <a:solidFill>
            <a:srgbClr val="94B6D2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7264400" y="2708275"/>
            <a:ext cx="836613" cy="455613"/>
          </a:xfrm>
          <a:prstGeom prst="rect">
            <a:avLst/>
          </a:prstGeom>
          <a:solidFill>
            <a:srgbClr val="94B6D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Last</a:t>
            </a:r>
          </a:p>
        </p:txBody>
      </p:sp>
    </p:spTree>
    <p:extLst>
      <p:ext uri="{BB962C8B-B14F-4D97-AF65-F5344CB8AC3E}">
        <p14:creationId xmlns:p14="http://schemas.microsoft.com/office/powerpoint/2010/main" val="785336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Cases of Deletion Operation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477838" y="1792288"/>
            <a:ext cx="4503737" cy="471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r>
              <a:rPr lang="en-US" altLang="en-US" sz="2000" dirty="0">
                <a:latin typeface="Times New Roman" panose="02020603050405020304" pitchFamily="18" charset="0"/>
              </a:rPr>
              <a:t> Delete the only node leaving the list empty. Delete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Javed</a:t>
            </a:r>
            <a:r>
              <a:rPr lang="en-US" altLang="en-US" sz="2000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r>
              <a:rPr lang="en-US" altLang="en-US" sz="2000" dirty="0">
                <a:latin typeface="Times New Roman" panose="02020603050405020304" pitchFamily="18" charset="0"/>
              </a:rPr>
              <a:t>Deleting a value from the front of a list with length of 2 or more. e.g. delete </a:t>
            </a:r>
            <a:r>
              <a:rPr lang="en-US" altLang="en-US" sz="2000" dirty="0" err="1">
                <a:latin typeface="Times New Roman" panose="02020603050405020304" pitchFamily="18" charset="0"/>
              </a:rPr>
              <a:t>Basit</a:t>
            </a:r>
            <a:r>
              <a:rPr lang="en-US" altLang="en-US" sz="2000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r>
              <a:rPr lang="en-US" altLang="en-US" sz="2000" dirty="0">
                <a:latin typeface="Times New Roman" panose="02020603050405020304" pitchFamily="18" charset="0"/>
              </a:rPr>
              <a:t>Deleting the tail node from a list with length of 2 or more e.g. delete </a:t>
            </a:r>
            <a:r>
              <a:rPr lang="en-US" altLang="en-US" sz="2000" dirty="0" err="1">
                <a:latin typeface="Times New Roman" panose="02020603050405020304" pitchFamily="18" charset="0"/>
              </a:rPr>
              <a:t>Rabia</a:t>
            </a:r>
            <a:r>
              <a:rPr lang="en-US" altLang="en-US" sz="2000" dirty="0">
                <a:latin typeface="Times New Roman" panose="02020603050405020304" pitchFamily="18" charset="0"/>
              </a:rPr>
              <a:t>.</a:t>
            </a:r>
            <a:endParaRPr lang="en-US" altLang="en-US" sz="17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Tw Cen MT" panose="020B0602020104020603" pitchFamily="34" charset="0"/>
              <a:buAutoNum type="arabicParenR"/>
            </a:pPr>
            <a:r>
              <a:rPr lang="en-US" altLang="en-US" sz="2000" dirty="0">
                <a:latin typeface="Times New Roman" panose="02020603050405020304" pitchFamily="18" charset="0"/>
              </a:rPr>
              <a:t>Deleting any value after the front and before the tail node e.g. delete Maria.</a:t>
            </a:r>
          </a:p>
        </p:txBody>
      </p:sp>
      <p:grpSp>
        <p:nvGrpSpPr>
          <p:cNvPr id="5" name="Group 1"/>
          <p:cNvGrpSpPr>
            <a:grpSpLocks/>
          </p:cNvGrpSpPr>
          <p:nvPr/>
        </p:nvGrpSpPr>
        <p:grpSpPr bwMode="auto">
          <a:xfrm>
            <a:off x="5580063" y="4076700"/>
            <a:ext cx="2947987" cy="1285875"/>
            <a:chOff x="2517775" y="2708275"/>
            <a:chExt cx="6157913" cy="3157538"/>
          </a:xfrm>
        </p:grpSpPr>
        <p:grpSp>
          <p:nvGrpSpPr>
            <p:cNvPr id="6" name="Group 2"/>
            <p:cNvGrpSpPr>
              <a:grpSpLocks/>
            </p:cNvGrpSpPr>
            <p:nvPr/>
          </p:nvGrpSpPr>
          <p:grpSpPr bwMode="auto">
            <a:xfrm>
              <a:off x="2517775" y="2743200"/>
              <a:ext cx="6157913" cy="3122613"/>
              <a:chOff x="1586" y="1728"/>
              <a:chExt cx="3879" cy="1967"/>
            </a:xfrm>
          </p:grpSpPr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1586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400"/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612" y="2592"/>
                <a:ext cx="567" cy="423"/>
              </a:xfrm>
              <a:prstGeom prst="rect">
                <a:avLst/>
              </a:prstGeom>
              <a:solidFill>
                <a:srgbClr val="EBDDC3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Rabia</a:t>
                </a: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2978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400"/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3260" y="2592"/>
                <a:ext cx="567" cy="423"/>
              </a:xfrm>
              <a:prstGeom prst="rect">
                <a:avLst/>
              </a:prstGeom>
              <a:solidFill>
                <a:srgbClr val="66FFFF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Maria</a:t>
                </a: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322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400"/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1876" y="2592"/>
                <a:ext cx="567" cy="423"/>
              </a:xfrm>
              <a:prstGeom prst="rect">
                <a:avLst/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Basit</a:t>
                </a:r>
              </a:p>
            </p:txBody>
          </p:sp>
          <p:sp>
            <p:nvSpPr>
              <p:cNvPr id="15" name="Line 12"/>
              <p:cNvSpPr>
                <a:spLocks noChangeShapeType="1"/>
              </p:cNvSpPr>
              <p:nvPr/>
            </p:nvSpPr>
            <p:spPr bwMode="auto">
              <a:xfrm>
                <a:off x="2540" y="2880"/>
                <a:ext cx="431" cy="0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3"/>
              <p:cNvSpPr>
                <a:spLocks noChangeShapeType="1"/>
              </p:cNvSpPr>
              <p:nvPr/>
            </p:nvSpPr>
            <p:spPr bwMode="auto">
              <a:xfrm>
                <a:off x="3980" y="2832"/>
                <a:ext cx="337" cy="0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AutoShape 14"/>
              <p:cNvSpPr>
                <a:spLocks noChangeArrowheads="1"/>
              </p:cNvSpPr>
              <p:nvPr/>
            </p:nvSpPr>
            <p:spPr bwMode="auto">
              <a:xfrm>
                <a:off x="1859" y="2064"/>
                <a:ext cx="231" cy="375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400"/>
              </a:p>
            </p:txBody>
          </p:sp>
          <p:sp>
            <p:nvSpPr>
              <p:cNvPr id="18" name="Rectangle 15"/>
              <p:cNvSpPr>
                <a:spLocks noChangeArrowheads="1"/>
              </p:cNvSpPr>
              <p:nvPr/>
            </p:nvSpPr>
            <p:spPr bwMode="auto">
              <a:xfrm>
                <a:off x="1763" y="1728"/>
                <a:ext cx="527" cy="287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first</a:t>
                </a:r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 flipH="1">
                <a:off x="4123" y="2688"/>
                <a:ext cx="337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 flipH="1">
                <a:off x="2731" y="2736"/>
                <a:ext cx="337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19"/>
              <p:cNvSpPr>
                <a:spLocks noChangeShapeType="1"/>
              </p:cNvSpPr>
              <p:nvPr/>
            </p:nvSpPr>
            <p:spPr bwMode="auto">
              <a:xfrm flipH="1">
                <a:off x="5227" y="2640"/>
                <a:ext cx="193" cy="335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Rectangle 21"/>
              <p:cNvSpPr>
                <a:spLocks noChangeArrowheads="1"/>
              </p:cNvSpPr>
              <p:nvPr/>
            </p:nvSpPr>
            <p:spPr bwMode="auto">
              <a:xfrm>
                <a:off x="3120" y="3360"/>
                <a:ext cx="767" cy="335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loc</a:t>
                </a:r>
              </a:p>
            </p:txBody>
          </p:sp>
          <p:sp>
            <p:nvSpPr>
              <p:cNvPr id="23" name="AutoShape 22"/>
              <p:cNvSpPr>
                <a:spLocks noChangeArrowheads="1"/>
              </p:cNvSpPr>
              <p:nvPr/>
            </p:nvSpPr>
            <p:spPr bwMode="auto">
              <a:xfrm>
                <a:off x="3456" y="3024"/>
                <a:ext cx="143" cy="335"/>
              </a:xfrm>
              <a:prstGeom prst="upArrow">
                <a:avLst>
                  <a:gd name="adj1" fmla="val 50000"/>
                  <a:gd name="adj2" fmla="val 58566"/>
                </a:avLst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 sz="1400"/>
              </a:p>
            </p:txBody>
          </p:sp>
          <p:cxnSp>
            <p:nvCxnSpPr>
              <p:cNvPr id="24" name="AutoShape 23"/>
              <p:cNvCxnSpPr>
                <a:cxnSpLocks noChangeShapeType="1"/>
                <a:stCxn id="19" idx="1"/>
                <a:endCxn id="14" idx="0"/>
              </p:cNvCxnSpPr>
              <p:nvPr/>
            </p:nvCxnSpPr>
            <p:spPr bwMode="auto">
              <a:xfrm flipH="1" flipV="1">
                <a:off x="2160" y="2585"/>
                <a:ext cx="2299" cy="101"/>
              </a:xfrm>
              <a:prstGeom prst="curvedConnector3">
                <a:avLst>
                  <a:gd name="adj1" fmla="val 50000"/>
                </a:avLst>
              </a:prstGeom>
              <a:noFill/>
              <a:ln w="9360">
                <a:solidFill>
                  <a:srgbClr val="000000"/>
                </a:solidFill>
                <a:prstDash val="dash"/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24"/>
              <p:cNvCxnSpPr>
                <a:cxnSpLocks noChangeShapeType="1"/>
                <a:stCxn id="15" idx="1"/>
                <a:endCxn id="10" idx="2"/>
              </p:cNvCxnSpPr>
              <p:nvPr/>
            </p:nvCxnSpPr>
            <p:spPr bwMode="auto">
              <a:xfrm>
                <a:off x="2540" y="2880"/>
                <a:ext cx="2355" cy="135"/>
              </a:xfrm>
              <a:prstGeom prst="curvedConnector3">
                <a:avLst>
                  <a:gd name="adj1" fmla="val 50000"/>
                </a:avLst>
              </a:prstGeom>
              <a:noFill/>
              <a:ln w="9360">
                <a:solidFill>
                  <a:srgbClr val="000000"/>
                </a:solidFill>
                <a:prstDash val="dash"/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" name="AutoShape 14"/>
            <p:cNvSpPr>
              <a:spLocks noChangeArrowheads="1"/>
            </p:cNvSpPr>
            <p:nvPr/>
          </p:nvSpPr>
          <p:spPr bwMode="auto">
            <a:xfrm>
              <a:off x="7416800" y="3241675"/>
              <a:ext cx="366713" cy="595313"/>
            </a:xfrm>
            <a:prstGeom prst="downArrow">
              <a:avLst>
                <a:gd name="adj1" fmla="val 50000"/>
                <a:gd name="adj2" fmla="val 81176"/>
              </a:avLst>
            </a:prstGeom>
            <a:solidFill>
              <a:srgbClr val="94B6D2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 sz="1400"/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7264400" y="2708275"/>
              <a:ext cx="836613" cy="455613"/>
            </a:xfrm>
            <a:prstGeom prst="rect">
              <a:avLst/>
            </a:prstGeom>
            <a:solidFill>
              <a:srgbClr val="94B6D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last</a:t>
              </a:r>
            </a:p>
          </p:txBody>
        </p:sp>
      </p:grp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6467475" y="2105025"/>
            <a:ext cx="912813" cy="3048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sp>
        <p:nvSpPr>
          <p:cNvPr id="27" name="AutoShape 14"/>
          <p:cNvSpPr>
            <a:spLocks noChangeArrowheads="1"/>
          </p:cNvSpPr>
          <p:nvPr/>
        </p:nvSpPr>
        <p:spPr bwMode="auto">
          <a:xfrm>
            <a:off x="6980238" y="1725613"/>
            <a:ext cx="184150" cy="269875"/>
          </a:xfrm>
          <a:prstGeom prst="downArrow">
            <a:avLst>
              <a:gd name="adj1" fmla="val 50000"/>
              <a:gd name="adj2" fmla="val 81418"/>
            </a:avLst>
          </a:prstGeom>
          <a:solidFill>
            <a:srgbClr val="94B6D2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6608763" y="1484313"/>
            <a:ext cx="420687" cy="206375"/>
          </a:xfrm>
          <a:prstGeom prst="rect">
            <a:avLst/>
          </a:prstGeom>
          <a:solidFill>
            <a:srgbClr val="94B6D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first</a:t>
            </a: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6699250" y="2084388"/>
            <a:ext cx="452438" cy="304800"/>
          </a:xfrm>
          <a:prstGeom prst="rect">
            <a:avLst/>
          </a:prstGeom>
          <a:solidFill>
            <a:srgbClr val="94B6D2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Javed</a:t>
            </a:r>
          </a:p>
        </p:txBody>
      </p:sp>
      <p:sp>
        <p:nvSpPr>
          <p:cNvPr id="30" name="Line 19"/>
          <p:cNvSpPr>
            <a:spLocks noChangeShapeType="1"/>
          </p:cNvSpPr>
          <p:nvPr/>
        </p:nvSpPr>
        <p:spPr bwMode="auto">
          <a:xfrm flipH="1">
            <a:off x="7154863" y="2133600"/>
            <a:ext cx="153987" cy="23971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9"/>
          <p:cNvSpPr>
            <a:spLocks noChangeShapeType="1"/>
          </p:cNvSpPr>
          <p:nvPr/>
        </p:nvSpPr>
        <p:spPr bwMode="auto">
          <a:xfrm flipH="1">
            <a:off x="6516688" y="2133600"/>
            <a:ext cx="153987" cy="23971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Rectangle 15"/>
          <p:cNvSpPr>
            <a:spLocks noChangeArrowheads="1"/>
          </p:cNvSpPr>
          <p:nvPr/>
        </p:nvSpPr>
        <p:spPr bwMode="auto">
          <a:xfrm>
            <a:off x="7175500" y="1495425"/>
            <a:ext cx="420688" cy="204788"/>
          </a:xfrm>
          <a:prstGeom prst="rect">
            <a:avLst/>
          </a:prstGeom>
          <a:solidFill>
            <a:srgbClr val="94B6D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last</a:t>
            </a:r>
          </a:p>
        </p:txBody>
      </p:sp>
      <p:sp>
        <p:nvSpPr>
          <p:cNvPr id="33" name="Rectangle 21"/>
          <p:cNvSpPr>
            <a:spLocks noChangeArrowheads="1"/>
          </p:cNvSpPr>
          <p:nvPr/>
        </p:nvSpPr>
        <p:spPr bwMode="auto">
          <a:xfrm>
            <a:off x="5724525" y="5157788"/>
            <a:ext cx="582613" cy="217487"/>
          </a:xfrm>
          <a:prstGeom prst="rect">
            <a:avLst/>
          </a:prstGeom>
          <a:solidFill>
            <a:srgbClr val="94B6D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9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1pPr>
            <a:lvl2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4pPr>
            <a:lvl5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w Cen MT" panose="020B0602020104020603" pitchFamily="34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ploc</a:t>
            </a:r>
          </a:p>
        </p:txBody>
      </p:sp>
      <p:sp>
        <p:nvSpPr>
          <p:cNvPr id="34" name="AutoShape 22"/>
          <p:cNvSpPr>
            <a:spLocks noChangeArrowheads="1"/>
          </p:cNvSpPr>
          <p:nvPr/>
        </p:nvSpPr>
        <p:spPr bwMode="auto">
          <a:xfrm>
            <a:off x="5980113" y="4941888"/>
            <a:ext cx="107950" cy="215900"/>
          </a:xfrm>
          <a:prstGeom prst="upArrow">
            <a:avLst>
              <a:gd name="adj1" fmla="val 50000"/>
              <a:gd name="adj2" fmla="val 58750"/>
            </a:avLst>
          </a:prstGeom>
          <a:solidFill>
            <a:srgbClr val="94B6D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311515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DeleteElement</a:t>
            </a:r>
            <a:r>
              <a:rPr lang="en-US" dirty="0"/>
              <a:t> Operation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SzPct val="60000"/>
              <a:buNone/>
              <a:defRPr/>
            </a:pPr>
            <a:r>
              <a:rPr lang="en-US" altLang="en-US" sz="2000" b="1" dirty="0"/>
              <a:t>Deleting a Node Using </a:t>
            </a:r>
            <a:r>
              <a:rPr lang="en-US" altLang="en-US" sz="2000" b="1" dirty="0" err="1"/>
              <a:t>Loc</a:t>
            </a:r>
            <a:r>
              <a:rPr lang="en-US" altLang="en-US" sz="2000" b="1" dirty="0"/>
              <a:t> and </a:t>
            </a:r>
            <a:r>
              <a:rPr lang="en-US" altLang="en-US" sz="2000" b="1" dirty="0" err="1"/>
              <a:t>Ploc</a:t>
            </a:r>
            <a:endParaRPr lang="en-US" altLang="en-US" sz="2000" b="1" dirty="0"/>
          </a:p>
          <a:p>
            <a:pPr marL="0" indent="0">
              <a:buSzPct val="60000"/>
              <a:buNone/>
              <a:defRPr/>
            </a:pPr>
            <a:r>
              <a:rPr lang="en-US" altLang="en-US" sz="1800" dirty="0"/>
              <a:t>We may also use our search function from the singly linked list which uses two pointer variables i.e. </a:t>
            </a:r>
            <a:r>
              <a:rPr lang="en-US" altLang="en-US" sz="1800" b="1" dirty="0" err="1"/>
              <a:t>loc</a:t>
            </a:r>
            <a:r>
              <a:rPr lang="en-US" altLang="en-US" sz="1800" dirty="0"/>
              <a:t> pointing to the node to be deleted, and </a:t>
            </a:r>
            <a:r>
              <a:rPr lang="en-US" altLang="en-US" sz="1800" b="1" dirty="0" err="1"/>
              <a:t>ploc</a:t>
            </a:r>
            <a:r>
              <a:rPr lang="en-US" altLang="en-US" sz="1800" dirty="0"/>
              <a:t> pointing to its predecessor.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6" name="Picture 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00200"/>
            <a:ext cx="3886200" cy="3065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1"/>
          <p:cNvGrpSpPr>
            <a:grpSpLocks/>
          </p:cNvGrpSpPr>
          <p:nvPr/>
        </p:nvGrpSpPr>
        <p:grpSpPr bwMode="auto">
          <a:xfrm>
            <a:off x="685800" y="4959411"/>
            <a:ext cx="4857751" cy="1103313"/>
            <a:chOff x="1187450" y="4482232"/>
            <a:chExt cx="6170613" cy="2043112"/>
          </a:xfrm>
        </p:grpSpPr>
        <p:grpSp>
          <p:nvGrpSpPr>
            <p:cNvPr id="8" name="Group 3"/>
            <p:cNvGrpSpPr>
              <a:grpSpLocks/>
            </p:cNvGrpSpPr>
            <p:nvPr/>
          </p:nvGrpSpPr>
          <p:grpSpPr bwMode="auto">
            <a:xfrm>
              <a:off x="1187450" y="4482232"/>
              <a:ext cx="6170613" cy="2043112"/>
              <a:chOff x="1582" y="1728"/>
              <a:chExt cx="3887" cy="1287"/>
            </a:xfrm>
          </p:grpSpPr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590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4616" y="2592"/>
                <a:ext cx="567" cy="423"/>
              </a:xfrm>
              <a:prstGeom prst="rect">
                <a:avLst/>
              </a:prstGeom>
              <a:solidFill>
                <a:srgbClr val="EBDDC3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Rizwan</a:t>
                </a:r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2982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3264" y="2592"/>
                <a:ext cx="567" cy="423"/>
              </a:xfrm>
              <a:prstGeom prst="rect">
                <a:avLst/>
              </a:prstGeom>
              <a:solidFill>
                <a:srgbClr val="66FFFF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Maria</a:t>
                </a:r>
              </a:p>
            </p:txBody>
          </p:sp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4326" y="2592"/>
                <a:ext cx="1143" cy="423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6" name="Rectangle 11"/>
              <p:cNvSpPr>
                <a:spLocks noChangeArrowheads="1"/>
              </p:cNvSpPr>
              <p:nvPr/>
            </p:nvSpPr>
            <p:spPr bwMode="auto">
              <a:xfrm>
                <a:off x="1880" y="2592"/>
                <a:ext cx="567" cy="423"/>
              </a:xfrm>
              <a:prstGeom prst="rect">
                <a:avLst/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Javed</a:t>
                </a:r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431" cy="0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3984" y="2832"/>
                <a:ext cx="337" cy="0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AutoShape 15"/>
              <p:cNvSpPr>
                <a:spLocks noChangeArrowheads="1"/>
              </p:cNvSpPr>
              <p:nvPr/>
            </p:nvSpPr>
            <p:spPr bwMode="auto">
              <a:xfrm>
                <a:off x="1678" y="2064"/>
                <a:ext cx="231" cy="375"/>
              </a:xfrm>
              <a:prstGeom prst="downArrow">
                <a:avLst>
                  <a:gd name="adj1" fmla="val 50000"/>
                  <a:gd name="adj2" fmla="val 81176"/>
                </a:avLst>
              </a:prstGeom>
              <a:solidFill>
                <a:srgbClr val="94B6D2"/>
              </a:solidFill>
              <a:ln w="1908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1582" y="1728"/>
                <a:ext cx="527" cy="287"/>
              </a:xfrm>
              <a:prstGeom prst="rect">
                <a:avLst/>
              </a:prstGeom>
              <a:solidFill>
                <a:srgbClr val="94B6D2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9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1pPr>
                <a:lvl2pPr>
                  <a:spcBef>
                    <a:spcPts val="55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2pPr>
                <a:lvl3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3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3pPr>
                <a:lvl4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4pPr>
                <a:lvl5pPr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5pPr>
                <a:lvl6pPr marL="25146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6pPr>
                <a:lvl7pPr marL="29718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7pPr>
                <a:lvl8pPr marL="34290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8pPr>
                <a:lvl9pPr marL="3886200" indent="-228600" defTabSz="4572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rgbClr val="000000"/>
                    </a:solidFill>
                    <a:latin typeface="Tw Cen MT" panose="020B0602020104020603" pitchFamily="34" charset="0"/>
                    <a:ea typeface="WenQuanYi Micro Hei" charset="0"/>
                    <a:cs typeface="WenQuanYi Micro Hei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first</a:t>
                </a:r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 flipH="1">
                <a:off x="4127" y="2688"/>
                <a:ext cx="337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19"/>
              <p:cNvSpPr>
                <a:spLocks noChangeShapeType="1"/>
              </p:cNvSpPr>
              <p:nvPr/>
            </p:nvSpPr>
            <p:spPr bwMode="auto">
              <a:xfrm flipH="1">
                <a:off x="2735" y="2736"/>
                <a:ext cx="337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Line 20"/>
              <p:cNvSpPr>
                <a:spLocks noChangeShapeType="1"/>
              </p:cNvSpPr>
              <p:nvPr/>
            </p:nvSpPr>
            <p:spPr bwMode="auto">
              <a:xfrm flipH="1">
                <a:off x="5231" y="2640"/>
                <a:ext cx="193" cy="335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AutoShape 15"/>
            <p:cNvSpPr>
              <a:spLocks noChangeArrowheads="1"/>
            </p:cNvSpPr>
            <p:nvPr/>
          </p:nvSpPr>
          <p:spPr bwMode="auto">
            <a:xfrm>
              <a:off x="6191250" y="5039444"/>
              <a:ext cx="366713" cy="595313"/>
            </a:xfrm>
            <a:prstGeom prst="downArrow">
              <a:avLst>
                <a:gd name="adj1" fmla="val 50000"/>
                <a:gd name="adj2" fmla="val 81176"/>
              </a:avLst>
            </a:prstGeom>
            <a:solidFill>
              <a:srgbClr val="94B6D2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0" name="Rectangle 16"/>
            <p:cNvSpPr>
              <a:spLocks noChangeArrowheads="1"/>
            </p:cNvSpPr>
            <p:nvPr/>
          </p:nvSpPr>
          <p:spPr bwMode="auto">
            <a:xfrm>
              <a:off x="6038850" y="4506044"/>
              <a:ext cx="836613" cy="455613"/>
            </a:xfrm>
            <a:prstGeom prst="rect">
              <a:avLst/>
            </a:prstGeom>
            <a:solidFill>
              <a:srgbClr val="94B6D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9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1pPr>
              <a:lvl2pPr>
                <a:spcBef>
                  <a:spcPts val="5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2pPr>
              <a:lvl3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3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3pPr>
              <a:lvl4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4pPr>
              <a:lvl5pPr>
                <a:spcBef>
                  <a:spcPts val="4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5pPr>
              <a:lvl6pPr marL="25146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6pPr>
              <a:lvl7pPr marL="29718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7pPr>
              <a:lvl8pPr marL="34290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8pPr>
              <a:lvl9pPr marL="3886200" indent="-228600" defTabSz="457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Tw Cen MT" panose="020B0602020104020603" pitchFamily="34" charset="0"/>
                  <a:ea typeface="WenQuanYi Micro Hei" charset="0"/>
                  <a:cs typeface="WenQuanYi Micro Hei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last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478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DestroyList</a:t>
            </a:r>
            <a:r>
              <a:rPr lang="en-US" b="1" dirty="0"/>
              <a:t> Operation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This operation traverses a doubly linked list and destroys all its nodes one at a time. </a:t>
            </a:r>
          </a:p>
          <a:p>
            <a:r>
              <a:rPr lang="en-US" altLang="en-US" sz="2400" dirty="0"/>
              <a:t>Finally, </a:t>
            </a:r>
            <a:r>
              <a:rPr lang="en-US" altLang="en-US" sz="2400" b="1" dirty="0"/>
              <a:t>start</a:t>
            </a:r>
            <a:r>
              <a:rPr lang="en-US" altLang="en-US" sz="2400" dirty="0"/>
              <a:t> and </a:t>
            </a:r>
            <a:r>
              <a:rPr lang="en-US" altLang="en-US" sz="2400" b="1" dirty="0"/>
              <a:t>last</a:t>
            </a:r>
            <a:r>
              <a:rPr lang="en-US" altLang="en-US" sz="2400" dirty="0"/>
              <a:t> pointer variables are assigned NULL value.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4240F-2E2F-4F70-AB00-EAE709958E8F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4679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Discussion on List ADT ends here.</a:t>
            </a:r>
          </a:p>
          <a:p>
            <a:r>
              <a:rPr lang="en-US" sz="2000" dirty="0"/>
              <a:t>Implementations of List ADT</a:t>
            </a:r>
          </a:p>
          <a:p>
            <a:pPr lvl="1"/>
            <a:r>
              <a:rPr lang="en-US" sz="2000" dirty="0"/>
              <a:t>Array-based lists</a:t>
            </a:r>
          </a:p>
          <a:p>
            <a:pPr lvl="2"/>
            <a:r>
              <a:rPr lang="en-US" sz="2000" dirty="0"/>
              <a:t>Static-array</a:t>
            </a:r>
          </a:p>
          <a:p>
            <a:pPr lvl="2"/>
            <a:r>
              <a:rPr lang="en-US" sz="2000" dirty="0"/>
              <a:t>Dynamic array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Linked lists</a:t>
            </a:r>
          </a:p>
          <a:p>
            <a:pPr lvl="2"/>
            <a:r>
              <a:rPr lang="en-US" sz="2000" dirty="0"/>
              <a:t>Singly linear linked list</a:t>
            </a:r>
          </a:p>
          <a:p>
            <a:pPr lvl="2"/>
            <a:r>
              <a:rPr lang="en-US" sz="2000" dirty="0"/>
              <a:t>Singly circular linked list			</a:t>
            </a:r>
          </a:p>
          <a:p>
            <a:pPr lvl="2"/>
            <a:r>
              <a:rPr lang="en-US" sz="2000" dirty="0"/>
              <a:t>Doubly linear linked list</a:t>
            </a:r>
          </a:p>
          <a:p>
            <a:endParaRPr lang="en-US" sz="2000" dirty="0"/>
          </a:p>
          <a:p>
            <a:r>
              <a:rPr lang="en-US" sz="2000" dirty="0"/>
              <a:t>Select the most suitable implementation based on the requirements of the application you intend to develop.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0568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1E309-C198-4DCA-22F8-299BDBD3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8EF84-277B-0217-C182-47E334BA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5BE730-B355-0FD4-0C6F-D8133DB46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40229"/>
              </p:ext>
            </p:extLst>
          </p:nvPr>
        </p:nvGraphicFramePr>
        <p:xfrm>
          <a:off x="628650" y="2209800"/>
          <a:ext cx="7886700" cy="2987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9314858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611663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93613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000" b="1"/>
                        <a:t>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/>
                        <a:t>Singly Linked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Doubly Linked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453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Less (1 pointer)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More (2 pointers)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73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Traversal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One-way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Two-way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17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Delete in O(1) with pointer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K" sz="20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K" sz="20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76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Complex implementations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Harder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Easier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720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/>
                        <a:t>Use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Basic lists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Editors, caches, trees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292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583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F821-A08B-87FF-688B-50D3AB2D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3905-D1E1-4BC6-F6EB-555C5D214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In-class Activities (DCLL)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0EEAA9-320E-F02A-978D-390FF8005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3957434"/>
            <a:ext cx="4139995" cy="2764042"/>
          </a:xfrm>
        </p:spPr>
        <p:txBody>
          <a:bodyPr>
            <a:noAutofit/>
          </a:bodyPr>
          <a:lstStyle/>
          <a:p>
            <a:r>
              <a:rPr lang="en-GB" sz="2000" b="1" dirty="0"/>
              <a:t>Write functions for the following:</a:t>
            </a:r>
          </a:p>
          <a:p>
            <a:pPr>
              <a:buFont typeface="+mj-lt"/>
              <a:buAutoNum type="arabicPeriod"/>
            </a:pPr>
            <a:r>
              <a:rPr lang="en-GB" sz="2000" dirty="0" err="1"/>
              <a:t>insertAtStart</a:t>
            </a:r>
            <a:r>
              <a:rPr lang="en-GB" sz="2000" dirty="0"/>
              <a:t>(int data)</a:t>
            </a:r>
          </a:p>
          <a:p>
            <a:pPr>
              <a:buFont typeface="+mj-lt"/>
              <a:buAutoNum type="arabicPeriod"/>
            </a:pPr>
            <a:r>
              <a:rPr lang="en-GB" sz="2000" dirty="0" err="1"/>
              <a:t>insertAtEnd</a:t>
            </a:r>
            <a:r>
              <a:rPr lang="en-GB" sz="2000" dirty="0"/>
              <a:t>(int data)</a:t>
            </a:r>
          </a:p>
          <a:p>
            <a:pPr>
              <a:buFont typeface="+mj-lt"/>
              <a:buAutoNum type="arabicPeriod"/>
            </a:pPr>
            <a:r>
              <a:rPr lang="en-GB" sz="2000" dirty="0" err="1"/>
              <a:t>deleteFromStart</a:t>
            </a:r>
            <a:r>
              <a:rPr lang="en-GB" sz="2000" dirty="0"/>
              <a:t>()</a:t>
            </a:r>
          </a:p>
          <a:p>
            <a:pPr>
              <a:buFont typeface="+mj-lt"/>
              <a:buAutoNum type="arabicPeriod"/>
            </a:pPr>
            <a:r>
              <a:rPr lang="en-GB" sz="2000" dirty="0" err="1"/>
              <a:t>deleteFromEnd</a:t>
            </a:r>
            <a:r>
              <a:rPr lang="en-GB" sz="2000" dirty="0"/>
              <a:t>()</a:t>
            </a:r>
          </a:p>
          <a:p>
            <a:pPr>
              <a:buFont typeface="+mj-lt"/>
              <a:buAutoNum type="arabicPeriod"/>
            </a:pPr>
            <a:r>
              <a:rPr lang="en-GB" sz="2000" dirty="0" err="1"/>
              <a:t>displayForward</a:t>
            </a:r>
            <a:r>
              <a:rPr lang="en-GB" sz="2000" dirty="0"/>
              <a:t>()</a:t>
            </a:r>
          </a:p>
          <a:p>
            <a:pPr>
              <a:buFont typeface="+mj-lt"/>
              <a:buAutoNum type="arabicPeriod"/>
            </a:pPr>
            <a:r>
              <a:rPr lang="en-GB" sz="2000" dirty="0" err="1"/>
              <a:t>displayBackward</a:t>
            </a:r>
            <a:r>
              <a:rPr lang="en-GB" sz="2000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F0514-D67C-B4EA-814D-E1E5049D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39CBDB-CD1C-3782-DC65-C2F5B9964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53" b="14837"/>
          <a:stretch/>
        </p:blipFill>
        <p:spPr bwMode="auto">
          <a:xfrm>
            <a:off x="0" y="1519034"/>
            <a:ext cx="9144000" cy="243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0688797-5F2D-6439-5BCD-7B533AF158C6}"/>
              </a:ext>
            </a:extLst>
          </p:cNvPr>
          <p:cNvSpPr txBox="1">
            <a:spLocks/>
          </p:cNvSpPr>
          <p:nvPr/>
        </p:nvSpPr>
        <p:spPr>
          <a:xfrm>
            <a:off x="5181599" y="3964808"/>
            <a:ext cx="3377995" cy="2764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Constraints:</a:t>
            </a:r>
            <a:endParaRPr lang="en-GB" sz="2000" dirty="0"/>
          </a:p>
          <a:p>
            <a:pPr lvl="1"/>
            <a:r>
              <a:rPr lang="en-GB" sz="2000" dirty="0"/>
              <a:t>Maintain a head pointer.</a:t>
            </a:r>
          </a:p>
          <a:p>
            <a:pPr lvl="1"/>
            <a:r>
              <a:rPr lang="en-GB" sz="2000" dirty="0"/>
              <a:t>Ensure circularity is preserved.</a:t>
            </a:r>
          </a:p>
          <a:p>
            <a:pPr lvl="1"/>
            <a:r>
              <a:rPr lang="en-GB" sz="2000" dirty="0"/>
              <a:t>Avoid memory leaks.</a:t>
            </a:r>
          </a:p>
        </p:txBody>
      </p:sp>
    </p:spTree>
    <p:extLst>
      <p:ext uri="{BB962C8B-B14F-4D97-AF65-F5344CB8AC3E}">
        <p14:creationId xmlns:p14="http://schemas.microsoft.com/office/powerpoint/2010/main" val="2689050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7DF48-38FD-7321-D6B1-6169B347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23E0-2A69-3E70-9647-1A80C007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In-class Activities (DCLL)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12413-4969-785D-C86D-AC9F4AE9B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3957434"/>
            <a:ext cx="4139995" cy="2764042"/>
          </a:xfrm>
        </p:spPr>
        <p:txBody>
          <a:bodyPr>
            <a:noAutofit/>
          </a:bodyPr>
          <a:lstStyle/>
          <a:p>
            <a:r>
              <a:rPr lang="en-GB" sz="2000" b="1" dirty="0"/>
              <a:t>Write functions for the following:</a:t>
            </a:r>
          </a:p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dirty="0"/>
              <a:t>7. void </a:t>
            </a:r>
            <a:r>
              <a:rPr lang="en-GB" sz="2000" dirty="0" err="1"/>
              <a:t>insertBefore</a:t>
            </a:r>
            <a:r>
              <a:rPr lang="en-GB" sz="2000" dirty="0"/>
              <a:t>(int key, int data);</a:t>
            </a:r>
          </a:p>
          <a:p>
            <a:pPr marL="0" indent="0">
              <a:buNone/>
            </a:pPr>
            <a:r>
              <a:rPr lang="en-GB" sz="2000" dirty="0"/>
              <a:t>8. void </a:t>
            </a:r>
            <a:r>
              <a:rPr lang="en-GB" sz="2000" dirty="0" err="1"/>
              <a:t>insertAfter</a:t>
            </a:r>
            <a:r>
              <a:rPr lang="en-GB" sz="2000" dirty="0"/>
              <a:t>(int key, int data);</a:t>
            </a:r>
          </a:p>
          <a:p>
            <a:pPr marL="0" indent="0">
              <a:buNone/>
            </a:pPr>
            <a:r>
              <a:rPr lang="en-GB" sz="2000" dirty="0"/>
              <a:t>9. bool search(int key);</a:t>
            </a:r>
          </a:p>
          <a:p>
            <a:pPr marL="0" indent="0">
              <a:buNone/>
            </a:pPr>
            <a:r>
              <a:rPr lang="en-GB" sz="2000" dirty="0"/>
              <a:t>10. int </a:t>
            </a:r>
            <a:r>
              <a:rPr lang="en-GB" sz="2000" dirty="0" err="1"/>
              <a:t>countNodes</a:t>
            </a:r>
            <a:r>
              <a:rPr lang="en-GB" sz="2000" dirty="0"/>
              <a:t>();</a:t>
            </a:r>
          </a:p>
          <a:p>
            <a:pPr>
              <a:buFont typeface="+mj-lt"/>
              <a:buAutoNum type="arabicPeriod"/>
            </a:pPr>
            <a:endParaRPr lang="en-GB" sz="2000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633FE-71C5-3C06-BE08-D2004B2F0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81490F-3143-CCDB-FDC2-565AE1DB14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53" b="14837"/>
          <a:stretch/>
        </p:blipFill>
        <p:spPr bwMode="auto">
          <a:xfrm>
            <a:off x="0" y="1519034"/>
            <a:ext cx="9144000" cy="243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8B00D70-25F2-CDAD-7072-51E6565E452A}"/>
              </a:ext>
            </a:extLst>
          </p:cNvPr>
          <p:cNvSpPr txBox="1">
            <a:spLocks/>
          </p:cNvSpPr>
          <p:nvPr/>
        </p:nvSpPr>
        <p:spPr>
          <a:xfrm>
            <a:off x="5181599" y="3964808"/>
            <a:ext cx="3377995" cy="2764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Constraints:</a:t>
            </a:r>
            <a:endParaRPr lang="en-GB" sz="2000" dirty="0"/>
          </a:p>
          <a:p>
            <a:pPr lvl="1"/>
            <a:endParaRPr lang="en-GB" sz="2000" dirty="0"/>
          </a:p>
          <a:p>
            <a:pPr lvl="1"/>
            <a:r>
              <a:rPr lang="en-GB" sz="2000" dirty="0"/>
              <a:t>Maintain a head pointer.</a:t>
            </a:r>
          </a:p>
          <a:p>
            <a:pPr lvl="1"/>
            <a:r>
              <a:rPr lang="en-GB" sz="2000" dirty="0"/>
              <a:t>Ensure circularity is preserved.</a:t>
            </a:r>
          </a:p>
          <a:p>
            <a:pPr lvl="1"/>
            <a:r>
              <a:rPr lang="en-GB" sz="2000" dirty="0"/>
              <a:t>Avoid memory leaks.</a:t>
            </a:r>
          </a:p>
        </p:txBody>
      </p:sp>
    </p:spTree>
    <p:extLst>
      <p:ext uri="{BB962C8B-B14F-4D97-AF65-F5344CB8AC3E}">
        <p14:creationId xmlns:p14="http://schemas.microsoft.com/office/powerpoint/2010/main" val="15666070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4A8A-5D80-036B-3A7B-8520B767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Bonus Conceptual Questions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91D4-BA94-EC61-F3C1-F1EFFAE40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GB" sz="2400" dirty="0"/>
              <a:t>Why do we use head instead of tail?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How is head-&gt;</a:t>
            </a:r>
            <a:r>
              <a:rPr lang="en-GB" sz="2400" dirty="0" err="1"/>
              <a:t>prev</a:t>
            </a:r>
            <a:r>
              <a:rPr lang="en-GB" sz="2400" dirty="0"/>
              <a:t> useful?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What makes DCLL better than singly circular list in some use cases?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Can we convert DCLL to DLL in O(1) time?</a:t>
            </a:r>
          </a:p>
          <a:p>
            <a:pPr marL="0" indent="0">
              <a:buNone/>
            </a:pPr>
            <a:endParaRPr lang="en-PK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55CB7-6ED7-46E2-F69D-10DC66E6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4431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2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5569</TotalTime>
  <Words>3071</Words>
  <Application>Microsoft Macintosh PowerPoint</Application>
  <PresentationFormat>On-screen Show (4:3)</PresentationFormat>
  <Paragraphs>561</Paragraphs>
  <Slides>42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Consolas</vt:lpstr>
      <vt:lpstr>Times New Roman</vt:lpstr>
      <vt:lpstr>Tw Cen MT</vt:lpstr>
      <vt:lpstr>Wingdings</vt:lpstr>
      <vt:lpstr>Office Theme</vt:lpstr>
      <vt:lpstr>Double Linked List</vt:lpstr>
      <vt:lpstr>Overview</vt:lpstr>
      <vt:lpstr>Why do we need a Doubly Linked List?</vt:lpstr>
      <vt:lpstr>Why do we need a Doubly Linked List?</vt:lpstr>
      <vt:lpstr>Limitations of Singly Linked List</vt:lpstr>
      <vt:lpstr>Why Double Linked Lists are Useful?</vt:lpstr>
      <vt:lpstr>Doubly Linked Lists </vt:lpstr>
      <vt:lpstr>Doubly Linked Lists (Contd) </vt:lpstr>
      <vt:lpstr>Doubly Linked List - Implementation</vt:lpstr>
      <vt:lpstr>bool IsEmpty() Operation</vt:lpstr>
      <vt:lpstr>Print List Operation</vt:lpstr>
      <vt:lpstr>Search Operation</vt:lpstr>
      <vt:lpstr>Cases in Search Operation (Option A)</vt:lpstr>
      <vt:lpstr>Cases in Search Operation (Option A)</vt:lpstr>
      <vt:lpstr>Cases in Search Operation (Option A)</vt:lpstr>
      <vt:lpstr>Search Operation – Option B</vt:lpstr>
      <vt:lpstr>Search Operation – Option B</vt:lpstr>
      <vt:lpstr>Search Operation – Option B: Cases</vt:lpstr>
      <vt:lpstr>Search Operation – Option B: Cases</vt:lpstr>
      <vt:lpstr>Search Operation – Option B: Code </vt:lpstr>
      <vt:lpstr>When to use ploc?</vt:lpstr>
      <vt:lpstr>InsertElement Operation</vt:lpstr>
      <vt:lpstr>InsertElement Operation</vt:lpstr>
      <vt:lpstr>Insertion at the Front End (or Tail End) of an Empty List</vt:lpstr>
      <vt:lpstr>Insertion at the front of an existing list</vt:lpstr>
      <vt:lpstr>Insertion at the Tail End of a non-empty list.</vt:lpstr>
      <vt:lpstr>Insertion into the Middle of a List</vt:lpstr>
      <vt:lpstr>InsertSorted Operation</vt:lpstr>
      <vt:lpstr>InsertSorted Operation</vt:lpstr>
      <vt:lpstr>InsertSorted Operation</vt:lpstr>
      <vt:lpstr>DeleteElement Operation (Using Only One Pointer: loc)</vt:lpstr>
      <vt:lpstr>DeleteElement Operation (Using Two Pointers: loc &amp; ploc)</vt:lpstr>
      <vt:lpstr>DeleteElement Operation</vt:lpstr>
      <vt:lpstr>Four Cases of Deletion Operation</vt:lpstr>
      <vt:lpstr>DeleteElement Operation</vt:lpstr>
      <vt:lpstr>DestroyList Operation</vt:lpstr>
      <vt:lpstr>Conclusion </vt:lpstr>
      <vt:lpstr>Summary</vt:lpstr>
      <vt:lpstr>In-class Activities (DCLL)</vt:lpstr>
      <vt:lpstr>In-class Activities (DCLL)</vt:lpstr>
      <vt:lpstr>Bonus Conceptual Questions</vt:lpstr>
      <vt:lpstr>Thank you</vt:lpstr>
    </vt:vector>
  </TitlesOfParts>
  <Company>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Salman</dc:creator>
  <cp:lastModifiedBy>Dr. Ayesha Hakim</cp:lastModifiedBy>
  <cp:revision>478</cp:revision>
  <dcterms:created xsi:type="dcterms:W3CDTF">2009-01-19T04:49:55Z</dcterms:created>
  <dcterms:modified xsi:type="dcterms:W3CDTF">2025-09-24T12:59:17Z</dcterms:modified>
</cp:coreProperties>
</file>