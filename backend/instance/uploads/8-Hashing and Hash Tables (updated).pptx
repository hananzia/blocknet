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47" r:id="rId4"/>
  </p:sldMasterIdLst>
  <p:notesMasterIdLst>
    <p:notesMasterId r:id="rId56"/>
  </p:notesMasterIdLst>
  <p:sldIdLst>
    <p:sldId id="256" r:id="rId5"/>
    <p:sldId id="296" r:id="rId6"/>
    <p:sldId id="298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299" r:id="rId17"/>
    <p:sldId id="297" r:id="rId18"/>
    <p:sldId id="336" r:id="rId19"/>
    <p:sldId id="300" r:id="rId20"/>
    <p:sldId id="337" r:id="rId21"/>
    <p:sldId id="338" r:id="rId22"/>
    <p:sldId id="301" r:id="rId23"/>
    <p:sldId id="302" r:id="rId24"/>
    <p:sldId id="312" r:id="rId25"/>
    <p:sldId id="313" r:id="rId26"/>
    <p:sldId id="314" r:id="rId27"/>
    <p:sldId id="315" r:id="rId28"/>
    <p:sldId id="316" r:id="rId29"/>
    <p:sldId id="317" r:id="rId30"/>
    <p:sldId id="318" r:id="rId31"/>
    <p:sldId id="319" r:id="rId32"/>
    <p:sldId id="320" r:id="rId33"/>
    <p:sldId id="538" r:id="rId34"/>
    <p:sldId id="321" r:id="rId35"/>
    <p:sldId id="322" r:id="rId36"/>
    <p:sldId id="539" r:id="rId37"/>
    <p:sldId id="324" r:id="rId38"/>
    <p:sldId id="325" r:id="rId39"/>
    <p:sldId id="335" r:id="rId40"/>
    <p:sldId id="540" r:id="rId41"/>
    <p:sldId id="327" r:id="rId42"/>
    <p:sldId id="328" r:id="rId43"/>
    <p:sldId id="329" r:id="rId44"/>
    <p:sldId id="330" r:id="rId45"/>
    <p:sldId id="331" r:id="rId46"/>
    <p:sldId id="332" r:id="rId47"/>
    <p:sldId id="333" r:id="rId48"/>
    <p:sldId id="334" r:id="rId49"/>
    <p:sldId id="530" r:id="rId50"/>
    <p:sldId id="787" r:id="rId51"/>
    <p:sldId id="788" r:id="rId52"/>
    <p:sldId id="789" r:id="rId53"/>
    <p:sldId id="790" r:id="rId54"/>
    <p:sldId id="264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E72F7F-443D-31D7-6C01-FC2D45EF20D2}" v="489" dt="2025-08-05T17:50:24.8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3" autoAdjust="0"/>
    <p:restoredTop sz="94638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microsoft.com/office/2015/10/relationships/revisionInfo" Target="revisionInfo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presProps" Target="pres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A1C267-1058-4895-97CF-ED64A209586A}" type="doc">
      <dgm:prSet loTypeId="urn:microsoft.com/office/officeart/2005/8/layout/h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59495EA4-2095-4537-948E-3CA6C7DC5C25}">
      <dgm:prSet phldrT="[Text]"/>
      <dgm:spPr>
        <a:solidFill>
          <a:srgbClr val="00B05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/>
            <a:t>Pros</a:t>
          </a:r>
        </a:p>
      </dgm:t>
    </dgm:pt>
    <dgm:pt modelId="{8F7D94CF-49E9-4777-B3C4-FED48B2E694E}" type="parTrans" cxnId="{399C132B-60CB-4BBB-97F5-30DD22CDD7E7}">
      <dgm:prSet/>
      <dgm:spPr/>
      <dgm:t>
        <a:bodyPr/>
        <a:lstStyle/>
        <a:p>
          <a:endParaRPr lang="en-US"/>
        </a:p>
      </dgm:t>
    </dgm:pt>
    <dgm:pt modelId="{935BA270-E869-4564-BFC6-94F2B93065D4}" type="sibTrans" cxnId="{399C132B-60CB-4BBB-97F5-30DD22CDD7E7}">
      <dgm:prSet/>
      <dgm:spPr/>
      <dgm:t>
        <a:bodyPr/>
        <a:lstStyle/>
        <a:p>
          <a:endParaRPr lang="en-US"/>
        </a:p>
      </dgm:t>
    </dgm:pt>
    <dgm:pt modelId="{D761331C-F8B8-4ED1-98B9-966396423063}">
      <dgm:prSet/>
      <dgm:spPr>
        <a:solidFill>
          <a:srgbClr val="C0000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/>
            <a:t>Cons</a:t>
          </a:r>
        </a:p>
      </dgm:t>
    </dgm:pt>
    <dgm:pt modelId="{493036EA-D6BC-4AB3-83A9-9F35DF824116}" type="parTrans" cxnId="{13886B9B-BBFA-4101-B68B-99FA2EC4797C}">
      <dgm:prSet/>
      <dgm:spPr/>
      <dgm:t>
        <a:bodyPr/>
        <a:lstStyle/>
        <a:p>
          <a:endParaRPr lang="en-US"/>
        </a:p>
      </dgm:t>
    </dgm:pt>
    <dgm:pt modelId="{E1D4047D-DD80-4CDC-A999-1CC186E1DB34}" type="sibTrans" cxnId="{13886B9B-BBFA-4101-B68B-99FA2EC4797C}">
      <dgm:prSet/>
      <dgm:spPr/>
      <dgm:t>
        <a:bodyPr/>
        <a:lstStyle/>
        <a:p>
          <a:endParaRPr lang="en-US"/>
        </a:p>
      </dgm:t>
    </dgm:pt>
    <dgm:pt modelId="{093511CB-F456-44DC-988E-534C001452A0}">
      <dgm:prSet phldrT="[Text]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dirty="0"/>
            <a:t>Simple</a:t>
          </a:r>
        </a:p>
      </dgm:t>
    </dgm:pt>
    <dgm:pt modelId="{781A1737-FC01-44EF-9C63-4344BBE5BA27}" type="parTrans" cxnId="{DBEB2253-6E70-41F5-B70E-A1AD99F9DD19}">
      <dgm:prSet/>
      <dgm:spPr/>
      <dgm:t>
        <a:bodyPr/>
        <a:lstStyle/>
        <a:p>
          <a:endParaRPr lang="en-US"/>
        </a:p>
      </dgm:t>
    </dgm:pt>
    <dgm:pt modelId="{CBEF485D-A1BC-426D-8185-29B7DD53930C}" type="sibTrans" cxnId="{DBEB2253-6E70-41F5-B70E-A1AD99F9DD19}">
      <dgm:prSet/>
      <dgm:spPr/>
      <dgm:t>
        <a:bodyPr/>
        <a:lstStyle/>
        <a:p>
          <a:endParaRPr lang="en-US"/>
        </a:p>
      </dgm:t>
    </dgm:pt>
    <dgm:pt modelId="{EFBC2469-3107-4C46-BCEB-849616893F6E}">
      <dgm:prSet phldrT="[Text]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/>
            <a:t>memory efficient.</a:t>
          </a:r>
        </a:p>
      </dgm:t>
    </dgm:pt>
    <dgm:pt modelId="{A1C034C7-A0E9-481C-9216-55E2966F2BCB}" type="parTrans" cxnId="{02F694E2-28BE-4D29-8455-5E48AA0FD425}">
      <dgm:prSet/>
      <dgm:spPr/>
      <dgm:t>
        <a:bodyPr/>
        <a:lstStyle/>
        <a:p>
          <a:endParaRPr lang="en-US"/>
        </a:p>
      </dgm:t>
    </dgm:pt>
    <dgm:pt modelId="{EB5C1398-7092-4009-8B21-57DEB97B456F}" type="sibTrans" cxnId="{02F694E2-28BE-4D29-8455-5E48AA0FD425}">
      <dgm:prSet/>
      <dgm:spPr/>
      <dgm:t>
        <a:bodyPr/>
        <a:lstStyle/>
        <a:p>
          <a:endParaRPr lang="en-US"/>
        </a:p>
      </dgm:t>
    </dgm:pt>
    <dgm:pt modelId="{3050E61B-DE36-4AD1-A066-4760462E79F7}">
      <dgm:prSet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dirty="0"/>
            <a:t>Clustering: long runs of filled slots.</a:t>
          </a:r>
        </a:p>
      </dgm:t>
    </dgm:pt>
    <dgm:pt modelId="{B1199F76-D925-46D3-AB3B-C28EA2820D6A}" type="parTrans" cxnId="{9DF64A4E-52E9-44A0-92D6-6337CBFC9229}">
      <dgm:prSet/>
      <dgm:spPr/>
      <dgm:t>
        <a:bodyPr/>
        <a:lstStyle/>
        <a:p>
          <a:endParaRPr lang="en-US"/>
        </a:p>
      </dgm:t>
    </dgm:pt>
    <dgm:pt modelId="{071A55B3-4032-49A9-9B50-0DB3D2A943CA}" type="sibTrans" cxnId="{9DF64A4E-52E9-44A0-92D6-6337CBFC9229}">
      <dgm:prSet/>
      <dgm:spPr/>
      <dgm:t>
        <a:bodyPr/>
        <a:lstStyle/>
        <a:p>
          <a:endParaRPr lang="en-US"/>
        </a:p>
      </dgm:t>
    </dgm:pt>
    <dgm:pt modelId="{9F209194-385B-432E-A516-53D1842E099E}" type="pres">
      <dgm:prSet presAssocID="{23A1C267-1058-4895-97CF-ED64A209586A}" presName="Name0" presStyleCnt="0">
        <dgm:presLayoutVars>
          <dgm:dir/>
          <dgm:animLvl val="lvl"/>
          <dgm:resizeHandles val="exact"/>
        </dgm:presLayoutVars>
      </dgm:prSet>
      <dgm:spPr/>
    </dgm:pt>
    <dgm:pt modelId="{AF30399D-456C-4FED-8182-B62FC0EC681C}" type="pres">
      <dgm:prSet presAssocID="{59495EA4-2095-4537-948E-3CA6C7DC5C25}" presName="composite" presStyleCnt="0"/>
      <dgm:spPr/>
    </dgm:pt>
    <dgm:pt modelId="{89506554-5869-40F0-8A4A-D94182EFE5B6}" type="pres">
      <dgm:prSet presAssocID="{59495EA4-2095-4537-948E-3CA6C7DC5C25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35E7EAAF-255C-4FE1-B8D3-7723BA908565}" type="pres">
      <dgm:prSet presAssocID="{59495EA4-2095-4537-948E-3CA6C7DC5C25}" presName="desTx" presStyleLbl="alignAccFollowNode1" presStyleIdx="0" presStyleCnt="2">
        <dgm:presLayoutVars>
          <dgm:bulletEnabled val="1"/>
        </dgm:presLayoutVars>
      </dgm:prSet>
      <dgm:spPr/>
    </dgm:pt>
    <dgm:pt modelId="{161CFC43-464F-4A3D-844E-D0064A84400D}" type="pres">
      <dgm:prSet presAssocID="{935BA270-E869-4564-BFC6-94F2B93065D4}" presName="space" presStyleCnt="0"/>
      <dgm:spPr/>
    </dgm:pt>
    <dgm:pt modelId="{1994F0D0-F7A5-4FD2-BA81-E793BE38CEC2}" type="pres">
      <dgm:prSet presAssocID="{D761331C-F8B8-4ED1-98B9-966396423063}" presName="composite" presStyleCnt="0"/>
      <dgm:spPr/>
    </dgm:pt>
    <dgm:pt modelId="{F01C6766-0CAD-4EAB-9ECA-BB929E608DFF}" type="pres">
      <dgm:prSet presAssocID="{D761331C-F8B8-4ED1-98B9-966396423063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77B30D20-4B1C-4DA5-97B1-1960F0E6D6E1}" type="pres">
      <dgm:prSet presAssocID="{D761331C-F8B8-4ED1-98B9-966396423063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F0B8C713-3423-470A-B39B-43CD28C71AEC}" type="presOf" srcId="{EFBC2469-3107-4C46-BCEB-849616893F6E}" destId="{35E7EAAF-255C-4FE1-B8D3-7723BA908565}" srcOrd="0" destOrd="1" presId="urn:microsoft.com/office/officeart/2005/8/layout/hList1"/>
    <dgm:cxn modelId="{399C132B-60CB-4BBB-97F5-30DD22CDD7E7}" srcId="{23A1C267-1058-4895-97CF-ED64A209586A}" destId="{59495EA4-2095-4537-948E-3CA6C7DC5C25}" srcOrd="0" destOrd="0" parTransId="{8F7D94CF-49E9-4777-B3C4-FED48B2E694E}" sibTransId="{935BA270-E869-4564-BFC6-94F2B93065D4}"/>
    <dgm:cxn modelId="{5AC3205B-D696-4D83-A724-12101C0554F8}" type="presOf" srcId="{59495EA4-2095-4537-948E-3CA6C7DC5C25}" destId="{89506554-5869-40F0-8A4A-D94182EFE5B6}" srcOrd="0" destOrd="0" presId="urn:microsoft.com/office/officeart/2005/8/layout/hList1"/>
    <dgm:cxn modelId="{E6C31366-49BE-4194-97EB-6F9E0857091F}" type="presOf" srcId="{093511CB-F456-44DC-988E-534C001452A0}" destId="{35E7EAAF-255C-4FE1-B8D3-7723BA908565}" srcOrd="0" destOrd="0" presId="urn:microsoft.com/office/officeart/2005/8/layout/hList1"/>
    <dgm:cxn modelId="{03214B6A-E141-4D74-BB61-E9B86DA5B250}" type="presOf" srcId="{3050E61B-DE36-4AD1-A066-4760462E79F7}" destId="{77B30D20-4B1C-4DA5-97B1-1960F0E6D6E1}" srcOrd="0" destOrd="0" presId="urn:microsoft.com/office/officeart/2005/8/layout/hList1"/>
    <dgm:cxn modelId="{7AD9966D-88B2-4A02-8744-B9943AA91A2F}" type="presOf" srcId="{D761331C-F8B8-4ED1-98B9-966396423063}" destId="{F01C6766-0CAD-4EAB-9ECA-BB929E608DFF}" srcOrd="0" destOrd="0" presId="urn:microsoft.com/office/officeart/2005/8/layout/hList1"/>
    <dgm:cxn modelId="{9DF64A4E-52E9-44A0-92D6-6337CBFC9229}" srcId="{D761331C-F8B8-4ED1-98B9-966396423063}" destId="{3050E61B-DE36-4AD1-A066-4760462E79F7}" srcOrd="0" destOrd="0" parTransId="{B1199F76-D925-46D3-AB3B-C28EA2820D6A}" sibTransId="{071A55B3-4032-49A9-9B50-0DB3D2A943CA}"/>
    <dgm:cxn modelId="{DBEB2253-6E70-41F5-B70E-A1AD99F9DD19}" srcId="{59495EA4-2095-4537-948E-3CA6C7DC5C25}" destId="{093511CB-F456-44DC-988E-534C001452A0}" srcOrd="0" destOrd="0" parTransId="{781A1737-FC01-44EF-9C63-4344BBE5BA27}" sibTransId="{CBEF485D-A1BC-426D-8185-29B7DD53930C}"/>
    <dgm:cxn modelId="{13886B9B-BBFA-4101-B68B-99FA2EC4797C}" srcId="{23A1C267-1058-4895-97CF-ED64A209586A}" destId="{D761331C-F8B8-4ED1-98B9-966396423063}" srcOrd="1" destOrd="0" parTransId="{493036EA-D6BC-4AB3-83A9-9F35DF824116}" sibTransId="{E1D4047D-DD80-4CDC-A999-1CC186E1DB34}"/>
    <dgm:cxn modelId="{648886BB-53E2-47F3-873B-5B637DD1347C}" type="presOf" srcId="{23A1C267-1058-4895-97CF-ED64A209586A}" destId="{9F209194-385B-432E-A516-53D1842E099E}" srcOrd="0" destOrd="0" presId="urn:microsoft.com/office/officeart/2005/8/layout/hList1"/>
    <dgm:cxn modelId="{02F694E2-28BE-4D29-8455-5E48AA0FD425}" srcId="{59495EA4-2095-4537-948E-3CA6C7DC5C25}" destId="{EFBC2469-3107-4C46-BCEB-849616893F6E}" srcOrd="1" destOrd="0" parTransId="{A1C034C7-A0E9-481C-9216-55E2966F2BCB}" sibTransId="{EB5C1398-7092-4009-8B21-57DEB97B456F}"/>
    <dgm:cxn modelId="{85CAACDE-88B4-4F85-99E0-E79D8C2D9246}" type="presParOf" srcId="{9F209194-385B-432E-A516-53D1842E099E}" destId="{AF30399D-456C-4FED-8182-B62FC0EC681C}" srcOrd="0" destOrd="0" presId="urn:microsoft.com/office/officeart/2005/8/layout/hList1"/>
    <dgm:cxn modelId="{E3E18203-7BEE-4953-956C-3D3666A79419}" type="presParOf" srcId="{AF30399D-456C-4FED-8182-B62FC0EC681C}" destId="{89506554-5869-40F0-8A4A-D94182EFE5B6}" srcOrd="0" destOrd="0" presId="urn:microsoft.com/office/officeart/2005/8/layout/hList1"/>
    <dgm:cxn modelId="{4EC40DFB-707E-43B0-A511-0E6025BA4322}" type="presParOf" srcId="{AF30399D-456C-4FED-8182-B62FC0EC681C}" destId="{35E7EAAF-255C-4FE1-B8D3-7723BA908565}" srcOrd="1" destOrd="0" presId="urn:microsoft.com/office/officeart/2005/8/layout/hList1"/>
    <dgm:cxn modelId="{1FD241CE-9C8D-4FDC-AE78-7D725C43962A}" type="presParOf" srcId="{9F209194-385B-432E-A516-53D1842E099E}" destId="{161CFC43-464F-4A3D-844E-D0064A84400D}" srcOrd="1" destOrd="0" presId="urn:microsoft.com/office/officeart/2005/8/layout/hList1"/>
    <dgm:cxn modelId="{5A18A322-DCEB-48A1-BE1A-F92FA91E3032}" type="presParOf" srcId="{9F209194-385B-432E-A516-53D1842E099E}" destId="{1994F0D0-F7A5-4FD2-BA81-E793BE38CEC2}" srcOrd="2" destOrd="0" presId="urn:microsoft.com/office/officeart/2005/8/layout/hList1"/>
    <dgm:cxn modelId="{F225E2DF-47F8-429C-B168-1A3114D38A50}" type="presParOf" srcId="{1994F0D0-F7A5-4FD2-BA81-E793BE38CEC2}" destId="{F01C6766-0CAD-4EAB-9ECA-BB929E608DFF}" srcOrd="0" destOrd="0" presId="urn:microsoft.com/office/officeart/2005/8/layout/hList1"/>
    <dgm:cxn modelId="{FBFE5962-7307-490F-834F-1B874F12F429}" type="presParOf" srcId="{1994F0D0-F7A5-4FD2-BA81-E793BE38CEC2}" destId="{77B30D20-4B1C-4DA5-97B1-1960F0E6D6E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3A1C267-1058-4895-97CF-ED64A209586A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9495EA4-2095-4537-948E-3CA6C7DC5C25}">
      <dgm:prSet phldrT="[Text]"/>
      <dgm:spPr>
        <a:solidFill>
          <a:srgbClr val="00B05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/>
            <a:t>Pros</a:t>
          </a:r>
        </a:p>
      </dgm:t>
    </dgm:pt>
    <dgm:pt modelId="{8F7D94CF-49E9-4777-B3C4-FED48B2E694E}" type="parTrans" cxnId="{399C132B-60CB-4BBB-97F5-30DD22CDD7E7}">
      <dgm:prSet/>
      <dgm:spPr/>
      <dgm:t>
        <a:bodyPr/>
        <a:lstStyle/>
        <a:p>
          <a:endParaRPr lang="en-US"/>
        </a:p>
      </dgm:t>
    </dgm:pt>
    <dgm:pt modelId="{935BA270-E869-4564-BFC6-94F2B93065D4}" type="sibTrans" cxnId="{399C132B-60CB-4BBB-97F5-30DD22CDD7E7}">
      <dgm:prSet/>
      <dgm:spPr/>
      <dgm:t>
        <a:bodyPr/>
        <a:lstStyle/>
        <a:p>
          <a:endParaRPr lang="en-US"/>
        </a:p>
      </dgm:t>
    </dgm:pt>
    <dgm:pt modelId="{9592A4FD-5497-4290-8E83-0C9C7EF7E091}">
      <dgm:prSet/>
      <dgm:spPr>
        <a:solidFill>
          <a:srgbClr val="C0000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/>
            <a:t>Cons</a:t>
          </a:r>
        </a:p>
      </dgm:t>
    </dgm:pt>
    <dgm:pt modelId="{3928B3B7-28FE-46A1-B349-2C04768837B5}" type="parTrans" cxnId="{597810B3-3C35-4972-9514-AB8614F148D2}">
      <dgm:prSet/>
      <dgm:spPr/>
      <dgm:t>
        <a:bodyPr/>
        <a:lstStyle/>
        <a:p>
          <a:endParaRPr lang="en-US"/>
        </a:p>
      </dgm:t>
    </dgm:pt>
    <dgm:pt modelId="{BF8DADEA-F70F-41D8-9B9A-1D6A258A3EB9}" type="sibTrans" cxnId="{597810B3-3C35-4972-9514-AB8614F148D2}">
      <dgm:prSet/>
      <dgm:spPr/>
      <dgm:t>
        <a:bodyPr/>
        <a:lstStyle/>
        <a:p>
          <a:endParaRPr lang="en-US"/>
        </a:p>
      </dgm:t>
    </dgm:pt>
    <dgm:pt modelId="{B57E0E42-85AA-4EDF-A2A3-BF93C7AC9485}">
      <dgm:prSet phldrT="[Text]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dirty="0"/>
            <a:t>Simple, avoids probing, table never “fills up” (only grows in chains).</a:t>
          </a:r>
        </a:p>
      </dgm:t>
    </dgm:pt>
    <dgm:pt modelId="{D0FDE8EB-8C87-4194-A4CF-471FCB65B3F4}" type="parTrans" cxnId="{FB395E7D-112F-4F89-87FD-F16503D026B4}">
      <dgm:prSet/>
      <dgm:spPr/>
      <dgm:t>
        <a:bodyPr/>
        <a:lstStyle/>
        <a:p>
          <a:endParaRPr lang="en-US"/>
        </a:p>
      </dgm:t>
    </dgm:pt>
    <dgm:pt modelId="{9F4A0765-56F2-46EB-AE35-5C0A7DA24BB8}" type="sibTrans" cxnId="{FB395E7D-112F-4F89-87FD-F16503D026B4}">
      <dgm:prSet/>
      <dgm:spPr/>
      <dgm:t>
        <a:bodyPr/>
        <a:lstStyle/>
        <a:p>
          <a:endParaRPr lang="en-US"/>
        </a:p>
      </dgm:t>
    </dgm:pt>
    <dgm:pt modelId="{025F1E83-B834-4CEE-B890-5D2316000CA6}">
      <dgm:prSet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/>
            <a:t>Extra </a:t>
          </a:r>
          <a:r>
            <a:rPr lang="en-US" dirty="0"/>
            <a:t>memory for pointers; performance drops if chains grow too long.</a:t>
          </a:r>
        </a:p>
      </dgm:t>
    </dgm:pt>
    <dgm:pt modelId="{36BD9CCE-98D6-472D-B897-8D81689E65C4}" type="parTrans" cxnId="{4576BE24-600E-48B1-9ACE-F3A20DF758CB}">
      <dgm:prSet/>
      <dgm:spPr/>
      <dgm:t>
        <a:bodyPr/>
        <a:lstStyle/>
        <a:p>
          <a:endParaRPr lang="en-US"/>
        </a:p>
      </dgm:t>
    </dgm:pt>
    <dgm:pt modelId="{D972DB92-4998-4C1C-B0BA-D28196A0809B}" type="sibTrans" cxnId="{4576BE24-600E-48B1-9ACE-F3A20DF758CB}">
      <dgm:prSet/>
      <dgm:spPr/>
      <dgm:t>
        <a:bodyPr/>
        <a:lstStyle/>
        <a:p>
          <a:endParaRPr lang="en-US"/>
        </a:p>
      </dgm:t>
    </dgm:pt>
    <dgm:pt modelId="{9F209194-385B-432E-A516-53D1842E099E}" type="pres">
      <dgm:prSet presAssocID="{23A1C267-1058-4895-97CF-ED64A209586A}" presName="Name0" presStyleCnt="0">
        <dgm:presLayoutVars>
          <dgm:dir/>
          <dgm:animLvl val="lvl"/>
          <dgm:resizeHandles val="exact"/>
        </dgm:presLayoutVars>
      </dgm:prSet>
      <dgm:spPr/>
    </dgm:pt>
    <dgm:pt modelId="{AF30399D-456C-4FED-8182-B62FC0EC681C}" type="pres">
      <dgm:prSet presAssocID="{59495EA4-2095-4537-948E-3CA6C7DC5C25}" presName="composite" presStyleCnt="0"/>
      <dgm:spPr/>
    </dgm:pt>
    <dgm:pt modelId="{89506554-5869-40F0-8A4A-D94182EFE5B6}" type="pres">
      <dgm:prSet presAssocID="{59495EA4-2095-4537-948E-3CA6C7DC5C25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35E7EAAF-255C-4FE1-B8D3-7723BA908565}" type="pres">
      <dgm:prSet presAssocID="{59495EA4-2095-4537-948E-3CA6C7DC5C25}" presName="desTx" presStyleLbl="alignAccFollowNode1" presStyleIdx="0" presStyleCnt="2">
        <dgm:presLayoutVars>
          <dgm:bulletEnabled val="1"/>
        </dgm:presLayoutVars>
      </dgm:prSet>
      <dgm:spPr/>
    </dgm:pt>
    <dgm:pt modelId="{161CFC43-464F-4A3D-844E-D0064A84400D}" type="pres">
      <dgm:prSet presAssocID="{935BA270-E869-4564-BFC6-94F2B93065D4}" presName="space" presStyleCnt="0"/>
      <dgm:spPr/>
    </dgm:pt>
    <dgm:pt modelId="{9A28A70C-246D-43A9-A055-0A5AD68EEAB8}" type="pres">
      <dgm:prSet presAssocID="{9592A4FD-5497-4290-8E83-0C9C7EF7E091}" presName="composite" presStyleCnt="0"/>
      <dgm:spPr/>
    </dgm:pt>
    <dgm:pt modelId="{39DDA7C3-897C-4414-B14D-EFF4ECC71D46}" type="pres">
      <dgm:prSet presAssocID="{9592A4FD-5497-4290-8E83-0C9C7EF7E091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EF917B9E-E41E-40C7-ACC4-A66AF9C87D0A}" type="pres">
      <dgm:prSet presAssocID="{9592A4FD-5497-4290-8E83-0C9C7EF7E091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A2CF8A03-C379-47D8-8AD7-C5A588206B1B}" type="presOf" srcId="{B57E0E42-85AA-4EDF-A2A3-BF93C7AC9485}" destId="{35E7EAAF-255C-4FE1-B8D3-7723BA908565}" srcOrd="0" destOrd="0" presId="urn:microsoft.com/office/officeart/2005/8/layout/hList1"/>
    <dgm:cxn modelId="{4576BE24-600E-48B1-9ACE-F3A20DF758CB}" srcId="{9592A4FD-5497-4290-8E83-0C9C7EF7E091}" destId="{025F1E83-B834-4CEE-B890-5D2316000CA6}" srcOrd="0" destOrd="0" parTransId="{36BD9CCE-98D6-472D-B897-8D81689E65C4}" sibTransId="{D972DB92-4998-4C1C-B0BA-D28196A0809B}"/>
    <dgm:cxn modelId="{399C132B-60CB-4BBB-97F5-30DD22CDD7E7}" srcId="{23A1C267-1058-4895-97CF-ED64A209586A}" destId="{59495EA4-2095-4537-948E-3CA6C7DC5C25}" srcOrd="0" destOrd="0" parTransId="{8F7D94CF-49E9-4777-B3C4-FED48B2E694E}" sibTransId="{935BA270-E869-4564-BFC6-94F2B93065D4}"/>
    <dgm:cxn modelId="{CF2CD065-2816-4C5B-96C4-C14A5664A8F6}" type="presOf" srcId="{9592A4FD-5497-4290-8E83-0C9C7EF7E091}" destId="{39DDA7C3-897C-4414-B14D-EFF4ECC71D46}" srcOrd="0" destOrd="0" presId="urn:microsoft.com/office/officeart/2005/8/layout/hList1"/>
    <dgm:cxn modelId="{23255B67-E5A3-465F-8017-79A93009D139}" type="presOf" srcId="{59495EA4-2095-4537-948E-3CA6C7DC5C25}" destId="{89506554-5869-40F0-8A4A-D94182EFE5B6}" srcOrd="0" destOrd="0" presId="urn:microsoft.com/office/officeart/2005/8/layout/hList1"/>
    <dgm:cxn modelId="{FB395E7D-112F-4F89-87FD-F16503D026B4}" srcId="{59495EA4-2095-4537-948E-3CA6C7DC5C25}" destId="{B57E0E42-85AA-4EDF-A2A3-BF93C7AC9485}" srcOrd="0" destOrd="0" parTransId="{D0FDE8EB-8C87-4194-A4CF-471FCB65B3F4}" sibTransId="{9F4A0765-56F2-46EB-AE35-5C0A7DA24BB8}"/>
    <dgm:cxn modelId="{597810B3-3C35-4972-9514-AB8614F148D2}" srcId="{23A1C267-1058-4895-97CF-ED64A209586A}" destId="{9592A4FD-5497-4290-8E83-0C9C7EF7E091}" srcOrd="1" destOrd="0" parTransId="{3928B3B7-28FE-46A1-B349-2C04768837B5}" sibTransId="{BF8DADEA-F70F-41D8-9B9A-1D6A258A3EB9}"/>
    <dgm:cxn modelId="{E2D059B6-20FA-4A3F-9897-57E62464ABF7}" type="presOf" srcId="{23A1C267-1058-4895-97CF-ED64A209586A}" destId="{9F209194-385B-432E-A516-53D1842E099E}" srcOrd="0" destOrd="0" presId="urn:microsoft.com/office/officeart/2005/8/layout/hList1"/>
    <dgm:cxn modelId="{B8AC8AC2-5BF5-4664-B5C1-6F17AA14AD12}" type="presOf" srcId="{025F1E83-B834-4CEE-B890-5D2316000CA6}" destId="{EF917B9E-E41E-40C7-ACC4-A66AF9C87D0A}" srcOrd="0" destOrd="0" presId="urn:microsoft.com/office/officeart/2005/8/layout/hList1"/>
    <dgm:cxn modelId="{132A5E6B-32C9-4B59-92B1-26F02A136D5D}" type="presParOf" srcId="{9F209194-385B-432E-A516-53D1842E099E}" destId="{AF30399D-456C-4FED-8182-B62FC0EC681C}" srcOrd="0" destOrd="0" presId="urn:microsoft.com/office/officeart/2005/8/layout/hList1"/>
    <dgm:cxn modelId="{EAE6105E-66EB-40B2-ACE4-695FCAAC1CBF}" type="presParOf" srcId="{AF30399D-456C-4FED-8182-B62FC0EC681C}" destId="{89506554-5869-40F0-8A4A-D94182EFE5B6}" srcOrd="0" destOrd="0" presId="urn:microsoft.com/office/officeart/2005/8/layout/hList1"/>
    <dgm:cxn modelId="{FDAE3FCB-2346-47FA-BC92-032729DC0687}" type="presParOf" srcId="{AF30399D-456C-4FED-8182-B62FC0EC681C}" destId="{35E7EAAF-255C-4FE1-B8D3-7723BA908565}" srcOrd="1" destOrd="0" presId="urn:microsoft.com/office/officeart/2005/8/layout/hList1"/>
    <dgm:cxn modelId="{83FA0CE1-317B-438B-97A9-C77B844B0BCD}" type="presParOf" srcId="{9F209194-385B-432E-A516-53D1842E099E}" destId="{161CFC43-464F-4A3D-844E-D0064A84400D}" srcOrd="1" destOrd="0" presId="urn:microsoft.com/office/officeart/2005/8/layout/hList1"/>
    <dgm:cxn modelId="{9244B098-63D7-4549-A01A-7377A0BBB004}" type="presParOf" srcId="{9F209194-385B-432E-A516-53D1842E099E}" destId="{9A28A70C-246D-43A9-A055-0A5AD68EEAB8}" srcOrd="2" destOrd="0" presId="urn:microsoft.com/office/officeart/2005/8/layout/hList1"/>
    <dgm:cxn modelId="{27346100-4B53-4327-9A85-99065AA12264}" type="presParOf" srcId="{9A28A70C-246D-43A9-A055-0A5AD68EEAB8}" destId="{39DDA7C3-897C-4414-B14D-EFF4ECC71D46}" srcOrd="0" destOrd="0" presId="urn:microsoft.com/office/officeart/2005/8/layout/hList1"/>
    <dgm:cxn modelId="{56B3B207-D0E3-451B-9423-0888FB2F5F04}" type="presParOf" srcId="{9A28A70C-246D-43A9-A055-0A5AD68EEAB8}" destId="{EF917B9E-E41E-40C7-ACC4-A66AF9C87D0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9DD2BC2-FB02-47DF-A6DC-CA2A9F040F10}" type="doc">
      <dgm:prSet loTypeId="urn:microsoft.com/office/officeart/2011/layout/Tab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BCB4F17-80A8-4F34-8881-D95112A11C0D}">
      <dgm:prSet phldrT="[Text]"/>
      <dgm:spPr/>
      <dgm:t>
        <a:bodyPr/>
        <a:lstStyle/>
        <a:p>
          <a:r>
            <a:rPr lang="en-US" dirty="0"/>
            <a:t>Databases</a:t>
          </a:r>
        </a:p>
      </dgm:t>
    </dgm:pt>
    <dgm:pt modelId="{C8BE013A-B402-4048-954B-F78CBF49E829}" type="parTrans" cxnId="{2D8B443F-5210-4943-9755-29A96825EE50}">
      <dgm:prSet/>
      <dgm:spPr/>
      <dgm:t>
        <a:bodyPr/>
        <a:lstStyle/>
        <a:p>
          <a:endParaRPr lang="en-US"/>
        </a:p>
      </dgm:t>
    </dgm:pt>
    <dgm:pt modelId="{03832002-28B0-41C3-8BE0-28E714FDA5F7}" type="sibTrans" cxnId="{2D8B443F-5210-4943-9755-29A96825EE50}">
      <dgm:prSet/>
      <dgm:spPr/>
      <dgm:t>
        <a:bodyPr/>
        <a:lstStyle/>
        <a:p>
          <a:endParaRPr lang="en-US"/>
        </a:p>
      </dgm:t>
    </dgm:pt>
    <dgm:pt modelId="{DC2B3374-2597-48EC-AF6C-4621152C2BFC}">
      <dgm:prSet/>
      <dgm:spPr/>
      <dgm:t>
        <a:bodyPr/>
        <a:lstStyle/>
        <a:p>
          <a:r>
            <a:rPr lang="en-US" dirty="0"/>
            <a:t>Compilers</a:t>
          </a:r>
        </a:p>
      </dgm:t>
    </dgm:pt>
    <dgm:pt modelId="{8472F2E7-05A5-4CD5-94F9-66A2D76B9AE0}" type="parTrans" cxnId="{71594212-9D43-4CD4-9BFF-2A6F1A28AA74}">
      <dgm:prSet/>
      <dgm:spPr/>
      <dgm:t>
        <a:bodyPr/>
        <a:lstStyle/>
        <a:p>
          <a:endParaRPr lang="en-US"/>
        </a:p>
      </dgm:t>
    </dgm:pt>
    <dgm:pt modelId="{2BA61AD9-9E5D-4630-97B3-30007BEFB761}" type="sibTrans" cxnId="{71594212-9D43-4CD4-9BFF-2A6F1A28AA74}">
      <dgm:prSet/>
      <dgm:spPr/>
      <dgm:t>
        <a:bodyPr/>
        <a:lstStyle/>
        <a:p>
          <a:endParaRPr lang="en-US"/>
        </a:p>
      </dgm:t>
    </dgm:pt>
    <dgm:pt modelId="{63218F9A-3B33-4251-A39C-38B12B170A38}">
      <dgm:prSet/>
      <dgm:spPr/>
      <dgm:t>
        <a:bodyPr/>
        <a:lstStyle/>
        <a:p>
          <a:r>
            <a:rPr lang="en-US" dirty="0"/>
            <a:t>Web browsers</a:t>
          </a:r>
        </a:p>
      </dgm:t>
    </dgm:pt>
    <dgm:pt modelId="{47C5D337-F22B-4686-8093-AE4337F15AE8}" type="parTrans" cxnId="{3AA974E9-8D50-42EE-8536-BC2C0DB2BABB}">
      <dgm:prSet/>
      <dgm:spPr/>
      <dgm:t>
        <a:bodyPr/>
        <a:lstStyle/>
        <a:p>
          <a:endParaRPr lang="en-US"/>
        </a:p>
      </dgm:t>
    </dgm:pt>
    <dgm:pt modelId="{AFF661EA-0501-40BD-A3EB-656E3731AC2C}" type="sibTrans" cxnId="{3AA974E9-8D50-42EE-8536-BC2C0DB2BABB}">
      <dgm:prSet/>
      <dgm:spPr/>
      <dgm:t>
        <a:bodyPr/>
        <a:lstStyle/>
        <a:p>
          <a:endParaRPr lang="en-US"/>
        </a:p>
      </dgm:t>
    </dgm:pt>
    <dgm:pt modelId="{EEA1D272-0889-447D-974D-FFCDECB02529}">
      <dgm:prSet/>
      <dgm:spPr/>
      <dgm:t>
        <a:bodyPr/>
        <a:lstStyle/>
        <a:p>
          <a:r>
            <a:rPr lang="en-US" dirty="0"/>
            <a:t>Cybersecurity</a:t>
          </a:r>
        </a:p>
      </dgm:t>
    </dgm:pt>
    <dgm:pt modelId="{5C627A57-694D-4F4D-A8C5-1F18174EF97B}" type="parTrans" cxnId="{BD6E5903-2009-435C-90CF-B5CB046B2856}">
      <dgm:prSet/>
      <dgm:spPr/>
      <dgm:t>
        <a:bodyPr/>
        <a:lstStyle/>
        <a:p>
          <a:endParaRPr lang="en-US"/>
        </a:p>
      </dgm:t>
    </dgm:pt>
    <dgm:pt modelId="{08564BF1-C629-4798-976E-B39C948A1720}" type="sibTrans" cxnId="{BD6E5903-2009-435C-90CF-B5CB046B2856}">
      <dgm:prSet/>
      <dgm:spPr/>
      <dgm:t>
        <a:bodyPr/>
        <a:lstStyle/>
        <a:p>
          <a:endParaRPr lang="en-US"/>
        </a:p>
      </dgm:t>
    </dgm:pt>
    <dgm:pt modelId="{ADE5BFD4-0254-4212-975C-E0CF41982F66}">
      <dgm:prSet/>
      <dgm:spPr/>
      <dgm:t>
        <a:bodyPr/>
        <a:lstStyle/>
        <a:p>
          <a:r>
            <a:rPr lang="en-US" dirty="0"/>
            <a:t>E-commerce</a:t>
          </a:r>
        </a:p>
      </dgm:t>
    </dgm:pt>
    <dgm:pt modelId="{CC8666C7-8117-41C7-859B-20E721FB21D0}" type="parTrans" cxnId="{AFE83F94-A3D2-40CC-BFC9-7EDCFA27D455}">
      <dgm:prSet/>
      <dgm:spPr/>
      <dgm:t>
        <a:bodyPr/>
        <a:lstStyle/>
        <a:p>
          <a:endParaRPr lang="en-US"/>
        </a:p>
      </dgm:t>
    </dgm:pt>
    <dgm:pt modelId="{0AD14731-65D6-49EE-9B6F-A67C3B695EFE}" type="sibTrans" cxnId="{AFE83F94-A3D2-40CC-BFC9-7EDCFA27D455}">
      <dgm:prSet/>
      <dgm:spPr/>
      <dgm:t>
        <a:bodyPr/>
        <a:lstStyle/>
        <a:p>
          <a:endParaRPr lang="en-US"/>
        </a:p>
      </dgm:t>
    </dgm:pt>
    <dgm:pt modelId="{4757942A-0A29-4E07-907A-0E1348D2F2CC}">
      <dgm:prSet phldrT="[Text]"/>
      <dgm:spPr/>
      <dgm:t>
        <a:bodyPr/>
        <a:lstStyle/>
        <a:p>
          <a:r>
            <a:rPr lang="en-US" dirty="0"/>
            <a:t>Indexing tables for fast lookups</a:t>
          </a:r>
        </a:p>
      </dgm:t>
    </dgm:pt>
    <dgm:pt modelId="{9522535E-E153-434F-8012-AEC7EBB5089A}" type="parTrans" cxnId="{74B73838-CAAF-4565-924C-A0173681420D}">
      <dgm:prSet/>
      <dgm:spPr/>
      <dgm:t>
        <a:bodyPr/>
        <a:lstStyle/>
        <a:p>
          <a:endParaRPr lang="en-US"/>
        </a:p>
      </dgm:t>
    </dgm:pt>
    <dgm:pt modelId="{3A83BC47-0A7A-464C-9B1B-44E0499663B8}" type="sibTrans" cxnId="{74B73838-CAAF-4565-924C-A0173681420D}">
      <dgm:prSet/>
      <dgm:spPr/>
      <dgm:t>
        <a:bodyPr/>
        <a:lstStyle/>
        <a:p>
          <a:endParaRPr lang="en-US"/>
        </a:p>
      </dgm:t>
    </dgm:pt>
    <dgm:pt modelId="{BF10CD59-695F-4DA4-A9F3-60AF6B9C9102}">
      <dgm:prSet/>
      <dgm:spPr/>
      <dgm:t>
        <a:bodyPr/>
        <a:lstStyle/>
        <a:p>
          <a:r>
            <a:rPr lang="en-US"/>
            <a:t>Symbol </a:t>
          </a:r>
          <a:r>
            <a:rPr lang="en-US" dirty="0"/>
            <a:t>tables for identifiers</a:t>
          </a:r>
        </a:p>
      </dgm:t>
    </dgm:pt>
    <dgm:pt modelId="{DE7CDC0C-7E2B-43EF-A1D7-880C66843AFF}" type="parTrans" cxnId="{B2CCB14D-5226-413E-AE56-79AB86EE9225}">
      <dgm:prSet/>
      <dgm:spPr/>
      <dgm:t>
        <a:bodyPr/>
        <a:lstStyle/>
        <a:p>
          <a:endParaRPr lang="en-US"/>
        </a:p>
      </dgm:t>
    </dgm:pt>
    <dgm:pt modelId="{5DE8B4CD-658E-43D4-AF73-B40E329A1DC8}" type="sibTrans" cxnId="{B2CCB14D-5226-413E-AE56-79AB86EE9225}">
      <dgm:prSet/>
      <dgm:spPr/>
      <dgm:t>
        <a:bodyPr/>
        <a:lstStyle/>
        <a:p>
          <a:endParaRPr lang="en-US"/>
        </a:p>
      </dgm:t>
    </dgm:pt>
    <dgm:pt modelId="{362FA9B1-8985-424E-BB28-293D24A7E7FA}">
      <dgm:prSet/>
      <dgm:spPr/>
      <dgm:t>
        <a:bodyPr/>
        <a:lstStyle/>
        <a:p>
          <a:r>
            <a:rPr lang="en-US"/>
            <a:t>Caching </a:t>
          </a:r>
          <a:r>
            <a:rPr lang="en-US" dirty="0"/>
            <a:t>DNS lookups</a:t>
          </a:r>
        </a:p>
      </dgm:t>
    </dgm:pt>
    <dgm:pt modelId="{68FAFC0F-A893-4021-8BBF-379CF0710FE9}" type="parTrans" cxnId="{16C139DD-BB23-47C6-9985-69918049599C}">
      <dgm:prSet/>
      <dgm:spPr/>
      <dgm:t>
        <a:bodyPr/>
        <a:lstStyle/>
        <a:p>
          <a:endParaRPr lang="en-US"/>
        </a:p>
      </dgm:t>
    </dgm:pt>
    <dgm:pt modelId="{851980EB-9F95-417D-A5A0-E33ABA0E03D0}" type="sibTrans" cxnId="{16C139DD-BB23-47C6-9985-69918049599C}">
      <dgm:prSet/>
      <dgm:spPr/>
      <dgm:t>
        <a:bodyPr/>
        <a:lstStyle/>
        <a:p>
          <a:endParaRPr lang="en-US"/>
        </a:p>
      </dgm:t>
    </dgm:pt>
    <dgm:pt modelId="{83AD81AC-6759-475D-ADE6-4B9D42904AB9}">
      <dgm:prSet/>
      <dgm:spPr/>
      <dgm:t>
        <a:bodyPr/>
        <a:lstStyle/>
        <a:p>
          <a:r>
            <a:rPr lang="en-US" dirty="0"/>
            <a:t>Password storage (with hashing + salt)</a:t>
          </a:r>
        </a:p>
      </dgm:t>
    </dgm:pt>
    <dgm:pt modelId="{2600D67D-B3EA-4354-9BB4-4DAAD56E33B2}" type="parTrans" cxnId="{BC38B8AA-1B95-4F05-B714-44F1B54E1044}">
      <dgm:prSet/>
      <dgm:spPr/>
      <dgm:t>
        <a:bodyPr/>
        <a:lstStyle/>
        <a:p>
          <a:endParaRPr lang="en-US"/>
        </a:p>
      </dgm:t>
    </dgm:pt>
    <dgm:pt modelId="{888F777E-A14D-4509-A12F-2396A1448D32}" type="sibTrans" cxnId="{BC38B8AA-1B95-4F05-B714-44F1B54E1044}">
      <dgm:prSet/>
      <dgm:spPr/>
      <dgm:t>
        <a:bodyPr/>
        <a:lstStyle/>
        <a:p>
          <a:endParaRPr lang="en-US"/>
        </a:p>
      </dgm:t>
    </dgm:pt>
    <dgm:pt modelId="{FA85E67A-B8B5-438A-B34B-ED2D0D59737C}">
      <dgm:prSet/>
      <dgm:spPr/>
      <dgm:t>
        <a:bodyPr/>
        <a:lstStyle/>
        <a:p>
          <a:r>
            <a:rPr lang="en-US"/>
            <a:t>Shopping </a:t>
          </a:r>
          <a:r>
            <a:rPr lang="en-US" dirty="0"/>
            <a:t>cart lookups by session ID</a:t>
          </a:r>
        </a:p>
      </dgm:t>
    </dgm:pt>
    <dgm:pt modelId="{502C2B5B-2DCD-47B3-AAAD-934887438EBA}" type="parTrans" cxnId="{DDE1724A-4140-45F4-9C27-043AC4E14D36}">
      <dgm:prSet/>
      <dgm:spPr/>
      <dgm:t>
        <a:bodyPr/>
        <a:lstStyle/>
        <a:p>
          <a:endParaRPr lang="en-US"/>
        </a:p>
      </dgm:t>
    </dgm:pt>
    <dgm:pt modelId="{26DA2A6F-177A-4999-9ABE-E1CF6D061AD3}" type="sibTrans" cxnId="{DDE1724A-4140-45F4-9C27-043AC4E14D36}">
      <dgm:prSet/>
      <dgm:spPr/>
      <dgm:t>
        <a:bodyPr/>
        <a:lstStyle/>
        <a:p>
          <a:endParaRPr lang="en-US"/>
        </a:p>
      </dgm:t>
    </dgm:pt>
    <dgm:pt modelId="{46BC3B72-3317-4716-8146-219D60B98489}" type="pres">
      <dgm:prSet presAssocID="{29DD2BC2-FB02-47DF-A6DC-CA2A9F040F10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C2F5987F-F7AF-4579-BF8F-6565F4F015C4}" type="pres">
      <dgm:prSet presAssocID="{DBCB4F17-80A8-4F34-8881-D95112A11C0D}" presName="composite" presStyleCnt="0"/>
      <dgm:spPr/>
    </dgm:pt>
    <dgm:pt modelId="{149F175B-1A12-4229-836C-91E801908170}" type="pres">
      <dgm:prSet presAssocID="{DBCB4F17-80A8-4F34-8881-D95112A11C0D}" presName="FirstChild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D857129B-74F5-4052-AF66-7524BF07412E}" type="pres">
      <dgm:prSet presAssocID="{DBCB4F17-80A8-4F34-8881-D95112A11C0D}" presName="Parent" presStyleLbl="alignNode1" presStyleIdx="0" presStyleCnt="5">
        <dgm:presLayoutVars>
          <dgm:chMax val="3"/>
          <dgm:chPref val="3"/>
          <dgm:bulletEnabled val="1"/>
        </dgm:presLayoutVars>
      </dgm:prSet>
      <dgm:spPr/>
    </dgm:pt>
    <dgm:pt modelId="{617541D8-0F19-4B31-B88E-10F3B1DFB793}" type="pres">
      <dgm:prSet presAssocID="{DBCB4F17-80A8-4F34-8881-D95112A11C0D}" presName="Accent" presStyleLbl="parChTrans1D1" presStyleIdx="0" presStyleCnt="5"/>
      <dgm:spPr/>
    </dgm:pt>
    <dgm:pt modelId="{385685D5-BB86-467B-B921-3514E17FA681}" type="pres">
      <dgm:prSet presAssocID="{03832002-28B0-41C3-8BE0-28E714FDA5F7}" presName="sibTrans" presStyleCnt="0"/>
      <dgm:spPr/>
    </dgm:pt>
    <dgm:pt modelId="{7FD86395-CA7F-47E4-9330-93958E885132}" type="pres">
      <dgm:prSet presAssocID="{DC2B3374-2597-48EC-AF6C-4621152C2BFC}" presName="composite" presStyleCnt="0"/>
      <dgm:spPr/>
    </dgm:pt>
    <dgm:pt modelId="{3585959D-9A17-4596-9DFC-37E0C283D0FC}" type="pres">
      <dgm:prSet presAssocID="{DC2B3374-2597-48EC-AF6C-4621152C2BFC}" presName="FirstChild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6946B8A3-E761-4885-8A0A-4F7C382A85C9}" type="pres">
      <dgm:prSet presAssocID="{DC2B3374-2597-48EC-AF6C-4621152C2BFC}" presName="Parent" presStyleLbl="alignNode1" presStyleIdx="1" presStyleCnt="5">
        <dgm:presLayoutVars>
          <dgm:chMax val="3"/>
          <dgm:chPref val="3"/>
          <dgm:bulletEnabled val="1"/>
        </dgm:presLayoutVars>
      </dgm:prSet>
      <dgm:spPr/>
    </dgm:pt>
    <dgm:pt modelId="{DCD76BFB-DE94-43FA-9C9F-FDB059BE308B}" type="pres">
      <dgm:prSet presAssocID="{DC2B3374-2597-48EC-AF6C-4621152C2BFC}" presName="Accent" presStyleLbl="parChTrans1D1" presStyleIdx="1" presStyleCnt="5"/>
      <dgm:spPr/>
    </dgm:pt>
    <dgm:pt modelId="{D9D6C178-1CDE-4EE3-AED3-1E1C709441A4}" type="pres">
      <dgm:prSet presAssocID="{2BA61AD9-9E5D-4630-97B3-30007BEFB761}" presName="sibTrans" presStyleCnt="0"/>
      <dgm:spPr/>
    </dgm:pt>
    <dgm:pt modelId="{369C85AB-D0EA-4A37-B4C1-7AE9EE3D78DF}" type="pres">
      <dgm:prSet presAssocID="{63218F9A-3B33-4251-A39C-38B12B170A38}" presName="composite" presStyleCnt="0"/>
      <dgm:spPr/>
    </dgm:pt>
    <dgm:pt modelId="{7854AC14-09D2-4687-84D1-1D3CE421E8EE}" type="pres">
      <dgm:prSet presAssocID="{63218F9A-3B33-4251-A39C-38B12B170A38}" presName="FirstChild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75B38E54-15F4-41A2-BDA9-29958F6D7A01}" type="pres">
      <dgm:prSet presAssocID="{63218F9A-3B33-4251-A39C-38B12B170A38}" presName="Parent" presStyleLbl="alignNode1" presStyleIdx="2" presStyleCnt="5">
        <dgm:presLayoutVars>
          <dgm:chMax val="3"/>
          <dgm:chPref val="3"/>
          <dgm:bulletEnabled val="1"/>
        </dgm:presLayoutVars>
      </dgm:prSet>
      <dgm:spPr/>
    </dgm:pt>
    <dgm:pt modelId="{A0C849B2-2C5C-4AA6-8E80-5C4900CA9FBF}" type="pres">
      <dgm:prSet presAssocID="{63218F9A-3B33-4251-A39C-38B12B170A38}" presName="Accent" presStyleLbl="parChTrans1D1" presStyleIdx="2" presStyleCnt="5"/>
      <dgm:spPr/>
    </dgm:pt>
    <dgm:pt modelId="{AE34C6CD-BB3B-45F5-8465-7875049A26AE}" type="pres">
      <dgm:prSet presAssocID="{AFF661EA-0501-40BD-A3EB-656E3731AC2C}" presName="sibTrans" presStyleCnt="0"/>
      <dgm:spPr/>
    </dgm:pt>
    <dgm:pt modelId="{E5EEEA4A-97B4-446C-BC39-2852530B8C9D}" type="pres">
      <dgm:prSet presAssocID="{EEA1D272-0889-447D-974D-FFCDECB02529}" presName="composite" presStyleCnt="0"/>
      <dgm:spPr/>
    </dgm:pt>
    <dgm:pt modelId="{B299504F-964B-45A3-AD1B-98913888EF3B}" type="pres">
      <dgm:prSet presAssocID="{EEA1D272-0889-447D-974D-FFCDECB02529}" presName="FirstChild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AAB3D86D-BE7F-4B15-9389-EE7241B8DACA}" type="pres">
      <dgm:prSet presAssocID="{EEA1D272-0889-447D-974D-FFCDECB02529}" presName="Parent" presStyleLbl="alignNode1" presStyleIdx="3" presStyleCnt="5">
        <dgm:presLayoutVars>
          <dgm:chMax val="3"/>
          <dgm:chPref val="3"/>
          <dgm:bulletEnabled val="1"/>
        </dgm:presLayoutVars>
      </dgm:prSet>
      <dgm:spPr/>
    </dgm:pt>
    <dgm:pt modelId="{76D7C3E1-D1B5-464F-9C4F-5A36C214D5C2}" type="pres">
      <dgm:prSet presAssocID="{EEA1D272-0889-447D-974D-FFCDECB02529}" presName="Accent" presStyleLbl="parChTrans1D1" presStyleIdx="3" presStyleCnt="5"/>
      <dgm:spPr/>
    </dgm:pt>
    <dgm:pt modelId="{98B50416-8384-46D0-BDEE-C7124B50DDB5}" type="pres">
      <dgm:prSet presAssocID="{08564BF1-C629-4798-976E-B39C948A1720}" presName="sibTrans" presStyleCnt="0"/>
      <dgm:spPr/>
    </dgm:pt>
    <dgm:pt modelId="{C46382B2-A20C-4F17-A8E9-1B4CD400953D}" type="pres">
      <dgm:prSet presAssocID="{ADE5BFD4-0254-4212-975C-E0CF41982F66}" presName="composite" presStyleCnt="0"/>
      <dgm:spPr/>
    </dgm:pt>
    <dgm:pt modelId="{061E5984-2FAA-4A4C-9457-C239136E184C}" type="pres">
      <dgm:prSet presAssocID="{ADE5BFD4-0254-4212-975C-E0CF41982F66}" presName="FirstChild" presStyleLbl="revTx" presStyleIdx="4" presStyleCnt="5">
        <dgm:presLayoutVars>
          <dgm:chMax val="0"/>
          <dgm:chPref val="0"/>
          <dgm:bulletEnabled val="1"/>
        </dgm:presLayoutVars>
      </dgm:prSet>
      <dgm:spPr/>
    </dgm:pt>
    <dgm:pt modelId="{895FBA0F-B460-4A5D-A5FE-CBA3F366C711}" type="pres">
      <dgm:prSet presAssocID="{ADE5BFD4-0254-4212-975C-E0CF41982F66}" presName="Parent" presStyleLbl="alignNode1" presStyleIdx="4" presStyleCnt="5">
        <dgm:presLayoutVars>
          <dgm:chMax val="3"/>
          <dgm:chPref val="3"/>
          <dgm:bulletEnabled val="1"/>
        </dgm:presLayoutVars>
      </dgm:prSet>
      <dgm:spPr/>
    </dgm:pt>
    <dgm:pt modelId="{DE0EE049-0E00-4783-9F38-63DFB17FDC81}" type="pres">
      <dgm:prSet presAssocID="{ADE5BFD4-0254-4212-975C-E0CF41982F66}" presName="Accent" presStyleLbl="parChTrans1D1" presStyleIdx="4" presStyleCnt="5"/>
      <dgm:spPr/>
    </dgm:pt>
  </dgm:ptLst>
  <dgm:cxnLst>
    <dgm:cxn modelId="{316DE001-17CA-4E04-8407-90F47A943B3A}" type="presOf" srcId="{BF10CD59-695F-4DA4-A9F3-60AF6B9C9102}" destId="{3585959D-9A17-4596-9DFC-37E0C283D0FC}" srcOrd="0" destOrd="0" presId="urn:microsoft.com/office/officeart/2011/layout/TabList"/>
    <dgm:cxn modelId="{BD6E5903-2009-435C-90CF-B5CB046B2856}" srcId="{29DD2BC2-FB02-47DF-A6DC-CA2A9F040F10}" destId="{EEA1D272-0889-447D-974D-FFCDECB02529}" srcOrd="3" destOrd="0" parTransId="{5C627A57-694D-4F4D-A8C5-1F18174EF97B}" sibTransId="{08564BF1-C629-4798-976E-B39C948A1720}"/>
    <dgm:cxn modelId="{178DAC09-DF82-4221-B83A-D10641961DAB}" type="presOf" srcId="{FA85E67A-B8B5-438A-B34B-ED2D0D59737C}" destId="{061E5984-2FAA-4A4C-9457-C239136E184C}" srcOrd="0" destOrd="0" presId="urn:microsoft.com/office/officeart/2011/layout/TabList"/>
    <dgm:cxn modelId="{71594212-9D43-4CD4-9BFF-2A6F1A28AA74}" srcId="{29DD2BC2-FB02-47DF-A6DC-CA2A9F040F10}" destId="{DC2B3374-2597-48EC-AF6C-4621152C2BFC}" srcOrd="1" destOrd="0" parTransId="{8472F2E7-05A5-4CD5-94F9-66A2D76B9AE0}" sibTransId="{2BA61AD9-9E5D-4630-97B3-30007BEFB761}"/>
    <dgm:cxn modelId="{74B73838-CAAF-4565-924C-A0173681420D}" srcId="{DBCB4F17-80A8-4F34-8881-D95112A11C0D}" destId="{4757942A-0A29-4E07-907A-0E1348D2F2CC}" srcOrd="0" destOrd="0" parTransId="{9522535E-E153-434F-8012-AEC7EBB5089A}" sibTransId="{3A83BC47-0A7A-464C-9B1B-44E0499663B8}"/>
    <dgm:cxn modelId="{2D8B443F-5210-4943-9755-29A96825EE50}" srcId="{29DD2BC2-FB02-47DF-A6DC-CA2A9F040F10}" destId="{DBCB4F17-80A8-4F34-8881-D95112A11C0D}" srcOrd="0" destOrd="0" parTransId="{C8BE013A-B402-4048-954B-F78CBF49E829}" sibTransId="{03832002-28B0-41C3-8BE0-28E714FDA5F7}"/>
    <dgm:cxn modelId="{DDE1724A-4140-45F4-9C27-043AC4E14D36}" srcId="{ADE5BFD4-0254-4212-975C-E0CF41982F66}" destId="{FA85E67A-B8B5-438A-B34B-ED2D0D59737C}" srcOrd="0" destOrd="0" parTransId="{502C2B5B-2DCD-47B3-AAAD-934887438EBA}" sibTransId="{26DA2A6F-177A-4999-9ABE-E1CF6D061AD3}"/>
    <dgm:cxn modelId="{EB2F7A4A-A4E1-4950-997E-6FDAFB223B4C}" type="presOf" srcId="{4757942A-0A29-4E07-907A-0E1348D2F2CC}" destId="{149F175B-1A12-4229-836C-91E801908170}" srcOrd="0" destOrd="0" presId="urn:microsoft.com/office/officeart/2011/layout/TabList"/>
    <dgm:cxn modelId="{B2CCB14D-5226-413E-AE56-79AB86EE9225}" srcId="{DC2B3374-2597-48EC-AF6C-4621152C2BFC}" destId="{BF10CD59-695F-4DA4-A9F3-60AF6B9C9102}" srcOrd="0" destOrd="0" parTransId="{DE7CDC0C-7E2B-43EF-A1D7-880C66843AFF}" sibTransId="{5DE8B4CD-658E-43D4-AF73-B40E329A1DC8}"/>
    <dgm:cxn modelId="{87CBBD73-2CB4-48CA-9520-E13FD80024F8}" type="presOf" srcId="{DBCB4F17-80A8-4F34-8881-D95112A11C0D}" destId="{D857129B-74F5-4052-AF66-7524BF07412E}" srcOrd="0" destOrd="0" presId="urn:microsoft.com/office/officeart/2011/layout/TabList"/>
    <dgm:cxn modelId="{D9A2AB74-ECD3-4E32-9F38-2C67FF48DF9D}" type="presOf" srcId="{362FA9B1-8985-424E-BB28-293D24A7E7FA}" destId="{7854AC14-09D2-4687-84D1-1D3CE421E8EE}" srcOrd="0" destOrd="0" presId="urn:microsoft.com/office/officeart/2011/layout/TabList"/>
    <dgm:cxn modelId="{FF277956-EEBE-4737-A032-2035C7E2B28F}" type="presOf" srcId="{63218F9A-3B33-4251-A39C-38B12B170A38}" destId="{75B38E54-15F4-41A2-BDA9-29958F6D7A01}" srcOrd="0" destOrd="0" presId="urn:microsoft.com/office/officeart/2011/layout/TabList"/>
    <dgm:cxn modelId="{AF75C678-9FFA-4704-9DCA-78250D2E61A1}" type="presOf" srcId="{DC2B3374-2597-48EC-AF6C-4621152C2BFC}" destId="{6946B8A3-E761-4885-8A0A-4F7C382A85C9}" srcOrd="0" destOrd="0" presId="urn:microsoft.com/office/officeart/2011/layout/TabList"/>
    <dgm:cxn modelId="{87046E59-5353-4F74-BC7B-E249C440546C}" type="presOf" srcId="{ADE5BFD4-0254-4212-975C-E0CF41982F66}" destId="{895FBA0F-B460-4A5D-A5FE-CBA3F366C711}" srcOrd="0" destOrd="0" presId="urn:microsoft.com/office/officeart/2011/layout/TabList"/>
    <dgm:cxn modelId="{AFE83F94-A3D2-40CC-BFC9-7EDCFA27D455}" srcId="{29DD2BC2-FB02-47DF-A6DC-CA2A9F040F10}" destId="{ADE5BFD4-0254-4212-975C-E0CF41982F66}" srcOrd="4" destOrd="0" parTransId="{CC8666C7-8117-41C7-859B-20E721FB21D0}" sibTransId="{0AD14731-65D6-49EE-9B6F-A67C3B695EFE}"/>
    <dgm:cxn modelId="{144DC2A0-E92A-4A31-9A7F-08DEA8D5F033}" type="presOf" srcId="{EEA1D272-0889-447D-974D-FFCDECB02529}" destId="{AAB3D86D-BE7F-4B15-9389-EE7241B8DACA}" srcOrd="0" destOrd="0" presId="urn:microsoft.com/office/officeart/2011/layout/TabList"/>
    <dgm:cxn modelId="{BC38B8AA-1B95-4F05-B714-44F1B54E1044}" srcId="{EEA1D272-0889-447D-974D-FFCDECB02529}" destId="{83AD81AC-6759-475D-ADE6-4B9D42904AB9}" srcOrd="0" destOrd="0" parTransId="{2600D67D-B3EA-4354-9BB4-4DAAD56E33B2}" sibTransId="{888F777E-A14D-4509-A12F-2396A1448D32}"/>
    <dgm:cxn modelId="{16C139DD-BB23-47C6-9985-69918049599C}" srcId="{63218F9A-3B33-4251-A39C-38B12B170A38}" destId="{362FA9B1-8985-424E-BB28-293D24A7E7FA}" srcOrd="0" destOrd="0" parTransId="{68FAFC0F-A893-4021-8BBF-379CF0710FE9}" sibTransId="{851980EB-9F95-417D-A5A0-E33ABA0E03D0}"/>
    <dgm:cxn modelId="{0CFA05DF-F2AC-4E3E-B6B5-D16B40DFB481}" type="presOf" srcId="{29DD2BC2-FB02-47DF-A6DC-CA2A9F040F10}" destId="{46BC3B72-3317-4716-8146-219D60B98489}" srcOrd="0" destOrd="0" presId="urn:microsoft.com/office/officeart/2011/layout/TabList"/>
    <dgm:cxn modelId="{3AA974E9-8D50-42EE-8536-BC2C0DB2BABB}" srcId="{29DD2BC2-FB02-47DF-A6DC-CA2A9F040F10}" destId="{63218F9A-3B33-4251-A39C-38B12B170A38}" srcOrd="2" destOrd="0" parTransId="{47C5D337-F22B-4686-8093-AE4337F15AE8}" sibTransId="{AFF661EA-0501-40BD-A3EB-656E3731AC2C}"/>
    <dgm:cxn modelId="{81CF42FD-44AB-47CA-96E7-677B2A627AA5}" type="presOf" srcId="{83AD81AC-6759-475D-ADE6-4B9D42904AB9}" destId="{B299504F-964B-45A3-AD1B-98913888EF3B}" srcOrd="0" destOrd="0" presId="urn:microsoft.com/office/officeart/2011/layout/TabList"/>
    <dgm:cxn modelId="{8F68FEC1-6085-4EF0-A2F2-E2D98F5C658A}" type="presParOf" srcId="{46BC3B72-3317-4716-8146-219D60B98489}" destId="{C2F5987F-F7AF-4579-BF8F-6565F4F015C4}" srcOrd="0" destOrd="0" presId="urn:microsoft.com/office/officeart/2011/layout/TabList"/>
    <dgm:cxn modelId="{40AC0063-09DD-4B20-ACAE-9F54AB2E463C}" type="presParOf" srcId="{C2F5987F-F7AF-4579-BF8F-6565F4F015C4}" destId="{149F175B-1A12-4229-836C-91E801908170}" srcOrd="0" destOrd="0" presId="urn:microsoft.com/office/officeart/2011/layout/TabList"/>
    <dgm:cxn modelId="{76289553-5C06-4644-ACF1-14ED64439D13}" type="presParOf" srcId="{C2F5987F-F7AF-4579-BF8F-6565F4F015C4}" destId="{D857129B-74F5-4052-AF66-7524BF07412E}" srcOrd="1" destOrd="0" presId="urn:microsoft.com/office/officeart/2011/layout/TabList"/>
    <dgm:cxn modelId="{1DE13D28-1851-429A-A745-809CA539CC08}" type="presParOf" srcId="{C2F5987F-F7AF-4579-BF8F-6565F4F015C4}" destId="{617541D8-0F19-4B31-B88E-10F3B1DFB793}" srcOrd="2" destOrd="0" presId="urn:microsoft.com/office/officeart/2011/layout/TabList"/>
    <dgm:cxn modelId="{1F9EE8FF-4A69-43EF-9B96-089C5E986ECD}" type="presParOf" srcId="{46BC3B72-3317-4716-8146-219D60B98489}" destId="{385685D5-BB86-467B-B921-3514E17FA681}" srcOrd="1" destOrd="0" presId="urn:microsoft.com/office/officeart/2011/layout/TabList"/>
    <dgm:cxn modelId="{F4257281-FE90-4016-BF7C-86E422935C62}" type="presParOf" srcId="{46BC3B72-3317-4716-8146-219D60B98489}" destId="{7FD86395-CA7F-47E4-9330-93958E885132}" srcOrd="2" destOrd="0" presId="urn:microsoft.com/office/officeart/2011/layout/TabList"/>
    <dgm:cxn modelId="{FF99864E-9DBA-4D71-9F02-0F5CB12A61CD}" type="presParOf" srcId="{7FD86395-CA7F-47E4-9330-93958E885132}" destId="{3585959D-9A17-4596-9DFC-37E0C283D0FC}" srcOrd="0" destOrd="0" presId="urn:microsoft.com/office/officeart/2011/layout/TabList"/>
    <dgm:cxn modelId="{6606A5EB-CBBD-4B47-B6D3-16F752F0F12C}" type="presParOf" srcId="{7FD86395-CA7F-47E4-9330-93958E885132}" destId="{6946B8A3-E761-4885-8A0A-4F7C382A85C9}" srcOrd="1" destOrd="0" presId="urn:microsoft.com/office/officeart/2011/layout/TabList"/>
    <dgm:cxn modelId="{28E481BE-4814-49EE-AA6B-21E9E97F4618}" type="presParOf" srcId="{7FD86395-CA7F-47E4-9330-93958E885132}" destId="{DCD76BFB-DE94-43FA-9C9F-FDB059BE308B}" srcOrd="2" destOrd="0" presId="urn:microsoft.com/office/officeart/2011/layout/TabList"/>
    <dgm:cxn modelId="{F0CA90C5-06E7-49A1-8B8E-44B024971C33}" type="presParOf" srcId="{46BC3B72-3317-4716-8146-219D60B98489}" destId="{D9D6C178-1CDE-4EE3-AED3-1E1C709441A4}" srcOrd="3" destOrd="0" presId="urn:microsoft.com/office/officeart/2011/layout/TabList"/>
    <dgm:cxn modelId="{2636D9E6-E5C9-4726-B071-FE35A803C6CB}" type="presParOf" srcId="{46BC3B72-3317-4716-8146-219D60B98489}" destId="{369C85AB-D0EA-4A37-B4C1-7AE9EE3D78DF}" srcOrd="4" destOrd="0" presId="urn:microsoft.com/office/officeart/2011/layout/TabList"/>
    <dgm:cxn modelId="{B2AB3ADD-A0BE-484C-B401-91B5928B7ED2}" type="presParOf" srcId="{369C85AB-D0EA-4A37-B4C1-7AE9EE3D78DF}" destId="{7854AC14-09D2-4687-84D1-1D3CE421E8EE}" srcOrd="0" destOrd="0" presId="urn:microsoft.com/office/officeart/2011/layout/TabList"/>
    <dgm:cxn modelId="{4ACFCAF3-6569-4DA1-8AF0-550B808F491B}" type="presParOf" srcId="{369C85AB-D0EA-4A37-B4C1-7AE9EE3D78DF}" destId="{75B38E54-15F4-41A2-BDA9-29958F6D7A01}" srcOrd="1" destOrd="0" presId="urn:microsoft.com/office/officeart/2011/layout/TabList"/>
    <dgm:cxn modelId="{2F69FE76-F898-4063-8A76-EDBBB88A0E9A}" type="presParOf" srcId="{369C85AB-D0EA-4A37-B4C1-7AE9EE3D78DF}" destId="{A0C849B2-2C5C-4AA6-8E80-5C4900CA9FBF}" srcOrd="2" destOrd="0" presId="urn:microsoft.com/office/officeart/2011/layout/TabList"/>
    <dgm:cxn modelId="{9F8A4DA1-F2CA-4232-A537-180476355950}" type="presParOf" srcId="{46BC3B72-3317-4716-8146-219D60B98489}" destId="{AE34C6CD-BB3B-45F5-8465-7875049A26AE}" srcOrd="5" destOrd="0" presId="urn:microsoft.com/office/officeart/2011/layout/TabList"/>
    <dgm:cxn modelId="{F0EBE403-D5AC-41AC-BFF3-3835CD5BED94}" type="presParOf" srcId="{46BC3B72-3317-4716-8146-219D60B98489}" destId="{E5EEEA4A-97B4-446C-BC39-2852530B8C9D}" srcOrd="6" destOrd="0" presId="urn:microsoft.com/office/officeart/2011/layout/TabList"/>
    <dgm:cxn modelId="{F7759622-36D4-4B96-B8C9-913DAAFCD171}" type="presParOf" srcId="{E5EEEA4A-97B4-446C-BC39-2852530B8C9D}" destId="{B299504F-964B-45A3-AD1B-98913888EF3B}" srcOrd="0" destOrd="0" presId="urn:microsoft.com/office/officeart/2011/layout/TabList"/>
    <dgm:cxn modelId="{9E4568FE-D751-4C76-9053-BD45F8478805}" type="presParOf" srcId="{E5EEEA4A-97B4-446C-BC39-2852530B8C9D}" destId="{AAB3D86D-BE7F-4B15-9389-EE7241B8DACA}" srcOrd="1" destOrd="0" presId="urn:microsoft.com/office/officeart/2011/layout/TabList"/>
    <dgm:cxn modelId="{B3FB3166-775A-484F-9816-CEEEDACC3CBF}" type="presParOf" srcId="{E5EEEA4A-97B4-446C-BC39-2852530B8C9D}" destId="{76D7C3E1-D1B5-464F-9C4F-5A36C214D5C2}" srcOrd="2" destOrd="0" presId="urn:microsoft.com/office/officeart/2011/layout/TabList"/>
    <dgm:cxn modelId="{09116EC3-DE2F-4417-ADFD-2B3C3F7DEB29}" type="presParOf" srcId="{46BC3B72-3317-4716-8146-219D60B98489}" destId="{98B50416-8384-46D0-BDEE-C7124B50DDB5}" srcOrd="7" destOrd="0" presId="urn:microsoft.com/office/officeart/2011/layout/TabList"/>
    <dgm:cxn modelId="{CC869A33-10BB-4E79-A713-5B388EF2A96A}" type="presParOf" srcId="{46BC3B72-3317-4716-8146-219D60B98489}" destId="{C46382B2-A20C-4F17-A8E9-1B4CD400953D}" srcOrd="8" destOrd="0" presId="urn:microsoft.com/office/officeart/2011/layout/TabList"/>
    <dgm:cxn modelId="{C88711FA-43B0-43D4-8F9A-3CC1454A83CF}" type="presParOf" srcId="{C46382B2-A20C-4F17-A8E9-1B4CD400953D}" destId="{061E5984-2FAA-4A4C-9457-C239136E184C}" srcOrd="0" destOrd="0" presId="urn:microsoft.com/office/officeart/2011/layout/TabList"/>
    <dgm:cxn modelId="{F5DD0EA8-48F4-4CA6-82D2-A364D4D58071}" type="presParOf" srcId="{C46382B2-A20C-4F17-A8E9-1B4CD400953D}" destId="{895FBA0F-B460-4A5D-A5FE-CBA3F366C711}" srcOrd="1" destOrd="0" presId="urn:microsoft.com/office/officeart/2011/layout/TabList"/>
    <dgm:cxn modelId="{27B90F2A-59C5-4C31-80CE-6DB1625C0A49}" type="presParOf" srcId="{C46382B2-A20C-4F17-A8E9-1B4CD400953D}" destId="{DE0EE049-0E00-4783-9F38-63DFB17FDC81}" srcOrd="2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506554-5869-40F0-8A4A-D94182EFE5B6}">
      <dsp:nvSpPr>
        <dsp:cNvPr id="0" name=""/>
        <dsp:cNvSpPr/>
      </dsp:nvSpPr>
      <dsp:spPr>
        <a:xfrm>
          <a:off x="20" y="145915"/>
          <a:ext cx="2000130" cy="691200"/>
        </a:xfrm>
        <a:prstGeom prst="rect">
          <a:avLst/>
        </a:prstGeom>
        <a:solidFill>
          <a:srgbClr val="00B050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Pros</a:t>
          </a:r>
        </a:p>
      </dsp:txBody>
      <dsp:txXfrm>
        <a:off x="20" y="145915"/>
        <a:ext cx="2000130" cy="691200"/>
      </dsp:txXfrm>
    </dsp:sp>
    <dsp:sp modelId="{35E7EAAF-255C-4FE1-B8D3-7723BA908565}">
      <dsp:nvSpPr>
        <dsp:cNvPr id="0" name=""/>
        <dsp:cNvSpPr/>
      </dsp:nvSpPr>
      <dsp:spPr>
        <a:xfrm>
          <a:off x="20" y="837115"/>
          <a:ext cx="2000130" cy="138348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Simple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memory efficient.</a:t>
          </a:r>
        </a:p>
      </dsp:txBody>
      <dsp:txXfrm>
        <a:off x="20" y="837115"/>
        <a:ext cx="2000130" cy="1383480"/>
      </dsp:txXfrm>
    </dsp:sp>
    <dsp:sp modelId="{F01C6766-0CAD-4EAB-9ECA-BB929E608DFF}">
      <dsp:nvSpPr>
        <dsp:cNvPr id="0" name=""/>
        <dsp:cNvSpPr/>
      </dsp:nvSpPr>
      <dsp:spPr>
        <a:xfrm>
          <a:off x="2280170" y="145915"/>
          <a:ext cx="2000130" cy="691200"/>
        </a:xfrm>
        <a:prstGeom prst="rect">
          <a:avLst/>
        </a:prstGeom>
        <a:solidFill>
          <a:srgbClr val="C00000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Cons</a:t>
          </a:r>
        </a:p>
      </dsp:txBody>
      <dsp:txXfrm>
        <a:off x="2280170" y="145915"/>
        <a:ext cx="2000130" cy="691200"/>
      </dsp:txXfrm>
    </dsp:sp>
    <dsp:sp modelId="{77B30D20-4B1C-4DA5-97B1-1960F0E6D6E1}">
      <dsp:nvSpPr>
        <dsp:cNvPr id="0" name=""/>
        <dsp:cNvSpPr/>
      </dsp:nvSpPr>
      <dsp:spPr>
        <a:xfrm>
          <a:off x="2280170" y="837115"/>
          <a:ext cx="2000130" cy="138348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Clustering: long runs of filled slots.</a:t>
          </a:r>
        </a:p>
      </dsp:txBody>
      <dsp:txXfrm>
        <a:off x="2280170" y="837115"/>
        <a:ext cx="2000130" cy="13834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506554-5869-40F0-8A4A-D94182EFE5B6}">
      <dsp:nvSpPr>
        <dsp:cNvPr id="0" name=""/>
        <dsp:cNvSpPr/>
      </dsp:nvSpPr>
      <dsp:spPr>
        <a:xfrm>
          <a:off x="20" y="114291"/>
          <a:ext cx="2000130" cy="547200"/>
        </a:xfrm>
        <a:prstGeom prst="rect">
          <a:avLst/>
        </a:prstGeom>
        <a:solidFill>
          <a:srgbClr val="00B050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Pros</a:t>
          </a:r>
        </a:p>
      </dsp:txBody>
      <dsp:txXfrm>
        <a:off x="20" y="114291"/>
        <a:ext cx="2000130" cy="547200"/>
      </dsp:txXfrm>
    </dsp:sp>
    <dsp:sp modelId="{35E7EAAF-255C-4FE1-B8D3-7723BA908565}">
      <dsp:nvSpPr>
        <dsp:cNvPr id="0" name=""/>
        <dsp:cNvSpPr/>
      </dsp:nvSpPr>
      <dsp:spPr>
        <a:xfrm>
          <a:off x="20" y="661491"/>
          <a:ext cx="2000130" cy="159072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Simple, avoids probing, table never “fills up” (only grows in chains).</a:t>
          </a:r>
        </a:p>
      </dsp:txBody>
      <dsp:txXfrm>
        <a:off x="20" y="661491"/>
        <a:ext cx="2000130" cy="1590727"/>
      </dsp:txXfrm>
    </dsp:sp>
    <dsp:sp modelId="{39DDA7C3-897C-4414-B14D-EFF4ECC71D46}">
      <dsp:nvSpPr>
        <dsp:cNvPr id="0" name=""/>
        <dsp:cNvSpPr/>
      </dsp:nvSpPr>
      <dsp:spPr>
        <a:xfrm>
          <a:off x="2280170" y="114291"/>
          <a:ext cx="2000130" cy="547200"/>
        </a:xfrm>
        <a:prstGeom prst="rect">
          <a:avLst/>
        </a:prstGeom>
        <a:solidFill>
          <a:srgbClr val="C00000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Cons</a:t>
          </a:r>
        </a:p>
      </dsp:txBody>
      <dsp:txXfrm>
        <a:off x="2280170" y="114291"/>
        <a:ext cx="2000130" cy="547200"/>
      </dsp:txXfrm>
    </dsp:sp>
    <dsp:sp modelId="{EF917B9E-E41E-40C7-ACC4-A66AF9C87D0A}">
      <dsp:nvSpPr>
        <dsp:cNvPr id="0" name=""/>
        <dsp:cNvSpPr/>
      </dsp:nvSpPr>
      <dsp:spPr>
        <a:xfrm>
          <a:off x="2280170" y="661491"/>
          <a:ext cx="2000130" cy="159072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Extra </a:t>
          </a:r>
          <a:r>
            <a:rPr lang="en-US" sz="1900" kern="1200" dirty="0"/>
            <a:t>memory for pointers; performance drops if chains grow too long.</a:t>
          </a:r>
        </a:p>
      </dsp:txBody>
      <dsp:txXfrm>
        <a:off x="2280170" y="661491"/>
        <a:ext cx="2000130" cy="159072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0EE049-0E00-4783-9F38-63DFB17FDC81}">
      <dsp:nvSpPr>
        <dsp:cNvPr id="0" name=""/>
        <dsp:cNvSpPr/>
      </dsp:nvSpPr>
      <dsp:spPr>
        <a:xfrm>
          <a:off x="0" y="3481029"/>
          <a:ext cx="11048436" cy="0"/>
        </a:xfrm>
        <a:prstGeom prst="line">
          <a:avLst/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D7C3E1-D1B5-464F-9C4F-5A36C214D5C2}">
      <dsp:nvSpPr>
        <dsp:cNvPr id="0" name=""/>
        <dsp:cNvSpPr/>
      </dsp:nvSpPr>
      <dsp:spPr>
        <a:xfrm>
          <a:off x="0" y="2778622"/>
          <a:ext cx="11048436" cy="0"/>
        </a:xfrm>
        <a:prstGeom prst="line">
          <a:avLst/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C849B2-2C5C-4AA6-8E80-5C4900CA9FBF}">
      <dsp:nvSpPr>
        <dsp:cNvPr id="0" name=""/>
        <dsp:cNvSpPr/>
      </dsp:nvSpPr>
      <dsp:spPr>
        <a:xfrm>
          <a:off x="0" y="2076215"/>
          <a:ext cx="11048436" cy="0"/>
        </a:xfrm>
        <a:prstGeom prst="line">
          <a:avLst/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D76BFB-DE94-43FA-9C9F-FDB059BE308B}">
      <dsp:nvSpPr>
        <dsp:cNvPr id="0" name=""/>
        <dsp:cNvSpPr/>
      </dsp:nvSpPr>
      <dsp:spPr>
        <a:xfrm>
          <a:off x="0" y="1373807"/>
          <a:ext cx="11048436" cy="0"/>
        </a:xfrm>
        <a:prstGeom prst="line">
          <a:avLst/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7541D8-0F19-4B31-B88E-10F3B1DFB793}">
      <dsp:nvSpPr>
        <dsp:cNvPr id="0" name=""/>
        <dsp:cNvSpPr/>
      </dsp:nvSpPr>
      <dsp:spPr>
        <a:xfrm>
          <a:off x="0" y="671400"/>
          <a:ext cx="11048436" cy="0"/>
        </a:xfrm>
        <a:prstGeom prst="line">
          <a:avLst/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9F175B-1A12-4229-836C-91E801908170}">
      <dsp:nvSpPr>
        <dsp:cNvPr id="0" name=""/>
        <dsp:cNvSpPr/>
      </dsp:nvSpPr>
      <dsp:spPr>
        <a:xfrm>
          <a:off x="2872593" y="2441"/>
          <a:ext cx="8175842" cy="6689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75" tIns="66675" rIns="66675" bIns="66675" numCol="1" spcCol="1270" anchor="b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Indexing tables for fast lookups</a:t>
          </a:r>
        </a:p>
      </dsp:txBody>
      <dsp:txXfrm>
        <a:off x="2872593" y="2441"/>
        <a:ext cx="8175842" cy="668959"/>
      </dsp:txXfrm>
    </dsp:sp>
    <dsp:sp modelId="{D857129B-74F5-4052-AF66-7524BF07412E}">
      <dsp:nvSpPr>
        <dsp:cNvPr id="0" name=""/>
        <dsp:cNvSpPr/>
      </dsp:nvSpPr>
      <dsp:spPr>
        <a:xfrm>
          <a:off x="0" y="2441"/>
          <a:ext cx="2872593" cy="668959"/>
        </a:xfrm>
        <a:prstGeom prst="round2SameRect">
          <a:avLst>
            <a:gd name="adj1" fmla="val 16670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66675" rIns="66675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Databases</a:t>
          </a:r>
        </a:p>
      </dsp:txBody>
      <dsp:txXfrm>
        <a:off x="32662" y="35103"/>
        <a:ext cx="2807269" cy="636297"/>
      </dsp:txXfrm>
    </dsp:sp>
    <dsp:sp modelId="{3585959D-9A17-4596-9DFC-37E0C283D0FC}">
      <dsp:nvSpPr>
        <dsp:cNvPr id="0" name=""/>
        <dsp:cNvSpPr/>
      </dsp:nvSpPr>
      <dsp:spPr>
        <a:xfrm>
          <a:off x="2872593" y="704848"/>
          <a:ext cx="8175842" cy="6689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75" tIns="66675" rIns="66675" bIns="66675" numCol="1" spcCol="1270" anchor="b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Symbol </a:t>
          </a:r>
          <a:r>
            <a:rPr lang="en-US" sz="3500" kern="1200" dirty="0"/>
            <a:t>tables for identifiers</a:t>
          </a:r>
        </a:p>
      </dsp:txBody>
      <dsp:txXfrm>
        <a:off x="2872593" y="704848"/>
        <a:ext cx="8175842" cy="668959"/>
      </dsp:txXfrm>
    </dsp:sp>
    <dsp:sp modelId="{6946B8A3-E761-4885-8A0A-4F7C382A85C9}">
      <dsp:nvSpPr>
        <dsp:cNvPr id="0" name=""/>
        <dsp:cNvSpPr/>
      </dsp:nvSpPr>
      <dsp:spPr>
        <a:xfrm>
          <a:off x="0" y="704848"/>
          <a:ext cx="2872593" cy="668959"/>
        </a:xfrm>
        <a:prstGeom prst="round2SameRect">
          <a:avLst>
            <a:gd name="adj1" fmla="val 16670"/>
            <a:gd name="adj2" fmla="val 0"/>
          </a:avLst>
        </a:prstGeom>
        <a:solidFill>
          <a:schemeClr val="accent5">
            <a:hueOff val="-1838336"/>
            <a:satOff val="-2557"/>
            <a:lumOff val="-981"/>
            <a:alphaOff val="0"/>
          </a:schemeClr>
        </a:solidFill>
        <a:ln w="12700" cap="flat" cmpd="sng" algn="ctr">
          <a:solidFill>
            <a:schemeClr val="accent5">
              <a:hueOff val="-1838336"/>
              <a:satOff val="-2557"/>
              <a:lumOff val="-98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66675" rIns="66675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Compilers</a:t>
          </a:r>
        </a:p>
      </dsp:txBody>
      <dsp:txXfrm>
        <a:off x="32662" y="737510"/>
        <a:ext cx="2807269" cy="636297"/>
      </dsp:txXfrm>
    </dsp:sp>
    <dsp:sp modelId="{7854AC14-09D2-4687-84D1-1D3CE421E8EE}">
      <dsp:nvSpPr>
        <dsp:cNvPr id="0" name=""/>
        <dsp:cNvSpPr/>
      </dsp:nvSpPr>
      <dsp:spPr>
        <a:xfrm>
          <a:off x="2872593" y="1407255"/>
          <a:ext cx="8175842" cy="6689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75" tIns="66675" rIns="66675" bIns="66675" numCol="1" spcCol="1270" anchor="b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Caching </a:t>
          </a:r>
          <a:r>
            <a:rPr lang="en-US" sz="3500" kern="1200" dirty="0"/>
            <a:t>DNS lookups</a:t>
          </a:r>
        </a:p>
      </dsp:txBody>
      <dsp:txXfrm>
        <a:off x="2872593" y="1407255"/>
        <a:ext cx="8175842" cy="668959"/>
      </dsp:txXfrm>
    </dsp:sp>
    <dsp:sp modelId="{75B38E54-15F4-41A2-BDA9-29958F6D7A01}">
      <dsp:nvSpPr>
        <dsp:cNvPr id="0" name=""/>
        <dsp:cNvSpPr/>
      </dsp:nvSpPr>
      <dsp:spPr>
        <a:xfrm>
          <a:off x="0" y="1407255"/>
          <a:ext cx="2872593" cy="668959"/>
        </a:xfrm>
        <a:prstGeom prst="round2SameRect">
          <a:avLst>
            <a:gd name="adj1" fmla="val 16670"/>
            <a:gd name="adj2" fmla="val 0"/>
          </a:avLst>
        </a:prstGeom>
        <a:solidFill>
          <a:schemeClr val="accent5">
            <a:hueOff val="-3676672"/>
            <a:satOff val="-5114"/>
            <a:lumOff val="-1961"/>
            <a:alphaOff val="0"/>
          </a:schemeClr>
        </a:solidFill>
        <a:ln w="12700" cap="flat" cmpd="sng" algn="ctr">
          <a:solidFill>
            <a:schemeClr val="accent5">
              <a:hueOff val="-3676672"/>
              <a:satOff val="-5114"/>
              <a:lumOff val="-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66675" rIns="66675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Web browsers</a:t>
          </a:r>
        </a:p>
      </dsp:txBody>
      <dsp:txXfrm>
        <a:off x="32662" y="1439917"/>
        <a:ext cx="2807269" cy="636297"/>
      </dsp:txXfrm>
    </dsp:sp>
    <dsp:sp modelId="{B299504F-964B-45A3-AD1B-98913888EF3B}">
      <dsp:nvSpPr>
        <dsp:cNvPr id="0" name=""/>
        <dsp:cNvSpPr/>
      </dsp:nvSpPr>
      <dsp:spPr>
        <a:xfrm>
          <a:off x="2872593" y="2109663"/>
          <a:ext cx="8175842" cy="6689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75" tIns="66675" rIns="66675" bIns="66675" numCol="1" spcCol="1270" anchor="b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Password storage (with hashing + salt)</a:t>
          </a:r>
        </a:p>
      </dsp:txBody>
      <dsp:txXfrm>
        <a:off x="2872593" y="2109663"/>
        <a:ext cx="8175842" cy="668959"/>
      </dsp:txXfrm>
    </dsp:sp>
    <dsp:sp modelId="{AAB3D86D-BE7F-4B15-9389-EE7241B8DACA}">
      <dsp:nvSpPr>
        <dsp:cNvPr id="0" name=""/>
        <dsp:cNvSpPr/>
      </dsp:nvSpPr>
      <dsp:spPr>
        <a:xfrm>
          <a:off x="0" y="2109663"/>
          <a:ext cx="2872593" cy="668959"/>
        </a:xfrm>
        <a:prstGeom prst="round2SameRect">
          <a:avLst>
            <a:gd name="adj1" fmla="val 16670"/>
            <a:gd name="adj2" fmla="val 0"/>
          </a:avLst>
        </a:prstGeom>
        <a:solidFill>
          <a:schemeClr val="accent5">
            <a:hueOff val="-5515009"/>
            <a:satOff val="-7671"/>
            <a:lumOff val="-2942"/>
            <a:alphaOff val="0"/>
          </a:schemeClr>
        </a:solidFill>
        <a:ln w="12700" cap="flat" cmpd="sng" algn="ctr">
          <a:solidFill>
            <a:schemeClr val="accent5">
              <a:hueOff val="-5515009"/>
              <a:satOff val="-7671"/>
              <a:lumOff val="-294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66675" rIns="66675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Cybersecurity</a:t>
          </a:r>
        </a:p>
      </dsp:txBody>
      <dsp:txXfrm>
        <a:off x="32662" y="2142325"/>
        <a:ext cx="2807269" cy="636297"/>
      </dsp:txXfrm>
    </dsp:sp>
    <dsp:sp modelId="{061E5984-2FAA-4A4C-9457-C239136E184C}">
      <dsp:nvSpPr>
        <dsp:cNvPr id="0" name=""/>
        <dsp:cNvSpPr/>
      </dsp:nvSpPr>
      <dsp:spPr>
        <a:xfrm>
          <a:off x="2872593" y="2812070"/>
          <a:ext cx="8175842" cy="6689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75" tIns="66675" rIns="66675" bIns="66675" numCol="1" spcCol="1270" anchor="b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Shopping </a:t>
          </a:r>
          <a:r>
            <a:rPr lang="en-US" sz="3500" kern="1200" dirty="0"/>
            <a:t>cart lookups by session ID</a:t>
          </a:r>
        </a:p>
      </dsp:txBody>
      <dsp:txXfrm>
        <a:off x="2872593" y="2812070"/>
        <a:ext cx="8175842" cy="668959"/>
      </dsp:txXfrm>
    </dsp:sp>
    <dsp:sp modelId="{895FBA0F-B460-4A5D-A5FE-CBA3F366C711}">
      <dsp:nvSpPr>
        <dsp:cNvPr id="0" name=""/>
        <dsp:cNvSpPr/>
      </dsp:nvSpPr>
      <dsp:spPr>
        <a:xfrm>
          <a:off x="0" y="2812070"/>
          <a:ext cx="2872593" cy="668959"/>
        </a:xfrm>
        <a:prstGeom prst="round2SameRect">
          <a:avLst>
            <a:gd name="adj1" fmla="val 16670"/>
            <a:gd name="adj2" fmla="val 0"/>
          </a:avLst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accent5">
              <a:hueOff val="-7353344"/>
              <a:satOff val="-10228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66675" rIns="66675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E-commerce</a:t>
          </a:r>
        </a:p>
      </dsp:txBody>
      <dsp:txXfrm>
        <a:off x="32662" y="2844732"/>
        <a:ext cx="2807269" cy="6362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B9EFAC-BCD8-4659-8700-3CBBB8D3A158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FD5CB3-B086-43D2-B810-8C662F363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452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A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salt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is a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random piece of data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added to a user's password </a:t>
            </a:r>
            <a:r>
              <a:rPr lang="en-GB" b="0" i="1" u="none" strike="noStrike" dirty="0">
                <a:solidFill>
                  <a:srgbClr val="000000"/>
                </a:solidFill>
                <a:effectLst/>
              </a:rPr>
              <a:t>before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hashing it.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D5CB3-B086-43D2-B810-8C662F36324E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974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Choose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m = 11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(prime ≥ 6 keys); use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h(k) = k mod 11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to ensure good distribution and keep the load factor low (</a:t>
            </a:r>
            <a:r>
              <a:rPr lang="el-GR" b="0" i="0" u="none" strike="noStrike" dirty="0">
                <a:solidFill>
                  <a:srgbClr val="000000"/>
                </a:solidFill>
                <a:effectLst/>
              </a:rPr>
              <a:t>α ≈ 0.54).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M=7 is not a good choice because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l-GR" b="0" i="0" u="none" strike="noStrike" dirty="0">
                <a:solidFill>
                  <a:srgbClr val="000000"/>
                </a:solidFill>
                <a:effectLst/>
              </a:rPr>
              <a:t>α=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n/m=6/7​≈0.86</a:t>
            </a:r>
            <a:endParaRPr lang="el-GR" b="0" i="0" u="none" strike="noStrike" dirty="0">
              <a:solidFill>
                <a:srgbClr val="000000"/>
              </a:solidFill>
              <a:effectLst/>
            </a:endParaRPr>
          </a:p>
          <a:p>
            <a:r>
              <a:rPr lang="el-GR" b="0" i="0" u="none" strike="noStrike" dirty="0">
                <a:solidFill>
                  <a:srgbClr val="000000"/>
                </a:solidFill>
                <a:effectLst/>
              </a:rPr>
              <a:t>α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&lt;=0.7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12C5CB1-8AEC-4E8C-8D41-16374A299E8A}" type="slidenum">
              <a:rPr lang="en-US" altLang="en-US" smtClean="0"/>
              <a:pPr>
                <a:defRPr/>
              </a:pPr>
              <a:t>46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63873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83B9C-9865-FE4C-499E-E9CF073BE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A993F0-1E2E-60BF-4D17-3DA05884A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0186F0-0E93-F6BA-B45C-C4A4DDD8AB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Separate chaining handles collisions by placing multiple keys in the same bucket as a linked list.</a:t>
            </a:r>
            <a:br>
              <a:rPr lang="en-GB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Because several keys hash to the same index, buckets 2 and 3 have chains.</a:t>
            </a:r>
          </a:p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C6CC3F-10AC-235F-B349-8954F4BA4D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12C5CB1-8AEC-4E8C-8D41-16374A299E8A}" type="slidenum">
              <a:rPr lang="en-US" altLang="en-US" smtClean="0"/>
              <a:pPr>
                <a:defRPr/>
              </a:pPr>
              <a:t>47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82911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4761E-2AFF-4C83-FA71-65B71615B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DFE1F1-5B05-BE54-A3E1-8EDE25A01E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0C1F62-2929-34BA-9ACB-3FEE3FDAC4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CCDA0-F1AB-FC92-C78B-1271958962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12C5CB1-8AEC-4E8C-8D41-16374A299E8A}" type="slidenum">
              <a:rPr lang="en-US" altLang="en-US" smtClean="0"/>
              <a:pPr>
                <a:defRPr/>
              </a:pPr>
              <a:t>48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73053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24427-EB57-5149-2FB5-074DC7CCA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A13DDB-4834-AA7D-334B-906737399E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FFCCE0-45EF-CAC1-7C07-BA22B991A5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3EE014-2AFD-FE64-DD15-27DB28C230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12C5CB1-8AEC-4E8C-8D41-16374A299E8A}" type="slidenum">
              <a:rPr lang="en-US" altLang="en-US" smtClean="0"/>
              <a:pPr>
                <a:defRPr/>
              </a:pPr>
              <a:t>49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9596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0BDDD-08BA-4DE8-8143-1DB1155DFAEC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0465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7DBB-0077-4480-8AB0-14630D064980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9798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F26AB-26A6-41C3-A527-0785DBAA78E2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009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7DBB-0077-4480-8AB0-14630D064980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26356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7DBB-0077-4480-8AB0-14630D064980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773481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27B5F-EF8F-469C-B6B9-F491CAE3FCD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FF105-AA1C-4F17-966F-064F949D8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186950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7DBB-0077-4480-8AB0-14630D064980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18542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7DBB-0077-4480-8AB0-14630D064980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618306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7DBB-0077-4480-8AB0-14630D064980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282167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7DBB-0077-4480-8AB0-14630D064980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76462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7DBB-0077-4480-8AB0-14630D064980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56713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_with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58815" y="1429575"/>
            <a:ext cx="11470513" cy="503398"/>
          </a:xfrm>
        </p:spPr>
        <p:txBody>
          <a:bodyPr/>
          <a:lstStyle>
            <a:lvl1pPr marL="0" indent="0">
              <a:buNone/>
              <a:defRPr sz="2400" i="1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58815" y="365126"/>
            <a:ext cx="10994985" cy="9543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1"/>
          </p:nvPr>
        </p:nvSpPr>
        <p:spPr>
          <a:xfrm>
            <a:off x="358816" y="2043034"/>
            <a:ext cx="11470512" cy="44966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236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887DBB-0077-4480-8AB0-14630D064980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759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8" r:id="rId1"/>
    <p:sldLayoutId id="2147483949" r:id="rId2"/>
    <p:sldLayoutId id="2147483950" r:id="rId3"/>
    <p:sldLayoutId id="2147483951" r:id="rId4"/>
    <p:sldLayoutId id="2147483952" r:id="rId5"/>
    <p:sldLayoutId id="2147483953" r:id="rId6"/>
    <p:sldLayoutId id="2147483954" r:id="rId7"/>
    <p:sldLayoutId id="2147483955" r:id="rId8"/>
    <p:sldLayoutId id="2147483956" r:id="rId9"/>
    <p:sldLayoutId id="2147483957" r:id="rId10"/>
    <p:sldLayoutId id="2147483958" r:id="rId11"/>
    <p:sldLayoutId id="214748395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1.png"/><Relationship Id="rId7" Type="http://schemas.openxmlformats.org/officeDocument/2006/relationships/image" Target="../media/image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1.png"/><Relationship Id="rId9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7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7" Type="http://schemas.openxmlformats.org/officeDocument/2006/relationships/image" Target="../media/image2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27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26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+mn-lt"/>
              </a:rPr>
              <a:t>Hashing and Hash Tables</a:t>
            </a: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Rethinking the Search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Problem</a:t>
            </a:r>
          </a:p>
          <a:p>
            <a:pPr lvl="1"/>
            <a:r>
              <a:rPr lang="en-US"/>
              <a:t>Searching is slow if we check each element.</a:t>
            </a:r>
          </a:p>
          <a:p>
            <a:pPr lvl="1"/>
            <a:r>
              <a:rPr lang="en-US"/>
              <a:t>Sorting helps </a:t>
            </a:r>
          </a:p>
          <a:p>
            <a:pPr lvl="2"/>
            <a:r>
              <a:rPr lang="en-US"/>
              <a:t>Such as with binary search → O(log n)</a:t>
            </a:r>
          </a:p>
          <a:p>
            <a:r>
              <a:rPr lang="en-US"/>
              <a:t>Goal</a:t>
            </a:r>
          </a:p>
          <a:p>
            <a:pPr lvl="1"/>
            <a:r>
              <a:rPr lang="en-US"/>
              <a:t>Constant-time lookups on average — O(1).</a:t>
            </a:r>
          </a:p>
          <a:p>
            <a:r>
              <a:rPr lang="en-US"/>
              <a:t>Think!</a:t>
            </a:r>
          </a:p>
          <a:p>
            <a:pPr lvl="1"/>
            <a:r>
              <a:rPr lang="en-US"/>
              <a:t>Arrays give O(1) access if we know the index.</a:t>
            </a:r>
          </a:p>
          <a:p>
            <a:pPr lvl="1"/>
            <a:r>
              <a:rPr lang="en-US"/>
              <a:t>What if we could place each item exactly where it belongs at insertion?</a:t>
            </a:r>
          </a:p>
          <a:p>
            <a:pPr lvl="1"/>
            <a:r>
              <a:rPr lang="en-US"/>
              <a:t>This calls for a different data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44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Hash Table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16293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Many applications need a dynamic set supporting INSERT, SEARCH, and DELETE.</a:t>
            </a:r>
          </a:p>
          <a:p>
            <a:pPr lvl="1"/>
            <a:r>
              <a:rPr lang="en-US" dirty="0"/>
              <a:t>Example: A compiler maintains a symbol table with keys as strings (identifiers).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16293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Analogy: Contact list on your smartphone</a:t>
            </a:r>
          </a:p>
          <a:p>
            <a:pPr lvl="1"/>
            <a:r>
              <a:rPr lang="en-US" dirty="0"/>
              <a:t>Keys: Contact names</a:t>
            </a:r>
          </a:p>
          <a:p>
            <a:pPr lvl="1"/>
            <a:r>
              <a:rPr lang="en-US" dirty="0"/>
              <a:t>Values: Phone numbers</a:t>
            </a:r>
          </a:p>
          <a:p>
            <a:pPr lvl="1"/>
            <a:r>
              <a:rPr lang="en-US" dirty="0"/>
              <a:t>You type a name, and instantly get the number.</a:t>
            </a:r>
          </a:p>
          <a:p>
            <a:r>
              <a:rPr lang="en-US" dirty="0"/>
              <a:t>Hash table works the same way</a:t>
            </a:r>
          </a:p>
          <a:p>
            <a:pPr lvl="1"/>
            <a:r>
              <a:rPr lang="en-US" dirty="0"/>
              <a:t>compute a location for the key and retrieve its value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3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51560" y="5313997"/>
            <a:ext cx="10088880" cy="126555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/>
              <a:t>A hash table generalizes an array to store (key, value) pairs for fast lookup.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Also called a map, associative array, or dictionary.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Average case: O(1) search time (worst case O(n)).</a:t>
            </a:r>
          </a:p>
        </p:txBody>
      </p:sp>
    </p:spTree>
    <p:extLst>
      <p:ext uri="{BB962C8B-B14F-4D97-AF65-F5344CB8AC3E}">
        <p14:creationId xmlns:p14="http://schemas.microsoft.com/office/powerpoint/2010/main" val="2017356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Direct-address tables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With an ordinary array, we store the element whose key is k at kth position of the array </a:t>
            </a:r>
          </a:p>
          <a:p>
            <a:endParaRPr lang="en-GB"/>
          </a:p>
          <a:p>
            <a:r>
              <a:rPr lang="en-GB"/>
              <a:t>This enables us to find an element whose key k is known by just looking in the kth position of the array</a:t>
            </a:r>
          </a:p>
          <a:p>
            <a:pPr lvl="1"/>
            <a:r>
              <a:rPr lang="en-GB"/>
              <a:t>This is called direct addressing</a:t>
            </a:r>
          </a:p>
          <a:p>
            <a:endParaRPr lang="en-GB"/>
          </a:p>
          <a:p>
            <a:r>
              <a:rPr lang="en-GB"/>
              <a:t>Direct addressing is applicable when we can afford to allocate an array with one position for every possible key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4BC561-BCEA-4F0B-95C2-8CA863EDD649}" type="slidenum">
              <a:rPr lang="de-DE" altLang="zh-CN" smtClean="0"/>
              <a:pPr/>
              <a:t>4</a:t>
            </a:fld>
            <a:endParaRPr lang="de-DE" altLang="zh-CN" dirty="0"/>
          </a:p>
        </p:txBody>
      </p:sp>
    </p:spTree>
    <p:extLst>
      <p:ext uri="{BB962C8B-B14F-4D97-AF65-F5344CB8AC3E}">
        <p14:creationId xmlns:p14="http://schemas.microsoft.com/office/powerpoint/2010/main" val="2263385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Direct addressing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Suppose that an application needs a dynamic set in which each element has a key drawn from the universe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{ 0, 1, …,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 – 1}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Keys are distinct – no two elements have the same key</a:t>
                </a:r>
              </a:p>
              <a:p>
                <a:endParaRPr lang="en-US" dirty="0"/>
              </a:p>
              <a:p>
                <a:r>
                  <a:rPr lang="en-GB" dirty="0"/>
                  <a:t>To represent such a set, we use </a:t>
                </a:r>
                <a:r>
                  <a:rPr lang="en-US" dirty="0"/>
                  <a:t>a direct-address table, or array T = [0, …, m-1] </a:t>
                </a:r>
                <a:r>
                  <a:rPr lang="en-GB" dirty="0"/>
                  <a:t>in which each position, or slot, corresponds to a key in the universe </a:t>
                </a:r>
                <a:r>
                  <a:rPr lang="en-US" dirty="0"/>
                  <a:t>U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241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C561-BCEA-4F0B-95C2-8CA863EDD649}" type="slidenum">
              <a:rPr lang="de-DE" altLang="zh-CN" smtClean="0"/>
              <a:pPr/>
              <a:t>5</a:t>
            </a:fld>
            <a:endParaRPr lang="de-DE" altLang="zh-CN" dirty="0"/>
          </a:p>
        </p:txBody>
      </p:sp>
    </p:spTree>
    <p:extLst>
      <p:ext uri="{BB962C8B-B14F-4D97-AF65-F5344CB8AC3E}">
        <p14:creationId xmlns:p14="http://schemas.microsoft.com/office/powerpoint/2010/main" val="3108342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Direct address: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C561-BCEA-4F0B-95C2-8CA863EDD649}" type="slidenum">
              <a:rPr lang="de-DE" altLang="zh-CN" smtClean="0"/>
              <a:pPr/>
              <a:t>6</a:t>
            </a:fld>
            <a:endParaRPr lang="de-DE" altLang="zh-CN" dirty="0"/>
          </a:p>
        </p:txBody>
      </p:sp>
      <p:grpSp>
        <p:nvGrpSpPr>
          <p:cNvPr id="17" name="Group 16"/>
          <p:cNvGrpSpPr/>
          <p:nvPr/>
        </p:nvGrpSpPr>
        <p:grpSpPr>
          <a:xfrm>
            <a:off x="2024062" y="1690688"/>
            <a:ext cx="8143875" cy="4152900"/>
            <a:chOff x="2024063" y="1352550"/>
            <a:chExt cx="8143875" cy="4152900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24063" y="1352550"/>
              <a:ext cx="8143875" cy="4152900"/>
            </a:xfrm>
            <a:prstGeom prst="rect">
              <a:avLst/>
            </a:prstGeom>
          </p:spPr>
        </p:pic>
        <p:grpSp>
          <p:nvGrpSpPr>
            <p:cNvPr id="16" name="Group 15"/>
            <p:cNvGrpSpPr/>
            <p:nvPr/>
          </p:nvGrpSpPr>
          <p:grpSpPr>
            <a:xfrm>
              <a:off x="8655749" y="1965198"/>
              <a:ext cx="1383601" cy="256794"/>
              <a:chOff x="8655749" y="1965198"/>
              <a:chExt cx="1383601" cy="256794"/>
            </a:xfrm>
          </p:grpSpPr>
          <p:sp>
            <p:nvSpPr>
              <p:cNvPr id="3" name="Rectangle 2"/>
              <p:cNvSpPr/>
              <p:nvPr/>
            </p:nvSpPr>
            <p:spPr>
              <a:xfrm>
                <a:off x="8720328" y="1975104"/>
                <a:ext cx="1319022" cy="24688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6" name="Picture 5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55749" y="1965198"/>
                <a:ext cx="440218" cy="256794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376313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Downside of direct addressing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The downside of direct addressing is obvious: </a:t>
            </a:r>
          </a:p>
          <a:p>
            <a:endParaRPr lang="en-GB"/>
          </a:p>
          <a:p>
            <a:pPr lvl="1"/>
            <a:r>
              <a:rPr lang="en-GB"/>
              <a:t>If the universe U is large, storing a table T of size |U| may be impractical, or even impossible, given the memory available on a typical computer </a:t>
            </a:r>
          </a:p>
          <a:p>
            <a:endParaRPr lang="en-GB"/>
          </a:p>
          <a:p>
            <a:pPr lvl="1"/>
            <a:r>
              <a:rPr lang="en-GB"/>
              <a:t>Also, the set K of keys actually stored may be so small relative to U that most of the space allocated for T would be </a:t>
            </a:r>
            <a:r>
              <a:rPr lang="en-US"/>
              <a:t>wasted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C561-BCEA-4F0B-95C2-8CA863EDD649}" type="slidenum">
              <a:rPr lang="de-DE" altLang="zh-CN" smtClean="0"/>
              <a:pPr/>
              <a:t>7</a:t>
            </a:fld>
            <a:endParaRPr lang="de-DE" altLang="zh-CN" dirty="0"/>
          </a:p>
        </p:txBody>
      </p:sp>
    </p:spTree>
    <p:extLst>
      <p:ext uri="{BB962C8B-B14F-4D97-AF65-F5344CB8AC3E}">
        <p14:creationId xmlns:p14="http://schemas.microsoft.com/office/powerpoint/2010/main" val="1470023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Hash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When the number of keys actually stored is small relative to the total number of possible keys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</a:rPr>
              <a:t>, hash tables </a:t>
            </a:r>
            <a:r>
              <a:rPr lang="en-GB" dirty="0"/>
              <a:t>become an effective alternative to directly addressing an array</a:t>
            </a:r>
          </a:p>
          <a:p>
            <a:endParaRPr lang="en-GB" dirty="0"/>
          </a:p>
          <a:p>
            <a:r>
              <a:rPr lang="en-GB" b="1" dirty="0"/>
              <a:t>Reason</a:t>
            </a:r>
            <a:r>
              <a:rPr lang="en-GB" dirty="0"/>
              <a:t>:</a:t>
            </a:r>
          </a:p>
          <a:p>
            <a:endParaRPr lang="en-GB" dirty="0"/>
          </a:p>
          <a:p>
            <a:pPr lvl="1"/>
            <a:r>
              <a:rPr lang="en-GB" dirty="0"/>
              <a:t>Because a hash table typically uses an array of size proportional to the number of keys actually stored</a:t>
            </a:r>
          </a:p>
          <a:p>
            <a:endParaRPr lang="en-GB" dirty="0"/>
          </a:p>
          <a:p>
            <a:pPr lvl="1"/>
            <a:r>
              <a:rPr lang="en-GB" dirty="0"/>
              <a:t>Also, instead of using the key as an array index directly, the array index is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</a:rPr>
              <a:t>computed</a:t>
            </a:r>
            <a:r>
              <a:rPr lang="en-GB" i="1" dirty="0"/>
              <a:t> </a:t>
            </a:r>
            <a:r>
              <a:rPr lang="en-GB" dirty="0"/>
              <a:t>from the key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4BC561-BCEA-4F0B-95C2-8CA863EDD649}" type="slidenum">
              <a:rPr lang="de-DE" altLang="zh-CN" smtClean="0"/>
              <a:pPr>
                <a:defRPr/>
              </a:pPr>
              <a:t>8</a:t>
            </a:fld>
            <a:endParaRPr lang="de-DE" altLang="zh-CN" dirty="0"/>
          </a:p>
        </p:txBody>
      </p:sp>
    </p:spTree>
    <p:extLst>
      <p:ext uri="{BB962C8B-B14F-4D97-AF65-F5344CB8AC3E}">
        <p14:creationId xmlns:p14="http://schemas.microsoft.com/office/powerpoint/2010/main" val="4263804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Hash 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4BC561-BCEA-4F0B-95C2-8CA863EDD649}" type="slidenum">
              <a:rPr lang="de-DE" altLang="zh-CN" smtClean="0"/>
              <a:pPr>
                <a:defRPr/>
              </a:pPr>
              <a:t>9</a:t>
            </a:fld>
            <a:endParaRPr lang="de-DE" altLang="zh-C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719" y="1248967"/>
            <a:ext cx="6641432" cy="346654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8200" y="4814523"/>
            <a:ext cx="850655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With direct addressing, an element with key </a:t>
            </a:r>
            <a:r>
              <a:rPr lang="en-GB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is stored in slot </a:t>
            </a:r>
            <a:r>
              <a:rPr lang="en-GB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With </a:t>
            </a:r>
            <a:r>
              <a:rPr lang="en-GB" sz="2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hashing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, this element is stored in slot </a:t>
            </a:r>
            <a:r>
              <a:rPr lang="en-GB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GB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i.e., we use a </a:t>
            </a:r>
            <a:r>
              <a:rPr lang="en-GB" sz="2400" b="1" i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hash function </a:t>
            </a:r>
            <a:r>
              <a:rPr lang="en-GB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to compute the slot from the key </a:t>
            </a:r>
            <a:r>
              <a:rPr lang="en-GB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endParaRPr lang="en-US" sz="24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0078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Hash 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4BC561-BCEA-4F0B-95C2-8CA863EDD649}" type="slidenum">
              <a:rPr lang="de-DE" altLang="zh-CN" smtClean="0"/>
              <a:pPr>
                <a:defRPr/>
              </a:pPr>
              <a:t>10</a:t>
            </a:fld>
            <a:endParaRPr lang="de-DE" altLang="zh-C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375" y="965011"/>
            <a:ext cx="7591425" cy="3962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8200" y="5126725"/>
            <a:ext cx="850655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 say that an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element with key 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hashes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to slot 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) or 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) is the </a:t>
            </a:r>
            <a:r>
              <a:rPr lang="en-GB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hash value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key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endParaRPr lang="en-US" sz="24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9303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Hash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Definition: </a:t>
            </a:r>
            <a:r>
              <a:rPr lang="en-US" dirty="0"/>
              <a:t>the Hash Table data structure is merely an array of some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fixed size</a:t>
            </a:r>
            <a:r>
              <a:rPr lang="en-US" dirty="0"/>
              <a:t>, containing the elements</a:t>
            </a:r>
          </a:p>
          <a:p>
            <a:endParaRPr lang="en-US" dirty="0"/>
          </a:p>
          <a:p>
            <a:r>
              <a:rPr lang="en-US" dirty="0"/>
              <a:t>Consists of 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array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and a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mapping function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/>
              <a:t>(known as </a:t>
            </a:r>
            <a:r>
              <a:rPr lang="en-US" b="1" dirty="0"/>
              <a:t>hash function</a:t>
            </a:r>
            <a:r>
              <a:rPr lang="en-US" dirty="0"/>
              <a:t>). A hash table is an array of size </a:t>
            </a:r>
            <a:r>
              <a:rPr lang="en-US" dirty="0" err="1"/>
              <a:t>Tsize</a:t>
            </a:r>
            <a:endParaRPr lang="en-US" dirty="0"/>
          </a:p>
          <a:p>
            <a:pPr lvl="1"/>
            <a:r>
              <a:rPr lang="en-US" dirty="0"/>
              <a:t>has index positions  0 .. Tsize-1</a:t>
            </a:r>
          </a:p>
          <a:p>
            <a:endParaRPr lang="en-US" dirty="0"/>
          </a:p>
          <a:p>
            <a:r>
              <a:rPr lang="en-US" dirty="0"/>
              <a:t>Used for performing insertion, deletion and lookup in constant time (on average).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F4BC561-BCEA-4F0B-95C2-8CA863EDD649}" type="slidenum">
              <a:rPr lang="de-DE" altLang="zh-CN" smtClean="0"/>
              <a:pPr>
                <a:defRPr/>
              </a:pPr>
              <a:t>11</a:t>
            </a:fld>
            <a:endParaRPr lang="de-DE" altLang="zh-CN" dirty="0"/>
          </a:p>
        </p:txBody>
      </p:sp>
    </p:spTree>
    <p:extLst>
      <p:ext uri="{BB962C8B-B14F-4D97-AF65-F5344CB8AC3E}">
        <p14:creationId xmlns:p14="http://schemas.microsoft.com/office/powerpoint/2010/main" val="894864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Compared to direct addressing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Advantage: Requires less storage and runs in </a:t>
            </a:r>
            <a:r>
              <a:rPr lang="en-US" i="1" dirty="0"/>
              <a:t>O(1)</a:t>
            </a:r>
            <a:r>
              <a:rPr lang="en-US" dirty="0"/>
              <a:t> time.</a:t>
            </a:r>
          </a:p>
          <a:p>
            <a:endParaRPr lang="en-US" sz="1600" dirty="0"/>
          </a:p>
          <a:p>
            <a:r>
              <a:rPr lang="en-US" dirty="0"/>
              <a:t>Comparison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4BC561-BCEA-4F0B-95C2-8CA863EDD649}" type="slidenum">
              <a:rPr lang="de-DE" altLang="zh-CN" smtClean="0"/>
              <a:pPr>
                <a:defRPr/>
              </a:pPr>
              <a:t>12</a:t>
            </a:fld>
            <a:endParaRPr lang="de-DE" altLang="zh-CN" dirty="0"/>
          </a:p>
        </p:txBody>
      </p:sp>
      <p:graphicFrame>
        <p:nvGraphicFramePr>
          <p:cNvPr id="5" name="Group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0617603"/>
              </p:ext>
            </p:extLst>
          </p:nvPr>
        </p:nvGraphicFramePr>
        <p:xfrm>
          <a:off x="1943100" y="3799523"/>
          <a:ext cx="8305800" cy="237744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Running time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Storage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48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Direct Addressing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Worst time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O(1)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Store in slot </a:t>
                      </a:r>
                      <a:r>
                        <a:rPr kumimoji="0" lang="en-US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|</a:t>
                      </a:r>
                      <a:r>
                        <a:rPr kumimoji="0" lang="en-US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| values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Hashing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 time: O(1)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Store in slot </a:t>
                      </a:r>
                      <a:r>
                        <a:rPr kumimoji="0" lang="en-US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0" lang="en-US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), </a:t>
                      </a:r>
                      <a:r>
                        <a:rPr kumimoji="0" lang="en-US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values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4245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a Hash Table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13</a:t>
            </a:fld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2732701" y="1568896"/>
            <a:ext cx="1725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table of size 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66137" y="1935600"/>
            <a:ext cx="43377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Each record has a special field, called its </a:t>
            </a:r>
            <a:r>
              <a:rPr lang="en-US" b="1" dirty="0"/>
              <a:t>key</a:t>
            </a:r>
            <a:r>
              <a:rPr lang="en-US" dirty="0"/>
              <a:t> </a:t>
            </a:r>
          </a:p>
        </p:txBody>
      </p:sp>
      <p:sp>
        <p:nvSpPr>
          <p:cNvPr id="9" name="Rectangle 8"/>
          <p:cNvSpPr/>
          <p:nvPr/>
        </p:nvSpPr>
        <p:spPr>
          <a:xfrm>
            <a:off x="3444111" y="2462975"/>
            <a:ext cx="487680" cy="58928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algn="ctr"/>
            <a:r>
              <a:rPr lang="en-US" sz="1200" u="sng" dirty="0">
                <a:solidFill>
                  <a:schemeClr val="tx1"/>
                </a:solidFill>
              </a:rPr>
              <a:t>Key_1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0173" y="2462975"/>
            <a:ext cx="487680" cy="58928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u="sng" dirty="0">
                <a:solidFill>
                  <a:schemeClr val="tx1"/>
                </a:solidFill>
              </a:rPr>
              <a:t>Key_2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96235" y="2462975"/>
            <a:ext cx="487680" cy="58928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u="sng" dirty="0">
                <a:solidFill>
                  <a:schemeClr val="tx1"/>
                </a:solidFill>
              </a:rPr>
              <a:t>Key_3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2297" y="2462975"/>
            <a:ext cx="487680" cy="58928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u="sng" dirty="0">
                <a:solidFill>
                  <a:schemeClr val="tx1"/>
                </a:solidFill>
              </a:rPr>
              <a:t>Key_4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48359" y="2462975"/>
            <a:ext cx="487680" cy="58928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u="sng" dirty="0">
                <a:solidFill>
                  <a:schemeClr val="tx1"/>
                </a:solidFill>
              </a:rPr>
              <a:t>Key_5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74421" y="2462975"/>
            <a:ext cx="487680" cy="58928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u="sng" dirty="0">
                <a:solidFill>
                  <a:schemeClr val="tx1"/>
                </a:solidFill>
              </a:rPr>
              <a:t>Key_6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483" y="2462975"/>
            <a:ext cx="487680" cy="58928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126545" y="2462975"/>
            <a:ext cx="487680" cy="58928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652607" y="2462975"/>
            <a:ext cx="487680" cy="58928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8178671" y="2462975"/>
            <a:ext cx="487680" cy="58928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u="sng" dirty="0" err="1">
                <a:solidFill>
                  <a:schemeClr val="tx1"/>
                </a:solidFill>
              </a:rPr>
              <a:t>Key_m</a:t>
            </a:r>
            <a:endParaRPr lang="en-US" sz="1200" u="sng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444111" y="3070026"/>
            <a:ext cx="487680" cy="2575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[0]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70173" y="3070026"/>
            <a:ext cx="487680" cy="2575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[1]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96235" y="3070026"/>
            <a:ext cx="487680" cy="2575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[2]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2297" y="3070026"/>
            <a:ext cx="487680" cy="2575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[3]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48359" y="3070026"/>
            <a:ext cx="487680" cy="2575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[4]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74421" y="3070026"/>
            <a:ext cx="487680" cy="2575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[5]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00483" y="3070026"/>
            <a:ext cx="487680" cy="2575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126545" y="3070026"/>
            <a:ext cx="487680" cy="2575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652607" y="3070026"/>
            <a:ext cx="487680" cy="2575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178671" y="3070026"/>
            <a:ext cx="487680" cy="2575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[m-1]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483" y="2496966"/>
            <a:ext cx="1539804" cy="817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…….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/>
              <p:cNvSpPr/>
              <p:nvPr/>
            </p:nvSpPr>
            <p:spPr>
              <a:xfrm>
                <a:off x="3504348" y="2647065"/>
                <a:ext cx="360000" cy="360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Oval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4348" y="2647065"/>
                <a:ext cx="360000" cy="360000"/>
              </a:xfrm>
              <a:prstGeom prst="ellipse">
                <a:avLst/>
              </a:prstGeom>
              <a:blipFill>
                <a:blip r:embed="rId2"/>
                <a:stretch>
                  <a:fillRect l="-1147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val 34"/>
              <p:cNvSpPr/>
              <p:nvPr/>
            </p:nvSpPr>
            <p:spPr>
              <a:xfrm>
                <a:off x="4034013" y="2647065"/>
                <a:ext cx="360000" cy="360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Oval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4013" y="2647065"/>
                <a:ext cx="360000" cy="360000"/>
              </a:xfrm>
              <a:prstGeom prst="ellipse">
                <a:avLst/>
              </a:prstGeom>
              <a:blipFill>
                <a:blip r:embed="rId3"/>
                <a:stretch>
                  <a:fillRect l="-1311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35"/>
              <p:cNvSpPr/>
              <p:nvPr/>
            </p:nvSpPr>
            <p:spPr>
              <a:xfrm>
                <a:off x="4520455" y="2647065"/>
                <a:ext cx="360000" cy="360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Oval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0455" y="2647065"/>
                <a:ext cx="360000" cy="360000"/>
              </a:xfrm>
              <a:prstGeom prst="ellipse">
                <a:avLst/>
              </a:prstGeom>
              <a:blipFill>
                <a:blip r:embed="rId4"/>
                <a:stretch>
                  <a:fillRect l="-1311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36"/>
              <p:cNvSpPr/>
              <p:nvPr/>
            </p:nvSpPr>
            <p:spPr>
              <a:xfrm>
                <a:off x="5084899" y="2647065"/>
                <a:ext cx="360000" cy="360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Oval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4899" y="2647065"/>
                <a:ext cx="360000" cy="360000"/>
              </a:xfrm>
              <a:prstGeom prst="ellipse">
                <a:avLst/>
              </a:prstGeom>
              <a:blipFill>
                <a:blip r:embed="rId5"/>
                <a:stretch>
                  <a:fillRect l="-1147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37"/>
              <p:cNvSpPr/>
              <p:nvPr/>
            </p:nvSpPr>
            <p:spPr>
              <a:xfrm>
                <a:off x="5610961" y="2647065"/>
                <a:ext cx="360000" cy="360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Oval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0961" y="2647065"/>
                <a:ext cx="360000" cy="360000"/>
              </a:xfrm>
              <a:prstGeom prst="ellipse">
                <a:avLst/>
              </a:prstGeom>
              <a:blipFill>
                <a:blip r:embed="rId6"/>
                <a:stretch>
                  <a:fillRect l="-1147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38"/>
              <p:cNvSpPr/>
              <p:nvPr/>
            </p:nvSpPr>
            <p:spPr>
              <a:xfrm>
                <a:off x="6144895" y="2647065"/>
                <a:ext cx="360000" cy="360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Oval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4895" y="2647065"/>
                <a:ext cx="360000" cy="360000"/>
              </a:xfrm>
              <a:prstGeom prst="ellipse">
                <a:avLst/>
              </a:prstGeom>
              <a:blipFill>
                <a:blip r:embed="rId7"/>
                <a:stretch>
                  <a:fillRect l="-1147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/>
              <p:cNvSpPr/>
              <p:nvPr/>
            </p:nvSpPr>
            <p:spPr>
              <a:xfrm>
                <a:off x="8242511" y="2665090"/>
                <a:ext cx="360000" cy="360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Oval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2511" y="2665090"/>
                <a:ext cx="360000" cy="360000"/>
              </a:xfrm>
              <a:prstGeom prst="ellipse">
                <a:avLst/>
              </a:prstGeom>
              <a:blipFill>
                <a:blip r:embed="rId8"/>
                <a:stretch>
                  <a:fillRect l="-1967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/>
          <p:cNvSpPr/>
          <p:nvPr/>
        </p:nvSpPr>
        <p:spPr>
          <a:xfrm>
            <a:off x="4260414" y="3654187"/>
            <a:ext cx="30610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The rest of the record has data</a:t>
            </a:r>
            <a:endParaRPr lang="en-US" dirty="0"/>
          </a:p>
        </p:txBody>
      </p:sp>
      <p:sp>
        <p:nvSpPr>
          <p:cNvPr id="42" name="Rectangle 41"/>
          <p:cNvSpPr/>
          <p:nvPr/>
        </p:nvSpPr>
        <p:spPr>
          <a:xfrm>
            <a:off x="1008194" y="4163786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/>
              <a:t>When a hash table is in use,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some spots contain valid records, and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other spots are "empty“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30252" y="527702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/>
              <a:t>To insert a new record, the key must be converted to an array index. The computed index is called the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</a:rPr>
              <a:t>hash value</a:t>
            </a:r>
            <a:r>
              <a:rPr lang="en-GB" dirty="0"/>
              <a:t> of the key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Snip Single Corner Rectangle 43"/>
              <p:cNvSpPr/>
              <p:nvPr/>
            </p:nvSpPr>
            <p:spPr>
              <a:xfrm>
                <a:off x="8627280" y="4318933"/>
                <a:ext cx="754939" cy="652362"/>
              </a:xfrm>
              <a:prstGeom prst="snip1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Snip Single Corner 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7280" y="4318933"/>
                <a:ext cx="754939" cy="652362"/>
              </a:xfrm>
              <a:prstGeom prst="snip1Rect">
                <a:avLst/>
              </a:prstGeom>
              <a:blipFill>
                <a:blip r:embed="rId9"/>
                <a:stretch>
                  <a:fillRect l="-158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ight Arrow 44"/>
          <p:cNvSpPr/>
          <p:nvPr/>
        </p:nvSpPr>
        <p:spPr>
          <a:xfrm rot="12876662">
            <a:off x="7528314" y="3698682"/>
            <a:ext cx="1284790" cy="76857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h(k)</a:t>
            </a:r>
          </a:p>
        </p:txBody>
      </p:sp>
    </p:spTree>
    <p:extLst>
      <p:ext uri="{BB962C8B-B14F-4D97-AF65-F5344CB8AC3E}">
        <p14:creationId xmlns:p14="http://schemas.microsoft.com/office/powerpoint/2010/main" val="3900337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3" grpId="0"/>
      <p:bldP spid="34" grpId="0" animBg="1"/>
      <p:bldP spid="34" grpId="1" animBg="1"/>
      <p:bldP spid="35" grpId="0" animBg="1"/>
      <p:bldP spid="36" grpId="0" animBg="1"/>
      <p:bldP spid="36" grpId="1" animBg="1"/>
      <p:bldP spid="37" grpId="0" animBg="1"/>
      <p:bldP spid="37" grpId="1" animBg="1"/>
      <p:bldP spid="38" grpId="0" animBg="1"/>
      <p:bldP spid="39" grpId="0" animBg="1"/>
      <p:bldP spid="40" grpId="0" animBg="1"/>
      <p:bldP spid="40" grpId="1" animBg="1"/>
      <p:bldP spid="41" grpId="0"/>
      <p:bldP spid="42" grpId="0"/>
      <p:bldP spid="43" grpId="0"/>
      <p:bldP spid="44" grpId="0" animBg="1"/>
      <p:bldP spid="4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Good Hash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551025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Should distribute keys uniformly across slots.</a:t>
                </a:r>
              </a:p>
              <a:p>
                <a:r>
                  <a:rPr lang="en-US" dirty="0"/>
                  <a:t>Should be fast to compute.</a:t>
                </a:r>
              </a:p>
              <a:p>
                <a:r>
                  <a:rPr lang="en-US" dirty="0"/>
                  <a:t>Should minimize collisions (different keys mapping to same index).</a:t>
                </a:r>
              </a:p>
              <a:p>
                <a:r>
                  <a:rPr lang="en-US" dirty="0"/>
                  <a:t>Examples:</a:t>
                </a:r>
              </a:p>
              <a:p>
                <a:pPr lvl="1"/>
                <a:r>
                  <a:rPr lang="en-US" dirty="0"/>
                  <a:t>Division method: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%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Multiplication method</a:t>
                </a:r>
              </a:p>
              <a:p>
                <a:pPr lvl="1"/>
                <a:r>
                  <a:rPr lang="en-US" dirty="0"/>
                  <a:t>String hashing (sum of character codes, polynomial rolling hash, etc.)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551025" cy="4351338"/>
              </a:xfrm>
              <a:blipFill>
                <a:blip r:embed="rId2"/>
                <a:stretch>
                  <a:fillRect l="-1978" t="-3081" b="-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14</a:t>
            </a:fld>
            <a:endParaRPr lang="en-US" dirty="0"/>
          </a:p>
        </p:txBody>
      </p:sp>
      <p:grpSp>
        <p:nvGrpSpPr>
          <p:cNvPr id="15" name="Group 14"/>
          <p:cNvGrpSpPr/>
          <p:nvPr/>
        </p:nvGrpSpPr>
        <p:grpSpPr>
          <a:xfrm>
            <a:off x="9355567" y="687499"/>
            <a:ext cx="2592729" cy="2141316"/>
            <a:chOff x="9355567" y="687499"/>
            <a:chExt cx="2592729" cy="2141316"/>
          </a:xfrm>
        </p:grpSpPr>
        <p:sp>
          <p:nvSpPr>
            <p:cNvPr id="9" name="Oval 8"/>
            <p:cNvSpPr/>
            <p:nvPr/>
          </p:nvSpPr>
          <p:spPr>
            <a:xfrm>
              <a:off x="9355567" y="687499"/>
              <a:ext cx="2592729" cy="21413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t"/>
            <a:lstStyle/>
            <a:p>
              <a:pPr algn="ctr"/>
              <a:r>
                <a:rPr lang="en-US" u="sng" dirty="0">
                  <a:solidFill>
                    <a:schemeClr val="bg1"/>
                  </a:solidFill>
                </a:rPr>
                <a:t>Universe of Keys </a:t>
              </a:r>
            </a:p>
            <a:p>
              <a:pPr algn="ctr"/>
              <a:r>
                <a:rPr lang="en-US" u="sng" dirty="0">
                  <a:solidFill>
                    <a:schemeClr val="bg1"/>
                  </a:solidFill>
                </a:rPr>
                <a:t>90 - 99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9785467" y="1572962"/>
              <a:ext cx="347241" cy="37039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90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10147632" y="2261134"/>
              <a:ext cx="347241" cy="37039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92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10418025" y="1717646"/>
              <a:ext cx="347241" cy="37039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95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10666765" y="2156439"/>
              <a:ext cx="347241" cy="37039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98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11133909" y="1816433"/>
              <a:ext cx="347241" cy="37039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96</a:t>
              </a:r>
            </a:p>
          </p:txBody>
        </p:sp>
      </p:grp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336751"/>
              </p:ext>
            </p:extLst>
          </p:nvPr>
        </p:nvGraphicFramePr>
        <p:xfrm>
          <a:off x="7295299" y="632845"/>
          <a:ext cx="946658" cy="60886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46658">
                  <a:extLst>
                    <a:ext uri="{9D8B030D-6E8A-4147-A177-3AD203B41FA5}">
                      <a16:colId xmlns:a16="http://schemas.microsoft.com/office/drawing/2014/main" val="2608987167"/>
                    </a:ext>
                  </a:extLst>
                </a:gridCol>
              </a:tblGrid>
              <a:tr h="60886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5782530"/>
                  </a:ext>
                </a:extLst>
              </a:tr>
              <a:tr h="60886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294278"/>
                  </a:ext>
                </a:extLst>
              </a:tr>
              <a:tr h="60886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952203"/>
                  </a:ext>
                </a:extLst>
              </a:tr>
              <a:tr h="60886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142953"/>
                  </a:ext>
                </a:extLst>
              </a:tr>
              <a:tr h="60886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1767889"/>
                  </a:ext>
                </a:extLst>
              </a:tr>
              <a:tr h="60886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371147"/>
                  </a:ext>
                </a:extLst>
              </a:tr>
              <a:tr h="60886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55243"/>
                  </a:ext>
                </a:extLst>
              </a:tr>
              <a:tr h="60886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3264928"/>
                  </a:ext>
                </a:extLst>
              </a:tr>
              <a:tr h="60886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64465"/>
                  </a:ext>
                </a:extLst>
              </a:tr>
              <a:tr h="60886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24732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20190" y="263513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8833011" y="2829873"/>
                <a:ext cx="17070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%10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3011" y="2829873"/>
                <a:ext cx="1707006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Elbow Connector 19"/>
          <p:cNvCxnSpPr>
            <a:stCxn id="10" idx="2"/>
          </p:cNvCxnSpPr>
          <p:nvPr/>
        </p:nvCxnSpPr>
        <p:spPr>
          <a:xfrm rot="10800000">
            <a:off x="8241957" y="1027907"/>
            <a:ext cx="1543510" cy="730251"/>
          </a:xfrm>
          <a:prstGeom prst="bentConnector3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8299832" y="646986"/>
                <a:ext cx="2123402" cy="33855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(90)=90%10=0  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9832" y="646986"/>
                <a:ext cx="2123402" cy="338554"/>
              </a:xfrm>
              <a:prstGeom prst="rect">
                <a:avLst/>
              </a:prstGeom>
              <a:blipFill>
                <a:blip r:embed="rId4"/>
                <a:stretch>
                  <a:fillRect b="-6897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Elbow Connector 21"/>
          <p:cNvCxnSpPr>
            <a:stCxn id="13" idx="4"/>
          </p:cNvCxnSpPr>
          <p:nvPr/>
        </p:nvCxnSpPr>
        <p:spPr>
          <a:xfrm rot="5400000">
            <a:off x="7887766" y="2881021"/>
            <a:ext cx="3306812" cy="2598429"/>
          </a:xfrm>
          <a:prstGeom prst="bentConnector3">
            <a:avLst>
              <a:gd name="adj1" fmla="val 100054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8416615" y="5351990"/>
                <a:ext cx="2033634" cy="33855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(98)=98%10=8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6615" y="5351990"/>
                <a:ext cx="2033634" cy="338554"/>
              </a:xfrm>
              <a:prstGeom prst="rect">
                <a:avLst/>
              </a:prstGeom>
              <a:blipFill>
                <a:blip r:embed="rId5"/>
                <a:stretch>
                  <a:fillRect b="-8772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8302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1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Restrictions on value of 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64453"/>
            <a:ext cx="5545806" cy="4351338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	</a:t>
            </a:r>
            <a:r>
              <a:rPr lang="en-US" b="1" dirty="0"/>
              <a:t>m should not be a power of 2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	if m=2</a:t>
            </a:r>
            <a:r>
              <a:rPr lang="en-US" baseline="30000" dirty="0"/>
              <a:t>p</a:t>
            </a:r>
            <a:r>
              <a:rPr lang="en-US" dirty="0"/>
              <a:t> then h(k) is just the p lowest order bits of k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b="1" dirty="0"/>
              <a:t>	</a:t>
            </a:r>
            <a:r>
              <a:rPr lang="en-US" b="1" dirty="0">
                <a:solidFill>
                  <a:schemeClr val="hlink"/>
                </a:solidFill>
              </a:rPr>
              <a:t>Disadvantage!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4BC561-BCEA-4F0B-95C2-8CA863EDD649}" type="slidenum">
              <a:rPr lang="de-DE" altLang="zh-CN" smtClean="0"/>
              <a:pPr>
                <a:defRPr/>
              </a:pPr>
              <a:t>15</a:t>
            </a:fld>
            <a:endParaRPr lang="de-DE" altLang="zh-CN" dirty="0"/>
          </a:p>
        </p:txBody>
      </p:sp>
      <p:graphicFrame>
        <p:nvGraphicFramePr>
          <p:cNvPr id="6" name="Group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10512508"/>
              </p:ext>
            </p:extLst>
          </p:nvPr>
        </p:nvGraphicFramePr>
        <p:xfrm>
          <a:off x="6893259" y="1690688"/>
          <a:ext cx="3951288" cy="4551363"/>
        </p:xfrm>
        <a:graphic>
          <a:graphicData uri="http://schemas.openxmlformats.org/drawingml/2006/table">
            <a:tbl>
              <a:tblPr/>
              <a:tblGrid>
                <a:gridCol w="1273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4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3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896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Key </a:t>
                      </a:r>
                      <a:endParaRPr kumimoji="0" lang="en-US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Binary</a:t>
                      </a:r>
                      <a:endParaRPr kumimoji="0" lang="en-US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K mod 8</a:t>
                      </a:r>
                      <a:endParaRPr kumimoji="0" lang="en-US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</a:t>
                      </a:r>
                      <a:endParaRPr kumimoji="0" lang="en-US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1000</a:t>
                      </a:r>
                      <a:endParaRPr kumimoji="0" lang="en-US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endParaRPr kumimoji="0" lang="en-US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endParaRPr kumimoji="0" lang="en-US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111</a:t>
                      </a:r>
                      <a:endParaRPr kumimoji="0" lang="en-US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endParaRPr kumimoji="0" lang="en-US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12</a:t>
                      </a:r>
                      <a:endParaRPr kumimoji="0" lang="en-US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1100</a:t>
                      </a:r>
                      <a:endParaRPr kumimoji="0" lang="en-US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34</a:t>
                      </a:r>
                      <a:endParaRPr kumimoji="0" lang="en-US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100010</a:t>
                      </a:r>
                      <a:endParaRPr kumimoji="0" lang="en-US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endParaRPr kumimoji="0" lang="en-US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56</a:t>
                      </a:r>
                      <a:endParaRPr kumimoji="0" lang="en-US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111000</a:t>
                      </a:r>
                      <a:endParaRPr kumimoji="0" lang="en-US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endParaRPr kumimoji="0" lang="en-US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78</a:t>
                      </a:r>
                      <a:endParaRPr kumimoji="0" lang="en-US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1001110</a:t>
                      </a:r>
                      <a:endParaRPr kumimoji="0" lang="en-US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  <a:endParaRPr kumimoji="0" lang="en-US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90</a:t>
                      </a:r>
                      <a:endParaRPr kumimoji="0" lang="en-US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1011010</a:t>
                      </a:r>
                      <a:endParaRPr kumimoji="0" lang="en-US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endParaRPr kumimoji="0" lang="en-US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23</a:t>
                      </a:r>
                      <a:endParaRPr kumimoji="0" lang="en-US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10111</a:t>
                      </a:r>
                      <a:endParaRPr kumimoji="0" lang="en-US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endParaRPr kumimoji="0" lang="en-US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45</a:t>
                      </a:r>
                      <a:endParaRPr kumimoji="0" lang="en-US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101101</a:t>
                      </a:r>
                      <a:endParaRPr kumimoji="0" lang="en-US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  <a:endParaRPr kumimoji="0" lang="en-US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67</a:t>
                      </a:r>
                      <a:endParaRPr kumimoji="0" lang="en-US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1000011</a:t>
                      </a:r>
                      <a:endParaRPr kumimoji="0" lang="en-US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  <a:endParaRPr kumimoji="0" lang="en-US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Rectangle 54"/>
          <p:cNvSpPr>
            <a:spLocks noChangeArrowheads="1"/>
          </p:cNvSpPr>
          <p:nvPr/>
        </p:nvSpPr>
        <p:spPr bwMode="auto">
          <a:xfrm>
            <a:off x="9032476" y="2329591"/>
            <a:ext cx="457200" cy="3886200"/>
          </a:xfrm>
          <a:prstGeom prst="rect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089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Practice: Multiplication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0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371408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"/>
                        <m:endChr m:val="|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⌊"/>
                            <m:endChr m:val="⌋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d>
                              <m:d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% 1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𝑘𝑒𝑦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𝑡𝑎𝑏𝑙𝑒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𝑠𝑖𝑧𝑒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0&lt;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Knuth’s choice: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≈0.61803398875)</a:t>
                </a:r>
              </a:p>
              <a:p>
                <a:r>
                  <a:rPr lang="en-US" dirty="0"/>
                  <a:t>Problem:</a:t>
                </a:r>
              </a:p>
              <a:p>
                <a:pPr lvl="1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 0.61803398875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Find the slot index for these keys: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=543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=12345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=999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Content Placeholder 10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371408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16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6548537"/>
                  </p:ext>
                </p:extLst>
              </p:nvPr>
            </p:nvGraphicFramePr>
            <p:xfrm>
              <a:off x="358812" y="5442137"/>
              <a:ext cx="11343192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45266">
                      <a:extLst>
                        <a:ext uri="{9D8B030D-6E8A-4147-A177-3AD203B41FA5}">
                          <a16:colId xmlns:a16="http://schemas.microsoft.com/office/drawing/2014/main" val="2058202439"/>
                        </a:ext>
                      </a:extLst>
                    </a:gridCol>
                    <a:gridCol w="945266">
                      <a:extLst>
                        <a:ext uri="{9D8B030D-6E8A-4147-A177-3AD203B41FA5}">
                          <a16:colId xmlns:a16="http://schemas.microsoft.com/office/drawing/2014/main" val="3139481010"/>
                        </a:ext>
                      </a:extLst>
                    </a:gridCol>
                    <a:gridCol w="945266">
                      <a:extLst>
                        <a:ext uri="{9D8B030D-6E8A-4147-A177-3AD203B41FA5}">
                          <a16:colId xmlns:a16="http://schemas.microsoft.com/office/drawing/2014/main" val="1415034594"/>
                        </a:ext>
                      </a:extLst>
                    </a:gridCol>
                    <a:gridCol w="945266">
                      <a:extLst>
                        <a:ext uri="{9D8B030D-6E8A-4147-A177-3AD203B41FA5}">
                          <a16:colId xmlns:a16="http://schemas.microsoft.com/office/drawing/2014/main" val="2432324312"/>
                        </a:ext>
                      </a:extLst>
                    </a:gridCol>
                    <a:gridCol w="952985">
                      <a:extLst>
                        <a:ext uri="{9D8B030D-6E8A-4147-A177-3AD203B41FA5}">
                          <a16:colId xmlns:a16="http://schemas.microsoft.com/office/drawing/2014/main" val="844795336"/>
                        </a:ext>
                      </a:extLst>
                    </a:gridCol>
                    <a:gridCol w="937547">
                      <a:extLst>
                        <a:ext uri="{9D8B030D-6E8A-4147-A177-3AD203B41FA5}">
                          <a16:colId xmlns:a16="http://schemas.microsoft.com/office/drawing/2014/main" val="4023517470"/>
                        </a:ext>
                      </a:extLst>
                    </a:gridCol>
                    <a:gridCol w="945266">
                      <a:extLst>
                        <a:ext uri="{9D8B030D-6E8A-4147-A177-3AD203B41FA5}">
                          <a16:colId xmlns:a16="http://schemas.microsoft.com/office/drawing/2014/main" val="933609976"/>
                        </a:ext>
                      </a:extLst>
                    </a:gridCol>
                    <a:gridCol w="945266">
                      <a:extLst>
                        <a:ext uri="{9D8B030D-6E8A-4147-A177-3AD203B41FA5}">
                          <a16:colId xmlns:a16="http://schemas.microsoft.com/office/drawing/2014/main" val="1763300634"/>
                        </a:ext>
                      </a:extLst>
                    </a:gridCol>
                    <a:gridCol w="945266">
                      <a:extLst>
                        <a:ext uri="{9D8B030D-6E8A-4147-A177-3AD203B41FA5}">
                          <a16:colId xmlns:a16="http://schemas.microsoft.com/office/drawing/2014/main" val="394863561"/>
                        </a:ext>
                      </a:extLst>
                    </a:gridCol>
                    <a:gridCol w="945266">
                      <a:extLst>
                        <a:ext uri="{9D8B030D-6E8A-4147-A177-3AD203B41FA5}">
                          <a16:colId xmlns:a16="http://schemas.microsoft.com/office/drawing/2014/main" val="275460962"/>
                        </a:ext>
                      </a:extLst>
                    </a:gridCol>
                    <a:gridCol w="945266">
                      <a:extLst>
                        <a:ext uri="{9D8B030D-6E8A-4147-A177-3AD203B41FA5}">
                          <a16:colId xmlns:a16="http://schemas.microsoft.com/office/drawing/2014/main" val="1154697923"/>
                        </a:ext>
                      </a:extLst>
                    </a:gridCol>
                    <a:gridCol w="945266">
                      <a:extLst>
                        <a:ext uri="{9D8B030D-6E8A-4147-A177-3AD203B41FA5}">
                          <a16:colId xmlns:a16="http://schemas.microsoft.com/office/drawing/2014/main" val="49796614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2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=543</m:t>
                                </m:r>
                                <m:r>
                                  <a:rPr lang="en-US" sz="1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oMath>
                            </m:oMathPara>
                          </a14:m>
                          <a:endParaRPr lang="en-US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2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kern="120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kern="120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400" b="0" i="1" kern="120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400" b="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=999</m:t>
                                </m:r>
                              </m:oMath>
                            </m:oMathPara>
                          </a14:m>
                          <a:endParaRPr lang="en-US" sz="1400" b="0" i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2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kern="120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kern="120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400" b="0" i="1" kern="120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400" b="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=12345</m:t>
                                </m:r>
                              </m:oMath>
                            </m:oMathPara>
                          </a14:m>
                          <a:endParaRPr lang="en-US" sz="1400" b="0" i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49346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6548537"/>
                  </p:ext>
                </p:extLst>
              </p:nvPr>
            </p:nvGraphicFramePr>
            <p:xfrm>
              <a:off x="358812" y="5442137"/>
              <a:ext cx="11343192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45266">
                      <a:extLst>
                        <a:ext uri="{9D8B030D-6E8A-4147-A177-3AD203B41FA5}">
                          <a16:colId xmlns:a16="http://schemas.microsoft.com/office/drawing/2014/main" val="2058202439"/>
                        </a:ext>
                      </a:extLst>
                    </a:gridCol>
                    <a:gridCol w="945266">
                      <a:extLst>
                        <a:ext uri="{9D8B030D-6E8A-4147-A177-3AD203B41FA5}">
                          <a16:colId xmlns:a16="http://schemas.microsoft.com/office/drawing/2014/main" val="3139481010"/>
                        </a:ext>
                      </a:extLst>
                    </a:gridCol>
                    <a:gridCol w="945266">
                      <a:extLst>
                        <a:ext uri="{9D8B030D-6E8A-4147-A177-3AD203B41FA5}">
                          <a16:colId xmlns:a16="http://schemas.microsoft.com/office/drawing/2014/main" val="1415034594"/>
                        </a:ext>
                      </a:extLst>
                    </a:gridCol>
                    <a:gridCol w="945266">
                      <a:extLst>
                        <a:ext uri="{9D8B030D-6E8A-4147-A177-3AD203B41FA5}">
                          <a16:colId xmlns:a16="http://schemas.microsoft.com/office/drawing/2014/main" val="2432324312"/>
                        </a:ext>
                      </a:extLst>
                    </a:gridCol>
                    <a:gridCol w="952985">
                      <a:extLst>
                        <a:ext uri="{9D8B030D-6E8A-4147-A177-3AD203B41FA5}">
                          <a16:colId xmlns:a16="http://schemas.microsoft.com/office/drawing/2014/main" val="844795336"/>
                        </a:ext>
                      </a:extLst>
                    </a:gridCol>
                    <a:gridCol w="937547">
                      <a:extLst>
                        <a:ext uri="{9D8B030D-6E8A-4147-A177-3AD203B41FA5}">
                          <a16:colId xmlns:a16="http://schemas.microsoft.com/office/drawing/2014/main" val="4023517470"/>
                        </a:ext>
                      </a:extLst>
                    </a:gridCol>
                    <a:gridCol w="945266">
                      <a:extLst>
                        <a:ext uri="{9D8B030D-6E8A-4147-A177-3AD203B41FA5}">
                          <a16:colId xmlns:a16="http://schemas.microsoft.com/office/drawing/2014/main" val="933609976"/>
                        </a:ext>
                      </a:extLst>
                    </a:gridCol>
                    <a:gridCol w="945266">
                      <a:extLst>
                        <a:ext uri="{9D8B030D-6E8A-4147-A177-3AD203B41FA5}">
                          <a16:colId xmlns:a16="http://schemas.microsoft.com/office/drawing/2014/main" val="1763300634"/>
                        </a:ext>
                      </a:extLst>
                    </a:gridCol>
                    <a:gridCol w="945266">
                      <a:extLst>
                        <a:ext uri="{9D8B030D-6E8A-4147-A177-3AD203B41FA5}">
                          <a16:colId xmlns:a16="http://schemas.microsoft.com/office/drawing/2014/main" val="394863561"/>
                        </a:ext>
                      </a:extLst>
                    </a:gridCol>
                    <a:gridCol w="945266">
                      <a:extLst>
                        <a:ext uri="{9D8B030D-6E8A-4147-A177-3AD203B41FA5}">
                          <a16:colId xmlns:a16="http://schemas.microsoft.com/office/drawing/2014/main" val="275460962"/>
                        </a:ext>
                      </a:extLst>
                    </a:gridCol>
                    <a:gridCol w="945266">
                      <a:extLst>
                        <a:ext uri="{9D8B030D-6E8A-4147-A177-3AD203B41FA5}">
                          <a16:colId xmlns:a16="http://schemas.microsoft.com/office/drawing/2014/main" val="1154697923"/>
                        </a:ext>
                      </a:extLst>
                    </a:gridCol>
                    <a:gridCol w="945266">
                      <a:extLst>
                        <a:ext uri="{9D8B030D-6E8A-4147-A177-3AD203B41FA5}">
                          <a16:colId xmlns:a16="http://schemas.microsoft.com/office/drawing/2014/main" val="49796614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9359" t="-1613" r="-896154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8718" t="-1613" r="-696795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1290" t="-1613" r="-401935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493466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41114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Restrictions on value of 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Keeping m = 2</a:t>
            </a:r>
            <a:r>
              <a:rPr lang="en-US" baseline="30000" dirty="0"/>
              <a:t>p</a:t>
            </a:r>
            <a:r>
              <a:rPr lang="en-US" dirty="0"/>
              <a:t> would be fine only if</a:t>
            </a:r>
          </a:p>
          <a:p>
            <a:pPr lvl="1"/>
            <a:r>
              <a:rPr lang="en-US" dirty="0"/>
              <a:t>it is known that probability distribution on keys makes all lower order p-bit patterns equally likely</a:t>
            </a:r>
          </a:p>
          <a:p>
            <a:endParaRPr lang="en-US" dirty="0"/>
          </a:p>
          <a:p>
            <a:r>
              <a:rPr lang="en-US" dirty="0"/>
              <a:t>Otherwise </a:t>
            </a:r>
          </a:p>
          <a:p>
            <a:pPr lvl="1"/>
            <a:r>
              <a:rPr lang="en-US" dirty="0"/>
              <a:t>it is better to make the hash function </a:t>
            </a:r>
            <a:r>
              <a:rPr lang="en-US" dirty="0">
                <a:solidFill>
                  <a:schemeClr val="hlink"/>
                </a:solidFill>
              </a:rPr>
              <a:t>dependent</a:t>
            </a:r>
            <a:r>
              <a:rPr lang="en-US" dirty="0"/>
              <a:t> on </a:t>
            </a:r>
            <a:r>
              <a:rPr lang="en-US" dirty="0">
                <a:solidFill>
                  <a:schemeClr val="hlink"/>
                </a:solidFill>
              </a:rPr>
              <a:t>all</a:t>
            </a:r>
            <a:r>
              <a:rPr lang="en-US" dirty="0"/>
              <a:t> the bits of the key.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4BC561-BCEA-4F0B-95C2-8CA863EDD649}" type="slidenum">
              <a:rPr lang="de-DE" altLang="zh-CN" smtClean="0"/>
              <a:pPr>
                <a:defRPr/>
              </a:pPr>
              <a:t>17</a:t>
            </a:fld>
            <a:endParaRPr lang="de-DE" altLang="zh-CN" dirty="0"/>
          </a:p>
        </p:txBody>
      </p:sp>
    </p:spTree>
    <p:extLst>
      <p:ext uri="{BB962C8B-B14F-4D97-AF65-F5344CB8AC3E}">
        <p14:creationId xmlns:p14="http://schemas.microsoft.com/office/powerpoint/2010/main" val="12653771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value of 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Good values of </a:t>
            </a:r>
            <a:r>
              <a:rPr lang="en-US" i="1" dirty="0"/>
              <a:t>m</a:t>
            </a:r>
            <a:r>
              <a:rPr lang="en-US" dirty="0"/>
              <a:t> are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primes</a:t>
            </a:r>
            <a:r>
              <a:rPr lang="en-US" dirty="0"/>
              <a:t> not close to the exact powers of 2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E.g., if you want to store 2000 elements then</a:t>
            </a:r>
          </a:p>
          <a:p>
            <a:pPr lvl="2"/>
            <a:r>
              <a:rPr lang="en-US" sz="2400" dirty="0"/>
              <a:t>We don’t mind examining an average of 3 elements on unsuccessful search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We choose m = 701 (m = </a:t>
            </a:r>
            <a:r>
              <a:rPr lang="en-US" i="1" dirty="0"/>
              <a:t>hash table length</a:t>
            </a:r>
            <a:r>
              <a:rPr lang="en-US" dirty="0"/>
              <a:t>) which is a prime near 2000/3 but not near power of 2 and yields a hash function as follows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4BC561-BCEA-4F0B-95C2-8CA863EDD649}" type="slidenum">
              <a:rPr lang="de-DE" altLang="zh-CN" smtClean="0"/>
              <a:pPr>
                <a:defRPr/>
              </a:pPr>
              <a:t>18</a:t>
            </a:fld>
            <a:endParaRPr lang="de-DE" altLang="zh-CN" dirty="0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4776291" y="5074025"/>
            <a:ext cx="250260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h(k) = k mod 701</a:t>
            </a:r>
          </a:p>
        </p:txBody>
      </p:sp>
    </p:spTree>
    <p:extLst>
      <p:ext uri="{BB962C8B-B14F-4D97-AF65-F5344CB8AC3E}">
        <p14:creationId xmlns:p14="http://schemas.microsoft.com/office/powerpoint/2010/main" val="31731901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Practice: String Hashing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How?</a:t>
                </a:r>
              </a:p>
              <a:p>
                <a:pPr lvl="1"/>
                <a:r>
                  <a:rPr lang="en-US" dirty="0"/>
                  <a:t>Convert each character to ASCII.</a:t>
                </a:r>
              </a:p>
              <a:p>
                <a:pPr lvl="1"/>
                <a:r>
                  <a:rPr lang="en-US" dirty="0"/>
                  <a:t>Sum codes.</a:t>
                </a:r>
              </a:p>
              <a:p>
                <a:pPr lvl="1"/>
                <a:r>
                  <a:rPr lang="en-US" dirty="0"/>
                  <a:t>Apply modulo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to find slot index.</a:t>
                </a:r>
              </a:p>
              <a:p>
                <a:r>
                  <a:rPr lang="en-US" dirty="0"/>
                  <a:t>Problem</a:t>
                </a:r>
              </a:p>
              <a:p>
                <a:pPr lvl="1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Find the slot index for these keys:</a:t>
                </a:r>
              </a:p>
              <a:p>
                <a:pPr lvl="2"/>
                <a:r>
                  <a:rPr lang="en-US" dirty="0"/>
                  <a:t>"HASH"</a:t>
                </a:r>
              </a:p>
              <a:p>
                <a:pPr lvl="2"/>
                <a:r>
                  <a:rPr lang="en-US" dirty="0"/>
                  <a:t>"CODE"</a:t>
                </a:r>
              </a:p>
              <a:p>
                <a:pPr lvl="2"/>
                <a:r>
                  <a:rPr lang="en-US" dirty="0"/>
                  <a:t>"DATA“</a:t>
                </a:r>
              </a:p>
              <a:p>
                <a:r>
                  <a:rPr lang="en-US" dirty="0"/>
                  <a:t>Solution?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19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858420"/>
              </p:ext>
            </p:extLst>
          </p:nvPr>
        </p:nvGraphicFramePr>
        <p:xfrm>
          <a:off x="6583680" y="406582"/>
          <a:ext cx="5013960" cy="4182880"/>
        </p:xfrm>
        <a:graphic>
          <a:graphicData uri="http://schemas.openxmlformats.org/drawingml/2006/table">
            <a:tbl>
              <a:tblPr firstRow="1">
                <a:tableStyleId>{775DCB02-9BB8-47FD-8907-85C794F793BA}</a:tableStyleId>
              </a:tblPr>
              <a:tblGrid>
                <a:gridCol w="626745">
                  <a:extLst>
                    <a:ext uri="{9D8B030D-6E8A-4147-A177-3AD203B41FA5}">
                      <a16:colId xmlns:a16="http://schemas.microsoft.com/office/drawing/2014/main" val="411920449"/>
                    </a:ext>
                  </a:extLst>
                </a:gridCol>
                <a:gridCol w="626745">
                  <a:extLst>
                    <a:ext uri="{9D8B030D-6E8A-4147-A177-3AD203B41FA5}">
                      <a16:colId xmlns:a16="http://schemas.microsoft.com/office/drawing/2014/main" val="3272800038"/>
                    </a:ext>
                  </a:extLst>
                </a:gridCol>
                <a:gridCol w="626745">
                  <a:extLst>
                    <a:ext uri="{9D8B030D-6E8A-4147-A177-3AD203B41FA5}">
                      <a16:colId xmlns:a16="http://schemas.microsoft.com/office/drawing/2014/main" val="2805347614"/>
                    </a:ext>
                  </a:extLst>
                </a:gridCol>
                <a:gridCol w="626745">
                  <a:extLst>
                    <a:ext uri="{9D8B030D-6E8A-4147-A177-3AD203B41FA5}">
                      <a16:colId xmlns:a16="http://schemas.microsoft.com/office/drawing/2014/main" val="682106191"/>
                    </a:ext>
                  </a:extLst>
                </a:gridCol>
                <a:gridCol w="626745">
                  <a:extLst>
                    <a:ext uri="{9D8B030D-6E8A-4147-A177-3AD203B41FA5}">
                      <a16:colId xmlns:a16="http://schemas.microsoft.com/office/drawing/2014/main" val="2546125795"/>
                    </a:ext>
                  </a:extLst>
                </a:gridCol>
                <a:gridCol w="626745">
                  <a:extLst>
                    <a:ext uri="{9D8B030D-6E8A-4147-A177-3AD203B41FA5}">
                      <a16:colId xmlns:a16="http://schemas.microsoft.com/office/drawing/2014/main" val="2740766501"/>
                    </a:ext>
                  </a:extLst>
                </a:gridCol>
                <a:gridCol w="626745">
                  <a:extLst>
                    <a:ext uri="{9D8B030D-6E8A-4147-A177-3AD203B41FA5}">
                      <a16:colId xmlns:a16="http://schemas.microsoft.com/office/drawing/2014/main" val="2378237853"/>
                    </a:ext>
                  </a:extLst>
                </a:gridCol>
                <a:gridCol w="626745">
                  <a:extLst>
                    <a:ext uri="{9D8B030D-6E8A-4147-A177-3AD203B41FA5}">
                      <a16:colId xmlns:a16="http://schemas.microsoft.com/office/drawing/2014/main" val="749428519"/>
                    </a:ext>
                  </a:extLst>
                </a:gridCol>
              </a:tblGrid>
              <a:tr h="52286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Letter</a:t>
                      </a:r>
                      <a:endParaRPr lang="en-US" sz="1600" b="1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ASCII</a:t>
                      </a:r>
                      <a:endParaRPr lang="en-US" sz="1600" b="1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Letter</a:t>
                      </a:r>
                      <a:endParaRPr lang="en-US" sz="1600" b="1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ASCII</a:t>
                      </a:r>
                      <a:endParaRPr lang="en-US" sz="1600" b="1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Letter</a:t>
                      </a:r>
                      <a:endParaRPr lang="en-US" sz="1600" b="1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ASCII</a:t>
                      </a:r>
                      <a:endParaRPr lang="en-US" sz="1600" b="1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Letter</a:t>
                      </a:r>
                      <a:endParaRPr lang="en-US" sz="1600" b="1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ASCII</a:t>
                      </a:r>
                      <a:endParaRPr lang="en-US" sz="1600" b="1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20724061"/>
                  </a:ext>
                </a:extLst>
              </a:tr>
              <a:tr h="52286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65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H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72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79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V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86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01948399"/>
                  </a:ext>
                </a:extLst>
              </a:tr>
              <a:tr h="52286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B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73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80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W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87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78690159"/>
                  </a:ext>
                </a:extLst>
              </a:tr>
              <a:tr h="52286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C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67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J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74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Q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81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X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88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9841762"/>
                  </a:ext>
                </a:extLst>
              </a:tr>
              <a:tr h="52286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68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K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75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82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89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49605865"/>
                  </a:ext>
                </a:extLst>
              </a:tr>
              <a:tr h="52286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69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76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83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Z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90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20484811"/>
                  </a:ext>
                </a:extLst>
              </a:tr>
              <a:tr h="52286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F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70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M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77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84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2031931"/>
                  </a:ext>
                </a:extLst>
              </a:tr>
              <a:tr h="52286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71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78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U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85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77091853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111240" y="4724400"/>
            <a:ext cx="5486400" cy="145256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000" dirty="0"/>
              <a:t>"HASH": 72 + 65 + 83 + 72 = 292, 292 mod 12 = 4</a:t>
            </a:r>
          </a:p>
          <a:p>
            <a:pPr algn="ctr"/>
            <a:r>
              <a:rPr lang="da-DK" sz="2000" dirty="0"/>
              <a:t>"CODE": 67 + 79 + 68 + 69 = 283, 283 mod 12 = 7</a:t>
            </a:r>
          </a:p>
          <a:p>
            <a:pPr algn="ctr"/>
            <a:r>
              <a:rPr lang="da-DK" sz="2000" dirty="0"/>
              <a:t>"DATA": 68 + 65 + 84 + 65 = 282, 282 mod 12 = 6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6719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Hash Table?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Operations in a Hash Table</a:t>
                </a:r>
              </a:p>
              <a:p>
                <a:pPr lvl="1"/>
                <a:r>
                  <a:rPr lang="en-US" dirty="0"/>
                  <a:t>Insert(k, v) → Compute index, place (key, value) in slot.</a:t>
                </a:r>
              </a:p>
              <a:p>
                <a:pPr lvl="1"/>
                <a:r>
                  <a:rPr lang="en-US" dirty="0"/>
                  <a:t>Search(k) → Compute index, look up value in slot.</a:t>
                </a:r>
              </a:p>
              <a:p>
                <a:pPr lvl="1"/>
                <a:r>
                  <a:rPr lang="en-US" dirty="0"/>
                  <a:t>Delete(k) → Compute index, remove the (key, value) pair.</a:t>
                </a:r>
              </a:p>
              <a:p>
                <a:r>
                  <a:rPr lang="en-US" dirty="0"/>
                  <a:t>Performance</a:t>
                </a:r>
              </a:p>
              <a:p>
                <a:pPr lvl="1"/>
                <a:r>
                  <a:rPr lang="en-US" dirty="0"/>
                  <a:t>Average case: O(1) for insert, search, delete.</a:t>
                </a:r>
              </a:p>
              <a:p>
                <a:pPr lvl="1"/>
                <a:r>
                  <a:rPr lang="en-US" dirty="0"/>
                  <a:t>Worst case: O(n) if many collisions occur</a:t>
                </a:r>
              </a:p>
              <a:p>
                <a:pPr lvl="1"/>
                <a:r>
                  <a:rPr lang="en-US" b="1" dirty="0"/>
                  <a:t>Performance depends heavily on:</a:t>
                </a:r>
              </a:p>
              <a:p>
                <a:pPr lvl="2"/>
                <a:r>
                  <a:rPr lang="en-US" b="1" dirty="0"/>
                  <a:t>Load factor (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/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b="1" dirty="0"/>
                  <a:t>)</a:t>
                </a:r>
              </a:p>
              <a:p>
                <a:pPr lvl="2"/>
                <a:r>
                  <a:rPr lang="en-US" b="1" dirty="0"/>
                  <a:t>Hash function quality</a:t>
                </a:r>
              </a:p>
              <a:p>
                <a:pPr lvl="2"/>
                <a:r>
                  <a:rPr lang="en-US" b="1" dirty="0"/>
                  <a:t>Collision resolution method (next lecture)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965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Collision Resolution</a:t>
            </a:r>
            <a:endParaRPr lang="en-US" dirty="0"/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in HashTables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4254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New Problem!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Let’s digitize a fruit shop!</a:t>
            </a:r>
          </a:p>
          <a:p>
            <a:pPr lvl="1"/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The memory has space for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10 fruit varieties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at a time.</a:t>
            </a:r>
          </a:p>
          <a:p>
            <a:pPr lvl="1"/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Throughout the year, we may encounter up to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300 unique fruit types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(varieties, not quantities).</a:t>
            </a:r>
          </a:p>
          <a:p>
            <a:pPr lvl="1"/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A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hash table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will help us quickly store and retrieve information about each fruit type.</a:t>
            </a:r>
          </a:p>
          <a:p>
            <a:pPr lvl="1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1652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New Problem!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829926" cy="4351338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Let’s digitize a fruit shop!</a:t>
                </a:r>
              </a:p>
              <a:p>
                <a:pPr lvl="1"/>
                <a:r>
                  <a:rPr lang="en-GB" dirty="0"/>
                  <a:t>We have space in memory for 10 different items at a time.</a:t>
                </a:r>
              </a:p>
              <a:p>
                <a:pPr lvl="1"/>
                <a:r>
                  <a:rPr lang="en-GB" dirty="0"/>
                  <a:t>Total possible unique items we may ever handle: ~300 (not quantity, just variety)</a:t>
                </a:r>
              </a:p>
              <a:p>
                <a:pPr lvl="1"/>
                <a:endParaRPr lang="en-GB" dirty="0"/>
              </a:p>
              <a:p>
                <a:r>
                  <a:rPr lang="en-GB" dirty="0"/>
                  <a:t>We use a hash function to decide where to place each item in a table.</a:t>
                </a:r>
              </a:p>
              <a:p>
                <a:pPr lvl="1"/>
                <a:r>
                  <a:rPr lang="en-GB" dirty="0"/>
                  <a:t>Example Hash Function: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dirty="0" smtClean="0">
                        <a:latin typeface="Cambria Math" panose="02040503050406030204" pitchFamily="18" charset="0"/>
                      </a:rPr>
                      <m:t>𝒉</m:t>
                    </m:r>
                    <m:d>
                      <m:d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dirty="0" smtClean="0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en-GB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dirty="0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GB" dirty="0" smtClean="0">
                        <a:latin typeface="Cambria Math" panose="02040503050406030204" pitchFamily="18" charset="0"/>
                      </a:rPr>
                      <m:t> % </m:t>
                    </m:r>
                    <m:r>
                      <a:rPr lang="en-GB" dirty="0" smtClean="0"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829926" cy="4351338"/>
              </a:xfrm>
              <a:blipFill rotWithShape="0">
                <a:blip r:embed="rId2"/>
                <a:stretch>
                  <a:fillRect l="-1607" t="-2241" r="-2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pPr/>
              <a:t>23</a:t>
            </a:fld>
            <a:endParaRPr lang="en-US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8115655" y="2659001"/>
          <a:ext cx="3807105" cy="30325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0778">
                  <a:extLst>
                    <a:ext uri="{9D8B030D-6E8A-4147-A177-3AD203B41FA5}">
                      <a16:colId xmlns:a16="http://schemas.microsoft.com/office/drawing/2014/main" val="1916111987"/>
                    </a:ext>
                  </a:extLst>
                </a:gridCol>
                <a:gridCol w="891251">
                  <a:extLst>
                    <a:ext uri="{9D8B030D-6E8A-4147-A177-3AD203B41FA5}">
                      <a16:colId xmlns:a16="http://schemas.microsoft.com/office/drawing/2014/main" val="2211725603"/>
                    </a:ext>
                  </a:extLst>
                </a:gridCol>
                <a:gridCol w="2175076">
                  <a:extLst>
                    <a:ext uri="{9D8B030D-6E8A-4147-A177-3AD203B41FA5}">
                      <a16:colId xmlns:a16="http://schemas.microsoft.com/office/drawing/2014/main" val="1289628246"/>
                    </a:ext>
                  </a:extLst>
                </a:gridCol>
              </a:tblGrid>
              <a:tr h="3032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[0]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988862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[1]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0968345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[2]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6466425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[3]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3993963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[4]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5206000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[5]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619481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[6]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1028744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[7]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0059263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[8]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2304018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[9]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12887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96655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New Problem!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6893206" cy="4714071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Hash Function: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dirty="0" smtClean="0">
                        <a:latin typeface="Cambria Math" panose="02040503050406030204" pitchFamily="18" charset="0"/>
                      </a:rPr>
                      <m:t>𝒉</m:t>
                    </m:r>
                    <m:d>
                      <m:d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dirty="0" smtClean="0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en-GB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dirty="0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GB" dirty="0" smtClean="0">
                        <a:latin typeface="Cambria Math" panose="02040503050406030204" pitchFamily="18" charset="0"/>
                      </a:rPr>
                      <m:t> % </m:t>
                    </m:r>
                    <m:r>
                      <a:rPr lang="en-GB" dirty="0" smtClean="0"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endParaRPr lang="en-GB" dirty="0"/>
              </a:p>
              <a:p>
                <a:r>
                  <a:rPr lang="en-GB" dirty="0"/>
                  <a:t>Now we add:</a:t>
                </a:r>
              </a:p>
              <a:p>
                <a:pPr lvl="1"/>
                <a:r>
                  <a:rPr lang="en-GB" dirty="0"/>
                  <a:t>{85, Apple, Qty: 120} </a:t>
                </a:r>
                <a14:m>
                  <m:oMath xmlns:m="http://schemas.openxmlformats.org/officeDocument/2006/math">
                    <m:r>
                      <a:rPr lang="en-GB" dirty="0" smtClean="0">
                        <a:latin typeface="Cambria Math" panose="02040503050406030204" pitchFamily="18" charset="0"/>
                      </a:rPr>
                      <m:t>→85 </m:t>
                    </m:r>
                    <m:r>
                      <a:rPr lang="en-US" dirty="0" smtClean="0">
                        <a:latin typeface="Cambria Math" panose="02040503050406030204" pitchFamily="18" charset="0"/>
                      </a:rPr>
                      <m:t>%</m:t>
                    </m:r>
                    <m:r>
                      <a:rPr lang="en-GB" dirty="0" smtClean="0">
                        <a:latin typeface="Cambria Math" panose="02040503050406030204" pitchFamily="18" charset="0"/>
                      </a:rPr>
                      <m:t> 10=5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6893206" cy="4714071"/>
              </a:xfrm>
              <a:blipFill>
                <a:blip r:embed="rId2"/>
                <a:stretch>
                  <a:fillRect l="-1657" t="-2145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pPr/>
              <a:t>24</a:t>
            </a:fld>
            <a:endParaRPr lang="en-US" dirty="0"/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8115655" y="2659001"/>
          <a:ext cx="3807105" cy="30325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0778">
                  <a:extLst>
                    <a:ext uri="{9D8B030D-6E8A-4147-A177-3AD203B41FA5}">
                      <a16:colId xmlns:a16="http://schemas.microsoft.com/office/drawing/2014/main" val="1916111987"/>
                    </a:ext>
                  </a:extLst>
                </a:gridCol>
                <a:gridCol w="891251">
                  <a:extLst>
                    <a:ext uri="{9D8B030D-6E8A-4147-A177-3AD203B41FA5}">
                      <a16:colId xmlns:a16="http://schemas.microsoft.com/office/drawing/2014/main" val="2211725603"/>
                    </a:ext>
                  </a:extLst>
                </a:gridCol>
                <a:gridCol w="2175076">
                  <a:extLst>
                    <a:ext uri="{9D8B030D-6E8A-4147-A177-3AD203B41FA5}">
                      <a16:colId xmlns:a16="http://schemas.microsoft.com/office/drawing/2014/main" val="1289628246"/>
                    </a:ext>
                  </a:extLst>
                </a:gridCol>
              </a:tblGrid>
              <a:tr h="3032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[0]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988862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[1]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0968345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[2]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6466425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[3]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3993963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[4]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5206000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[5]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619481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[6]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1028744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[7]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0059263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[8]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2304018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[9]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1288784"/>
                  </a:ext>
                </a:extLst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8971698" y="4210011"/>
            <a:ext cx="613458" cy="231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93984" y="4210011"/>
            <a:ext cx="2037144" cy="231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{85, Apple, Qty: 120}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1475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New Problem!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6893206" cy="4714071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Hash Function: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dirty="0" smtClean="0">
                        <a:latin typeface="Cambria Math" panose="02040503050406030204" pitchFamily="18" charset="0"/>
                      </a:rPr>
                      <m:t>𝒉</m:t>
                    </m:r>
                    <m:d>
                      <m:d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dirty="0" smtClean="0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en-GB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dirty="0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GB" dirty="0" smtClean="0">
                        <a:latin typeface="Cambria Math" panose="02040503050406030204" pitchFamily="18" charset="0"/>
                      </a:rPr>
                      <m:t> % </m:t>
                    </m:r>
                    <m:r>
                      <a:rPr lang="en-GB" dirty="0" smtClean="0"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endParaRPr lang="en-GB" dirty="0"/>
              </a:p>
              <a:p>
                <a:r>
                  <a:rPr lang="en-GB" dirty="0"/>
                  <a:t>Now we add:</a:t>
                </a:r>
              </a:p>
              <a:p>
                <a:pPr lvl="1"/>
                <a:r>
                  <a:rPr lang="en-GB" dirty="0"/>
                  <a:t>{85, Apple, Qty: 120} </a:t>
                </a:r>
                <a14:m>
                  <m:oMath xmlns:m="http://schemas.openxmlformats.org/officeDocument/2006/math">
                    <m:r>
                      <a:rPr lang="en-GB" dirty="0">
                        <a:latin typeface="Cambria Math" panose="02040503050406030204" pitchFamily="18" charset="0"/>
                      </a:rPr>
                      <m:t>→85 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%</m:t>
                    </m:r>
                    <m:r>
                      <a:rPr lang="en-GB" dirty="0">
                        <a:latin typeface="Cambria Math" panose="02040503050406030204" pitchFamily="18" charset="0"/>
                      </a:rPr>
                      <m:t> 10=5</m:t>
                    </m:r>
                  </m:oMath>
                </a14:m>
                <a:endParaRPr lang="en-US" dirty="0"/>
              </a:p>
              <a:p>
                <a:pPr lvl="1"/>
                <a:r>
                  <a:rPr lang="en-GB" dirty="0"/>
                  <a:t>{323, Apple, Qty: 60} </a:t>
                </a:r>
                <a14:m>
                  <m:oMath xmlns:m="http://schemas.openxmlformats.org/officeDocument/2006/math">
                    <m:r>
                      <a:rPr lang="en-GB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323</m:t>
                    </m:r>
                    <m:r>
                      <a:rPr lang="en-GB" dirty="0">
                        <a:latin typeface="Cambria Math" panose="02040503050406030204" pitchFamily="18" charset="0"/>
                      </a:rPr>
                      <m:t> 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%</m:t>
                    </m:r>
                    <m:r>
                      <a:rPr lang="en-GB" dirty="0">
                        <a:latin typeface="Cambria Math" panose="02040503050406030204" pitchFamily="18" charset="0"/>
                      </a:rPr>
                      <m:t> 10=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6893206" cy="4714071"/>
              </a:xfrm>
              <a:blipFill>
                <a:blip r:embed="rId2"/>
                <a:stretch>
                  <a:fillRect l="-1657" t="-2145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pPr/>
              <a:t>25</a:t>
            </a:fld>
            <a:endParaRPr lang="en-US" dirty="0"/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8115655" y="2659001"/>
          <a:ext cx="3807105" cy="30325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0778">
                  <a:extLst>
                    <a:ext uri="{9D8B030D-6E8A-4147-A177-3AD203B41FA5}">
                      <a16:colId xmlns:a16="http://schemas.microsoft.com/office/drawing/2014/main" val="1916111987"/>
                    </a:ext>
                  </a:extLst>
                </a:gridCol>
                <a:gridCol w="891251">
                  <a:extLst>
                    <a:ext uri="{9D8B030D-6E8A-4147-A177-3AD203B41FA5}">
                      <a16:colId xmlns:a16="http://schemas.microsoft.com/office/drawing/2014/main" val="2211725603"/>
                    </a:ext>
                  </a:extLst>
                </a:gridCol>
                <a:gridCol w="2175076">
                  <a:extLst>
                    <a:ext uri="{9D8B030D-6E8A-4147-A177-3AD203B41FA5}">
                      <a16:colId xmlns:a16="http://schemas.microsoft.com/office/drawing/2014/main" val="1289628246"/>
                    </a:ext>
                  </a:extLst>
                </a:gridCol>
              </a:tblGrid>
              <a:tr h="3032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[0]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988862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[1]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0968345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[2]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6466425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[3]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3993963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[4]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5206000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[5]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619481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[6]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1028744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[7]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0059263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[8]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2304018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[9]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1288784"/>
                  </a:ext>
                </a:extLst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8971698" y="4210011"/>
            <a:ext cx="613458" cy="231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93984" y="4210011"/>
            <a:ext cx="2037144" cy="231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{85, Apple, Qty: 120} 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8971698" y="3604205"/>
                <a:ext cx="613458" cy="23149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323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1698" y="3604205"/>
                <a:ext cx="613458" cy="231493"/>
              </a:xfrm>
              <a:prstGeom prst="rect">
                <a:avLst/>
              </a:prstGeom>
              <a:blipFill>
                <a:blip r:embed="rId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/>
          <p:cNvSpPr/>
          <p:nvPr/>
        </p:nvSpPr>
        <p:spPr>
          <a:xfrm>
            <a:off x="9793984" y="3604205"/>
            <a:ext cx="2037144" cy="231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{323, Guava, Qty: 60}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149124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New Problem!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6893206" cy="4714071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Hash Function: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dirty="0" smtClean="0">
                        <a:latin typeface="Cambria Math" panose="02040503050406030204" pitchFamily="18" charset="0"/>
                      </a:rPr>
                      <m:t>𝒉</m:t>
                    </m:r>
                    <m:d>
                      <m:d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dirty="0" smtClean="0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en-GB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dirty="0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GB" dirty="0" smtClean="0">
                        <a:latin typeface="Cambria Math" panose="02040503050406030204" pitchFamily="18" charset="0"/>
                      </a:rPr>
                      <m:t> % </m:t>
                    </m:r>
                    <m:r>
                      <a:rPr lang="en-GB" dirty="0" smtClean="0"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endParaRPr lang="en-GB" dirty="0"/>
              </a:p>
              <a:p>
                <a:r>
                  <a:rPr lang="en-GB" dirty="0"/>
                  <a:t>Now we add:</a:t>
                </a:r>
              </a:p>
              <a:p>
                <a:pPr lvl="1"/>
                <a:r>
                  <a:rPr lang="en-GB" dirty="0"/>
                  <a:t>{85, Apple, Qty: 120} </a:t>
                </a:r>
                <a14:m>
                  <m:oMath xmlns:m="http://schemas.openxmlformats.org/officeDocument/2006/math">
                    <m:r>
                      <a:rPr lang="en-GB" dirty="0">
                        <a:latin typeface="Cambria Math" panose="02040503050406030204" pitchFamily="18" charset="0"/>
                      </a:rPr>
                      <m:t>→85 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%</m:t>
                    </m:r>
                    <m:r>
                      <a:rPr lang="en-GB" dirty="0">
                        <a:latin typeface="Cambria Math" panose="02040503050406030204" pitchFamily="18" charset="0"/>
                      </a:rPr>
                      <m:t> 10=5</m:t>
                    </m:r>
                  </m:oMath>
                </a14:m>
                <a:endParaRPr lang="en-US" dirty="0"/>
              </a:p>
              <a:p>
                <a:pPr lvl="1"/>
                <a:r>
                  <a:rPr lang="en-GB" dirty="0"/>
                  <a:t>{323, Apple, Qty: 60} </a:t>
                </a:r>
                <a14:m>
                  <m:oMath xmlns:m="http://schemas.openxmlformats.org/officeDocument/2006/math">
                    <m:r>
                      <a:rPr lang="en-GB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323</m:t>
                    </m:r>
                    <m:r>
                      <a:rPr lang="en-GB" dirty="0">
                        <a:latin typeface="Cambria Math" panose="02040503050406030204" pitchFamily="18" charset="0"/>
                      </a:rPr>
                      <m:t> 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%</m:t>
                    </m:r>
                    <m:r>
                      <a:rPr lang="en-GB" dirty="0">
                        <a:latin typeface="Cambria Math" panose="02040503050406030204" pitchFamily="18" charset="0"/>
                      </a:rPr>
                      <m:t> 10=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dirty="0"/>
              </a:p>
              <a:p>
                <a:pPr lvl="1"/>
                <a:r>
                  <a:rPr lang="en-GB" dirty="0"/>
                  <a:t>{462, Pear, Qty: 80} </a:t>
                </a:r>
                <a14:m>
                  <m:oMath xmlns:m="http://schemas.openxmlformats.org/officeDocument/2006/math">
                    <m:r>
                      <a:rPr lang="en-GB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462</m:t>
                    </m:r>
                    <m:r>
                      <a:rPr lang="en-GB" dirty="0">
                        <a:latin typeface="Cambria Math" panose="02040503050406030204" pitchFamily="18" charset="0"/>
                      </a:rPr>
                      <m:t> 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%</m:t>
                    </m:r>
                    <m:r>
                      <a:rPr lang="en-GB" dirty="0">
                        <a:latin typeface="Cambria Math" panose="02040503050406030204" pitchFamily="18" charset="0"/>
                      </a:rPr>
                      <m:t> 10=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6893206" cy="4714071"/>
              </a:xfrm>
              <a:blipFill>
                <a:blip r:embed="rId2"/>
                <a:stretch>
                  <a:fillRect l="-1657" t="-2145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pPr/>
              <a:t>26</a:t>
            </a:fld>
            <a:endParaRPr lang="en-US" dirty="0"/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8115655" y="2659001"/>
          <a:ext cx="3807105" cy="30325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0778">
                  <a:extLst>
                    <a:ext uri="{9D8B030D-6E8A-4147-A177-3AD203B41FA5}">
                      <a16:colId xmlns:a16="http://schemas.microsoft.com/office/drawing/2014/main" val="1916111987"/>
                    </a:ext>
                  </a:extLst>
                </a:gridCol>
                <a:gridCol w="891251">
                  <a:extLst>
                    <a:ext uri="{9D8B030D-6E8A-4147-A177-3AD203B41FA5}">
                      <a16:colId xmlns:a16="http://schemas.microsoft.com/office/drawing/2014/main" val="2211725603"/>
                    </a:ext>
                  </a:extLst>
                </a:gridCol>
                <a:gridCol w="2175076">
                  <a:extLst>
                    <a:ext uri="{9D8B030D-6E8A-4147-A177-3AD203B41FA5}">
                      <a16:colId xmlns:a16="http://schemas.microsoft.com/office/drawing/2014/main" val="1289628246"/>
                    </a:ext>
                  </a:extLst>
                </a:gridCol>
              </a:tblGrid>
              <a:tr h="3032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[0]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988862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[1]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0968345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[2]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6466425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[3]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3993963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[4]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5206000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[5]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619481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[6]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1028744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[7]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0059263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[8]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2304018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[9]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1288784"/>
                  </a:ext>
                </a:extLst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8971698" y="4210011"/>
            <a:ext cx="613458" cy="231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93984" y="4210011"/>
            <a:ext cx="2037144" cy="231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{85, Apple, Qty: 120} 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8971698" y="3604205"/>
                <a:ext cx="613458" cy="23149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323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1698" y="3604205"/>
                <a:ext cx="613458" cy="231493"/>
              </a:xfrm>
              <a:prstGeom prst="rect">
                <a:avLst/>
              </a:prstGeom>
              <a:blipFill>
                <a:blip r:embed="rId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/>
          <p:cNvSpPr/>
          <p:nvPr/>
        </p:nvSpPr>
        <p:spPr>
          <a:xfrm>
            <a:off x="9793984" y="3604205"/>
            <a:ext cx="2037144" cy="231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{323, Guava, Qty: 60}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8971698" y="3297574"/>
                <a:ext cx="613458" cy="23149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1698" y="3297574"/>
                <a:ext cx="613458" cy="231493"/>
              </a:xfrm>
              <a:prstGeom prst="rect">
                <a:avLst/>
              </a:prstGeom>
              <a:blipFill>
                <a:blip r:embed="rId4"/>
                <a:stretch>
                  <a:fillRect t="-2500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/>
          <p:cNvSpPr/>
          <p:nvPr/>
        </p:nvSpPr>
        <p:spPr>
          <a:xfrm>
            <a:off x="9793984" y="3297574"/>
            <a:ext cx="2037144" cy="231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{462, Pear, Qty: 80}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937304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New Problem!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8816" y="1825624"/>
                <a:ext cx="7372590" cy="4714071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Hash Function: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dirty="0" smtClean="0">
                        <a:latin typeface="Cambria Math" panose="02040503050406030204" pitchFamily="18" charset="0"/>
                      </a:rPr>
                      <m:t>𝒉</m:t>
                    </m:r>
                    <m:d>
                      <m:d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dirty="0" smtClean="0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en-GB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dirty="0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GB" dirty="0" smtClean="0">
                        <a:latin typeface="Cambria Math" panose="02040503050406030204" pitchFamily="18" charset="0"/>
                      </a:rPr>
                      <m:t> % </m:t>
                    </m:r>
                    <m:r>
                      <a:rPr lang="en-GB" dirty="0" smtClean="0"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endParaRPr lang="en-GB" dirty="0"/>
              </a:p>
              <a:p>
                <a:r>
                  <a:rPr lang="en-GB" dirty="0"/>
                  <a:t>Now we add:</a:t>
                </a:r>
              </a:p>
              <a:p>
                <a:endParaRPr lang="en-GB" dirty="0"/>
              </a:p>
              <a:p>
                <a:pPr lvl="1"/>
                <a:r>
                  <a:rPr lang="en-GB" dirty="0"/>
                  <a:t>{85, Apple, Qty: 120} </a:t>
                </a:r>
                <a14:m>
                  <m:oMath xmlns:m="http://schemas.openxmlformats.org/officeDocument/2006/math">
                    <m:r>
                      <a:rPr lang="en-GB" dirty="0">
                        <a:latin typeface="Cambria Math" panose="02040503050406030204" pitchFamily="18" charset="0"/>
                      </a:rPr>
                      <m:t>→85 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%</m:t>
                    </m:r>
                    <m:r>
                      <a:rPr lang="en-GB" dirty="0">
                        <a:latin typeface="Cambria Math" panose="02040503050406030204" pitchFamily="18" charset="0"/>
                      </a:rPr>
                      <m:t> 10=5</m:t>
                    </m:r>
                  </m:oMath>
                </a14:m>
                <a:endParaRPr lang="en-US" dirty="0"/>
              </a:p>
              <a:p>
                <a:pPr lvl="1"/>
                <a:r>
                  <a:rPr lang="en-GB" dirty="0"/>
                  <a:t>{323, Apple, Qty: 60} </a:t>
                </a:r>
                <a14:m>
                  <m:oMath xmlns:m="http://schemas.openxmlformats.org/officeDocument/2006/math">
                    <m:r>
                      <a:rPr lang="en-GB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323</m:t>
                    </m:r>
                    <m:r>
                      <a:rPr lang="en-GB" dirty="0">
                        <a:latin typeface="Cambria Math" panose="02040503050406030204" pitchFamily="18" charset="0"/>
                      </a:rPr>
                      <m:t> 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%</m:t>
                    </m:r>
                    <m:r>
                      <a:rPr lang="en-GB" dirty="0">
                        <a:latin typeface="Cambria Math" panose="02040503050406030204" pitchFamily="18" charset="0"/>
                      </a:rPr>
                      <m:t> 10=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dirty="0"/>
              </a:p>
              <a:p>
                <a:pPr lvl="1"/>
                <a:r>
                  <a:rPr lang="en-GB" dirty="0"/>
                  <a:t>{462, Pear, Qty: 80} </a:t>
                </a:r>
                <a14:m>
                  <m:oMath xmlns:m="http://schemas.openxmlformats.org/officeDocument/2006/math">
                    <m:r>
                      <a:rPr lang="en-GB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462</m:t>
                    </m:r>
                    <m:r>
                      <a:rPr lang="en-GB" dirty="0">
                        <a:latin typeface="Cambria Math" panose="02040503050406030204" pitchFamily="18" charset="0"/>
                      </a:rPr>
                      <m:t> 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%</m:t>
                    </m:r>
                    <m:r>
                      <a:rPr lang="en-GB" dirty="0">
                        <a:latin typeface="Cambria Math" panose="02040503050406030204" pitchFamily="18" charset="0"/>
                      </a:rPr>
                      <m:t> 10=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b="0" dirty="0"/>
              </a:p>
              <a:p>
                <a:pPr lvl="1"/>
                <a:r>
                  <a:rPr lang="en-GB" dirty="0">
                    <a:solidFill>
                      <a:srgbClr val="FF0000"/>
                    </a:solidFill>
                  </a:rPr>
                  <a:t>{912, Papaya, Qty: 40} </a:t>
                </a:r>
                <a14:m>
                  <m:oMath xmlns:m="http://schemas.openxmlformats.org/officeDocument/2006/math">
                    <m:r>
                      <a:rPr lang="en-GB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GB" dirty="0">
                        <a:solidFill>
                          <a:srgbClr val="FF0000"/>
                        </a:solidFill>
                      </a:rPr>
                      <m:t>912</m:t>
                    </m:r>
                    <m:r>
                      <a:rPr lang="en-GB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 </m:t>
                    </m:r>
                    <m:r>
                      <a:rPr lang="en-US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%</m:t>
                    </m:r>
                    <m:r>
                      <a:rPr lang="en-GB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 10=</m:t>
                    </m:r>
                    <m:r>
                      <a:rPr lang="en-US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8816" y="1825624"/>
                <a:ext cx="7372590" cy="4714071"/>
              </a:xfrm>
              <a:blipFill>
                <a:blip r:embed="rId2"/>
                <a:stretch>
                  <a:fillRect l="-1549" t="-2145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pPr/>
              <a:t>27</a:t>
            </a:fld>
            <a:endParaRPr lang="en-US" dirty="0"/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8115655" y="2659001"/>
          <a:ext cx="3807105" cy="30325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0778">
                  <a:extLst>
                    <a:ext uri="{9D8B030D-6E8A-4147-A177-3AD203B41FA5}">
                      <a16:colId xmlns:a16="http://schemas.microsoft.com/office/drawing/2014/main" val="1916111987"/>
                    </a:ext>
                  </a:extLst>
                </a:gridCol>
                <a:gridCol w="891251">
                  <a:extLst>
                    <a:ext uri="{9D8B030D-6E8A-4147-A177-3AD203B41FA5}">
                      <a16:colId xmlns:a16="http://schemas.microsoft.com/office/drawing/2014/main" val="2211725603"/>
                    </a:ext>
                  </a:extLst>
                </a:gridCol>
                <a:gridCol w="2175076">
                  <a:extLst>
                    <a:ext uri="{9D8B030D-6E8A-4147-A177-3AD203B41FA5}">
                      <a16:colId xmlns:a16="http://schemas.microsoft.com/office/drawing/2014/main" val="1289628246"/>
                    </a:ext>
                  </a:extLst>
                </a:gridCol>
              </a:tblGrid>
              <a:tr h="3032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[0]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988862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[1]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0968345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[2]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6466425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[3]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3993963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[4]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5206000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[5]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619481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[6]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1028744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[7]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0059263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[8]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2304018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[9]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1288784"/>
                  </a:ext>
                </a:extLst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8971698" y="4210011"/>
            <a:ext cx="613458" cy="231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93984" y="4210011"/>
            <a:ext cx="2037144" cy="231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{85, Apple, Qty: 120} 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8971698" y="3604205"/>
                <a:ext cx="613458" cy="23149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323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1698" y="3604205"/>
                <a:ext cx="613458" cy="231493"/>
              </a:xfrm>
              <a:prstGeom prst="rect">
                <a:avLst/>
              </a:prstGeom>
              <a:blipFill>
                <a:blip r:embed="rId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/>
          <p:cNvSpPr/>
          <p:nvPr/>
        </p:nvSpPr>
        <p:spPr>
          <a:xfrm>
            <a:off x="9793984" y="3604205"/>
            <a:ext cx="2037144" cy="231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{323, Guava, Qty: 60}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8971698" y="3297574"/>
                <a:ext cx="613458" cy="23149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1698" y="3297574"/>
                <a:ext cx="613458" cy="231493"/>
              </a:xfrm>
              <a:prstGeom prst="rect">
                <a:avLst/>
              </a:prstGeom>
              <a:blipFill>
                <a:blip r:embed="rId4"/>
                <a:stretch>
                  <a:fillRect t="-2500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/>
          <p:cNvSpPr/>
          <p:nvPr/>
        </p:nvSpPr>
        <p:spPr>
          <a:xfrm>
            <a:off x="9793984" y="3297574"/>
            <a:ext cx="2037144" cy="231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dirty="0"/>
              <a:t>{462, Pear, Qty: 80}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5164593" y="3297574"/>
                <a:ext cx="613458" cy="23149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4593" y="3297574"/>
                <a:ext cx="613458" cy="231493"/>
              </a:xfrm>
              <a:prstGeom prst="rect">
                <a:avLst/>
              </a:prstGeom>
              <a:blipFill>
                <a:blip r:embed="rId5"/>
                <a:stretch>
                  <a:fillRect t="-2500" b="-1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/>
          <p:cNvSpPr/>
          <p:nvPr/>
        </p:nvSpPr>
        <p:spPr>
          <a:xfrm>
            <a:off x="5986879" y="3297574"/>
            <a:ext cx="2037144" cy="231493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{912, Papaya, Qty: 40}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520317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Collision?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two different keys hash to the same table index.</a:t>
            </a:r>
          </a:p>
          <a:p>
            <a:r>
              <a:rPr lang="en-US" dirty="0"/>
              <a:t>Happens due to:</a:t>
            </a:r>
          </a:p>
          <a:p>
            <a:pPr lvl="1"/>
            <a:r>
              <a:rPr lang="en-US" dirty="0"/>
              <a:t>Limited table size.</a:t>
            </a:r>
          </a:p>
          <a:p>
            <a:pPr lvl="1"/>
            <a:r>
              <a:rPr lang="en-US" dirty="0"/>
              <a:t>Hash function producing the same value for different keys.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2433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Collision?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When two different keys hash to the same table index.</a:t>
            </a:r>
          </a:p>
          <a:p>
            <a:r>
              <a:rPr lang="en-US" dirty="0"/>
              <a:t>Happens due to:</a:t>
            </a:r>
          </a:p>
          <a:p>
            <a:pPr lvl="1"/>
            <a:r>
              <a:rPr lang="en-US" dirty="0"/>
              <a:t>Limited table size.</a:t>
            </a:r>
          </a:p>
          <a:p>
            <a:pPr lvl="1"/>
            <a:r>
              <a:rPr lang="en-US" dirty="0"/>
              <a:t>Hash function producing the same value for different keys.</a:t>
            </a:r>
          </a:p>
          <a:p>
            <a:endParaRPr lang="en-US" dirty="0"/>
          </a:p>
          <a:p>
            <a:r>
              <a:rPr lang="en-US" dirty="0"/>
              <a:t>Resolution?</a:t>
            </a:r>
          </a:p>
          <a:p>
            <a:pPr lvl="1"/>
            <a:r>
              <a:rPr lang="en-US" dirty="0"/>
              <a:t>Open Addressing</a:t>
            </a:r>
          </a:p>
          <a:p>
            <a:pPr lvl="2"/>
            <a:r>
              <a:rPr lang="en-US" dirty="0"/>
              <a:t>Store all elements in the table array.</a:t>
            </a:r>
          </a:p>
          <a:p>
            <a:pPr lvl="2"/>
            <a:r>
              <a:rPr lang="en-US" dirty="0"/>
              <a:t>If slot is full, use a probing sequence to find the next empty slot.</a:t>
            </a:r>
          </a:p>
          <a:p>
            <a:pPr lvl="1"/>
            <a:r>
              <a:rPr lang="en-US" dirty="0"/>
              <a:t>Chaining</a:t>
            </a:r>
          </a:p>
          <a:p>
            <a:pPr lvl="2"/>
            <a:r>
              <a:rPr lang="en-US" dirty="0"/>
              <a:t>Each slot points to a linked list of all items that hash to it.</a:t>
            </a:r>
          </a:p>
          <a:p>
            <a:pPr lvl="2"/>
            <a:r>
              <a:rPr lang="en-US" dirty="0"/>
              <a:t>Multiple items can live in the same slot, in a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7487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9EBB4-1DC9-69E8-E23E-11C413870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K" sz="3600" b="1" dirty="0"/>
              <a:t>Chaining vs linear probing</a:t>
            </a:r>
          </a:p>
        </p:txBody>
      </p:sp>
      <p:pic>
        <p:nvPicPr>
          <p:cNvPr id="5" name="Content Placeholder 4" descr="A diagram of 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905FD99F-5C24-DD13-7219-29513974F589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81200" y="2034913"/>
            <a:ext cx="7467600" cy="4004198"/>
          </a:xfr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457C6EE-A09E-FD1B-67F2-C67DC7F19A4C}"/>
              </a:ext>
            </a:extLst>
          </p:cNvPr>
          <p:cNvSpPr/>
          <p:nvPr/>
        </p:nvSpPr>
        <p:spPr>
          <a:xfrm>
            <a:off x="7325194" y="5726244"/>
            <a:ext cx="2473377" cy="44970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775911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Addressing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When a collision occurs, move forward until you find an empty spot</a:t>
                </a:r>
              </a:p>
              <a:p>
                <a:pPr lvl="1"/>
                <a:r>
                  <a:rPr lang="en-GB" dirty="0"/>
                  <a:t>{462, Pear, Qty: 80} </a:t>
                </a:r>
                <a14:m>
                  <m:oMath xmlns:m="http://schemas.openxmlformats.org/officeDocument/2006/math">
                    <m:r>
                      <a:rPr lang="en-GB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dirty="0" smtClean="0">
                        <a:latin typeface="Cambria Math" panose="02040503050406030204" pitchFamily="18" charset="0"/>
                      </a:rPr>
                      <m:t>462</m:t>
                    </m:r>
                    <m:r>
                      <a:rPr lang="en-GB" dirty="0" smtClean="0">
                        <a:latin typeface="Cambria Math" panose="02040503050406030204" pitchFamily="18" charset="0"/>
                      </a:rPr>
                      <m:t> </m:t>
                    </m:r>
                    <m:r>
                      <a:rPr lang="en-US" dirty="0" smtClean="0">
                        <a:latin typeface="Cambria Math" panose="02040503050406030204" pitchFamily="18" charset="0"/>
                      </a:rPr>
                      <m:t>%</m:t>
                    </m:r>
                    <m:r>
                      <a:rPr lang="en-GB" dirty="0" smtClean="0">
                        <a:latin typeface="Cambria Math" panose="02040503050406030204" pitchFamily="18" charset="0"/>
                      </a:rPr>
                      <m:t> 10=</m:t>
                    </m:r>
                    <m:r>
                      <a:rPr lang="en-US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{912, Papaya, Qty: 40} </a:t>
                </a:r>
                <a14:m>
                  <m:oMath xmlns:m="http://schemas.openxmlformats.org/officeDocument/2006/math">
                    <m:r>
                      <a:rPr lang="en-GB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dirty="0" smtClean="0">
                        <a:latin typeface="Cambria Math" panose="02040503050406030204" pitchFamily="18" charset="0"/>
                      </a:rPr>
                      <m:t>912</m:t>
                    </m:r>
                    <m:r>
                      <a:rPr lang="en-GB" dirty="0" smtClean="0">
                        <a:latin typeface="Cambria Math" panose="02040503050406030204" pitchFamily="18" charset="0"/>
                      </a:rPr>
                      <m:t> </m:t>
                    </m:r>
                    <m:r>
                      <a:rPr lang="en-US" dirty="0" smtClean="0">
                        <a:latin typeface="Cambria Math" panose="02040503050406030204" pitchFamily="18" charset="0"/>
                      </a:rPr>
                      <m:t>%</m:t>
                    </m:r>
                    <m:r>
                      <a:rPr lang="en-GB" dirty="0" smtClean="0">
                        <a:latin typeface="Cambria Math" panose="02040503050406030204" pitchFamily="18" charset="0"/>
                      </a:rPr>
                      <m:t> 10=</m:t>
                    </m:r>
                    <m:r>
                      <a:rPr lang="en-US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dirty="0"/>
              </a:p>
              <a:p>
                <a:pPr lvl="2"/>
                <a:r>
                  <a:rPr lang="en-GB" dirty="0"/>
                  <a:t>2 is occupied</a:t>
                </a:r>
              </a:p>
              <a:p>
                <a:pPr lvl="2"/>
                <a:endParaRPr lang="en-GB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4294967295"/>
          </p:nvPr>
        </p:nvSpPr>
        <p:spPr>
          <a:xfrm>
            <a:off x="838200" y="1430338"/>
            <a:ext cx="11353800" cy="5032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Linear Probing Example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115655" y="3189353"/>
          <a:ext cx="3807105" cy="30325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0778">
                  <a:extLst>
                    <a:ext uri="{9D8B030D-6E8A-4147-A177-3AD203B41FA5}">
                      <a16:colId xmlns:a16="http://schemas.microsoft.com/office/drawing/2014/main" val="1916111987"/>
                    </a:ext>
                  </a:extLst>
                </a:gridCol>
                <a:gridCol w="891251">
                  <a:extLst>
                    <a:ext uri="{9D8B030D-6E8A-4147-A177-3AD203B41FA5}">
                      <a16:colId xmlns:a16="http://schemas.microsoft.com/office/drawing/2014/main" val="2211725603"/>
                    </a:ext>
                  </a:extLst>
                </a:gridCol>
                <a:gridCol w="2175076">
                  <a:extLst>
                    <a:ext uri="{9D8B030D-6E8A-4147-A177-3AD203B41FA5}">
                      <a16:colId xmlns:a16="http://schemas.microsoft.com/office/drawing/2014/main" val="1289628246"/>
                    </a:ext>
                  </a:extLst>
                </a:gridCol>
              </a:tblGrid>
              <a:tr h="3032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[0]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988862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[1]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0968345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[2]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6466425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[3]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3993963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[4]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5206000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[5]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619481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[6]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1028744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[7]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0059263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[8]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2304018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[9]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128878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5164593" y="3827926"/>
                <a:ext cx="613458" cy="23149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4593" y="3827926"/>
                <a:ext cx="613458" cy="231493"/>
              </a:xfrm>
              <a:prstGeom prst="rect">
                <a:avLst/>
              </a:prstGeom>
              <a:blipFill>
                <a:blip r:embed="rId5"/>
                <a:stretch>
                  <a:fillRect t="-2500" b="-1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5986879" y="3827926"/>
            <a:ext cx="2037144" cy="231493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{912, Papaya, Qty: 40}</a:t>
            </a:r>
            <a:endParaRPr lang="en-US" sz="1600" dirty="0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3F4F5E-0F4B-4FD8-697A-0E173D1118E8}"/>
              </a:ext>
            </a:extLst>
          </p:cNvPr>
          <p:cNvSpPr/>
          <p:nvPr/>
        </p:nvSpPr>
        <p:spPr>
          <a:xfrm>
            <a:off x="8918535" y="4740363"/>
            <a:ext cx="613458" cy="231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651E41-30E3-B893-ADBA-FCB0575DB025}"/>
              </a:ext>
            </a:extLst>
          </p:cNvPr>
          <p:cNvSpPr/>
          <p:nvPr/>
        </p:nvSpPr>
        <p:spPr>
          <a:xfrm>
            <a:off x="9740821" y="4740363"/>
            <a:ext cx="2037144" cy="231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{85, Apple, Qty: 120} 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FAF8732-A1AB-783B-8DEB-790E9F001049}"/>
                  </a:ext>
                </a:extLst>
              </p:cNvPr>
              <p:cNvSpPr/>
              <p:nvPr/>
            </p:nvSpPr>
            <p:spPr>
              <a:xfrm>
                <a:off x="8918535" y="4134557"/>
                <a:ext cx="613458" cy="23149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323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FAF8732-A1AB-783B-8DEB-790E9F0010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8535" y="4134557"/>
                <a:ext cx="613458" cy="231493"/>
              </a:xfrm>
              <a:prstGeom prst="rect">
                <a:avLst/>
              </a:prstGeom>
              <a:blipFill>
                <a:blip r:embed="rId6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6ABE7A0A-EEC0-58DD-D6EB-8D350C047DEE}"/>
              </a:ext>
            </a:extLst>
          </p:cNvPr>
          <p:cNvSpPr/>
          <p:nvPr/>
        </p:nvSpPr>
        <p:spPr>
          <a:xfrm>
            <a:off x="9740821" y="4134557"/>
            <a:ext cx="2037144" cy="231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{323, Guava, Qty: 60}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70A8064-6066-3ECD-5A20-FE6A70D1D7EF}"/>
                  </a:ext>
                </a:extLst>
              </p:cNvPr>
              <p:cNvSpPr/>
              <p:nvPr/>
            </p:nvSpPr>
            <p:spPr>
              <a:xfrm>
                <a:off x="8918535" y="3827926"/>
                <a:ext cx="613458" cy="23149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70A8064-6066-3ECD-5A20-FE6A70D1D7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8535" y="3827926"/>
                <a:ext cx="613458" cy="231493"/>
              </a:xfrm>
              <a:prstGeom prst="rect">
                <a:avLst/>
              </a:prstGeom>
              <a:blipFill>
                <a:blip r:embed="rId7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11A489AE-8CCA-A75E-290A-9BBBCE75FAFD}"/>
              </a:ext>
            </a:extLst>
          </p:cNvPr>
          <p:cNvSpPr/>
          <p:nvPr/>
        </p:nvSpPr>
        <p:spPr>
          <a:xfrm>
            <a:off x="9740821" y="3827926"/>
            <a:ext cx="2037144" cy="231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{462, Pear, Qty: 80}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598146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Addressing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When a collision occurs, move forward until you find an empty spot</a:t>
                </a:r>
              </a:p>
              <a:p>
                <a:pPr lvl="1"/>
                <a:r>
                  <a:rPr lang="en-GB" dirty="0"/>
                  <a:t>{462, Pear, Qty: 80} </a:t>
                </a:r>
                <a14:m>
                  <m:oMath xmlns:m="http://schemas.openxmlformats.org/officeDocument/2006/math">
                    <m:r>
                      <a:rPr lang="en-GB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462</m:t>
                    </m:r>
                    <m:r>
                      <a:rPr lang="en-GB" dirty="0">
                        <a:latin typeface="Cambria Math" panose="02040503050406030204" pitchFamily="18" charset="0"/>
                      </a:rPr>
                      <m:t> 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%</m:t>
                    </m:r>
                    <m:r>
                      <a:rPr lang="en-GB" dirty="0">
                        <a:latin typeface="Cambria Math" panose="02040503050406030204" pitchFamily="18" charset="0"/>
                      </a:rPr>
                      <m:t> 10=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{912, Papaya, Qty: 40} </a:t>
                </a:r>
                <a14:m>
                  <m:oMath xmlns:m="http://schemas.openxmlformats.org/officeDocument/2006/math">
                    <m:r>
                      <a:rPr lang="en-GB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912</m:t>
                    </m:r>
                    <m:r>
                      <a:rPr lang="en-GB" dirty="0">
                        <a:latin typeface="Cambria Math" panose="02040503050406030204" pitchFamily="18" charset="0"/>
                      </a:rPr>
                      <m:t> 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%</m:t>
                    </m:r>
                    <m:r>
                      <a:rPr lang="en-GB" dirty="0">
                        <a:latin typeface="Cambria Math" panose="02040503050406030204" pitchFamily="18" charset="0"/>
                      </a:rPr>
                      <m:t> 10=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dirty="0"/>
              </a:p>
              <a:p>
                <a:pPr lvl="2"/>
                <a:r>
                  <a:rPr lang="en-GB" dirty="0"/>
                  <a:t>2 is occupied</a:t>
                </a:r>
                <a14:m>
                  <m:oMath xmlns:m="http://schemas.openxmlformats.org/officeDocument/2006/math">
                    <m:r>
                      <a:rPr lang="en-GB" dirty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GB" dirty="0"/>
                  <a:t> check 3, 4,… </a:t>
                </a:r>
              </a:p>
              <a:p>
                <a:pPr lvl="2"/>
                <a:endParaRPr lang="en-GB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4294967295"/>
          </p:nvPr>
        </p:nvSpPr>
        <p:spPr>
          <a:xfrm>
            <a:off x="838200" y="1430338"/>
            <a:ext cx="10633075" cy="503237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Linear Probing Example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F84B1E0-8FE0-B48B-FDB3-16AAF61E9F35}"/>
              </a:ext>
            </a:extLst>
          </p:cNvPr>
          <p:cNvGraphicFramePr>
            <a:graphicFrameLocks noGrp="1"/>
          </p:cNvGraphicFramePr>
          <p:nvPr/>
        </p:nvGraphicFramePr>
        <p:xfrm>
          <a:off x="8115655" y="3189353"/>
          <a:ext cx="3807105" cy="30325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0778">
                  <a:extLst>
                    <a:ext uri="{9D8B030D-6E8A-4147-A177-3AD203B41FA5}">
                      <a16:colId xmlns:a16="http://schemas.microsoft.com/office/drawing/2014/main" val="1916111987"/>
                    </a:ext>
                  </a:extLst>
                </a:gridCol>
                <a:gridCol w="891251">
                  <a:extLst>
                    <a:ext uri="{9D8B030D-6E8A-4147-A177-3AD203B41FA5}">
                      <a16:colId xmlns:a16="http://schemas.microsoft.com/office/drawing/2014/main" val="2211725603"/>
                    </a:ext>
                  </a:extLst>
                </a:gridCol>
                <a:gridCol w="2175076">
                  <a:extLst>
                    <a:ext uri="{9D8B030D-6E8A-4147-A177-3AD203B41FA5}">
                      <a16:colId xmlns:a16="http://schemas.microsoft.com/office/drawing/2014/main" val="1289628246"/>
                    </a:ext>
                  </a:extLst>
                </a:gridCol>
              </a:tblGrid>
              <a:tr h="3032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[0]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988862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[1]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0968345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[2]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6466425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[3]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3993963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[4]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5206000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[5]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619481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[6]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1028744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[7]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0059263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[8]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2304018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[9]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128878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AA449F1-987F-F512-1536-D3D2F42C6764}"/>
                  </a:ext>
                </a:extLst>
              </p:cNvPr>
              <p:cNvSpPr/>
              <p:nvPr/>
            </p:nvSpPr>
            <p:spPr>
              <a:xfrm>
                <a:off x="5164593" y="4093746"/>
                <a:ext cx="613458" cy="23149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AA449F1-987F-F512-1536-D3D2F42C67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4593" y="4093746"/>
                <a:ext cx="613458" cy="231493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C9EBCF1E-17FD-23A1-D4BE-911CB85F9B2E}"/>
              </a:ext>
            </a:extLst>
          </p:cNvPr>
          <p:cNvSpPr/>
          <p:nvPr/>
        </p:nvSpPr>
        <p:spPr>
          <a:xfrm>
            <a:off x="5986879" y="4093746"/>
            <a:ext cx="2037144" cy="231493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{912, Papaya, Qty: 40}</a:t>
            </a:r>
            <a:endParaRPr lang="en-US" sz="16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32E0C18-100C-4E0D-BA3E-53CFACB7AC7D}"/>
              </a:ext>
            </a:extLst>
          </p:cNvPr>
          <p:cNvSpPr/>
          <p:nvPr/>
        </p:nvSpPr>
        <p:spPr>
          <a:xfrm>
            <a:off x="8918535" y="4740363"/>
            <a:ext cx="613458" cy="231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5243CA-EFD3-0F79-267E-BE7D2CAE4128}"/>
              </a:ext>
            </a:extLst>
          </p:cNvPr>
          <p:cNvSpPr/>
          <p:nvPr/>
        </p:nvSpPr>
        <p:spPr>
          <a:xfrm>
            <a:off x="9740821" y="4740363"/>
            <a:ext cx="2037144" cy="231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{85, Apple, Qty: 120} 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1AF79AB-3F53-7987-A333-E5898ECC3289}"/>
                  </a:ext>
                </a:extLst>
              </p:cNvPr>
              <p:cNvSpPr/>
              <p:nvPr/>
            </p:nvSpPr>
            <p:spPr>
              <a:xfrm>
                <a:off x="8918535" y="4134557"/>
                <a:ext cx="613458" cy="23149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323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1AF79AB-3F53-7987-A333-E5898ECC32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8535" y="4134557"/>
                <a:ext cx="613458" cy="231493"/>
              </a:xfrm>
              <a:prstGeom prst="rect">
                <a:avLst/>
              </a:prstGeom>
              <a:blipFill>
                <a:blip r:embed="rId4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C3FF86B9-1C97-A551-C1F3-2EFFB909EF3F}"/>
              </a:ext>
            </a:extLst>
          </p:cNvPr>
          <p:cNvSpPr/>
          <p:nvPr/>
        </p:nvSpPr>
        <p:spPr>
          <a:xfrm>
            <a:off x="9740821" y="4134557"/>
            <a:ext cx="2037144" cy="231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{323, Guava, Qty: 60}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7F1FB79-477C-C1F1-89CF-0B0FB8F9F243}"/>
                  </a:ext>
                </a:extLst>
              </p:cNvPr>
              <p:cNvSpPr/>
              <p:nvPr/>
            </p:nvSpPr>
            <p:spPr>
              <a:xfrm>
                <a:off x="8918535" y="3827926"/>
                <a:ext cx="613458" cy="23149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7F1FB79-477C-C1F1-89CF-0B0FB8F9F2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8535" y="3827926"/>
                <a:ext cx="613458" cy="231493"/>
              </a:xfrm>
              <a:prstGeom prst="rect">
                <a:avLst/>
              </a:prstGeom>
              <a:blipFill>
                <a:blip r:embed="rId5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1A653E5B-2549-62E3-04D9-B092AD18E7CB}"/>
              </a:ext>
            </a:extLst>
          </p:cNvPr>
          <p:cNvSpPr/>
          <p:nvPr/>
        </p:nvSpPr>
        <p:spPr>
          <a:xfrm>
            <a:off x="9740821" y="3827926"/>
            <a:ext cx="2037144" cy="231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{462, Pear, Qty: 80}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397994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38B59-FCB9-DC63-0605-5DA50AEB7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1BDEE-5EB0-5201-F976-8F813D2B3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Addressing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998896D5-9162-BAB9-B64B-4D3F8D81CF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When a collision occurs, move forward until you find an empty spot</a:t>
                </a:r>
              </a:p>
              <a:p>
                <a:pPr lvl="1"/>
                <a:r>
                  <a:rPr lang="en-GB" dirty="0"/>
                  <a:t>{462, Pear, Qty: 80} </a:t>
                </a:r>
                <a14:m>
                  <m:oMath xmlns:m="http://schemas.openxmlformats.org/officeDocument/2006/math">
                    <m:r>
                      <a:rPr lang="en-GB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462</m:t>
                    </m:r>
                    <m:r>
                      <a:rPr lang="en-GB" dirty="0">
                        <a:latin typeface="Cambria Math" panose="02040503050406030204" pitchFamily="18" charset="0"/>
                      </a:rPr>
                      <m:t> 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%</m:t>
                    </m:r>
                    <m:r>
                      <a:rPr lang="en-GB" dirty="0">
                        <a:latin typeface="Cambria Math" panose="02040503050406030204" pitchFamily="18" charset="0"/>
                      </a:rPr>
                      <m:t> 10=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{912, Papaya, Qty: 40} </a:t>
                </a:r>
                <a14:m>
                  <m:oMath xmlns:m="http://schemas.openxmlformats.org/officeDocument/2006/math">
                    <m:r>
                      <a:rPr lang="en-GB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912</m:t>
                    </m:r>
                    <m:r>
                      <a:rPr lang="en-GB" dirty="0">
                        <a:latin typeface="Cambria Math" panose="02040503050406030204" pitchFamily="18" charset="0"/>
                      </a:rPr>
                      <m:t> 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%</m:t>
                    </m:r>
                    <m:r>
                      <a:rPr lang="en-GB" dirty="0">
                        <a:latin typeface="Cambria Math" panose="02040503050406030204" pitchFamily="18" charset="0"/>
                      </a:rPr>
                      <m:t> 10=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dirty="0"/>
              </a:p>
              <a:p>
                <a:pPr lvl="2"/>
                <a:r>
                  <a:rPr lang="en-GB" dirty="0"/>
                  <a:t>2 is occupied</a:t>
                </a:r>
                <a14:m>
                  <m:oMath xmlns:m="http://schemas.openxmlformats.org/officeDocument/2006/math">
                    <m:r>
                      <a:rPr lang="en-GB" dirty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GB" dirty="0"/>
                  <a:t> check 3, 4,… </a:t>
                </a:r>
              </a:p>
              <a:p>
                <a:pPr lvl="2"/>
                <a:r>
                  <a:rPr lang="en-GB" sz="2000" dirty="0"/>
                  <a:t>until  empty slot is found</a:t>
                </a:r>
              </a:p>
              <a:p>
                <a:pPr marL="914400" lvl="2" indent="0">
                  <a:buNone/>
                </a:pPr>
                <a:endParaRPr lang="en-GB" dirty="0"/>
              </a:p>
              <a:p>
                <a:pPr lvl="2"/>
                <a:endParaRPr lang="en-GB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998896D5-9162-BAB9-B64B-4D3F8D81CF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2832BF-34E4-9F96-6B72-219111161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1F6BB7-0632-54F5-3B9F-1E802794A6B1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838200" y="1430338"/>
            <a:ext cx="10633075" cy="503237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Linear Probing Example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D996B20-7616-A0CC-019D-ED200D8645C5}"/>
              </a:ext>
            </a:extLst>
          </p:cNvPr>
          <p:cNvGraphicFramePr>
            <a:graphicFrameLocks noGrp="1"/>
          </p:cNvGraphicFramePr>
          <p:nvPr/>
        </p:nvGraphicFramePr>
        <p:xfrm>
          <a:off x="8115655" y="3189353"/>
          <a:ext cx="3807105" cy="30325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0778">
                  <a:extLst>
                    <a:ext uri="{9D8B030D-6E8A-4147-A177-3AD203B41FA5}">
                      <a16:colId xmlns:a16="http://schemas.microsoft.com/office/drawing/2014/main" val="1916111987"/>
                    </a:ext>
                  </a:extLst>
                </a:gridCol>
                <a:gridCol w="891251">
                  <a:extLst>
                    <a:ext uri="{9D8B030D-6E8A-4147-A177-3AD203B41FA5}">
                      <a16:colId xmlns:a16="http://schemas.microsoft.com/office/drawing/2014/main" val="2211725603"/>
                    </a:ext>
                  </a:extLst>
                </a:gridCol>
                <a:gridCol w="2175076">
                  <a:extLst>
                    <a:ext uri="{9D8B030D-6E8A-4147-A177-3AD203B41FA5}">
                      <a16:colId xmlns:a16="http://schemas.microsoft.com/office/drawing/2014/main" val="1289628246"/>
                    </a:ext>
                  </a:extLst>
                </a:gridCol>
              </a:tblGrid>
              <a:tr h="3032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[0]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988862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[1]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0968345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[2]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6466425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[3]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3993963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[4]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5206000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[5]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619481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[6]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1028744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[7]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0059263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[8]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2304018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[9]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128878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8E501B6-1210-BB7C-5D0F-90E138D495C2}"/>
                  </a:ext>
                </a:extLst>
              </p:cNvPr>
              <p:cNvSpPr/>
              <p:nvPr/>
            </p:nvSpPr>
            <p:spPr>
              <a:xfrm>
                <a:off x="5164593" y="4380827"/>
                <a:ext cx="613458" cy="23149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8E501B6-1210-BB7C-5D0F-90E138D495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4593" y="4380827"/>
                <a:ext cx="613458" cy="231493"/>
              </a:xfrm>
              <a:prstGeom prst="rect">
                <a:avLst/>
              </a:prstGeom>
              <a:blipFill>
                <a:blip r:embed="rId3"/>
                <a:stretch>
                  <a:fillRect b="-1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9D236315-811F-E0B9-1D92-7409AB9CF02B}"/>
              </a:ext>
            </a:extLst>
          </p:cNvPr>
          <p:cNvSpPr/>
          <p:nvPr/>
        </p:nvSpPr>
        <p:spPr>
          <a:xfrm>
            <a:off x="5986879" y="4380827"/>
            <a:ext cx="2037144" cy="231493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{912, Papaya, Qty: 40}</a:t>
            </a:r>
            <a:endParaRPr lang="en-US" sz="16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EFEC9B-43D0-27AA-DC1A-06FC65FCBEFC}"/>
              </a:ext>
            </a:extLst>
          </p:cNvPr>
          <p:cNvSpPr/>
          <p:nvPr/>
        </p:nvSpPr>
        <p:spPr>
          <a:xfrm>
            <a:off x="8918535" y="4740363"/>
            <a:ext cx="613458" cy="231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3BDF17-412F-133E-DE7A-6A5821F2CFB9}"/>
              </a:ext>
            </a:extLst>
          </p:cNvPr>
          <p:cNvSpPr/>
          <p:nvPr/>
        </p:nvSpPr>
        <p:spPr>
          <a:xfrm>
            <a:off x="9740821" y="4740363"/>
            <a:ext cx="2037144" cy="231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{85, Apple, Qty: 120} 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42A151E5-B7E4-9225-0321-662A0A9F7A4E}"/>
                  </a:ext>
                </a:extLst>
              </p:cNvPr>
              <p:cNvSpPr/>
              <p:nvPr/>
            </p:nvSpPr>
            <p:spPr>
              <a:xfrm>
                <a:off x="8918535" y="4134557"/>
                <a:ext cx="613458" cy="23149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323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42A151E5-B7E4-9225-0321-662A0A9F7A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8535" y="4134557"/>
                <a:ext cx="613458" cy="231493"/>
              </a:xfrm>
              <a:prstGeom prst="rect">
                <a:avLst/>
              </a:prstGeom>
              <a:blipFill>
                <a:blip r:embed="rId4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ED233914-F86E-B048-2642-8B8D2484B3C5}"/>
              </a:ext>
            </a:extLst>
          </p:cNvPr>
          <p:cNvSpPr/>
          <p:nvPr/>
        </p:nvSpPr>
        <p:spPr>
          <a:xfrm>
            <a:off x="9740821" y="4134557"/>
            <a:ext cx="2037144" cy="231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{323, Guava, Qty: 60}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0EC68B5B-6B6B-554A-B41C-927C5A561418}"/>
                  </a:ext>
                </a:extLst>
              </p:cNvPr>
              <p:cNvSpPr/>
              <p:nvPr/>
            </p:nvSpPr>
            <p:spPr>
              <a:xfrm>
                <a:off x="8918535" y="3827926"/>
                <a:ext cx="613458" cy="23149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0EC68B5B-6B6B-554A-B41C-927C5A5614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8535" y="3827926"/>
                <a:ext cx="613458" cy="231493"/>
              </a:xfrm>
              <a:prstGeom prst="rect">
                <a:avLst/>
              </a:prstGeom>
              <a:blipFill>
                <a:blip r:embed="rId5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B8EA5A26-F62B-D3F3-BFAF-41BB83BFB6AE}"/>
              </a:ext>
            </a:extLst>
          </p:cNvPr>
          <p:cNvSpPr/>
          <p:nvPr/>
        </p:nvSpPr>
        <p:spPr>
          <a:xfrm>
            <a:off x="9740821" y="3827926"/>
            <a:ext cx="2037144" cy="231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{462, Pear, Qty: 80}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590306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Addressing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When a collision occurs, move forward until you find an empty spot</a:t>
                </a:r>
              </a:p>
              <a:p>
                <a:pPr lvl="1"/>
                <a:r>
                  <a:rPr lang="en-GB" dirty="0"/>
                  <a:t>{462, Pear, Qty: 80} </a:t>
                </a:r>
                <a14:m>
                  <m:oMath xmlns:m="http://schemas.openxmlformats.org/officeDocument/2006/math">
                    <m:r>
                      <a:rPr lang="en-GB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462</m:t>
                    </m:r>
                    <m:r>
                      <a:rPr lang="en-GB" dirty="0">
                        <a:latin typeface="Cambria Math" panose="02040503050406030204" pitchFamily="18" charset="0"/>
                      </a:rPr>
                      <m:t> 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%</m:t>
                    </m:r>
                    <m:r>
                      <a:rPr lang="en-GB" dirty="0">
                        <a:latin typeface="Cambria Math" panose="02040503050406030204" pitchFamily="18" charset="0"/>
                      </a:rPr>
                      <m:t> 10=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{912, Papaya, Qty: 40} </a:t>
                </a:r>
                <a14:m>
                  <m:oMath xmlns:m="http://schemas.openxmlformats.org/officeDocument/2006/math">
                    <m:r>
                      <a:rPr lang="en-GB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912</m:t>
                    </m:r>
                    <m:r>
                      <a:rPr lang="en-GB" dirty="0">
                        <a:latin typeface="Cambria Math" panose="02040503050406030204" pitchFamily="18" charset="0"/>
                      </a:rPr>
                      <m:t> 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%</m:t>
                    </m:r>
                    <m:r>
                      <a:rPr lang="en-GB" dirty="0">
                        <a:latin typeface="Cambria Math" panose="02040503050406030204" pitchFamily="18" charset="0"/>
                      </a:rPr>
                      <m:t> 10=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dirty="0"/>
              </a:p>
              <a:p>
                <a:pPr lvl="2"/>
                <a:r>
                  <a:rPr lang="en-GB" dirty="0"/>
                  <a:t>2 is occupied</a:t>
                </a:r>
                <a14:m>
                  <m:oMath xmlns:m="http://schemas.openxmlformats.org/officeDocument/2006/math">
                    <m:r>
                      <a:rPr lang="en-GB" dirty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GB" dirty="0"/>
                  <a:t> check 3, 4,… </a:t>
                </a:r>
              </a:p>
              <a:p>
                <a:pPr lvl="2"/>
                <a:r>
                  <a:rPr lang="en-GB" sz="2000" dirty="0"/>
                  <a:t>until  empty slot is found</a:t>
                </a: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34</a:t>
            </a:fld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4294967295"/>
          </p:nvPr>
        </p:nvSpPr>
        <p:spPr>
          <a:xfrm>
            <a:off x="838200" y="1430338"/>
            <a:ext cx="10633075" cy="5032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Linear Probing Example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115655" y="3189353"/>
          <a:ext cx="3807105" cy="30325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0778">
                  <a:extLst>
                    <a:ext uri="{9D8B030D-6E8A-4147-A177-3AD203B41FA5}">
                      <a16:colId xmlns:a16="http://schemas.microsoft.com/office/drawing/2014/main" val="1916111987"/>
                    </a:ext>
                  </a:extLst>
                </a:gridCol>
                <a:gridCol w="891251">
                  <a:extLst>
                    <a:ext uri="{9D8B030D-6E8A-4147-A177-3AD203B41FA5}">
                      <a16:colId xmlns:a16="http://schemas.microsoft.com/office/drawing/2014/main" val="2211725603"/>
                    </a:ext>
                  </a:extLst>
                </a:gridCol>
                <a:gridCol w="2175076">
                  <a:extLst>
                    <a:ext uri="{9D8B030D-6E8A-4147-A177-3AD203B41FA5}">
                      <a16:colId xmlns:a16="http://schemas.microsoft.com/office/drawing/2014/main" val="1289628246"/>
                    </a:ext>
                  </a:extLst>
                </a:gridCol>
              </a:tblGrid>
              <a:tr h="3032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[0]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988862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[1]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0968345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[2]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6466425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[3]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3993963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[4]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5206000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[5]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619481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[6]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1028744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[7]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0059263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[8]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2304018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[9]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128878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8971698" y="4433732"/>
                <a:ext cx="613458" cy="23149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912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1698" y="4433732"/>
                <a:ext cx="613458" cy="231493"/>
              </a:xfrm>
              <a:prstGeom prst="rect">
                <a:avLst/>
              </a:prstGeom>
              <a:blipFill>
                <a:blip r:embed="rId6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>
          <a:xfrm>
            <a:off x="9793984" y="4433732"/>
            <a:ext cx="2037144" cy="231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{912, Papaya, Qty: 40}</a:t>
            </a:r>
            <a:endParaRPr lang="en-US" sz="1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E859B7-14BF-7ADE-40DA-13452733F636}"/>
              </a:ext>
            </a:extLst>
          </p:cNvPr>
          <p:cNvSpPr/>
          <p:nvPr/>
        </p:nvSpPr>
        <p:spPr>
          <a:xfrm>
            <a:off x="8918535" y="4740363"/>
            <a:ext cx="613458" cy="231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8B3420-7104-6756-773E-77BA23A4CE26}"/>
              </a:ext>
            </a:extLst>
          </p:cNvPr>
          <p:cNvSpPr/>
          <p:nvPr/>
        </p:nvSpPr>
        <p:spPr>
          <a:xfrm>
            <a:off x="9740821" y="4740363"/>
            <a:ext cx="2037144" cy="231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{85, Apple, Qty: 120} 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D472AE8-7ADD-28CB-2633-2528B63806CB}"/>
                  </a:ext>
                </a:extLst>
              </p:cNvPr>
              <p:cNvSpPr/>
              <p:nvPr/>
            </p:nvSpPr>
            <p:spPr>
              <a:xfrm>
                <a:off x="8918535" y="4134557"/>
                <a:ext cx="613458" cy="23149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323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D472AE8-7ADD-28CB-2633-2528B63806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8535" y="4134557"/>
                <a:ext cx="613458" cy="231493"/>
              </a:xfrm>
              <a:prstGeom prst="rect">
                <a:avLst/>
              </a:prstGeom>
              <a:blipFill>
                <a:blip r:embed="rId7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6B7A6559-B9E1-B06F-8B6E-550FAEE0970E}"/>
              </a:ext>
            </a:extLst>
          </p:cNvPr>
          <p:cNvSpPr/>
          <p:nvPr/>
        </p:nvSpPr>
        <p:spPr>
          <a:xfrm>
            <a:off x="9740821" y="4134557"/>
            <a:ext cx="2037144" cy="231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{323, Guava, Qty: 60}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E5CB11B-C81B-9B3D-71DC-F0DA666A56D9}"/>
                  </a:ext>
                </a:extLst>
              </p:cNvPr>
              <p:cNvSpPr/>
              <p:nvPr/>
            </p:nvSpPr>
            <p:spPr>
              <a:xfrm>
                <a:off x="8918535" y="3827926"/>
                <a:ext cx="613458" cy="23149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E5CB11B-C81B-9B3D-71DC-F0DA666A56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8535" y="3827926"/>
                <a:ext cx="613458" cy="231493"/>
              </a:xfrm>
              <a:prstGeom prst="rect">
                <a:avLst/>
              </a:prstGeom>
              <a:blipFill>
                <a:blip r:embed="rId8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7D0657D5-D010-0DCA-50A2-03DF6D5F5FA5}"/>
              </a:ext>
            </a:extLst>
          </p:cNvPr>
          <p:cNvSpPr/>
          <p:nvPr/>
        </p:nvSpPr>
        <p:spPr>
          <a:xfrm>
            <a:off x="9740821" y="3827926"/>
            <a:ext cx="2037144" cy="231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{462, Pear, Qty: 80}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424614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Addressing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4646241" cy="4351338"/>
              </a:xfrm>
            </p:spPr>
            <p:txBody>
              <a:bodyPr>
                <a:normAutofit/>
              </a:bodyPr>
              <a:lstStyle/>
              <a:p>
                <a:r>
                  <a:rPr lang="en-GB" sz="2000" dirty="0"/>
                  <a:t>When a collision occurs, move forward until you find an empty spot</a:t>
                </a:r>
              </a:p>
              <a:p>
                <a:pPr lvl="1"/>
                <a:r>
                  <a:rPr lang="en-GB" sz="1800" dirty="0"/>
                  <a:t>{462, Pear, Qty: 80} </a:t>
                </a:r>
                <a14:m>
                  <m:oMath xmlns:m="http://schemas.openxmlformats.org/officeDocument/2006/math">
                    <m:r>
                      <a:rPr lang="en-GB" sz="1800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800" dirty="0">
                        <a:latin typeface="Cambria Math" panose="02040503050406030204" pitchFamily="18" charset="0"/>
                      </a:rPr>
                      <m:t>462</m:t>
                    </m:r>
                    <m:r>
                      <a:rPr lang="en-GB" sz="1800" dirty="0">
                        <a:latin typeface="Cambria Math" panose="02040503050406030204" pitchFamily="18" charset="0"/>
                      </a:rPr>
                      <m:t> </m:t>
                    </m:r>
                    <m:r>
                      <a:rPr lang="en-US" sz="1800" dirty="0">
                        <a:latin typeface="Cambria Math" panose="02040503050406030204" pitchFamily="18" charset="0"/>
                      </a:rPr>
                      <m:t>%</m:t>
                    </m:r>
                    <m:r>
                      <a:rPr lang="en-GB" sz="1800" dirty="0">
                        <a:latin typeface="Cambria Math" panose="02040503050406030204" pitchFamily="18" charset="0"/>
                      </a:rPr>
                      <m:t> 10=</m:t>
                    </m:r>
                    <m:r>
                      <a:rPr lang="en-US" sz="18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GB" sz="1800" dirty="0"/>
              </a:p>
              <a:p>
                <a:pPr lvl="1"/>
                <a:r>
                  <a:rPr lang="en-GB" sz="1800" dirty="0"/>
                  <a:t>{912, Papaya, Qty: 40} </a:t>
                </a:r>
                <a14:m>
                  <m:oMath xmlns:m="http://schemas.openxmlformats.org/officeDocument/2006/math">
                    <m:r>
                      <a:rPr lang="en-GB" sz="1800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800" dirty="0">
                        <a:latin typeface="Cambria Math" panose="02040503050406030204" pitchFamily="18" charset="0"/>
                      </a:rPr>
                      <m:t>912</m:t>
                    </m:r>
                    <m:r>
                      <a:rPr lang="en-GB" sz="1800" dirty="0">
                        <a:latin typeface="Cambria Math" panose="02040503050406030204" pitchFamily="18" charset="0"/>
                      </a:rPr>
                      <m:t> </m:t>
                    </m:r>
                    <m:r>
                      <a:rPr lang="en-US" sz="1800" dirty="0">
                        <a:latin typeface="Cambria Math" panose="02040503050406030204" pitchFamily="18" charset="0"/>
                      </a:rPr>
                      <m:t>%</m:t>
                    </m:r>
                    <m:r>
                      <a:rPr lang="en-GB" sz="1800" dirty="0">
                        <a:latin typeface="Cambria Math" panose="02040503050406030204" pitchFamily="18" charset="0"/>
                      </a:rPr>
                      <m:t> 10=</m:t>
                    </m:r>
                    <m:r>
                      <a:rPr lang="en-US" sz="18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1800" dirty="0"/>
              </a:p>
              <a:p>
                <a:pPr lvl="2"/>
                <a:r>
                  <a:rPr lang="en-GB" sz="1600" dirty="0"/>
                  <a:t>2 is occupied</a:t>
                </a:r>
                <a14:m>
                  <m:oMath xmlns:m="http://schemas.openxmlformats.org/officeDocument/2006/math">
                    <m:r>
                      <a:rPr lang="en-GB" sz="1600" dirty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GB" sz="1600" dirty="0"/>
                  <a:t> check 3, 4,… </a:t>
                </a:r>
              </a:p>
              <a:p>
                <a:pPr lvl="2"/>
                <a:r>
                  <a:rPr lang="en-GB" sz="1600" dirty="0"/>
                  <a:t>until empty slot is found</a:t>
                </a: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4646241" cy="4351338"/>
              </a:xfrm>
              <a:blipFill>
                <a:blip r:embed="rId2"/>
                <a:stretch>
                  <a:fillRect l="-1087" t="-1453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35</a:t>
            </a:fld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4294967295"/>
          </p:nvPr>
        </p:nvSpPr>
        <p:spPr>
          <a:xfrm>
            <a:off x="838200" y="1430338"/>
            <a:ext cx="10633075" cy="5032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Linear Probing Example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76073" y="903904"/>
            <a:ext cx="6346687" cy="187587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When searching for an empty slot, remember to wrap around (like a circular array)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589416" y="1547130"/>
          <a:ext cx="4320000" cy="548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173678178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32397473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1362806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37379881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7795151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4739342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48943802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97581964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6005616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059653415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60789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[0]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[1]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[2]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[3]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[4]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[5]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[6]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[7]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[8]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[9]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147924"/>
                  </a:ext>
                </a:extLst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7998117" y="2278162"/>
            <a:ext cx="1502598" cy="4754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637 % 10=7</a:t>
            </a:r>
          </a:p>
        </p:txBody>
      </p:sp>
      <p:cxnSp>
        <p:nvCxnSpPr>
          <p:cNvPr id="31" name="Straight Arrow Connector 23"/>
          <p:cNvCxnSpPr>
            <a:stCxn id="29" idx="3"/>
          </p:cNvCxnSpPr>
          <p:nvPr/>
        </p:nvCxnSpPr>
        <p:spPr>
          <a:xfrm flipV="1">
            <a:off x="9500715" y="2141891"/>
            <a:ext cx="325121" cy="374015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23"/>
          <p:cNvCxnSpPr>
            <a:stCxn id="29" idx="1"/>
          </p:cNvCxnSpPr>
          <p:nvPr/>
        </p:nvCxnSpPr>
        <p:spPr>
          <a:xfrm rot="10800000">
            <a:off x="7246819" y="2141892"/>
            <a:ext cx="751299" cy="374015"/>
          </a:xfrm>
          <a:prstGeom prst="bentConnector3">
            <a:avLst>
              <a:gd name="adj1" fmla="val 99901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23"/>
          <p:cNvCxnSpPr>
            <a:stCxn id="29" idx="3"/>
          </p:cNvCxnSpPr>
          <p:nvPr/>
        </p:nvCxnSpPr>
        <p:spPr>
          <a:xfrm flipV="1">
            <a:off x="9500715" y="2141891"/>
            <a:ext cx="799592" cy="374015"/>
          </a:xfrm>
          <a:prstGeom prst="bentConnector3">
            <a:avLst>
              <a:gd name="adj1" fmla="val 100318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23"/>
          <p:cNvCxnSpPr>
            <a:stCxn id="29" idx="3"/>
          </p:cNvCxnSpPr>
          <p:nvPr/>
        </p:nvCxnSpPr>
        <p:spPr>
          <a:xfrm flipV="1">
            <a:off x="9500715" y="2131333"/>
            <a:ext cx="1211022" cy="384573"/>
          </a:xfrm>
          <a:prstGeom prst="bentConnector3">
            <a:avLst>
              <a:gd name="adj1" fmla="val 99834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23"/>
          <p:cNvCxnSpPr>
            <a:stCxn id="29" idx="1"/>
          </p:cNvCxnSpPr>
          <p:nvPr/>
        </p:nvCxnSpPr>
        <p:spPr>
          <a:xfrm rot="10800000">
            <a:off x="6822877" y="2131334"/>
            <a:ext cx="1175241" cy="384572"/>
          </a:xfrm>
          <a:prstGeom prst="bentConnector3">
            <a:avLst>
              <a:gd name="adj1" fmla="val 99795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Diagram 22"/>
          <p:cNvGraphicFramePr/>
          <p:nvPr>
            <p:extLst>
              <p:ext uri="{D42A27DB-BD31-4B8C-83A1-F6EECF244321}">
                <p14:modId xmlns:p14="http://schemas.microsoft.com/office/powerpoint/2010/main" val="64550013"/>
              </p:ext>
            </p:extLst>
          </p:nvPr>
        </p:nvGraphicFramePr>
        <p:xfrm>
          <a:off x="358815" y="4325757"/>
          <a:ext cx="4280322" cy="23665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88BF2E8-7718-BAA4-4227-1150FCA65C58}"/>
              </a:ext>
            </a:extLst>
          </p:cNvPr>
          <p:cNvGraphicFramePr>
            <a:graphicFrameLocks noGrp="1"/>
          </p:cNvGraphicFramePr>
          <p:nvPr/>
        </p:nvGraphicFramePr>
        <p:xfrm>
          <a:off x="8115655" y="3189353"/>
          <a:ext cx="3807105" cy="30325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0778">
                  <a:extLst>
                    <a:ext uri="{9D8B030D-6E8A-4147-A177-3AD203B41FA5}">
                      <a16:colId xmlns:a16="http://schemas.microsoft.com/office/drawing/2014/main" val="1916111987"/>
                    </a:ext>
                  </a:extLst>
                </a:gridCol>
                <a:gridCol w="891251">
                  <a:extLst>
                    <a:ext uri="{9D8B030D-6E8A-4147-A177-3AD203B41FA5}">
                      <a16:colId xmlns:a16="http://schemas.microsoft.com/office/drawing/2014/main" val="2211725603"/>
                    </a:ext>
                  </a:extLst>
                </a:gridCol>
                <a:gridCol w="2175076">
                  <a:extLst>
                    <a:ext uri="{9D8B030D-6E8A-4147-A177-3AD203B41FA5}">
                      <a16:colId xmlns:a16="http://schemas.microsoft.com/office/drawing/2014/main" val="1289628246"/>
                    </a:ext>
                  </a:extLst>
                </a:gridCol>
              </a:tblGrid>
              <a:tr h="3032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[0]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988862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[1]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0968345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[2]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6466425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[3]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3993963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[4]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5206000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[5]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619481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[6]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1028744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[7]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0059263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[8]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2304018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[9]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128878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FC2FA9B-F3D0-6E0B-0E32-F1FD9C974957}"/>
                  </a:ext>
                </a:extLst>
              </p:cNvPr>
              <p:cNvSpPr/>
              <p:nvPr/>
            </p:nvSpPr>
            <p:spPr>
              <a:xfrm>
                <a:off x="8971698" y="4433732"/>
                <a:ext cx="613458" cy="23149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912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FC2FA9B-F3D0-6E0B-0E32-F1FD9C9749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1698" y="4433732"/>
                <a:ext cx="613458" cy="231493"/>
              </a:xfrm>
              <a:prstGeom prst="rect">
                <a:avLst/>
              </a:prstGeom>
              <a:blipFill>
                <a:blip r:embed="rId8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F380BA89-BBF2-C5BF-8535-83E7741737F5}"/>
              </a:ext>
            </a:extLst>
          </p:cNvPr>
          <p:cNvSpPr/>
          <p:nvPr/>
        </p:nvSpPr>
        <p:spPr>
          <a:xfrm>
            <a:off x="9793984" y="4433732"/>
            <a:ext cx="2037144" cy="231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{912, Papaya, Qty: 40}</a:t>
            </a:r>
            <a:endParaRPr lang="en-US" sz="16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7296FD-1D5A-4756-981F-9C074ACA2E25}"/>
              </a:ext>
            </a:extLst>
          </p:cNvPr>
          <p:cNvSpPr/>
          <p:nvPr/>
        </p:nvSpPr>
        <p:spPr>
          <a:xfrm>
            <a:off x="8918535" y="4740363"/>
            <a:ext cx="613458" cy="231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82B36B-5421-4F64-5742-8CCDD0C66EAD}"/>
              </a:ext>
            </a:extLst>
          </p:cNvPr>
          <p:cNvSpPr/>
          <p:nvPr/>
        </p:nvSpPr>
        <p:spPr>
          <a:xfrm>
            <a:off x="9740821" y="4740363"/>
            <a:ext cx="2037144" cy="231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{85, Apple, Qty: 120} 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48BAB5F3-8B49-A341-D720-0B54CF323F54}"/>
                  </a:ext>
                </a:extLst>
              </p:cNvPr>
              <p:cNvSpPr/>
              <p:nvPr/>
            </p:nvSpPr>
            <p:spPr>
              <a:xfrm>
                <a:off x="8918535" y="4134557"/>
                <a:ext cx="613458" cy="23149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323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48BAB5F3-8B49-A341-D720-0B54CF323F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8535" y="4134557"/>
                <a:ext cx="613458" cy="231493"/>
              </a:xfrm>
              <a:prstGeom prst="rect">
                <a:avLst/>
              </a:prstGeom>
              <a:blipFill>
                <a:blip r:embed="rId9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26065239-E13B-76A2-132A-C156E74EE1C5}"/>
              </a:ext>
            </a:extLst>
          </p:cNvPr>
          <p:cNvSpPr/>
          <p:nvPr/>
        </p:nvSpPr>
        <p:spPr>
          <a:xfrm>
            <a:off x="9740821" y="4134557"/>
            <a:ext cx="2037144" cy="231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{323, Guava, Qty: 60}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C618E9F-53F0-F941-FD76-AB7A52D57B2C}"/>
                  </a:ext>
                </a:extLst>
              </p:cNvPr>
              <p:cNvSpPr/>
              <p:nvPr/>
            </p:nvSpPr>
            <p:spPr>
              <a:xfrm>
                <a:off x="8918535" y="3827926"/>
                <a:ext cx="613458" cy="23149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C618E9F-53F0-F941-FD76-AB7A52D57B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8535" y="3827926"/>
                <a:ext cx="613458" cy="231493"/>
              </a:xfrm>
              <a:prstGeom prst="rect">
                <a:avLst/>
              </a:prstGeom>
              <a:blipFill>
                <a:blip r:embed="rId10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5A41DEE5-FF0D-4CBB-B019-CB93A165BC9D}"/>
              </a:ext>
            </a:extLst>
          </p:cNvPr>
          <p:cNvSpPr/>
          <p:nvPr/>
        </p:nvSpPr>
        <p:spPr>
          <a:xfrm>
            <a:off x="9740821" y="3827926"/>
            <a:ext cx="2037144" cy="231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{462, Pear, Qty: 80}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06763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3" grpId="0">
        <p:bldAsOne/>
      </p:bldGraphic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i="1" dirty="0">
                <a:solidFill>
                  <a:srgbClr val="000000"/>
                </a:solidFill>
              </a:rPr>
              <a:t>What is P</a:t>
            </a:r>
            <a:r>
              <a:rPr lang="en-GB" b="0" i="1" u="none" strike="noStrike" dirty="0">
                <a:solidFill>
                  <a:srgbClr val="000000"/>
                </a:solidFill>
                <a:effectLst/>
              </a:rPr>
              <a:t>robing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in open addressing?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l"/>
                <a:r>
                  <a:rPr lang="en-GB" b="0" i="0" u="none" strike="noStrike" dirty="0">
                    <a:solidFill>
                      <a:srgbClr val="000000"/>
                    </a:solidFill>
                    <a:effectLst/>
                  </a:rPr>
                  <a:t>When a collision occurs in a hash table (i.e., two keys hash to the same slot), </a:t>
                </a:r>
                <a:r>
                  <a:rPr lang="en-GB" b="1" i="0" u="none" strike="noStrike" dirty="0">
                    <a:solidFill>
                      <a:srgbClr val="000000"/>
                    </a:solidFill>
                    <a:effectLst/>
                  </a:rPr>
                  <a:t>open addressing</a:t>
                </a:r>
                <a:r>
                  <a:rPr lang="en-GB" b="0" i="0" u="none" strike="noStrike" dirty="0">
                    <a:solidFill>
                      <a:srgbClr val="000000"/>
                    </a:solidFill>
                    <a:effectLst/>
                  </a:rPr>
                  <a:t> searches for an </a:t>
                </a:r>
                <a:r>
                  <a:rPr lang="en-GB" b="1" i="0" u="none" strike="noStrike" dirty="0">
                    <a:solidFill>
                      <a:srgbClr val="000000"/>
                    </a:solidFill>
                    <a:effectLst/>
                  </a:rPr>
                  <a:t>alternative empty slot</a:t>
                </a:r>
                <a:r>
                  <a:rPr lang="en-GB" b="0" i="0" u="none" strike="noStrike" dirty="0">
                    <a:solidFill>
                      <a:srgbClr val="000000"/>
                    </a:solidFill>
                    <a:effectLst/>
                  </a:rPr>
                  <a:t> within the table.</a:t>
                </a:r>
              </a:p>
              <a:p>
                <a:pPr algn="l"/>
                <a:r>
                  <a:rPr lang="en-GB" b="0" i="0" u="none" strike="noStrike" dirty="0">
                    <a:solidFill>
                      <a:srgbClr val="000000"/>
                    </a:solidFill>
                    <a:effectLst/>
                  </a:rPr>
                  <a:t>This search process is called </a:t>
                </a:r>
                <a:r>
                  <a:rPr lang="en-GB" b="1" i="0" u="none" strike="noStrike" dirty="0">
                    <a:solidFill>
                      <a:srgbClr val="000000"/>
                    </a:solidFill>
                    <a:effectLst/>
                  </a:rPr>
                  <a:t>probing</a:t>
                </a:r>
                <a:r>
                  <a:rPr lang="en-GB" b="0" i="0" u="none" strike="noStrike" dirty="0">
                    <a:solidFill>
                      <a:srgbClr val="000000"/>
                    </a:solidFill>
                    <a:effectLst/>
                  </a:rPr>
                  <a:t>.</a:t>
                </a:r>
              </a:p>
              <a:p>
                <a:r>
                  <a:rPr lang="en-GB" dirty="0"/>
                  <a:t>The position checked during the </a:t>
                </a:r>
                <a:r>
                  <a:rPr lang="en-GB" i="1" dirty="0" err="1"/>
                  <a:t>i-th</a:t>
                </a:r>
                <a:r>
                  <a:rPr lang="en-GB" dirty="0"/>
                  <a:t> probe is given by a </a:t>
                </a:r>
                <a:r>
                  <a:rPr lang="en-GB" b="1" dirty="0"/>
                  <a:t>probing function</a:t>
                </a:r>
                <a:r>
                  <a:rPr lang="en-GB" dirty="0"/>
                  <a:t>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GB" b="0" i="0" u="none" strike="noStrike" dirty="0">
                  <a:solidFill>
                    <a:srgbClr val="00000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4BC561-BCEA-4F0B-95C2-8CA863EDD649}" type="slidenum">
              <a:rPr lang="de-DE" altLang="zh-CN" smtClean="0"/>
              <a:pPr>
                <a:defRPr/>
              </a:pPr>
              <a:t>36</a:t>
            </a:fld>
            <a:endParaRPr lang="de-DE" altLang="zh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5EDAF8-2678-978A-374B-23FBBABE335C}"/>
              </a:ext>
            </a:extLst>
          </p:cNvPr>
          <p:cNvSpPr txBox="1"/>
          <p:nvPr/>
        </p:nvSpPr>
        <p:spPr>
          <a:xfrm>
            <a:off x="3708105" y="5156021"/>
            <a:ext cx="60977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k</a:t>
            </a:r>
            <a:r>
              <a:rPr lang="en-GB" dirty="0"/>
              <a:t> → key</a:t>
            </a:r>
          </a:p>
          <a:p>
            <a:r>
              <a:rPr lang="en-GB" b="1" dirty="0" err="1"/>
              <a:t>i</a:t>
            </a:r>
            <a:r>
              <a:rPr lang="en-GB" dirty="0"/>
              <a:t> → probe number (0,1,2,…)</a:t>
            </a:r>
          </a:p>
          <a:p>
            <a:r>
              <a:rPr lang="en-GB" b="1" dirty="0"/>
              <a:t>f(</a:t>
            </a:r>
            <a:r>
              <a:rPr lang="en-GB" b="1" dirty="0" err="1"/>
              <a:t>i</a:t>
            </a:r>
            <a:r>
              <a:rPr lang="en-GB" b="1" dirty="0"/>
              <a:t>)</a:t>
            </a:r>
            <a:r>
              <a:rPr lang="en-GB" dirty="0"/>
              <a:t> → probing pattern</a:t>
            </a:r>
          </a:p>
          <a:p>
            <a:r>
              <a:rPr lang="en-GB" b="1" dirty="0"/>
              <a:t>m</a:t>
            </a:r>
            <a:r>
              <a:rPr lang="en-GB" dirty="0"/>
              <a:t> → table size</a:t>
            </a:r>
          </a:p>
        </p:txBody>
      </p:sp>
    </p:spTree>
    <p:extLst>
      <p:ext uri="{BB962C8B-B14F-4D97-AF65-F5344CB8AC3E}">
        <p14:creationId xmlns:p14="http://schemas.microsoft.com/office/powerpoint/2010/main" val="38785521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DC0F1-6755-4E83-3DFE-36DB3B2B7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7E3D5-EB17-F211-DB43-5FD49D841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addressing: Linear Probing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E7428-C577-1775-9F29-E246297F6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dirty="0">
                <a:sym typeface="Symbol" pitchFamily="18" charset="2"/>
              </a:rPr>
              <a:t>HASH_SEARCH(</a:t>
            </a:r>
            <a:r>
              <a:rPr lang="en-US" i="1" dirty="0" err="1">
                <a:sym typeface="Symbol" pitchFamily="18" charset="2"/>
              </a:rPr>
              <a:t>T,k</a:t>
            </a:r>
            <a:r>
              <a:rPr lang="en-US" dirty="0">
                <a:sym typeface="Symbol" pitchFamily="18" charset="2"/>
              </a:rPr>
              <a:t>)</a:t>
            </a:r>
          </a:p>
          <a:p>
            <a:pPr>
              <a:buFontTx/>
              <a:buNone/>
            </a:pPr>
            <a:r>
              <a:rPr lang="en-US" dirty="0">
                <a:sym typeface="Symbol" pitchFamily="18" charset="2"/>
              </a:rPr>
              <a:t>1		</a:t>
            </a:r>
            <a:r>
              <a:rPr lang="en-US" i="1" dirty="0" err="1">
                <a:sym typeface="Symbol" pitchFamily="18" charset="2"/>
              </a:rPr>
              <a:t>i</a:t>
            </a:r>
            <a:r>
              <a:rPr lang="en-US" i="1" dirty="0">
                <a:sym typeface="Symbol" pitchFamily="18" charset="2"/>
              </a:rPr>
              <a:t> </a:t>
            </a:r>
            <a:r>
              <a:rPr lang="en-US" dirty="0">
                <a:sym typeface="Symbol" pitchFamily="18" charset="2"/>
              </a:rPr>
              <a:t> 0</a:t>
            </a:r>
          </a:p>
          <a:p>
            <a:pPr>
              <a:buFontTx/>
              <a:buNone/>
            </a:pPr>
            <a:r>
              <a:rPr lang="en-US" dirty="0">
                <a:sym typeface="Symbol" pitchFamily="18" charset="2"/>
              </a:rPr>
              <a:t>2		</a:t>
            </a:r>
            <a:r>
              <a:rPr lang="en-US" b="1" dirty="0">
                <a:sym typeface="Symbol" pitchFamily="18" charset="2"/>
              </a:rPr>
              <a:t>repeat </a:t>
            </a:r>
            <a:r>
              <a:rPr lang="en-US" i="1" dirty="0">
                <a:sym typeface="Symbol" pitchFamily="18" charset="2"/>
              </a:rPr>
              <a:t>j  h(</a:t>
            </a:r>
            <a:r>
              <a:rPr lang="en-US" i="1" dirty="0" err="1">
                <a:sym typeface="Symbol" pitchFamily="18" charset="2"/>
              </a:rPr>
              <a:t>k,i</a:t>
            </a:r>
            <a:r>
              <a:rPr lang="en-US" i="1" dirty="0">
                <a:sym typeface="Symbol" pitchFamily="18" charset="2"/>
              </a:rPr>
              <a:t>)</a:t>
            </a:r>
          </a:p>
          <a:p>
            <a:pPr>
              <a:buFontTx/>
              <a:buNone/>
            </a:pPr>
            <a:r>
              <a:rPr lang="en-US" dirty="0">
                <a:sym typeface="Symbol" pitchFamily="18" charset="2"/>
              </a:rPr>
              <a:t>3			</a:t>
            </a:r>
            <a:r>
              <a:rPr lang="en-US" b="1" dirty="0">
                <a:sym typeface="Symbol" pitchFamily="18" charset="2"/>
              </a:rPr>
              <a:t>if </a:t>
            </a:r>
            <a:r>
              <a:rPr lang="en-US" dirty="0">
                <a:sym typeface="Symbol" pitchFamily="18" charset="2"/>
              </a:rPr>
              <a:t>T[</a:t>
            </a:r>
            <a:r>
              <a:rPr lang="en-US" i="1" dirty="0">
                <a:sym typeface="Symbol" pitchFamily="18" charset="2"/>
              </a:rPr>
              <a:t>j</a:t>
            </a:r>
            <a:r>
              <a:rPr lang="en-US" dirty="0">
                <a:sym typeface="Symbol" pitchFamily="18" charset="2"/>
              </a:rPr>
              <a:t>] = </a:t>
            </a:r>
            <a:r>
              <a:rPr lang="en-US" i="1" dirty="0">
                <a:sym typeface="Symbol" pitchFamily="18" charset="2"/>
              </a:rPr>
              <a:t>k</a:t>
            </a:r>
          </a:p>
          <a:p>
            <a:pPr>
              <a:buFontTx/>
              <a:buNone/>
            </a:pPr>
            <a:r>
              <a:rPr lang="en-US" dirty="0">
                <a:sym typeface="Symbol" pitchFamily="18" charset="2"/>
              </a:rPr>
              <a:t>4	 			</a:t>
            </a:r>
            <a:r>
              <a:rPr lang="en-US" b="1" dirty="0">
                <a:sym typeface="Symbol" pitchFamily="18" charset="2"/>
              </a:rPr>
              <a:t>return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i="1" dirty="0">
                <a:sym typeface="Symbol" pitchFamily="18" charset="2"/>
              </a:rPr>
              <a:t>j</a:t>
            </a:r>
            <a:endParaRPr lang="en-US" dirty="0">
              <a:sym typeface="Symbol" pitchFamily="18" charset="2"/>
            </a:endParaRPr>
          </a:p>
          <a:p>
            <a:pPr>
              <a:buFontTx/>
              <a:buNone/>
            </a:pPr>
            <a:r>
              <a:rPr lang="en-US" dirty="0">
                <a:sym typeface="Symbol" pitchFamily="18" charset="2"/>
              </a:rPr>
              <a:t>5	       		</a:t>
            </a:r>
            <a:r>
              <a:rPr lang="en-US" i="1" dirty="0" err="1">
                <a:sym typeface="Symbol" pitchFamily="18" charset="2"/>
              </a:rPr>
              <a:t>i</a:t>
            </a:r>
            <a:r>
              <a:rPr lang="en-US" i="1" dirty="0">
                <a:sym typeface="Symbol" pitchFamily="18" charset="2"/>
              </a:rPr>
              <a:t>   </a:t>
            </a:r>
            <a:r>
              <a:rPr lang="en-US" i="1" dirty="0" err="1">
                <a:sym typeface="Symbol" pitchFamily="18" charset="2"/>
              </a:rPr>
              <a:t>i</a:t>
            </a:r>
            <a:r>
              <a:rPr lang="en-US" dirty="0">
                <a:sym typeface="Symbol" pitchFamily="18" charset="2"/>
              </a:rPr>
              <a:t> +1</a:t>
            </a:r>
          </a:p>
          <a:p>
            <a:pPr>
              <a:buFontTx/>
              <a:buNone/>
            </a:pPr>
            <a:r>
              <a:rPr lang="en-US" dirty="0">
                <a:sym typeface="Symbol" pitchFamily="18" charset="2"/>
              </a:rPr>
              <a:t>6		</a:t>
            </a:r>
            <a:r>
              <a:rPr lang="en-US" b="1" dirty="0">
                <a:sym typeface="Symbol" pitchFamily="18" charset="2"/>
              </a:rPr>
              <a:t>until</a:t>
            </a:r>
            <a:r>
              <a:rPr lang="en-US" dirty="0">
                <a:sym typeface="Symbol" pitchFamily="18" charset="2"/>
              </a:rPr>
              <a:t> T[</a:t>
            </a:r>
            <a:r>
              <a:rPr lang="en-US" i="1" dirty="0">
                <a:sym typeface="Symbol" pitchFamily="18" charset="2"/>
              </a:rPr>
              <a:t>j</a:t>
            </a:r>
            <a:r>
              <a:rPr lang="en-US" dirty="0">
                <a:sym typeface="Symbol" pitchFamily="18" charset="2"/>
              </a:rPr>
              <a:t>] = </a:t>
            </a:r>
            <a:r>
              <a:rPr lang="en-US" i="1" dirty="0">
                <a:sym typeface="Symbol" pitchFamily="18" charset="2"/>
              </a:rPr>
              <a:t>NULL </a:t>
            </a:r>
            <a:r>
              <a:rPr lang="en-US" dirty="0">
                <a:sym typeface="Symbol" pitchFamily="18" charset="2"/>
              </a:rPr>
              <a:t>or </a:t>
            </a:r>
            <a:r>
              <a:rPr lang="en-US" i="1" dirty="0" err="1">
                <a:sym typeface="Symbol" pitchFamily="18" charset="2"/>
              </a:rPr>
              <a:t>i</a:t>
            </a:r>
            <a:r>
              <a:rPr lang="en-US" i="1" dirty="0">
                <a:sym typeface="Symbol" pitchFamily="18" charset="2"/>
              </a:rPr>
              <a:t> = m</a:t>
            </a:r>
          </a:p>
          <a:p>
            <a:pPr>
              <a:buFontTx/>
              <a:buNone/>
            </a:pPr>
            <a:r>
              <a:rPr lang="en-US" dirty="0">
                <a:sym typeface="Symbol" pitchFamily="18" charset="2"/>
              </a:rPr>
              <a:t>7		</a:t>
            </a:r>
            <a:r>
              <a:rPr lang="en-US" b="1" dirty="0">
                <a:sym typeface="Symbol" pitchFamily="18" charset="2"/>
              </a:rPr>
              <a:t>return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i="1" dirty="0">
                <a:sym typeface="Symbol" pitchFamily="18" charset="2"/>
              </a:rPr>
              <a:t>NULL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0B6AA-43BE-0164-ED97-25B124615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4BC561-BCEA-4F0B-95C2-8CA863EDD649}" type="slidenum">
              <a:rPr lang="de-DE" altLang="zh-CN" smtClean="0"/>
              <a:pPr>
                <a:defRPr/>
              </a:pPr>
              <a:t>37</a:t>
            </a:fld>
            <a:endParaRPr lang="de-DE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5C88D84-5E64-819F-E835-F9F6C8AE5383}"/>
                  </a:ext>
                </a:extLst>
              </p:cNvPr>
              <p:cNvSpPr txBox="1"/>
              <p:nvPr/>
            </p:nvSpPr>
            <p:spPr>
              <a:xfrm>
                <a:off x="5005277" y="2882827"/>
                <a:ext cx="609777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GB" b="0" i="0" u="none" strike="noStrike" dirty="0">
                  <a:solidFill>
                    <a:srgbClr val="00000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5C88D84-5E64-819F-E835-F9F6C8AE5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277" y="2882827"/>
                <a:ext cx="6097772" cy="369332"/>
              </a:xfrm>
              <a:prstGeom prst="rect">
                <a:avLst/>
              </a:prstGeom>
              <a:blipFill>
                <a:blip r:embed="rId2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CE93F1-D033-0DC0-F418-DA7446A5D410}"/>
                  </a:ext>
                </a:extLst>
              </p:cNvPr>
              <p:cNvSpPr txBox="1"/>
              <p:nvPr/>
            </p:nvSpPr>
            <p:spPr>
              <a:xfrm>
                <a:off x="5005277" y="3421176"/>
                <a:ext cx="609777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𝑄𝑢𝑎𝑑𝑟𝑎𝑡𝑖𝑐</m:t>
                      </m:r>
                      <m:r>
                        <a:rPr lang="en-US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𝑃𝑟𝑜𝑏𝑖𝑛𝑔</m:t>
                      </m:r>
                      <m:r>
                        <a:rPr lang="en-US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GB" b="0" i="0" u="none" strike="noStrike" dirty="0">
                  <a:solidFill>
                    <a:srgbClr val="00000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CE93F1-D033-0DC0-F418-DA7446A5D4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277" y="3421176"/>
                <a:ext cx="6097772" cy="369332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ECD816F-BC3D-C73C-B6B4-6825BC8C0D15}"/>
                  </a:ext>
                </a:extLst>
              </p:cNvPr>
              <p:cNvSpPr txBox="1"/>
              <p:nvPr/>
            </p:nvSpPr>
            <p:spPr>
              <a:xfrm>
                <a:off x="5005277" y="3816628"/>
                <a:ext cx="609777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𝐷𝑜𝑢𝑏𝑙𝑒</m:t>
                      </m:r>
                      <m:r>
                        <a:rPr lang="en-US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𝐻𝑎𝑠h𝑖𝑛𝑔</m:t>
                      </m:r>
                      <m:r>
                        <a:rPr lang="en-US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)) </m:t>
                      </m:r>
                      <m:r>
                        <a:rPr lang="en-US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GB" b="0" i="0" u="none" strike="noStrike" dirty="0">
                  <a:solidFill>
                    <a:srgbClr val="00000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ECD816F-BC3D-C73C-B6B4-6825BC8C0D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277" y="3816628"/>
                <a:ext cx="6097772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5150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858000" y="2043034"/>
            <a:ext cx="4971328" cy="449666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Double Hashing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Addressing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1"/>
              </p:nvPr>
            </p:nvSpPr>
            <p:spPr>
              <a:xfrm>
                <a:off x="358816" y="2043034"/>
                <a:ext cx="6170208" cy="4496661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Uses a second hash function to calculate step size</a:t>
                </a:r>
              </a:p>
              <a:p>
                <a:r>
                  <a:rPr lang="en-US" dirty="0"/>
                  <a:t>Formula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 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%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 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Where:</a:t>
                </a:r>
              </a:p>
              <a:p>
                <a:pPr lvl="2"/>
                <a:r>
                  <a:rPr lang="en-US" dirty="0"/>
                  <a:t>Primary Hash: e.g.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%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Secondary Hash: e.g.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5−(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%5)</m:t>
                    </m:r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Calculates step size, and must not be zero</a:t>
                </a:r>
              </a:p>
              <a:p>
                <a:pPr lvl="3"/>
                <a:r>
                  <a:rPr lang="en-US" dirty="0"/>
                  <a:t>Step size must be coprime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1"/>
              </p:nvPr>
            </p:nvSpPr>
            <p:spPr>
              <a:xfrm>
                <a:off x="358816" y="2043034"/>
                <a:ext cx="6170208" cy="4496661"/>
              </a:xfrm>
              <a:blipFill>
                <a:blip r:embed="rId2"/>
                <a:stretch>
                  <a:fillRect l="-1779" t="-23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4"/>
              <p:cNvSpPr txBox="1">
                <a:spLocks/>
              </p:cNvSpPr>
              <p:nvPr/>
            </p:nvSpPr>
            <p:spPr>
              <a:xfrm>
                <a:off x="6858000" y="2043034"/>
                <a:ext cx="4971328" cy="449666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2"/>
                    </a:solidFill>
                    <a:latin typeface="Arial Rounded MT Bold" panose="020F0704030504030204" pitchFamily="34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2"/>
                    </a:solidFill>
                    <a:latin typeface="Arial Rounded MT Bold" panose="020F0704030504030204" pitchFamily="34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2"/>
                    </a:solidFill>
                    <a:latin typeface="Arial Rounded MT Bold" panose="020F0704030504030204" pitchFamily="34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2"/>
                    </a:solidFill>
                    <a:latin typeface="Arial Rounded MT Bold" panose="020F0704030504030204" pitchFamily="34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2"/>
                    </a:solidFill>
                    <a:latin typeface="Arial Rounded MT Bold" panose="020F0704030504030204" pitchFamily="34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dirty="0"/>
                  <a:t>Example</a:t>
                </a:r>
              </a:p>
              <a:p>
                <a:r>
                  <a:rPr lang="en-US" sz="2000" dirty="0"/>
                  <a:t>Insert {912, Papaya}</a:t>
                </a:r>
              </a:p>
              <a:p>
                <a:r>
                  <a:rPr lang="en-US" sz="2000" dirty="0"/>
                  <a:t>Primary Hash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912</m:t>
                        </m:r>
                      </m:e>
                    </m:d>
                    <m:r>
                      <a:rPr lang="en-US" sz="1800" i="1" dirty="0">
                        <a:latin typeface="Cambria Math" panose="02040503050406030204" pitchFamily="18" charset="0"/>
                      </a:rPr>
                      <m:t>=912% 10=2</m:t>
                    </m:r>
                  </m:oMath>
                </a14:m>
                <a:endParaRPr lang="en-US" sz="1800" dirty="0"/>
              </a:p>
              <a:p>
                <a:pPr lvl="2"/>
                <a:r>
                  <a:rPr lang="en-US" sz="1400" dirty="0"/>
                  <a:t>(Slot 2 occupied by pears)</a:t>
                </a:r>
              </a:p>
              <a:p>
                <a:r>
                  <a:rPr lang="en-US" sz="2000" dirty="0"/>
                  <a:t>Secondary Hash (Step Size)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912</m:t>
                        </m:r>
                      </m:e>
                    </m:d>
                    <m:r>
                      <a:rPr lang="en-US" sz="1800" i="1" dirty="0">
                        <a:latin typeface="Cambria Math" panose="02040503050406030204" pitchFamily="18" charset="0"/>
                      </a:rPr>
                      <m:t>=5−</m:t>
                    </m:r>
                    <m:d>
                      <m:d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912 %5</m:t>
                        </m:r>
                      </m:e>
                    </m:d>
                    <m:r>
                      <a:rPr lang="en-US" sz="1800" dirty="0">
                        <a:latin typeface="Cambria Math" panose="02040503050406030204" pitchFamily="18" charset="0"/>
                      </a:rPr>
                      <m:t>=5−2=</m:t>
                    </m:r>
                    <m:r>
                      <a:rPr lang="en-US" sz="1800" b="0" i="0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sz="1800" dirty="0"/>
              </a:p>
              <a:p>
                <a:pPr lvl="2"/>
                <a:r>
                  <a:rPr lang="en-US" sz="1400" dirty="0"/>
                  <a:t>(coprime with 10)</a:t>
                </a:r>
              </a:p>
              <a:p>
                <a:r>
                  <a:rPr lang="en-US" sz="2000" dirty="0"/>
                  <a:t>Probe 1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2+1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×3</m:t>
                        </m:r>
                      </m:e>
                    </m:d>
                    <m:r>
                      <a:rPr lang="en-US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%10=</m:t>
                    </m:r>
                    <m:r>
                      <a:rPr lang="en-US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1800" dirty="0"/>
                  <a:t> (Check slot 5)</a:t>
                </a:r>
              </a:p>
              <a:p>
                <a:r>
                  <a:rPr lang="en-US" sz="2000" dirty="0"/>
                  <a:t>Probe 2 (if slot 5 is occupied)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2+2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×3</m:t>
                        </m:r>
                      </m:e>
                    </m:d>
                    <m:r>
                      <a:rPr lang="en-US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%10=</m:t>
                    </m:r>
                  </m:oMath>
                </a14:m>
                <a:r>
                  <a:rPr lang="en-US" sz="1800" dirty="0"/>
                  <a:t>8 (Check slot 8)</a:t>
                </a:r>
              </a:p>
              <a:p>
                <a:r>
                  <a:rPr lang="en-US" sz="2000" dirty="0"/>
                  <a:t>...1,4, 7, 0, 3, 6, 9,….</a:t>
                </a:r>
              </a:p>
            </p:txBody>
          </p:sp>
        </mc:Choice>
        <mc:Fallback xmlns="">
          <p:sp>
            <p:nvSpPr>
              <p:cNvPr id="7" name="Content Placeholder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0" y="2043034"/>
                <a:ext cx="4971328" cy="4496661"/>
              </a:xfrm>
              <a:prstGeom prst="rect">
                <a:avLst/>
              </a:prstGeom>
              <a:blipFill>
                <a:blip r:embed="rId3"/>
                <a:stretch>
                  <a:fillRect l="-1103" t="-32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44857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Chaining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Each table index stores a linked list (chain) of all keys mapping there.</a:t>
            </a:r>
          </a:p>
          <a:p>
            <a:r>
              <a:rPr lang="en-US" dirty="0"/>
              <a:t>On collision, new element is simply appended to the chain at that index.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0712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Chaining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Each table index stores a linked list (chain) of all keys mapping there.</a:t>
            </a:r>
          </a:p>
          <a:p>
            <a:r>
              <a:rPr lang="en-US" dirty="0"/>
              <a:t>On collision, new element is simply appended to the chain at that index.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21" name="Line Callout 1 (Accent Bar) 20"/>
          <p:cNvSpPr/>
          <p:nvPr/>
        </p:nvSpPr>
        <p:spPr>
          <a:xfrm>
            <a:off x="8829040" y="3210560"/>
            <a:ext cx="1473200" cy="477520"/>
          </a:xfrm>
          <a:prstGeom prst="accentCallout1">
            <a:avLst>
              <a:gd name="adj1" fmla="val 18750"/>
              <a:gd name="adj2" fmla="val -8333"/>
              <a:gd name="adj3" fmla="val -13032"/>
              <a:gd name="adj4" fmla="val -83161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How?</a:t>
            </a:r>
          </a:p>
        </p:txBody>
      </p:sp>
    </p:spTree>
    <p:extLst>
      <p:ext uri="{BB962C8B-B14F-4D97-AF65-F5344CB8AC3E}">
        <p14:creationId xmlns:p14="http://schemas.microsoft.com/office/powerpoint/2010/main" val="21530653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Chaining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Each table index stores a linked list (chain) of all keys mapping there.</a:t>
            </a:r>
          </a:p>
          <a:p>
            <a:r>
              <a:rPr lang="en-US" dirty="0"/>
              <a:t>On collision, new element is simply appended to the chain at that index.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pPr/>
              <a:t>41</a:t>
            </a:fld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95415" y="3544504"/>
          <a:ext cx="740778" cy="30325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0778">
                  <a:extLst>
                    <a:ext uri="{9D8B030D-6E8A-4147-A177-3AD203B41FA5}">
                      <a16:colId xmlns:a16="http://schemas.microsoft.com/office/drawing/2014/main" val="1916111987"/>
                    </a:ext>
                  </a:extLst>
                </a:gridCol>
              </a:tblGrid>
              <a:tr h="3032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[0]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988862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[1]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0968345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[2]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6466425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[3]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3993963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[4]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5206000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[5]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619481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[6]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1028744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[7]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0059263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[8]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2304018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[9]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1288784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012780" y="5095512"/>
            <a:ext cx="2037144" cy="231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{85, Apple} 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7012780" y="4489706"/>
            <a:ext cx="2037144" cy="231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{323, Guava}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7012780" y="4183075"/>
            <a:ext cx="2037144" cy="231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{462, Pear}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9126511" y="4183075"/>
            <a:ext cx="2037144" cy="231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{912, Papaya}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9434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Chaining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Each table index stores a linked list (chain) of all keys mapping there.</a:t>
            </a:r>
          </a:p>
          <a:p>
            <a:r>
              <a:rPr lang="en-US" dirty="0"/>
              <a:t>On collision, new element is simply appended to the chain at that index.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pPr/>
              <a:t>42</a:t>
            </a:fld>
            <a:endParaRPr lang="en-US" dirty="0"/>
          </a:p>
        </p:txBody>
      </p:sp>
      <p:graphicFrame>
        <p:nvGraphicFramePr>
          <p:cNvPr id="8" name="Diagram 7"/>
          <p:cNvGraphicFramePr/>
          <p:nvPr/>
        </p:nvGraphicFramePr>
        <p:xfrm>
          <a:off x="358815" y="4325757"/>
          <a:ext cx="4280322" cy="23665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95415" y="3544504"/>
          <a:ext cx="740778" cy="30325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0778">
                  <a:extLst>
                    <a:ext uri="{9D8B030D-6E8A-4147-A177-3AD203B41FA5}">
                      <a16:colId xmlns:a16="http://schemas.microsoft.com/office/drawing/2014/main" val="1916111987"/>
                    </a:ext>
                  </a:extLst>
                </a:gridCol>
              </a:tblGrid>
              <a:tr h="3032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[0]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988862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[1]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0968345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[2]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6466425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[3]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3993963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[4]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5206000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[5]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619481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[6]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1028744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[7]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0059263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[8]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2304018"/>
                  </a:ext>
                </a:extLst>
              </a:tr>
              <a:tr h="3032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[9]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1288784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012780" y="5095512"/>
            <a:ext cx="2037144" cy="231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{85, Apple} 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7012780" y="4489706"/>
            <a:ext cx="2037144" cy="231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{323, Guava}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7012780" y="4183075"/>
            <a:ext cx="2037144" cy="231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{462, Pear}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9126511" y="4183075"/>
            <a:ext cx="2037144" cy="231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{912, Papaya}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5823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Affecting Hash Table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Load Factor (α)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𝑵𝒖𝒎𝒃𝒆𝒓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𝒐𝒇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𝒔𝒕𝒐𝒓𝒆𝒅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𝒊𝒕𝒆𝒎𝒔</m:t>
                        </m:r>
                      </m:num>
                      <m:den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𝒎</m:t>
                        </m:r>
                      </m:den>
                    </m:f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Low α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fewer collisions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faster operations</a:t>
                </a:r>
              </a:p>
              <a:p>
                <a:pPr lvl="2"/>
                <a:r>
                  <a:rPr lang="en-US" dirty="0"/>
                  <a:t>High α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more collisions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degraded performance</a:t>
                </a:r>
              </a:p>
              <a:p>
                <a:r>
                  <a:rPr lang="en-US" b="1" dirty="0"/>
                  <a:t>Example (Fruit Shop):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10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7 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𝑖𝑡𝑒𝑚𝑠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0.7 →</m:t>
                    </m:r>
                  </m:oMath>
                </a14:m>
                <a:r>
                  <a:rPr lang="en-US" dirty="0"/>
                  <a:t> still okay for open addressing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10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𝑖𝑡𝑒𝑚𝑠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0.9 →</m:t>
                    </m:r>
                  </m:oMath>
                </a14:m>
                <a:r>
                  <a:rPr lang="en-US" dirty="0"/>
                  <a:t> collisions likely spike</a:t>
                </a:r>
              </a:p>
              <a:p>
                <a:r>
                  <a:rPr lang="en-US" b="1" dirty="0"/>
                  <a:t>Rehashing</a:t>
                </a:r>
                <a:endParaRPr lang="en-US" dirty="0"/>
              </a:p>
              <a:p>
                <a:pPr lvl="1"/>
                <a:r>
                  <a:rPr lang="en-US" dirty="0"/>
                  <a:t>When α exceeds a threshold (e.g., 0.75), resize the table</a:t>
                </a:r>
              </a:p>
              <a:p>
                <a:pPr lvl="2"/>
                <a:r>
                  <a:rPr lang="en-US" dirty="0"/>
                  <a:t>often double size and rehash all entries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6" t="-2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113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a Good Hash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Properties of a good hash function:</a:t>
                </a:r>
              </a:p>
              <a:p>
                <a:pPr lvl="1"/>
                <a:r>
                  <a:rPr lang="en-US" dirty="0"/>
                  <a:t>Uniform distribution (avoids clustering)</a:t>
                </a:r>
              </a:p>
              <a:p>
                <a:pPr lvl="1"/>
                <a:r>
                  <a:rPr lang="en-US" dirty="0"/>
                  <a:t>Fast to compute</a:t>
                </a:r>
              </a:p>
              <a:p>
                <a:pPr lvl="1"/>
                <a:r>
                  <a:rPr lang="en-US" dirty="0"/>
                  <a:t>Minimal collisions for expected dataset</a:t>
                </a:r>
              </a:p>
              <a:p>
                <a:endParaRPr lang="en-US" dirty="0"/>
              </a:p>
              <a:p>
                <a:r>
                  <a:rPr lang="en-US" dirty="0"/>
                  <a:t>Poor choice: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% 10</m:t>
                    </m:r>
                  </m:oMath>
                </a14:m>
                <a:r>
                  <a:rPr lang="en-US" dirty="0"/>
                  <a:t> for fruit shop</a:t>
                </a:r>
              </a:p>
              <a:p>
                <a:pPr lvl="2"/>
                <a:r>
                  <a:rPr lang="en-US" dirty="0"/>
                  <a:t>Keys are similar (e.g., all ending in “2”)</a:t>
                </a:r>
              </a:p>
              <a:p>
                <a:pPr lvl="2"/>
                <a:r>
                  <a:rPr lang="en-US" dirty="0"/>
                  <a:t>Clustering in the same few slots</a:t>
                </a:r>
              </a:p>
              <a:p>
                <a:endParaRPr lang="en-US" dirty="0"/>
              </a:p>
              <a:p>
                <a:r>
                  <a:rPr lang="en-US" dirty="0"/>
                  <a:t>Better choice:</a:t>
                </a:r>
              </a:p>
              <a:p>
                <a:pPr lvl="1"/>
                <a:r>
                  <a:rPr lang="en-US" dirty="0"/>
                  <a:t>Use a prime table size (e.g. 11)</a:t>
                </a:r>
              </a:p>
              <a:p>
                <a:pPr lvl="1"/>
                <a:r>
                  <a:rPr lang="en-US" dirty="0"/>
                  <a:t>Combine multiplication + modulo method</a:t>
                </a:r>
              </a:p>
              <a:p>
                <a:pPr lvl="1"/>
                <a:r>
                  <a:rPr lang="en-US" dirty="0"/>
                  <a:t>For strings (fruit names), use polynomial rolling hash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4" t="-3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197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Applications of Hash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Beyond the Fruit Shop: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45</a:t>
            </a:fld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668584" y="2725419"/>
          <a:ext cx="11048436" cy="34834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779192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71BCC-8808-E26C-8131-681BD2707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9C100-8AA7-135A-651D-73F765C2F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CLASSROOM ACTIVITY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EC322-B835-8D1A-C8CA-1C34B108D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3263" y="884420"/>
            <a:ext cx="7885475" cy="5122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000000"/>
                </a:solidFill>
              </a:rPr>
              <a:t>Keys:</a:t>
            </a:r>
          </a:p>
          <a:p>
            <a:pPr marL="0" indent="0">
              <a:buNone/>
            </a:pPr>
            <a:r>
              <a:rPr lang="en-PK" dirty="0">
                <a:solidFill>
                  <a:srgbClr val="000000"/>
                </a:solidFill>
                <a:latin typeface="-webkit-standard"/>
              </a:rPr>
              <a:t>{29, 47, 58, 63, 91, 102}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0000"/>
                </a:solidFill>
              </a:rPr>
              <a:t>Question:</a:t>
            </a:r>
          </a:p>
          <a:p>
            <a:r>
              <a:rPr lang="en-GB" dirty="0">
                <a:solidFill>
                  <a:srgbClr val="000000"/>
                </a:solidFill>
              </a:rPr>
              <a:t>Choose a suitable hash table size </a:t>
            </a:r>
            <a:r>
              <a:rPr lang="en-GB" b="1" dirty="0">
                <a:solidFill>
                  <a:srgbClr val="000000"/>
                </a:solidFill>
              </a:rPr>
              <a:t>m</a:t>
            </a:r>
            <a:r>
              <a:rPr lang="en-GB" dirty="0">
                <a:solidFill>
                  <a:srgbClr val="000000"/>
                </a:solidFill>
              </a:rPr>
              <a:t> and hash function </a:t>
            </a:r>
            <a:r>
              <a:rPr lang="en-GB" b="1" dirty="0">
                <a:solidFill>
                  <a:srgbClr val="000000"/>
                </a:solidFill>
              </a:rPr>
              <a:t>h(k)</a:t>
            </a:r>
            <a:r>
              <a:rPr lang="en-GB" dirty="0">
                <a:solidFill>
                  <a:srgbClr val="000000"/>
                </a:solidFill>
              </a:rPr>
              <a:t>.</a:t>
            </a:r>
          </a:p>
          <a:p>
            <a:r>
              <a:rPr lang="en-GB" dirty="0">
                <a:solidFill>
                  <a:srgbClr val="000000"/>
                </a:solidFill>
              </a:rPr>
              <a:t>Explain your choice in one line.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 descr="A screenshot of a phone&#10;&#10;Description automatically generated">
            <a:extLst>
              <a:ext uri="{FF2B5EF4-FFF2-40B4-BE49-F238E27FC236}">
                <a16:creationId xmlns:a16="http://schemas.microsoft.com/office/drawing/2014/main" id="{1BC7823C-1719-10CC-C74C-5491F49094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449" y="4140200"/>
            <a:ext cx="6515100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101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6A04B-70BC-818F-D1BE-E2DE8AB5E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84A0A-4D7C-3C65-28C9-EEE158DBB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CLASSROOM ACTIVITY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00C2E-3C26-8F79-BA1F-A8DF4B5E0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3262" y="884420"/>
            <a:ext cx="8387738" cy="5122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b="1" dirty="0">
                <a:solidFill>
                  <a:srgbClr val="000000"/>
                </a:solidFill>
              </a:rPr>
              <a:t>Keys: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000000"/>
                </a:solidFill>
              </a:rPr>
              <a:t>{12, 28, 33, 45, 57, 62}</a:t>
            </a:r>
          </a:p>
          <a:p>
            <a:pPr marL="0" indent="0">
              <a:buNone/>
            </a:pPr>
            <a:r>
              <a:rPr lang="en-GB" sz="2000" b="1" dirty="0">
                <a:solidFill>
                  <a:srgbClr val="000000"/>
                </a:solidFill>
              </a:rPr>
              <a:t>Given: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000000"/>
                </a:solidFill>
              </a:rPr>
              <a:t>m = 5, </a:t>
            </a:r>
            <a:r>
              <a:rPr lang="en-GB" sz="2000" b="1" dirty="0">
                <a:solidFill>
                  <a:srgbClr val="000000"/>
                </a:solidFill>
              </a:rPr>
              <a:t>h(k) = k mod 5</a:t>
            </a:r>
            <a:endParaRPr lang="en-GB" sz="20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GB" sz="2000" b="1" dirty="0">
                <a:solidFill>
                  <a:srgbClr val="000000"/>
                </a:solidFill>
              </a:rPr>
              <a:t>Question:</a:t>
            </a:r>
          </a:p>
          <a:p>
            <a:r>
              <a:rPr lang="en-GB" sz="2000" dirty="0">
                <a:solidFill>
                  <a:srgbClr val="000000"/>
                </a:solidFill>
              </a:rPr>
              <a:t>Construct the hash table using </a:t>
            </a:r>
            <a:r>
              <a:rPr lang="en-GB" sz="2000" b="1" dirty="0">
                <a:solidFill>
                  <a:srgbClr val="000000"/>
                </a:solidFill>
              </a:rPr>
              <a:t>separate chaining</a:t>
            </a:r>
            <a:r>
              <a:rPr lang="en-GB" sz="2000" dirty="0">
                <a:solidFill>
                  <a:srgbClr val="000000"/>
                </a:solidFill>
              </a:rPr>
              <a:t>.</a:t>
            </a:r>
          </a:p>
          <a:p>
            <a:r>
              <a:rPr lang="en-GB" sz="2000" dirty="0">
                <a:solidFill>
                  <a:srgbClr val="000000"/>
                </a:solidFill>
              </a:rPr>
              <a:t>Draw each bucket’s linked list.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E521F8C-922F-2336-1388-34160F3AA1BD}"/>
              </a:ext>
            </a:extLst>
          </p:cNvPr>
          <p:cNvGraphicFramePr>
            <a:graphicFrameLocks noGrp="1"/>
          </p:cNvGraphicFramePr>
          <p:nvPr/>
        </p:nvGraphicFramePr>
        <p:xfrm>
          <a:off x="2152651" y="3780154"/>
          <a:ext cx="4489449" cy="2560320"/>
        </p:xfrm>
        <a:graphic>
          <a:graphicData uri="http://schemas.openxmlformats.org/drawingml/2006/table">
            <a:tbl>
              <a:tblPr firstRow="1">
                <a:tableStyleId>{08FB837D-C827-4EFA-A057-4D05807E0F7C}</a:tableStyleId>
              </a:tblPr>
              <a:tblGrid>
                <a:gridCol w="1496483">
                  <a:extLst>
                    <a:ext uri="{9D8B030D-6E8A-4147-A177-3AD203B41FA5}">
                      <a16:colId xmlns:a16="http://schemas.microsoft.com/office/drawing/2014/main" val="48994883"/>
                    </a:ext>
                  </a:extLst>
                </a:gridCol>
                <a:gridCol w="1496483">
                  <a:extLst>
                    <a:ext uri="{9D8B030D-6E8A-4147-A177-3AD203B41FA5}">
                      <a16:colId xmlns:a16="http://schemas.microsoft.com/office/drawing/2014/main" val="483419501"/>
                    </a:ext>
                  </a:extLst>
                </a:gridCol>
                <a:gridCol w="1496483">
                  <a:extLst>
                    <a:ext uri="{9D8B030D-6E8A-4147-A177-3AD203B41FA5}">
                      <a16:colId xmlns:a16="http://schemas.microsoft.com/office/drawing/2014/main" val="853652242"/>
                    </a:ext>
                  </a:extLst>
                </a:gridCol>
              </a:tblGrid>
              <a:tr h="299616">
                <a:tc>
                  <a:txBody>
                    <a:bodyPr/>
                    <a:lstStyle/>
                    <a:p>
                      <a:r>
                        <a:rPr lang="en-GB"/>
                        <a:t>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k mod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Bucket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7220490"/>
                  </a:ext>
                </a:extLst>
              </a:tr>
              <a:tr h="299616">
                <a:tc>
                  <a:txBody>
                    <a:bodyPr/>
                    <a:lstStyle/>
                    <a:p>
                      <a:r>
                        <a:rPr lang="en-PK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4158548"/>
                  </a:ext>
                </a:extLst>
              </a:tr>
              <a:tr h="299616">
                <a:tc>
                  <a:txBody>
                    <a:bodyPr/>
                    <a:lstStyle/>
                    <a:p>
                      <a:r>
                        <a:rPr lang="en-PK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4125776"/>
                  </a:ext>
                </a:extLst>
              </a:tr>
              <a:tr h="299616">
                <a:tc>
                  <a:txBody>
                    <a:bodyPr/>
                    <a:lstStyle/>
                    <a:p>
                      <a:r>
                        <a:rPr lang="en-PK"/>
                        <a:t>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2148939"/>
                  </a:ext>
                </a:extLst>
              </a:tr>
              <a:tr h="299616">
                <a:tc>
                  <a:txBody>
                    <a:bodyPr/>
                    <a:lstStyle/>
                    <a:p>
                      <a:r>
                        <a:rPr lang="en-PK"/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5672605"/>
                  </a:ext>
                </a:extLst>
              </a:tr>
              <a:tr h="299616">
                <a:tc>
                  <a:txBody>
                    <a:bodyPr/>
                    <a:lstStyle/>
                    <a:p>
                      <a:r>
                        <a:rPr lang="en-PK"/>
                        <a:t>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4086146"/>
                  </a:ext>
                </a:extLst>
              </a:tr>
              <a:tr h="299616">
                <a:tc>
                  <a:txBody>
                    <a:bodyPr/>
                    <a:lstStyle/>
                    <a:p>
                      <a:r>
                        <a:rPr lang="en-PK"/>
                        <a:t>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709026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A4EB214-64AF-5A95-722C-18A5366DF18D}"/>
              </a:ext>
            </a:extLst>
          </p:cNvPr>
          <p:cNvSpPr txBox="1"/>
          <p:nvPr/>
        </p:nvSpPr>
        <p:spPr>
          <a:xfrm>
            <a:off x="6788150" y="4034588"/>
            <a:ext cx="360680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sz="2400" dirty="0"/>
              <a:t>Bucket 0: 45</a:t>
            </a:r>
          </a:p>
          <a:p>
            <a:r>
              <a:rPr lang="en-PK" sz="2400" dirty="0"/>
              <a:t>Bucket 1: —</a:t>
            </a:r>
          </a:p>
          <a:p>
            <a:r>
              <a:rPr lang="en-PK" sz="2400" dirty="0"/>
              <a:t>Bucket 2: 12 → 57 → 62</a:t>
            </a:r>
          </a:p>
          <a:p>
            <a:r>
              <a:rPr lang="en-PK" sz="2400" dirty="0"/>
              <a:t>Bucket 3: 28 → 33</a:t>
            </a:r>
          </a:p>
          <a:p>
            <a:r>
              <a:rPr lang="en-PK" sz="2400" dirty="0"/>
              <a:t>Bucket 4: —</a:t>
            </a:r>
          </a:p>
        </p:txBody>
      </p:sp>
    </p:spTree>
    <p:extLst>
      <p:ext uri="{BB962C8B-B14F-4D97-AF65-F5344CB8AC3E}">
        <p14:creationId xmlns:p14="http://schemas.microsoft.com/office/powerpoint/2010/main" val="3054131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87518-B0C5-E343-A674-D61FEDBE7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76086-5916-223B-8D9D-C1E286AA6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K" sz="2800" dirty="0"/>
              <a:t>CLASSROOM ACTIVITY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993FB-2F6A-3E9D-48DD-39A5E097F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3263" y="884420"/>
            <a:ext cx="7885475" cy="5122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Hash Table: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(already built)</a:t>
            </a:r>
          </a:p>
          <a:p>
            <a:pPr marL="0" indent="0">
              <a:buNone/>
            </a:pPr>
            <a:endParaRPr lang="en-GB" b="0" i="0" u="none" strike="noStrike" dirty="0">
              <a:solidFill>
                <a:srgbClr val="000000"/>
              </a:solidFill>
              <a:effectLst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4E7EA5-9BB1-B9D3-BFC6-F94C48C43837}"/>
              </a:ext>
            </a:extLst>
          </p:cNvPr>
          <p:cNvGraphicFramePr>
            <a:graphicFrameLocks noGrp="1"/>
          </p:cNvGraphicFramePr>
          <p:nvPr/>
        </p:nvGraphicFramePr>
        <p:xfrm>
          <a:off x="2152651" y="1628934"/>
          <a:ext cx="7886696" cy="73152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985837">
                  <a:extLst>
                    <a:ext uri="{9D8B030D-6E8A-4147-A177-3AD203B41FA5}">
                      <a16:colId xmlns:a16="http://schemas.microsoft.com/office/drawing/2014/main" val="2627778828"/>
                    </a:ext>
                  </a:extLst>
                </a:gridCol>
                <a:gridCol w="985837">
                  <a:extLst>
                    <a:ext uri="{9D8B030D-6E8A-4147-A177-3AD203B41FA5}">
                      <a16:colId xmlns:a16="http://schemas.microsoft.com/office/drawing/2014/main" val="140946058"/>
                    </a:ext>
                  </a:extLst>
                </a:gridCol>
                <a:gridCol w="985837">
                  <a:extLst>
                    <a:ext uri="{9D8B030D-6E8A-4147-A177-3AD203B41FA5}">
                      <a16:colId xmlns:a16="http://schemas.microsoft.com/office/drawing/2014/main" val="2869470599"/>
                    </a:ext>
                  </a:extLst>
                </a:gridCol>
                <a:gridCol w="985837">
                  <a:extLst>
                    <a:ext uri="{9D8B030D-6E8A-4147-A177-3AD203B41FA5}">
                      <a16:colId xmlns:a16="http://schemas.microsoft.com/office/drawing/2014/main" val="2398354991"/>
                    </a:ext>
                  </a:extLst>
                </a:gridCol>
                <a:gridCol w="985837">
                  <a:extLst>
                    <a:ext uri="{9D8B030D-6E8A-4147-A177-3AD203B41FA5}">
                      <a16:colId xmlns:a16="http://schemas.microsoft.com/office/drawing/2014/main" val="90071849"/>
                    </a:ext>
                  </a:extLst>
                </a:gridCol>
                <a:gridCol w="985837">
                  <a:extLst>
                    <a:ext uri="{9D8B030D-6E8A-4147-A177-3AD203B41FA5}">
                      <a16:colId xmlns:a16="http://schemas.microsoft.com/office/drawing/2014/main" val="2816419419"/>
                    </a:ext>
                  </a:extLst>
                </a:gridCol>
                <a:gridCol w="985837">
                  <a:extLst>
                    <a:ext uri="{9D8B030D-6E8A-4147-A177-3AD203B41FA5}">
                      <a16:colId xmlns:a16="http://schemas.microsoft.com/office/drawing/2014/main" val="3669747680"/>
                    </a:ext>
                  </a:extLst>
                </a:gridCol>
                <a:gridCol w="985837">
                  <a:extLst>
                    <a:ext uri="{9D8B030D-6E8A-4147-A177-3AD203B41FA5}">
                      <a16:colId xmlns:a16="http://schemas.microsoft.com/office/drawing/2014/main" val="3206714939"/>
                    </a:ext>
                  </a:extLst>
                </a:gridCol>
              </a:tblGrid>
              <a:tr h="263366">
                <a:tc>
                  <a:txBody>
                    <a:bodyPr/>
                    <a:lstStyle/>
                    <a:p>
                      <a:r>
                        <a:rPr lang="en-GB" sz="1800" b="1" dirty="0"/>
                        <a:t>Index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 sz="18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 sz="18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 sz="18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 sz="18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 sz="18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 sz="18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 sz="180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218111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GB" sz="1800" b="1" dirty="0"/>
                        <a:t>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 sz="180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 sz="1800" dirty="0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 sz="1800"/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 sz="18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 sz="1800"/>
                        <a:t>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 sz="18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 sz="1800" dirty="0"/>
                        <a:t>63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626175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86D8548-CC46-61A0-7DB2-D17FB96733B9}"/>
              </a:ext>
            </a:extLst>
          </p:cNvPr>
          <p:cNvSpPr txBox="1"/>
          <p:nvPr/>
        </p:nvSpPr>
        <p:spPr>
          <a:xfrm>
            <a:off x="2041524" y="2450897"/>
            <a:ext cx="810895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400" b="1" dirty="0">
                <a:solidFill>
                  <a:srgbClr val="000000"/>
                </a:solidFill>
              </a:rPr>
              <a:t>Given:</a:t>
            </a:r>
          </a:p>
          <a:p>
            <a:pPr algn="l"/>
            <a:r>
              <a:rPr lang="en-GB" sz="2400" dirty="0">
                <a:solidFill>
                  <a:srgbClr val="000000"/>
                </a:solidFill>
              </a:rPr>
              <a:t>h(k) = k mod 7 (linear probing)</a:t>
            </a:r>
          </a:p>
          <a:p>
            <a:pPr algn="l"/>
            <a:r>
              <a:rPr lang="en-GB" sz="2400" b="1" dirty="0">
                <a:solidFill>
                  <a:srgbClr val="000000"/>
                </a:solidFill>
              </a:rPr>
              <a:t>Question:</a:t>
            </a:r>
          </a:p>
          <a:p>
            <a:pPr algn="l"/>
            <a:r>
              <a:rPr lang="en-GB" sz="2400" dirty="0">
                <a:solidFill>
                  <a:srgbClr val="000000"/>
                </a:solidFill>
              </a:rPr>
              <a:t>For each key, show the probe sequence and result (FOUND or NOT FOUND):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>
                <a:solidFill>
                  <a:srgbClr val="000000"/>
                </a:solidFill>
              </a:rPr>
              <a:t>Search 35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>
                <a:solidFill>
                  <a:srgbClr val="000000"/>
                </a:solidFill>
              </a:rPr>
              <a:t>Search 22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>
                <a:solidFill>
                  <a:srgbClr val="000000"/>
                </a:solidFill>
              </a:rPr>
              <a:t>Search 50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>
                <a:solidFill>
                  <a:srgbClr val="000000"/>
                </a:solidFill>
              </a:rPr>
              <a:t>Search 63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823E657A-AEDB-319A-6163-8C0BE5655984}"/>
              </a:ext>
            </a:extLst>
          </p:cNvPr>
          <p:cNvGraphicFramePr>
            <a:graphicFrameLocks noGrp="1"/>
          </p:cNvGraphicFramePr>
          <p:nvPr/>
        </p:nvGraphicFramePr>
        <p:xfrm>
          <a:off x="4664382" y="4159057"/>
          <a:ext cx="5851218" cy="2103120"/>
        </p:xfrm>
        <a:graphic>
          <a:graphicData uri="http://schemas.openxmlformats.org/drawingml/2006/table">
            <a:tbl>
              <a:tblPr firstRow="1">
                <a:tableStyleId>{08FB837D-C827-4EFA-A057-4D05807E0F7C}</a:tableStyleId>
              </a:tblPr>
              <a:tblGrid>
                <a:gridCol w="720418">
                  <a:extLst>
                    <a:ext uri="{9D8B030D-6E8A-4147-A177-3AD203B41FA5}">
                      <a16:colId xmlns:a16="http://schemas.microsoft.com/office/drawing/2014/main" val="2756595513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37998266"/>
                    </a:ext>
                  </a:extLst>
                </a:gridCol>
                <a:gridCol w="3263900">
                  <a:extLst>
                    <a:ext uri="{9D8B030D-6E8A-4147-A177-3AD203B41FA5}">
                      <a16:colId xmlns:a16="http://schemas.microsoft.com/office/drawing/2014/main" val="23312141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/>
                        <a:t>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Probe Sequence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2225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K" b="1" dirty="0"/>
                        <a:t>35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/>
                        <a:t>0 → 1 →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1"/>
                        <a:t>FOUND (index 2)</a:t>
                      </a:r>
                      <a:endParaRPr lang="en-GB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3325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K" b="1"/>
                        <a:t>22</a:t>
                      </a:r>
                      <a:endParaRPr lang="en-PK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1"/>
                        <a:t>FOUND (index 1)</a:t>
                      </a:r>
                      <a:endParaRPr lang="en-GB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2289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K" b="1"/>
                        <a:t>50</a:t>
                      </a:r>
                      <a:endParaRPr lang="en-PK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/>
                        <a:t>1 → 2 →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1"/>
                        <a:t>NOT FOUND</a:t>
                      </a:r>
                      <a:endParaRPr lang="en-GB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64586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K" b="1"/>
                        <a:t>63</a:t>
                      </a:r>
                      <a:endParaRPr lang="en-PK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/>
                        <a:t>0 → 1 → 2 →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NOT FOUND (even though 63 is in table)</a:t>
                      </a: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8598476"/>
                  </a:ext>
                </a:extLst>
              </a:tr>
            </a:tbl>
          </a:graphicData>
        </a:graphic>
      </p:graphicFrame>
      <p:pic>
        <p:nvPicPr>
          <p:cNvPr id="21" name="Picture 20" descr="A close-up of symbols&#10;&#10;Description automatically generated">
            <a:extLst>
              <a:ext uri="{FF2B5EF4-FFF2-40B4-BE49-F238E27FC236}">
                <a16:creationId xmlns:a16="http://schemas.microsoft.com/office/drawing/2014/main" id="{284BBA60-58C3-EB45-20EE-A70728F197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7006" y="2907234"/>
            <a:ext cx="25146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807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9A298-E021-8BE6-D4ED-E73B933C2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30092-E9E7-D69B-F3E1-3232B0565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CLASSROOM ACTIVITY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29590-B62A-F225-1293-C34D813E5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3263" y="884420"/>
            <a:ext cx="7885475" cy="5122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b="1" dirty="0">
                <a:solidFill>
                  <a:srgbClr val="000000"/>
                </a:solidFill>
              </a:rPr>
              <a:t>Keys: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000000"/>
                </a:solidFill>
              </a:rPr>
              <a:t>{12, 18, 24, 30, 36, 42}</a:t>
            </a:r>
          </a:p>
          <a:p>
            <a:pPr marL="0" indent="0">
              <a:buNone/>
            </a:pPr>
            <a:r>
              <a:rPr lang="en-GB" sz="1800" b="1" dirty="0">
                <a:solidFill>
                  <a:srgbClr val="000000"/>
                </a:solidFill>
              </a:rPr>
              <a:t>Two hash functions given:</a:t>
            </a:r>
          </a:p>
          <a:p>
            <a:r>
              <a:rPr lang="en-GB" sz="1800" b="1" dirty="0">
                <a:solidFill>
                  <a:srgbClr val="000000"/>
                </a:solidFill>
              </a:rPr>
              <a:t>h₁(k) = k mod 6</a:t>
            </a:r>
            <a:endParaRPr lang="en-GB" sz="1800" dirty="0">
              <a:solidFill>
                <a:srgbClr val="000000"/>
              </a:solidFill>
            </a:endParaRPr>
          </a:p>
          <a:p>
            <a:r>
              <a:rPr lang="en-GB" sz="1800" b="1" dirty="0">
                <a:solidFill>
                  <a:srgbClr val="000000"/>
                </a:solidFill>
              </a:rPr>
              <a:t>h₂(k) = (k × 7) mod 13</a:t>
            </a:r>
            <a:endParaRPr lang="en-GB" sz="18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GB" sz="1800" b="1" dirty="0">
                <a:solidFill>
                  <a:srgbClr val="000000"/>
                </a:solidFill>
              </a:rPr>
              <a:t>Question: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800" dirty="0">
                <a:solidFill>
                  <a:srgbClr val="000000"/>
                </a:solidFill>
              </a:rPr>
              <a:t>Compute bucket positions under both h₁ and h₂.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800" dirty="0">
                <a:solidFill>
                  <a:srgbClr val="000000"/>
                </a:solidFill>
              </a:rPr>
              <a:t>Which function distributes keys better? Explain why.</a:t>
            </a:r>
          </a:p>
          <a:p>
            <a:pPr marL="0" indent="0">
              <a:buNone/>
            </a:pPr>
            <a:endParaRPr lang="en-GB" sz="1800" dirty="0">
              <a:solidFill>
                <a:srgbClr val="0000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CD56EBA-F60B-74AC-E4E7-B0D701C7377F}"/>
              </a:ext>
            </a:extLst>
          </p:cNvPr>
          <p:cNvGraphicFramePr>
            <a:graphicFrameLocks noGrp="1"/>
          </p:cNvGraphicFramePr>
          <p:nvPr/>
        </p:nvGraphicFramePr>
        <p:xfrm>
          <a:off x="2152650" y="3830954"/>
          <a:ext cx="4857750" cy="2560320"/>
        </p:xfrm>
        <a:graphic>
          <a:graphicData uri="http://schemas.openxmlformats.org/drawingml/2006/table">
            <a:tbl>
              <a:tblPr firstRow="1">
                <a:tableStyleId>{08FB837D-C827-4EFA-A057-4D05807E0F7C}</a:tableStyleId>
              </a:tblPr>
              <a:tblGrid>
                <a:gridCol w="1619250">
                  <a:extLst>
                    <a:ext uri="{9D8B030D-6E8A-4147-A177-3AD203B41FA5}">
                      <a16:colId xmlns:a16="http://schemas.microsoft.com/office/drawing/2014/main" val="2087013111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693398633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17933745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/>
                        <a:t>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h₁(k)=</a:t>
                      </a:r>
                      <a:r>
                        <a:rPr lang="en-GB" dirty="0"/>
                        <a:t>k mod 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Bucket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1341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K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9025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K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7969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K"/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38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K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2898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K"/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0997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K" dirty="0"/>
                        <a:t>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1688389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822D7B6-7E0A-B65D-F91A-4ECFB5E0FFF8}"/>
              </a:ext>
            </a:extLst>
          </p:cNvPr>
          <p:cNvGraphicFramePr>
            <a:graphicFrameLocks noGrp="1"/>
          </p:cNvGraphicFramePr>
          <p:nvPr/>
        </p:nvGraphicFramePr>
        <p:xfrm>
          <a:off x="2152650" y="3830954"/>
          <a:ext cx="7886700" cy="2560320"/>
        </p:xfrm>
        <a:graphic>
          <a:graphicData uri="http://schemas.openxmlformats.org/drawingml/2006/table">
            <a:tbl>
              <a:tblPr firstRow="1">
                <a:tableStyleId>{08FB837D-C827-4EFA-A057-4D05807E0F7C}</a:tableStyleId>
              </a:tblPr>
              <a:tblGrid>
                <a:gridCol w="1971675">
                  <a:extLst>
                    <a:ext uri="{9D8B030D-6E8A-4147-A177-3AD203B41FA5}">
                      <a16:colId xmlns:a16="http://schemas.microsoft.com/office/drawing/2014/main" val="2681786877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278543691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694219137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11810011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/>
                        <a:t>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7k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800" b="1" i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h₂(k) =</a:t>
                      </a:r>
                      <a:r>
                        <a:rPr lang="en-GB" dirty="0"/>
                        <a:t>(7k mod 13)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Bucket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8464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K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/>
                        <a:t>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84 mod 13 = 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94277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K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/>
                        <a:t>126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126 mod 13 = 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2507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K"/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/>
                        <a:t>168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168 mod 13 = 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3101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K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/>
                        <a:t>210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210 mod 13 =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0376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K"/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/>
                        <a:t>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252 mod 13 =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6527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K" dirty="0"/>
                        <a:t>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/>
                        <a:t>294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294 mod 13 = 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 dirty="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8216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5352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Practice: String Hashing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How?</a:t>
                </a:r>
              </a:p>
              <a:p>
                <a:pPr lvl="1"/>
                <a:r>
                  <a:rPr lang="en-US" dirty="0"/>
                  <a:t>Convert each character to ASCII.</a:t>
                </a:r>
              </a:p>
              <a:p>
                <a:pPr lvl="1"/>
                <a:r>
                  <a:rPr lang="en-US" dirty="0"/>
                  <a:t>Sum codes.</a:t>
                </a:r>
              </a:p>
              <a:p>
                <a:pPr lvl="1"/>
                <a:r>
                  <a:rPr lang="en-US" dirty="0"/>
                  <a:t>Apply modulo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to find slot index.</a:t>
                </a:r>
              </a:p>
              <a:p>
                <a:r>
                  <a:rPr lang="en-US" dirty="0"/>
                  <a:t>Problem</a:t>
                </a:r>
              </a:p>
              <a:p>
                <a:pPr lvl="1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Find the slot index for these keys:</a:t>
                </a:r>
              </a:p>
              <a:p>
                <a:pPr lvl="2"/>
                <a:r>
                  <a:rPr lang="en-US" dirty="0"/>
                  <a:t>"HASH"</a:t>
                </a:r>
              </a:p>
              <a:p>
                <a:pPr lvl="2"/>
                <a:r>
                  <a:rPr lang="en-US" dirty="0"/>
                  <a:t>"CODE"</a:t>
                </a:r>
              </a:p>
              <a:p>
                <a:pPr lvl="2"/>
                <a:r>
                  <a:rPr lang="en-US" dirty="0"/>
                  <a:t>"DATA“</a:t>
                </a:r>
              </a:p>
              <a:p>
                <a:r>
                  <a:rPr lang="en-US" dirty="0"/>
                  <a:t>Solution?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198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134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0C12960-6E85-460F-B6E3-5B82CB31AF3D}" type="slidenum">
              <a:rPr lang="en-US" smtClean="0"/>
              <a:pPr/>
              <a:t>50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61760" y="1162187"/>
          <a:ext cx="3760472" cy="3137160"/>
        </p:xfrm>
        <a:graphic>
          <a:graphicData uri="http://schemas.openxmlformats.org/drawingml/2006/table">
            <a:tbl>
              <a:tblPr firstRow="1">
                <a:tableStyleId>{775DCB02-9BB8-47FD-8907-85C794F793BA}</a:tableStyleId>
              </a:tblPr>
              <a:tblGrid>
                <a:gridCol w="470059">
                  <a:extLst>
                    <a:ext uri="{9D8B030D-6E8A-4147-A177-3AD203B41FA5}">
                      <a16:colId xmlns:a16="http://schemas.microsoft.com/office/drawing/2014/main" val="411920449"/>
                    </a:ext>
                  </a:extLst>
                </a:gridCol>
                <a:gridCol w="470059">
                  <a:extLst>
                    <a:ext uri="{9D8B030D-6E8A-4147-A177-3AD203B41FA5}">
                      <a16:colId xmlns:a16="http://schemas.microsoft.com/office/drawing/2014/main" val="3272800038"/>
                    </a:ext>
                  </a:extLst>
                </a:gridCol>
                <a:gridCol w="470059">
                  <a:extLst>
                    <a:ext uri="{9D8B030D-6E8A-4147-A177-3AD203B41FA5}">
                      <a16:colId xmlns:a16="http://schemas.microsoft.com/office/drawing/2014/main" val="2805347614"/>
                    </a:ext>
                  </a:extLst>
                </a:gridCol>
                <a:gridCol w="470059">
                  <a:extLst>
                    <a:ext uri="{9D8B030D-6E8A-4147-A177-3AD203B41FA5}">
                      <a16:colId xmlns:a16="http://schemas.microsoft.com/office/drawing/2014/main" val="682106191"/>
                    </a:ext>
                  </a:extLst>
                </a:gridCol>
                <a:gridCol w="470059">
                  <a:extLst>
                    <a:ext uri="{9D8B030D-6E8A-4147-A177-3AD203B41FA5}">
                      <a16:colId xmlns:a16="http://schemas.microsoft.com/office/drawing/2014/main" val="2546125795"/>
                    </a:ext>
                  </a:extLst>
                </a:gridCol>
                <a:gridCol w="470059">
                  <a:extLst>
                    <a:ext uri="{9D8B030D-6E8A-4147-A177-3AD203B41FA5}">
                      <a16:colId xmlns:a16="http://schemas.microsoft.com/office/drawing/2014/main" val="2740766501"/>
                    </a:ext>
                  </a:extLst>
                </a:gridCol>
                <a:gridCol w="470059">
                  <a:extLst>
                    <a:ext uri="{9D8B030D-6E8A-4147-A177-3AD203B41FA5}">
                      <a16:colId xmlns:a16="http://schemas.microsoft.com/office/drawing/2014/main" val="2378237853"/>
                    </a:ext>
                  </a:extLst>
                </a:gridCol>
                <a:gridCol w="470059">
                  <a:extLst>
                    <a:ext uri="{9D8B030D-6E8A-4147-A177-3AD203B41FA5}">
                      <a16:colId xmlns:a16="http://schemas.microsoft.com/office/drawing/2014/main" val="749428519"/>
                    </a:ext>
                  </a:extLst>
                </a:gridCol>
              </a:tblGrid>
              <a:tr h="39214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Letter</a:t>
                      </a:r>
                      <a:endParaRPr lang="en-US" sz="1200" b="1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ASCII</a:t>
                      </a:r>
                      <a:endParaRPr lang="en-US" sz="1200" b="1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Letter</a:t>
                      </a:r>
                      <a:endParaRPr lang="en-US" sz="1200" b="1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ASCII</a:t>
                      </a:r>
                      <a:endParaRPr lang="en-US" sz="1200" b="1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Letter</a:t>
                      </a:r>
                      <a:endParaRPr lang="en-US" sz="1200" b="1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ASCII</a:t>
                      </a:r>
                      <a:endParaRPr lang="en-US" sz="1200" b="1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Letter</a:t>
                      </a:r>
                      <a:endParaRPr lang="en-US" sz="1200" b="1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ASCII</a:t>
                      </a:r>
                      <a:endParaRPr lang="en-US" sz="1200" b="1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20724061"/>
                  </a:ext>
                </a:extLst>
              </a:tr>
              <a:tr h="392145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65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H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72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79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V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86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01948399"/>
                  </a:ext>
                </a:extLst>
              </a:tr>
              <a:tr h="392145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B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73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80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W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87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78690159"/>
                  </a:ext>
                </a:extLst>
              </a:tr>
              <a:tr h="392145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67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J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74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Q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81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X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88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9841762"/>
                  </a:ext>
                </a:extLst>
              </a:tr>
              <a:tr h="392145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68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K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75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82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89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49605865"/>
                  </a:ext>
                </a:extLst>
              </a:tr>
              <a:tr h="392145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69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76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83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Z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90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20484811"/>
                  </a:ext>
                </a:extLst>
              </a:tr>
              <a:tr h="392145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F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70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M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77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84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2031931"/>
                  </a:ext>
                </a:extLst>
              </a:tr>
              <a:tr h="392145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71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78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U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85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77091853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107430" y="4400551"/>
            <a:ext cx="4114800" cy="108942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500" dirty="0"/>
              <a:t>"HASH": 72 + 65 + 83 + 72 = 292, 292 mod 12 = 4</a:t>
            </a:r>
          </a:p>
          <a:p>
            <a:pPr algn="ctr"/>
            <a:r>
              <a:rPr lang="da-DK" sz="1500" dirty="0"/>
              <a:t>"CODE": 67 + 79 + 68 + 69 = 283, 283 mod 12 = 7</a:t>
            </a:r>
          </a:p>
          <a:p>
            <a:pPr algn="ctr"/>
            <a:r>
              <a:rPr lang="da-DK" sz="1500" dirty="0"/>
              <a:t>"DATA": 68 + 65 + 84 + 65 = 282, 282 mod 12 = 6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697192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088BE5-A551-D923-23EA-B81B03680884}"/>
              </a:ext>
            </a:extLst>
          </p:cNvPr>
          <p:cNvSpPr txBox="1"/>
          <p:nvPr/>
        </p:nvSpPr>
        <p:spPr>
          <a:xfrm>
            <a:off x="983847" y="2277731"/>
            <a:ext cx="1004682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1800" b="1" dirty="0">
                <a:solidFill>
                  <a:srgbClr val="000000"/>
                </a:solidFill>
              </a:rPr>
              <a:t>Keys: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000000"/>
                </a:solidFill>
              </a:rPr>
              <a:t>{12, 18, 24, 30, 36, 42}</a:t>
            </a:r>
          </a:p>
          <a:p>
            <a:pPr marL="0" indent="0">
              <a:buNone/>
            </a:pPr>
            <a:r>
              <a:rPr lang="en-GB" sz="1800" b="1" dirty="0">
                <a:solidFill>
                  <a:srgbClr val="000000"/>
                </a:solidFill>
              </a:rPr>
              <a:t>Two hash functions given:</a:t>
            </a:r>
          </a:p>
          <a:p>
            <a:r>
              <a:rPr lang="en-GB" sz="1800" b="1" dirty="0">
                <a:solidFill>
                  <a:srgbClr val="000000"/>
                </a:solidFill>
              </a:rPr>
              <a:t>h₁(k) = k mod 6</a:t>
            </a:r>
            <a:endParaRPr lang="en-GB" sz="1800" dirty="0">
              <a:solidFill>
                <a:srgbClr val="000000"/>
              </a:solidFill>
            </a:endParaRPr>
          </a:p>
          <a:p>
            <a:r>
              <a:rPr lang="en-GB" sz="1800" b="1" dirty="0">
                <a:solidFill>
                  <a:srgbClr val="000000"/>
                </a:solidFill>
              </a:rPr>
              <a:t>h₂(k) = (k × 7) mod 13</a:t>
            </a:r>
            <a:endParaRPr lang="en-GB" sz="18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GB" sz="1800" b="1" dirty="0">
                <a:solidFill>
                  <a:srgbClr val="000000"/>
                </a:solidFill>
              </a:rPr>
              <a:t>Question: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800" dirty="0">
                <a:solidFill>
                  <a:srgbClr val="000000"/>
                </a:solidFill>
              </a:rPr>
              <a:t>Compute bucket positions under both h₁ and h₂.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800" dirty="0">
                <a:solidFill>
                  <a:srgbClr val="000000"/>
                </a:solidFill>
              </a:rPr>
              <a:t>Which function distributes keys better? Explain why.</a:t>
            </a:r>
          </a:p>
        </p:txBody>
      </p:sp>
    </p:spTree>
    <p:extLst>
      <p:ext uri="{BB962C8B-B14F-4D97-AF65-F5344CB8AC3E}">
        <p14:creationId xmlns:p14="http://schemas.microsoft.com/office/powerpoint/2010/main" val="3686275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5BAC85B6151A4398254EDF33643D42" ma:contentTypeVersion="14" ma:contentTypeDescription="Create a new document." ma:contentTypeScope="" ma:versionID="954fb57f04462eb4304245fa4be67a31">
  <xsd:schema xmlns:xsd="http://www.w3.org/2001/XMLSchema" xmlns:xs="http://www.w3.org/2001/XMLSchema" xmlns:p="http://schemas.microsoft.com/office/2006/metadata/properties" xmlns:ns2="7cc4eefa-ab42-4b83-aa47-810eded64eef" xmlns:ns3="30069962-07a1-4af7-a81e-7164e8917d7c" targetNamespace="http://schemas.microsoft.com/office/2006/metadata/properties" ma:root="true" ma:fieldsID="375204634fe20978d9907820f39875e5" ns2:_="" ns3:_="">
    <xsd:import namespace="7cc4eefa-ab42-4b83-aa47-810eded64eef"/>
    <xsd:import namespace="30069962-07a1-4af7-a81e-7164e8917d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QACompleted" minOccurs="0"/>
                <xsd:element ref="ns2:QAbyWaleed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c4eefa-ab42-4b83-aa47-810eded64e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QACompleted" ma:index="16" nillable="true" ma:displayName="QA Completed" ma:default="1" ma:format="Dropdown" ma:internalName="QACompleted">
      <xsd:simpleType>
        <xsd:restriction base="dms:Boolean"/>
      </xsd:simpleType>
    </xsd:element>
    <xsd:element name="QAbyWaleed" ma:index="17" nillable="true" ma:displayName="QA by Waleed" ma:default="0" ma:format="Dropdown" ma:internalName="QAbyWaleed">
      <xsd:simpleType>
        <xsd:restriction base="dms:Boolea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71b6d75b-5da6-464d-aa40-f1273986be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069962-07a1-4af7-a81e-7164e8917d7c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2eefe2eb-d7ca-4420-b4eb-a63b8e99c118}" ma:internalName="TaxCatchAll" ma:showField="CatchAllData" ma:web="30069962-07a1-4af7-a81e-7164e8917d7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QACompleted xmlns="7cc4eefa-ab42-4b83-aa47-810eded64eef">true</QACompleted>
    <QAbyWaleed xmlns="7cc4eefa-ab42-4b83-aa47-810eded64eef">false</QAbyWaleed>
    <lcf76f155ced4ddcb4097134ff3c332f xmlns="7cc4eefa-ab42-4b83-aa47-810eded64eef">
      <Terms xmlns="http://schemas.microsoft.com/office/infopath/2007/PartnerControls"/>
    </lcf76f155ced4ddcb4097134ff3c332f>
    <TaxCatchAll xmlns="30069962-07a1-4af7-a81e-7164e8917d7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0168E5C-3A69-44B3-AD1D-875EDED76E7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cc4eefa-ab42-4b83-aa47-810eded64eef"/>
    <ds:schemaRef ds:uri="30069962-07a1-4af7-a81e-7164e8917d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6261CDC-3B59-41E5-8619-9FDA5B3CCF21}">
  <ds:schemaRefs>
    <ds:schemaRef ds:uri="http://schemas.microsoft.com/office/2006/documentManagement/types"/>
    <ds:schemaRef ds:uri="http://purl.org/dc/elements/1.1/"/>
    <ds:schemaRef ds:uri="30069962-07a1-4af7-a81e-7164e8917d7c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7cc4eefa-ab42-4b83-aa47-810eded64eef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2EE1904-8AA9-4B2D-AA16-54F70664482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1248</TotalTime>
  <Words>4495</Words>
  <Application>Microsoft Office PowerPoint</Application>
  <PresentationFormat>Widescreen</PresentationFormat>
  <Paragraphs>954</Paragraphs>
  <Slides>51</Slides>
  <Notes>5</Notes>
  <HiddenSlides>3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9" baseType="lpstr">
      <vt:lpstr>Arial</vt:lpstr>
      <vt:lpstr>Calibri</vt:lpstr>
      <vt:lpstr>Calibri Light</vt:lpstr>
      <vt:lpstr>Cambria Math</vt:lpstr>
      <vt:lpstr>Symbol</vt:lpstr>
      <vt:lpstr>-webkit-standard</vt:lpstr>
      <vt:lpstr>Wingdings</vt:lpstr>
      <vt:lpstr>Office Theme</vt:lpstr>
      <vt:lpstr>Hashing and Hash Tables</vt:lpstr>
      <vt:lpstr>Rethinking the Search Problem</vt:lpstr>
      <vt:lpstr>The Hash Table Idea</vt:lpstr>
      <vt:lpstr>Direct-address tables</vt:lpstr>
      <vt:lpstr>Direct addressing</vt:lpstr>
      <vt:lpstr>Direct address:</vt:lpstr>
      <vt:lpstr>Downside of direct addressing</vt:lpstr>
      <vt:lpstr>Hash Table</vt:lpstr>
      <vt:lpstr>Hash Table</vt:lpstr>
      <vt:lpstr>Hash Table</vt:lpstr>
      <vt:lpstr>Hash Table</vt:lpstr>
      <vt:lpstr>Compared to direct addressing</vt:lpstr>
      <vt:lpstr>Structure of a Hash Table</vt:lpstr>
      <vt:lpstr>Good Hash Functions</vt:lpstr>
      <vt:lpstr>Restrictions on value of m</vt:lpstr>
      <vt:lpstr>Practice: Multiplication Method</vt:lpstr>
      <vt:lpstr>Restrictions on value of m</vt:lpstr>
      <vt:lpstr>Good value of m</vt:lpstr>
      <vt:lpstr>Practice: String Hashing</vt:lpstr>
      <vt:lpstr>Why Hash Table?</vt:lpstr>
      <vt:lpstr>Collision Resolution</vt:lpstr>
      <vt:lpstr>A New Problem!</vt:lpstr>
      <vt:lpstr>A New Problem!</vt:lpstr>
      <vt:lpstr>A New Problem!</vt:lpstr>
      <vt:lpstr>A New Problem!</vt:lpstr>
      <vt:lpstr>A New Problem!</vt:lpstr>
      <vt:lpstr>A New Problem!</vt:lpstr>
      <vt:lpstr>What is a Collision?</vt:lpstr>
      <vt:lpstr>What is a Collision?</vt:lpstr>
      <vt:lpstr>Chaining vs linear probing</vt:lpstr>
      <vt:lpstr>Open Addressing</vt:lpstr>
      <vt:lpstr>Open Addressing</vt:lpstr>
      <vt:lpstr>Open Addressing</vt:lpstr>
      <vt:lpstr>Open Addressing</vt:lpstr>
      <vt:lpstr>Open Addressing</vt:lpstr>
      <vt:lpstr>What is Probing in open addressing?</vt:lpstr>
      <vt:lpstr>Open addressing: Linear Probing</vt:lpstr>
      <vt:lpstr>Open Addressing 2</vt:lpstr>
      <vt:lpstr>Chaining</vt:lpstr>
      <vt:lpstr>Chaining</vt:lpstr>
      <vt:lpstr>Chaining</vt:lpstr>
      <vt:lpstr>Chaining</vt:lpstr>
      <vt:lpstr>Factors Affecting Hash Table Performance</vt:lpstr>
      <vt:lpstr>Choosing a Good Hash Function</vt:lpstr>
      <vt:lpstr>Real-World Applications of Hash Tables</vt:lpstr>
      <vt:lpstr>CLASSROOM ACTIVITY 1</vt:lpstr>
      <vt:lpstr>CLASSROOM ACTIVITY 2</vt:lpstr>
      <vt:lpstr>CLASSROOM ACTIVITY 3</vt:lpstr>
      <vt:lpstr>CLASSROOM ACTIVITY 4</vt:lpstr>
      <vt:lpstr>Practice: String Hashing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 Operations &amp; Use Case</dc:title>
  <dc:creator>desertzebra</dc:creator>
  <cp:lastModifiedBy>Hanan Zia</cp:lastModifiedBy>
  <cp:revision>332</cp:revision>
  <dcterms:created xsi:type="dcterms:W3CDTF">2025-08-05T16:10:05Z</dcterms:created>
  <dcterms:modified xsi:type="dcterms:W3CDTF">2025-12-18T10:32:19Z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0x010100BB5BAC85B6151A4398254EDF33643D42</vt:lpwstr>
  </property>
  <property fmtid="{D5CDD505-2E9C-101B-9397-08002B2CF9AE}" pid="3" name="MediaServiceImageTags">
    <vt:lpwstr/>
  </property>
</Properties>
</file>